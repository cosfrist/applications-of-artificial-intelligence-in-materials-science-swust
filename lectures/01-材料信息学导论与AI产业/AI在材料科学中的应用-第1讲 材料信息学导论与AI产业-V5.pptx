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备注占位符 9"/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lstStyle/>
          <a:p>
            <a:r>
              <a:rPr sz="1100">
                <a:latin typeface="微软雅黑"/>
              </a:rPr>
              <a:t>第2页｜必讲·导航｜本讲阅读导航：两段指定 + 两条论文线索</a:t>
            </a:r>
          </a:p>
          <a:p>
            <a:r>
              <a:rPr sz="1100">
                <a:latin typeface="微软雅黑"/>
              </a:rPr>
              <a:t>1 分钟讲清「读什么、读到什么程度」：只有两段是课前指定（合计约 6 页），其余是课上导读、按需查阅与背景选读；论文只取结论与边界，不要求读全文。</a:t>
            </a:r>
          </a:p>
          <a:p>
            <a:r>
              <a:rPr sz="1100">
                <a:latin typeface="微软雅黑"/>
              </a:rPr>
              <a:t>来源：ISLP 2023 Python 版页码按本地 PDF 目录核对（§2.1.1 PDF 31 起、§2.2.1 PDF 42 起、§2.3 PDF 54 起）；R1 = Zhang, The Elements of Machine Learning（英文版，2025/2026 订正）第 1 章；CGCNN：Tian Xie &amp; Jeffrey C. Grossman (2018), “Crystal Graph Convolutional Neural Networks for an Accurate and Interpretable Prediction of Material Properties”, Phys. Rev. Lett. 120, 145301, DOI 10.1103/PhysRevLett.120.145301；GNoME：Merchant, Batzner, Schoenholz, Aykol, Cheon &amp; Cubuk (2023), “Scaling deep learning for materials discovery”, Nature 624, 80–85, DOI 10.1038/s41586-023-06735-9。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备注占位符 11"/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lstStyle/>
          <a:p>
            <a:r>
              <a:rPr sz="1100">
                <a:latin typeface="微软雅黑"/>
              </a:rPr>
              <a:t>第3页｜必讲·路线｜本讲学习结果与 90 分钟路线</a:t>
            </a:r>
          </a:p>
          <a:p>
            <a:r>
              <a:rPr sz="1100">
                <a:latin typeface="微软雅黑"/>
              </a:rPr>
              <a:t>把「四句话的验收标准」和「90 分钟怎么用」压到一页：前 35 分钟用独立导论 PPT，本讲只再教 55 分钟（问题链 20 + 数据证据 15 + 预检 15 + 退出 5）。右上角列的就是实际选讲的页：P8—9、P17、P24、P40、P42—43、P49。</a:t>
            </a:r>
          </a:p>
          <a:p>
            <a:r>
              <a:rPr sz="1100">
                <a:latin typeface="微软雅黑"/>
              </a:rPr>
              <a:t>来源：V5 授课计划第 1 讲（35/20/15/15/5 = 90）；详细必讲/补充页清单见《授课路线-V5.md》。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lstStyle/>
          <a:p>
            <a:r>
              <a:rPr sz="1100">
                <a:latin typeface="微软雅黑"/>
              </a:rPr>
              <a:t>第11页｜补充｜机器学习能提取高度复杂的趋势</a:t>
            </a:r>
          </a:p>
          <a:p>
            <a:r>
              <a:rPr sz="1100">
                <a:latin typeface="微软雅黑"/>
              </a:rPr>
              <a:t>补充页：早期代表性工作（2013—2016）多用「大数据」一词写综述，说明方法论还在摸索。不逐页讲；若要讲，只强调「学科很年轻，方法空间大」。</a:t>
            </a:r>
          </a:p>
          <a:p>
            <a:r>
              <a:rPr sz="1100">
                <a:latin typeface="微软雅黑"/>
              </a:rPr>
              <a:t>来源：Gaultois et al. 2013 Chem. Mater.；Gaultois et al. 2016 APL Mater.；Ghadbeigi et al. 2016 Energy Environ. Sci.；Sparks et al. 2016 Scripta Mater.（原课程讲义引用，未逐篇核对全文，按历史示例处理）。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备注占位符 3"/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lstStyle/>
          <a:p>
            <a:r>
              <a:rPr sz="1100">
                <a:latin typeface="微软雅黑"/>
              </a:rPr>
              <a:t>第16页｜补充｜化学空白区：一个写清口径的估计</a:t>
            </a:r>
          </a:p>
          <a:p>
            <a:r>
              <a:rPr sz="1100">
                <a:latin typeface="微软雅黑"/>
              </a:rPr>
              <a:t>口径必须写在页面上：89 种元素中选 1—10 种、不计比例与结构，ΣC(89,k) ≈ 5.80×10¹²。这不是「可合成材料数」，也不是「尚未发现数」；分子分母计数单位不同，不能相除。</a:t>
            </a:r>
          </a:p>
          <a:p>
            <a:r>
              <a:rPr sz="1100">
                <a:latin typeface="微软雅黑"/>
              </a:rPr>
              <a:t>来源：本页自算组合数（Σ_{k=1..10} C(89,k) = 5 798 786 177 163 ≈ 5.80×10¹²；标准库独立核验 sum(math.comb(89,k) for k in range(1,11))）；与 htwins.net/scale2 的 10¹² 口径不同，不混用、不相除。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备注占位符 5"/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lstStyle/>
          <a:p>
            <a:r>
              <a:rPr sz="1100">
                <a:latin typeface="微软雅黑"/>
              </a:rPr>
              <a:t>第17页｜必讲｜案例：用既有合金做回溯检验——模型没有「发现」Al 7075</a:t>
            </a:r>
          </a:p>
          <a:p>
            <a:r>
              <a:rPr sz="1100">
                <a:latin typeface="微软雅黑"/>
              </a:rPr>
              <a:t>关键在「回溯」二字：7075 是 1943 年就已存在的牌号，模型只是把它从历史数据里排到前面。这类检验能说明方法可用，不能说明模型「发现」了新合金。</a:t>
            </a:r>
          </a:p>
          <a:p>
            <a:r>
              <a:rPr sz="1100">
                <a:latin typeface="微软雅黑"/>
              </a:rPr>
              <a:t>来源：Al 7075 为既有牌号（1943 年商业化，公开冶金史）；本页是教学回溯案例，不声称新发现。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备注占位符 7"/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lstStyle/>
          <a:p>
            <a:r>
              <a:rPr sz="1100">
                <a:latin typeface="微软雅黑"/>
              </a:rPr>
              <a:t>第19页｜补充｜二十年真实数据：这条曲线到底在说什么</a:t>
            </a:r>
          </a:p>
          <a:p>
            <a:r>
              <a:rPr sz="1100">
                <a:latin typeface="微软雅黑"/>
              </a:rPr>
              <a:t>补充页：曲线只说明「关注度」在上升，不说明「发现效率」在上升。若要讲，提醒学生区分「投入指标」与「产出指标」。</a:t>
            </a:r>
          </a:p>
          <a:p>
            <a:r>
              <a:rPr sz="1100">
                <a:latin typeface="微软雅黑"/>
              </a:rPr>
              <a:t>来源：原课程整理的历史统计（教学示意）；未核到单一原始数据源，按历史素材处理，不作当前结论。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sz="1100">
                <a:latin typeface="微软雅黑"/>
              </a:rPr>
              <a:t>第21页｜必讲｜同样是机器学习，差别在哪里？</a:t>
            </a:r>
          </a:p>
          <a:p>
            <a:r>
              <a:rPr sz="1100">
                <a:latin typeface="微软雅黑"/>
              </a:rPr>
              <a:t>六行对照：数据规模、关注重点、数据形态、不确定性、特征、可解释性。强调这是提醒清单，不是学科二分——差别由任务、决策风险与数据量决定。</a:t>
            </a:r>
          </a:p>
          <a:p>
            <a:r>
              <a:rPr sz="1100">
                <a:latin typeface="微软雅黑"/>
              </a:rPr>
              <a:t>来源：课程自编对照表；表中「10²—10³」指本课程聚焦的样本量级，不是全领域统计。</a:t>
            </a:r>
          </a:p>
        </p:txBody>
      </p:sp>
    </p:spTree>
    <p:extLst>
      <p:ext uri="{BB962C8B-B14F-4D97-AF65-F5344CB8AC3E}">
        <p14:creationId xmlns:p14="http://schemas.microsoft.com/office/powerpoint/2010/main" val="23708918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sz="1100">
                <a:latin typeface="微软雅黑"/>
              </a:rPr>
              <a:t>第22页｜必讲｜维度①　小数据是常态</a:t>
            </a:r>
          </a:p>
          <a:p>
            <a:r>
              <a:rPr sz="1100">
                <a:latin typeface="微软雅黑"/>
              </a:rPr>
              <a:t>小样本是常态，但结论要有限度：不是「深度模型一概不可用」，而是「在本课程的数据规模与预算下，先建基线、再谈复杂模型」；有迁移与预训练时，小数据也能用深度模型（第 12 讲）。</a:t>
            </a:r>
          </a:p>
          <a:p>
            <a:r>
              <a:rPr sz="1100">
                <a:latin typeface="微软雅黑"/>
              </a:rPr>
              <a:t>来源：课程自编；ISLP 第 2 章关于偏差—方差与样本量的讨论作为方法论背景。</a:t>
            </a:r>
          </a:p>
        </p:txBody>
      </p:sp>
    </p:spTree>
    <p:extLst>
      <p:ext uri="{BB962C8B-B14F-4D97-AF65-F5344CB8AC3E}">
        <p14:creationId xmlns:p14="http://schemas.microsoft.com/office/powerpoint/2010/main" val="21265180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sz="1100">
                <a:latin typeface="微软雅黑"/>
              </a:rPr>
              <a:t>第23页｜必讲｜维度②　关注离群点与外推</a:t>
            </a:r>
          </a:p>
          <a:p>
            <a:r>
              <a:rPr sz="1100">
                <a:latin typeface="微软雅黑"/>
              </a:rPr>
              <a:t>两类任务两种目标：质控看同分布平均误差，新体系筛选看分布外是否可信。离群点要先核对测量、缺陷与适用范围，不能因为「离群」就自动当噪声删掉。</a:t>
            </a:r>
          </a:p>
          <a:p>
            <a:r>
              <a:rPr sz="1100">
                <a:latin typeface="微软雅黑"/>
              </a:rPr>
              <a:t>来源：课程自编；外推与验证协议的对应关系见第 8 讲。</a:t>
            </a:r>
          </a:p>
        </p:txBody>
      </p:sp>
    </p:spTree>
    <p:extLst>
      <p:ext uri="{BB962C8B-B14F-4D97-AF65-F5344CB8AC3E}">
        <p14:creationId xmlns:p14="http://schemas.microsoft.com/office/powerpoint/2010/main" val="11879045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备注占位符 13"/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lstStyle/>
          <a:p>
            <a:r>
              <a:rPr sz="1100">
                <a:latin typeface="微软雅黑"/>
              </a:rPr>
              <a:t>第30页｜补充｜准确性—可解释性权衡</a:t>
            </a:r>
          </a:p>
          <a:p>
            <a:r>
              <a:rPr sz="1100">
                <a:latin typeface="微软雅黑"/>
              </a:rPr>
              <a:t>补充页：权衡不是定律，而是任务约束下的选择。高风险决策要可解释；纯筛选任务可以先要精度，再用独立证据兜底。</a:t>
            </a:r>
          </a:p>
          <a:p>
            <a:r>
              <a:rPr sz="1100">
                <a:latin typeface="微软雅黑"/>
              </a:rPr>
              <a:t>来源：课程自编示意图；不引用具体模型的精度数字；不把「学习必然牺牲可读性」当普遍结论。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备注占位符 15"/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lstStyle/>
          <a:p>
            <a:r>
              <a:rPr sz="1100">
                <a:latin typeface="微软雅黑"/>
              </a:rPr>
              <a:t>第41页｜补充｜一个可以查证的里程碑：AlphaFold</a:t>
            </a:r>
          </a:p>
          <a:p>
            <a:r>
              <a:rPr sz="1100">
                <a:latin typeface="微软雅黑"/>
              </a:rPr>
              <a:t>AlphaFold 证明「结构预测」可以在特定任务上做到实验可用精度；它是蛋白质问题，不能直接类比成「材料都能预测」。可迁移的是方法范式，不是结论。CASP14 结果 2020 年公布，正式论文 2021 年发表，两个时间要分开。</a:t>
            </a:r>
          </a:p>
          <a:p>
            <a:r>
              <a:rPr sz="1100">
                <a:latin typeface="微软雅黑"/>
              </a:rPr>
              <a:t>来源：DeepMind 官方博客《Highly accurate protein structure predictions with AlphaFold》（2020-11-30）；Jumper et al., Highly accurate protein structure prediction with AlphaFold, Nature 596, 583–589 (2021), DOI 10.1038/s41586-021-03819-2。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备注占位符 17"/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lstStyle/>
          <a:p>
            <a:r>
              <a:rPr sz="1100">
                <a:latin typeface="微软雅黑"/>
              </a:rPr>
              <a:t>第42页｜必讲｜AI for Science 的里程碑与任务边界</a:t>
            </a:r>
          </a:p>
          <a:p>
            <a:r>
              <a:rPr sz="1100">
                <a:latin typeface="微软雅黑"/>
              </a:rPr>
              <a:t>四项四种任务：结构预测（AlphaFold2）、稳定性筛选（GNoME）、条件生成（MatterGen）、实验闭环（自驱动实验室）。判断一个「AI4S 突破」时，先问它替代了哪一步、证据来自计算还是实验。</a:t>
            </a:r>
          </a:p>
          <a:p>
            <a:r>
              <a:rPr sz="1100">
                <a:latin typeface="微软雅黑"/>
              </a:rPr>
              <a:t>来源：课程自编归纳；四例分别对应 AlphaFold2（结果 2020 / 论文 2021）、GNoME（2023）、MatterGen（2025）与自驱动实验室；GNoME 的候选口径见 P43 与原文。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备注占位符 19"/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lstStyle/>
          <a:p>
            <a:r>
              <a:rPr sz="1100">
                <a:latin typeface="微软雅黑"/>
              </a:rPr>
              <a:t>第43页｜必讲｜GNoME 与大规模稳定性扫描</a:t>
            </a:r>
          </a:p>
          <a:p>
            <a:r>
              <a:rPr sz="1100">
                <a:latin typeface="微软雅黑"/>
              </a:rPr>
              <a:t>GNoME 的贡献是把稳定性初筛规模化；它的候选是计算凸包意义下的稳定，不等于可合成，更不等于本团队合成了这些材料。凸包稳定性依赖方法与参考相集合，亚稳态材料也可能被合成并应用；候选数与实验验证数是两个口径。</a:t>
            </a:r>
          </a:p>
          <a:p>
            <a:r>
              <a:rPr sz="1100">
                <a:latin typeface="微软雅黑"/>
              </a:rPr>
              <a:t>来源：Merchant et al., Scaling deep learning for materials discovery, Nature 624, 80–85 (2023), DOI 10.1038/s41586-023-06735-9；凸包与相图口径见 Materials Project 官方方法文档 https://docs.materialsproject.org/methodology/materials-methodology/thermodynamic-stability/phase-diagrams-pds 与 Bartel et al., Nat. Commun. 9, 4168 (2018), DOI 10.1038/s41467-018-06682-4。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备注占位符 21"/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lstStyle/>
          <a:p>
            <a:r>
              <a:rPr sz="1100">
                <a:latin typeface="微软雅黑"/>
              </a:rPr>
              <a:t>第44页｜补充｜发现新工具的必要性</a:t>
            </a:r>
          </a:p>
          <a:p>
            <a:r>
              <a:rPr sz="1100">
                <a:latin typeface="微软雅黑"/>
              </a:rPr>
              <a:t>补充页：工具决定可搜索的空间。显微镜、DFT、高通量计算、机器人平台，每一次都改变了「什么算可发现的」。</a:t>
            </a:r>
          </a:p>
          <a:p>
            <a:r>
              <a:rPr sz="1100">
                <a:latin typeface="微软雅黑"/>
              </a:rPr>
              <a:t>来源：课程自编；历史叙述为概述，不引用未核史料。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备注占位符 23"/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lstStyle/>
          <a:p>
            <a:r>
              <a:rPr sz="1100">
                <a:latin typeface="微软雅黑"/>
              </a:rPr>
              <a:t>第46页｜补充｜传统材料巨头的 AI 布局</a:t>
            </a:r>
          </a:p>
          <a:p>
            <a:r>
              <a:rPr sz="1100">
                <a:latin typeface="微软雅黑"/>
              </a:rPr>
              <a:t>补充页：企业清单只作背景，不逐条讲；课堂不把企业宣传当证据。</a:t>
            </a:r>
          </a:p>
          <a:p>
            <a:r>
              <a:rPr sz="1100">
                <a:latin typeface="微软雅黑"/>
              </a:rPr>
              <a:t>来源：原课程整理的企业名单（历史素材，未逐家核实现状）；课堂按补充页处理。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备注占位符 25"/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lstStyle/>
          <a:p>
            <a:r>
              <a:rPr sz="1100">
                <a:latin typeface="微软雅黑"/>
              </a:rPr>
              <a:t>第49页｜必讲｜教学情景（假设）：AI 优化玻璃退火工艺</a:t>
            </a:r>
          </a:p>
          <a:p>
            <a:r>
              <a:rPr sz="1100">
                <a:latin typeface="微软雅黑"/>
              </a:rPr>
              <a:t>这是假设情景，不是真实企业案例：给定退火升温速率，预测内应力与最终强度，并建议下一组实验。讲清「假设」二字，避免被当成已落地案例。</a:t>
            </a:r>
          </a:p>
          <a:p>
            <a:r>
              <a:rPr sz="1100">
                <a:latin typeface="微软雅黑"/>
              </a:rPr>
              <a:t>来源：课程自编教学情景（假设），无企业数据；目标量为内应力/强度（见页面图注），不写「翘曲」。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备注占位符 27"/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lstStyle/>
          <a:p>
            <a:r>
              <a:rPr sz="1100">
                <a:latin typeface="微软雅黑"/>
              </a:rPr>
              <a:t>第50页｜补充｜教学情景（假设）：从废钢成分预测性能</a:t>
            </a:r>
          </a:p>
          <a:p>
            <a:r>
              <a:rPr sz="1100">
                <a:latin typeface="微软雅黑"/>
              </a:rPr>
              <a:t>同样是假设：废钢成分波动大、批次间相关，验证必须按批次分组，否则会高估精度。这个情景用来引出第 8 讲的分组验证。</a:t>
            </a:r>
          </a:p>
          <a:p>
            <a:r>
              <a:rPr sz="1100">
                <a:latin typeface="微软雅黑"/>
              </a:rPr>
              <a:t>来源：课程自编教学情景（假设）；分组验证见第 8 讲。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备注占位符 29"/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lstStyle/>
          <a:p>
            <a:r>
              <a:rPr sz="1100">
                <a:latin typeface="微软雅黑"/>
              </a:rPr>
              <a:t>第54页｜补充｜16 讲课程地图（V5）</a:t>
            </a:r>
          </a:p>
          <a:p>
            <a:r>
              <a:rPr sz="1100">
                <a:latin typeface="微软雅黑"/>
              </a:rPr>
              <a:t>16 讲分七个模块，32 学时 1440 分钟。地图用于定位：你现在在第 1 讲，第 8、10 讲有论文研讨，第 16 讲答辩。</a:t>
            </a:r>
          </a:p>
          <a:p>
            <a:r>
              <a:rPr sz="1100">
                <a:latin typeface="微软雅黑"/>
              </a:rPr>
              <a:t>来源：V5 授课计划与教学大纲（模块学时 6/4/10/4/4/2/2）；本页与计划一致。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备注占位符 31"/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lstStyle/>
          <a:p>
            <a:r>
              <a:rPr sz="1100">
                <a:latin typeface="微软雅黑"/>
              </a:rPr>
              <a:t>第55页｜补充｜考核方式与四次作业节点</a:t>
            </a:r>
          </a:p>
          <a:p>
            <a:r>
              <a:rPr sz="1100">
                <a:latin typeface="微软雅黑"/>
              </a:rPr>
              <a:t>总评 30/20/40/10：作业 30（四次各 7.5）、论文评议 20、项目 40、过程证据 10。作业节点：HW1 3→6、HW2 5→10、HW3 11→13、HW4 13→15。</a:t>
            </a:r>
          </a:p>
          <a:p>
            <a:r>
              <a:rPr sz="1100">
                <a:latin typeface="微软雅黑"/>
              </a:rPr>
              <a:t>来源：V5 教学大纲「六、考核与评分」与「四次作业与阶段任务」。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备注占位符 33"/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lstStyle/>
          <a:p>
            <a:r>
              <a:rPr sz="1100">
                <a:latin typeface="微软雅黑"/>
              </a:rPr>
              <a:t>第57页｜补充｜期末项目与论文研讨</a:t>
            </a:r>
          </a:p>
          <a:p>
            <a:r>
              <a:rPr sz="1100">
                <a:latin typeface="微软雅黑"/>
              </a:rPr>
              <a:t>项目 A 自主课题 / B HEA 复现，同一评分标准；论文每人一篇、书面 1000—1500 字 + 约 300 字讨论记录。节点写全：第 8 讲一页计划、第 10 讲中期与统一截止、第 14 讲前代码反馈、第 16 讲前 24 小时终稿、第 16 讲答辩。</a:t>
            </a:r>
          </a:p>
          <a:p>
            <a:r>
              <a:rPr sz="1100">
                <a:latin typeface="微软雅黑"/>
              </a:rPr>
              <a:t>来源：V5 大纲「期末项目」「论文评议与课堂研讨」；节点为第 8/10/14/16 讲；讨论记录约 300 字。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备注占位符 35"/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lstStyle/>
          <a:p>
            <a:r>
              <a:rPr sz="1100">
                <a:latin typeface="微软雅黑"/>
              </a:rPr>
              <a:t>第59页｜必讲·实践｜基础 Python 预检（15 分钟）</a:t>
            </a:r>
          </a:p>
          <a:p>
            <a:r>
              <a:rPr sz="1100">
                <a:latin typeface="微软雅黑"/>
              </a:rPr>
              <a:t>学生独立操作 15 分钟，只用标准库：读 CSV（12 行 × 5 列、bandgap_J 缺 6 行）、核对 eV↔J 换算（最大偏差 0.000638 eV，S05 MgO）、存 SVG、登记版本。标准库通过不代表 numpy/pandas/sklearn 可用。</a:t>
            </a:r>
          </a:p>
          <a:p>
            <a:r>
              <a:rPr sz="1100">
                <a:latin typeface="微软雅黑"/>
              </a:rPr>
              <a:t>来源：code/环境验收/环境验收.py 实跑输出（Python 3.14.5 / Windows）；独立复算最大偏差 0.000638041261062483 eV。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备注占位符 37"/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lstStyle/>
          <a:p>
            <a:r>
              <a:rPr sz="1100">
                <a:latin typeface="微软雅黑"/>
              </a:rPr>
              <a:t>第60页｜必讲·退出｜退出题与记录模板（四栏）</a:t>
            </a:r>
          </a:p>
          <a:p>
            <a:r>
              <a:rPr sz="1100">
                <a:latin typeface="微软雅黑"/>
              </a:rPr>
              <a:t>5 分钟写四栏：预测目标（含单位）、样本单位、独立验证证据、下一步动作。四栏都不许空话；这是第 2 讲任务卡的起点，不单独计分。</a:t>
            </a:r>
          </a:p>
          <a:p>
            <a:r>
              <a:rPr sz="1100">
                <a:latin typeface="微软雅黑"/>
              </a:rPr>
              <a:t>来源：课程自编模板；与 V5 大纲任务卡字段一致（输入/目标/样本单位/可用时点/验证）。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备注占位符 99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sz="1100">
                <a:latin typeface="微软雅黑"/>
              </a:rPr>
              <a:t>第1页｜必讲·封面｜AI 在材料科学中的应用 · 第 1 讲</a:t>
            </a:r>
          </a:p>
          <a:p>
            <a:r>
              <a:rPr sz="1100">
                <a:latin typeface="微软雅黑"/>
              </a:rPr>
              <a:t>开场 30 秒：本讲是整门课的入口，先给定位——材料信息学不是「用 AI 代替材料研究」，而是把数据、表示、验证串成一条可复核的链。</a:t>
            </a:r>
          </a:p>
          <a:p>
            <a:r>
              <a:rPr sz="1100">
                <a:latin typeface="微软雅黑"/>
              </a:rPr>
              <a:t>来源：课程信息：1012680110，2 学分 / 32 学时，8 周 × 每周 4 学时，16 讲；开课单位与授课教师按 V5 课程基本信息。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备注占位符 99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sz="1100">
                <a:latin typeface="微软雅黑"/>
              </a:rPr>
              <a:t>第4页｜分隔页（补充）｜什么是材料信息学（分隔页）</a:t>
            </a:r>
          </a:p>
          <a:p>
            <a:r>
              <a:rPr sz="1100">
                <a:latin typeface="微软雅黑"/>
              </a:rPr>
              <a:t>进入第一部分：先给定义与语境，再谈「为什么需要」。本页不展开，只报幕。</a:t>
            </a:r>
          </a:p>
          <a:p>
            <a:r>
              <a:rPr sz="1100">
                <a:latin typeface="微软雅黑"/>
              </a:rPr>
              <a:t>来源：课程自编。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备注占位符 99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sz="1100">
                <a:latin typeface="微软雅黑"/>
              </a:rPr>
              <a:t>第5页｜补充｜开场：银幕上的 AI vs 实验室里的 AI</a:t>
            </a:r>
          </a:p>
          <a:p>
            <a:r>
              <a:rPr sz="1100">
                <a:latin typeface="微软雅黑"/>
              </a:rPr>
              <a:t>用两种极端态度破题：银幕 AI 是叙事工具，不是技术现状；实验室里的模型需要数据、特征与调试，会过拟合、会在分布外失灵。结论：把 AI 当仪器来驾驭。</a:t>
            </a:r>
          </a:p>
          <a:p>
            <a:r>
              <a:rPr sz="1100">
                <a:latin typeface="微软雅黑"/>
              </a:rPr>
              <a:t>来源：课程自编；观点性对比，不引用具体影片或产品性能。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备注占位符 99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sz="1100">
                <a:latin typeface="微软雅黑"/>
              </a:rPr>
              <a:t>第6页｜补充｜AI、机器学习与深度学习的关系</a:t>
            </a:r>
          </a:p>
          <a:p>
            <a:r>
              <a:rPr sz="1100">
                <a:latin typeface="微软雅黑"/>
              </a:rPr>
              <a:t>三层嵌套：AI ⊃ ML ⊃ DL；再补一对极点——符号主义与学习主义。符号主义指把知识写成显式规则与符号结构（专家系统、规则库、知识图谱）；第一性原理计算属于理论计算，不因为写了方程就算符号 AI。学习主义也不必然牺牲可读性：线性模型、决策树仍可读，深度网络通常较难。第 15 讲 PINN 把物理残差写进损失。</a:t>
            </a:r>
          </a:p>
          <a:p>
            <a:r>
              <a:rPr sz="1100">
                <a:latin typeface="微软雅黑"/>
              </a:rPr>
              <a:t>来源：课程自编；PINN 的损失构成见第 15 讲与 Raissi 等 2019 的框架（本讲不展开推导）；符号主义/学习主义的划分按教材通行说法，不把数值计算等同于符号推理。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备注占位符 99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sz="1100">
                <a:latin typeface="微软雅黑"/>
              </a:rPr>
              <a:t>第7页｜补充｜传统编程 vs 机器学习：范式倒置</a:t>
            </a:r>
          </a:p>
          <a:p>
            <a:r>
              <a:rPr sz="1100">
                <a:latin typeface="微软雅黑"/>
              </a:rPr>
              <a:t>规则先行 vs 数据先行：前者把规律写成代码，后者从「数据 + 答案」里学规律。材料研究的难点恰是「规律尚未被写下」，所以需要后者；但特征与损失仍由物理直觉决定。</a:t>
            </a:r>
          </a:p>
          <a:p>
            <a:r>
              <a:rPr sz="1100">
                <a:latin typeface="微软雅黑"/>
              </a:rPr>
              <a:t>来源：课程自编；Google 翻译的规则系统到神经方法的演进作为公开常识举例，不引用具体指标。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备注占位符 99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sz="1100">
                <a:latin typeface="微软雅黑"/>
              </a:rPr>
              <a:t>第8页｜必讲｜什么是材料信息学</a:t>
            </a:r>
          </a:p>
          <a:p>
            <a:r>
              <a:rPr sz="1100">
                <a:latin typeface="微软雅黑"/>
              </a:rPr>
              <a:t>给出一句可引用的定义：材料信息学 = 数据科学应用于材料科学（Sparks）。交叉点的任务是把材料知识形式化，让机器可学，再把结果翻译回物理语言。</a:t>
            </a:r>
          </a:p>
          <a:p>
            <a:r>
              <a:rPr sz="1100">
                <a:latin typeface="微软雅黑"/>
              </a:rPr>
              <a:t>来源：Materials Informatics is data science applied to materials science —— Taylor D. Sparks, University of Utah（课程引用的定义）。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备注占位符 99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sz="1100">
                <a:latin typeface="微软雅黑"/>
              </a:rPr>
              <a:t>第9页｜必讲｜材料科学的经典四面体</a:t>
            </a:r>
          </a:p>
          <a:p>
            <a:r>
              <a:rPr sz="1100">
                <a:latin typeface="微软雅黑"/>
              </a:rPr>
              <a:t>结构—性质—工艺—性能，加表征构成五概念语境。传统研究沿链路单向推进；材料信息学的介入点是把历史数据连起来，跨环节找关联。</a:t>
            </a:r>
          </a:p>
          <a:p>
            <a:r>
              <a:rPr sz="1100">
                <a:latin typeface="微软雅黑"/>
              </a:rPr>
              <a:t>来源：材料科学通行的「结构—工艺—性质—性能」框架；课程自绘示意图。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备注占位符 99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sz="1100">
                <a:latin typeface="微软雅黑"/>
              </a:rPr>
              <a:t>第10页｜补充｜学科框架：从经验关系到数据关系</a:t>
            </a:r>
          </a:p>
          <a:p>
            <a:r>
              <a:rPr sz="1100">
                <a:latin typeface="微软雅黑"/>
              </a:rPr>
              <a:t>这篇文献不是「某次金属玻璃发现」的报告：Rajan 2005 在 Materials Today 发表的是材料信息学综述，提出领域框架与方法议程——把数据科学方法系统引入材料研究。数据驱动不等于不要物理：特征怎么构造、损失怎么设计仍由物理直觉决定。本页图为历史课程配图，原刊出处未核，不能用新引文给旧图背书。</a:t>
            </a:r>
          </a:p>
          <a:p>
            <a:r>
              <a:rPr sz="1100">
                <a:latin typeface="微软雅黑"/>
              </a:rPr>
              <a:t>来源：Krishna Rajan (2005), “Materials informatics”, Materials Today 8(10), 38–45, DOI 10.1016/S1369-7021(05)71123-8（出版者条目 https://www.sciencedirect.com/science/article/pii/S1369702105711238）；该文为 Review Feature（综述特稿），不宣称其亲自完成某个未核的金属玻璃发现；旧引文「Rajan et al., Comput. Mater. Sci. 2005」归属未核，已不再使用；Hall–Petch 式仅作对照。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备注占位符 99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sz="1100">
                <a:latin typeface="微软雅黑"/>
              </a:rPr>
              <a:t>第12页｜补充｜两种趋势：一种写得成公式，一种写不出来</a:t>
            </a:r>
          </a:p>
          <a:p>
            <a:r>
              <a:rPr sz="1100">
                <a:latin typeface="微软雅黑"/>
              </a:rPr>
              <a:t>左边 Hall–Petch 能写成一条公式；右边热电优值 ZT 是上千条记录、只能看到散点与年均值。规律写不成公式时，才轮到模型去逼近。</a:t>
            </a:r>
          </a:p>
          <a:p>
            <a:r>
              <a:rPr sz="1100">
                <a:latin typeface="微软雅黑"/>
              </a:rPr>
              <a:t>来源：Hall–Petch 关系为教科书内容；ZT 散点为原课程整理的历史数据（教学示意），本页不据此给新材料结论。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备注占位符 99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sz="1100">
                <a:latin typeface="微软雅黑"/>
              </a:rPr>
              <a:t>第13页｜补充｜材料基因组计划：一份 2011 年的国家文件</a:t>
            </a:r>
          </a:p>
          <a:p>
            <a:r>
              <a:rPr sz="1100">
                <a:latin typeface="微软雅黑"/>
              </a:rPr>
              <a:t>MGI 2011 的核心是把「计算—数据—实验」连成加速发现的基础设施。它不是某个算法，而是数据共享与标准化的国家层面投入。</a:t>
            </a:r>
          </a:p>
          <a:p>
            <a:r>
              <a:rPr sz="1100">
                <a:latin typeface="微软雅黑"/>
              </a:rPr>
              <a:t>来源：Materials Genome Initiative for Global Competitiveness, 2011（美国 NSTC 文件，公开文本）。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备注占位符 99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sz="1100">
                <a:latin typeface="微软雅黑"/>
              </a:rPr>
              <a:t>第14页｜补充｜材料基因假说：是否存在「基因」？</a:t>
            </a:r>
          </a:p>
          <a:p>
            <a:r>
              <a:rPr sz="1100">
                <a:latin typeface="微软雅黑"/>
              </a:rPr>
              <a:t>澄清比喻：材料「基因」不是生物学意义上的基因，而是可组合、可传递的结构/成分单元与计算描述符。把比喻当定义，会得出「找到基因就能设计一切」的错误期待。</a:t>
            </a:r>
          </a:p>
          <a:p>
            <a:r>
              <a:rPr sz="1100">
                <a:latin typeface="微软雅黑"/>
              </a:rPr>
              <a:t>来源：课程自编；MGI 白皮书中「materials genome」的用法作为对照。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备注占位符 99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sz="1100">
                <a:latin typeface="微软雅黑"/>
              </a:rPr>
              <a:t>第15页｜补充｜为什么需要数据驱动的材料科学？</a:t>
            </a:r>
          </a:p>
          <a:p>
            <a:r>
              <a:rPr sz="1100">
                <a:latin typeface="微软雅黑"/>
              </a:rPr>
              <a:t>三条理由：空间巨大、单次实验昂贵、失败率高。所以要先在计算机里筛，再拿少量候选去验证；这不是「替代实验」，而是改变试错的顺序。</a:t>
            </a:r>
          </a:p>
          <a:p>
            <a:r>
              <a:rPr sz="1100">
                <a:latin typeface="微软雅黑"/>
              </a:rPr>
              <a:t>来源：课程自编；成本结构为定性描述，不引用具体金额。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备注占位符 99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sz="1100">
                <a:latin typeface="微软雅黑"/>
              </a:rPr>
              <a:t>第18页｜补充｜是短暂风口，还是长期趋势？</a:t>
            </a:r>
          </a:p>
          <a:p>
            <a:r>
              <a:rPr sz="1100">
                <a:latin typeface="微软雅黑"/>
              </a:rPr>
              <a:t>判断趋势看三件事：是否有稳定的数据基础设施、是否进入真实决策链、是否可复核。只看融资或论文数量，容易把周期当趋势。</a:t>
            </a:r>
          </a:p>
          <a:p>
            <a:r>
              <a:rPr sz="1100">
                <a:latin typeface="微软雅黑"/>
              </a:rPr>
              <a:t>来源：课程自编；不引用具体市场规模数字。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备注占位符 99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sz="1100">
                <a:latin typeface="微软雅黑"/>
              </a:rPr>
              <a:t>第20页｜分隔页（补充）｜机器学习 ≠ 材料信息学（分隔页）</a:t>
            </a:r>
          </a:p>
          <a:p>
            <a:r>
              <a:rPr sz="1100">
                <a:latin typeface="微软雅黑"/>
              </a:rPr>
              <a:t>第二部分：六个维度说明为什么不能照搬通用 ML 教法。本页只报幕。</a:t>
            </a:r>
          </a:p>
          <a:p>
            <a:r>
              <a:rPr sz="1100">
                <a:latin typeface="微软雅黑"/>
              </a:rPr>
              <a:t>来源：课程自编。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备注占位符 99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sz="1100">
                <a:latin typeface="微软雅黑"/>
              </a:rPr>
              <a:t>第24页｜必讲｜维度③　高度异质的数据</a:t>
            </a:r>
          </a:p>
          <a:p>
            <a:r>
              <a:rPr sz="1100">
                <a:latin typeface="微软雅黑"/>
              </a:rPr>
              <a:t>同一个「带隙」可能来自不同泛函、不同温度、不同测量方法；异质不是脏数据，而是必须记录的元数据。字段语义不清，后面的模型比较就没有意义。</a:t>
            </a:r>
          </a:p>
          <a:p>
            <a:r>
              <a:rPr sz="1100">
                <a:latin typeface="微软雅黑"/>
              </a:rPr>
              <a:t>来源：课程自编；第 3 讲会给出 MP/NOMAD 字段与单位对照的具体例子。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备注占位符 99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sz="1100">
                <a:latin typeface="微软雅黑"/>
              </a:rPr>
              <a:t>第25页｜必讲｜维度④　不确定性量化是必需的</a:t>
            </a:r>
          </a:p>
          <a:p>
            <a:r>
              <a:rPr sz="1100">
                <a:latin typeface="微软雅黑"/>
              </a:rPr>
              <a:t>新数据昂贵，所以「预测多少」必须带「有多不确定」。这里要把两种来源分开：固定测量机制的噪声，不会仅靠增加训练数据消失，要靠改进测量；重复测量能降低的是均值估计误差。模型不确定性才随相关数据增加而降低；高方差本身不是万能的外推探测器（第 13 讲展开）。</a:t>
            </a:r>
          </a:p>
          <a:p>
            <a:r>
              <a:rPr sz="1100">
                <a:latin typeface="微软雅黑"/>
              </a:rPr>
              <a:t>来源：课程自编；噪声与均值估计误差、模型不确定性的区分见第 13 讲（GP 后验与噪声项）。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备注占位符 99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sz="1100">
                <a:latin typeface="微软雅黑"/>
              </a:rPr>
              <a:t>第26页｜补充｜维度⑤　特征工程仍然关键</a:t>
            </a:r>
          </a:p>
          <a:p>
            <a:r>
              <a:rPr sz="1100">
                <a:latin typeface="微软雅黑"/>
              </a:rPr>
              <a:t>材料任务里，特征常决定上限：成分加权统计、周期图、图表示、指纹。但「手工特征比端到端好」不是普遍规律：手工、学习与预训练表示谁更好，取决于任务与数据量，是否改善泛化必须在同一划分、同一预算下比较（第 8 讲）。</a:t>
            </a:r>
          </a:p>
          <a:p>
            <a:r>
              <a:rPr sz="1100">
                <a:latin typeface="微软雅黑"/>
              </a:rPr>
              <a:t>来源：课程自编；CBFV、周期图与图表示分别在第 4、5 讲；表示比较的同协议要求见第 8 讲。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备注占位符 99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sz="1100">
                <a:latin typeface="微软雅黑"/>
              </a:rPr>
              <a:t>第27页｜必讲｜维度⑥　可解释性是需求，不是加分项</a:t>
            </a:r>
          </a:p>
          <a:p>
            <a:r>
              <a:rPr sz="1100">
                <a:latin typeface="微软雅黑"/>
              </a:rPr>
              <a:t>解释是决策的一部分，但先要把结论本身立住：有效预测结论需要可追溯的数据来源、与应用目标匹配的验证和明确的适用边界；机制因果要另证。置换重要性、PDP/SHAP 只描述模型行为（第 9 讲）。PINN 把物理残差加入损失，也不等于严格满足物理或自动可解释。</a:t>
            </a:r>
          </a:p>
          <a:p>
            <a:r>
              <a:rPr sz="1100">
                <a:latin typeface="微软雅黑"/>
              </a:rPr>
              <a:t>来源：课程自编；SHAP/PDP 的边界见第 9 讲；PINN 的检验要求见第 15 讲。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备注占位符 99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sz="1100">
                <a:latin typeface="微软雅黑"/>
              </a:rPr>
              <a:t>第28页｜必讲｜六个维度汇总：一张表记住本课立场</a:t>
            </a:r>
          </a:p>
          <a:p>
            <a:r>
              <a:rPr sz="1100">
                <a:latin typeface="微软雅黑"/>
              </a:rPr>
              <a:t>六行对应后续讲次：小数据→特征/正则/迁移；外推→LOCO-CV（留一簇交叉验证）；异质→表示；不确定性→GP/BO；特征→CBFV/图/指纹；可解释→SHAP/物理约束。这六维是本课要重点处理的任务条件，不是材料领域与通用 ML 的绝对二分。</a:t>
            </a:r>
          </a:p>
          <a:p>
            <a:r>
              <a:rPr sz="1100">
                <a:latin typeface="微软雅黑"/>
              </a:rPr>
              <a:t>来源：课程自编；LOCO = leave-one-cluster-out（留一簇），见第 8 讲；六维为课程组织口径，不作领域分类学。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备注占位符 99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sz="1100">
                <a:latin typeface="微软雅黑"/>
              </a:rPr>
              <a:t>第29页｜必讲｜材料案例：光电材料中的小数据困境</a:t>
            </a:r>
          </a:p>
          <a:p>
            <a:r>
              <a:rPr sz="1100">
                <a:latin typeface="微软雅黑"/>
              </a:rPr>
              <a:t>用光电材料说明「数据少且贵」：同一化学式的不同相、不同工艺会被混在一起。新体系筛选要外推，既有体系的工艺优化多是内插；应用目标决定划分方式，不能把「发现」等同于成分外推。</a:t>
            </a:r>
          </a:p>
          <a:p>
            <a:r>
              <a:rPr sz="1100">
                <a:latin typeface="微软雅黑"/>
              </a:rPr>
              <a:t>来源：课程自编教学案例；不引用具体数据库条数；划分与应用目标的对应见第 8 讲。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备注占位符 99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sz="1100">
                <a:latin typeface="微软雅黑"/>
              </a:rPr>
              <a:t>第31页｜补充｜本课程主线：数据 → 表示 → 建模 → 评估 → 优化</a:t>
            </a:r>
          </a:p>
          <a:p>
            <a:r>
              <a:rPr sz="1100">
                <a:latin typeface="微软雅黑"/>
              </a:rPr>
              <a:t>把六个环节串成一条链，并指出每一环都可能失败：数据错、表示丢信息、模型过拟合、评估泄漏、优化越界。课程按这条链组织 16 讲；原课程资源按本课重组，不再用旧讲义的份数、页数或论文篇数当作覆盖证据。</a:t>
            </a:r>
          </a:p>
          <a:p>
            <a:r>
              <a:rPr sz="1100">
                <a:latin typeface="微软雅黑"/>
              </a:rPr>
              <a:t>来源：课程自编；与 V5 大纲「内容结构」一致；原课程选用资源见《覆盖矩阵》，已按本课 16 讲重组。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备注占位符 99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sz="1100">
                <a:latin typeface="微软雅黑"/>
              </a:rPr>
              <a:t>第32页｜分隔页（补充）｜材料是如何被发现的（分隔页）</a:t>
            </a:r>
          </a:p>
          <a:p>
            <a:r>
              <a:rPr sz="1100">
                <a:latin typeface="微软雅黑"/>
              </a:rPr>
              <a:t>第三部分：从历史案例到方法分类，再到 AI4S 的边界。本页只报幕。</a:t>
            </a:r>
          </a:p>
          <a:p>
            <a:r>
              <a:rPr sz="1100">
                <a:latin typeface="微软雅黑"/>
              </a:rPr>
              <a:t>来源：课程自编。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备注占位符 99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sz="1100">
                <a:latin typeface="微软雅黑"/>
              </a:rPr>
              <a:t>第33页｜补充｜偶然的发现：Stookey 与玻璃陶瓷</a:t>
            </a:r>
          </a:p>
          <a:p>
            <a:r>
              <a:rPr sz="1100">
                <a:latin typeface="微软雅黑"/>
              </a:rPr>
              <a:t>Corning 官方创新史记 1952 年：炉温失控过热，感光玻璃没有变形，而是整体析晶、呈乳白色，落地也未碎——得到的是玻璃陶瓷（感光成核 + 受控晶化），不是离子交换化学强化。部分机构记 1953，本页统一写 20 世纪 50 年代；页面文字是官方叙述的转述（译述），不是逐字直引。左卡已移除未核肖像（源 DSL 用 assets/edison_portrait.png 却署 Stookey，与 Corning 官方肖像不符），改为可编辑的三步观察卡；不添加其它照片，也不猜原图人物是谁。</a:t>
            </a:r>
          </a:p>
          <a:p>
            <a:r>
              <a:rPr sz="1100">
                <a:latin typeface="微软雅黑"/>
              </a:rPr>
              <a:t>来源：Corning《The History of Corning Innovation》1952 年条目 https://www.corning.com/cala/en/innovation/culture-of-innovation/the-history-of-corning-innovation.html ；Corning《Glass Heroes》https://www.corning.com/worldwide/en/innovation/the-glass-age/inspiration/glass-heroes.html ；离子交换化学强化为另一项独立技术，不并入本页。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备注占位符 99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sz="1100">
                <a:latin typeface="微软雅黑"/>
              </a:rPr>
              <a:t>第34页｜补充｜偶然发现：三件改变了生活的材料</a:t>
            </a:r>
          </a:p>
          <a:p>
            <a:r>
              <a:rPr sz="1100">
                <a:latin typeface="微软雅黑"/>
              </a:rPr>
              <a:t>三个例子共同点：意外现象 + 有人愿意追问。但偶然不等于可复制，本课程关心的是「怎样把偶然变成可重复的搜索」。微晶玻璃标 1952，取自 Corning 官方创新史；部分机构记 1953，年份差异不影响叙述。</a:t>
            </a:r>
          </a:p>
          <a:p>
            <a:r>
              <a:rPr sz="1100">
                <a:latin typeface="微软雅黑"/>
              </a:rPr>
              <a:t>来源：Corning 官方创新史（1952 年条目）与公开材料史常识；页面不引用未核细节。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备注占位符 99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sz="1100">
                <a:latin typeface="微软雅黑"/>
              </a:rPr>
              <a:t>第35页｜补充｜发现从哪里来？五种常见来源</a:t>
            </a:r>
          </a:p>
          <a:p>
            <a:r>
              <a:rPr sz="1100">
                <a:latin typeface="微软雅黑"/>
              </a:rPr>
              <a:t>五种来源：1% 灵感 + 99% 汗水（长期系统工作）、在对的时间对的地点（技术时机成熟）、从自然界获得灵感（仿生）、细节洞察（异常相或测量偏差）、错误与意外（如 Stookey 的碎玻璃）。这是发现的来源分类，不是五种算法。</a:t>
            </a:r>
          </a:p>
          <a:p>
            <a:r>
              <a:rPr sz="1100">
                <a:latin typeface="微软雅黑"/>
              </a:rPr>
              <a:t>来源：课程自编分类；与页面五张卡一一对应。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备注占位符 99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sz="1100">
                <a:latin typeface="微软雅黑"/>
              </a:rPr>
              <a:t>第36页｜补充｜方法一、二：经验试错与理论计算</a:t>
            </a:r>
          </a:p>
          <a:p>
            <a:r>
              <a:rPr sz="1100">
                <a:latin typeface="微软雅黑"/>
              </a:rPr>
              <a:t>试错靠专家直觉与实验吞吐；理论计算靠第一性原理与热力学。前者贵在真实，后者贵在可解释，两者都不能单独覆盖化学空间。</a:t>
            </a:r>
          </a:p>
          <a:p>
            <a:r>
              <a:rPr sz="1100">
                <a:latin typeface="微软雅黑"/>
              </a:rPr>
              <a:t>来源：课程自编；DFT 的适用范围与局限见第 15 讲。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备注占位符 99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sz="1100">
                <a:latin typeface="微软雅黑"/>
              </a:rPr>
              <a:t>第37页｜补充｜方法三：数据驱动</a:t>
            </a:r>
          </a:p>
          <a:p>
            <a:r>
              <a:rPr sz="1100">
                <a:latin typeface="微软雅黑"/>
              </a:rPr>
              <a:t>数据驱动把「已知的发现」变成训练集，再去排序未知候选。它的产出是候选与优先级，不是「已证实的材料」。</a:t>
            </a:r>
          </a:p>
          <a:p>
            <a:r>
              <a:rPr sz="1100">
                <a:latin typeface="微软雅黑"/>
              </a:rPr>
              <a:t>来源：课程自编；候选与验证的区分见第 8 讲与第 10 讲。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备注占位符 99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sz="1100">
                <a:latin typeface="微软雅黑"/>
              </a:rPr>
              <a:t>第38页｜补充｜方法四：自主发现与实验闭环</a:t>
            </a:r>
          </a:p>
          <a:p>
            <a:r>
              <a:rPr sz="1100">
                <a:latin typeface="微软雅黑"/>
              </a:rPr>
              <a:t>闭环 = 模型选下一批实验 + 机器人执行 + 结果回填。人在环上设定目标、约束与安全边界；闭环不等于无人。第 14 讲只讲采集函数与同预算离线回放；Optuna 是调参与采样器配置的工程示例，不把「用了 Optuna」等同于 GP-BO。</a:t>
            </a:r>
          </a:p>
          <a:p>
            <a:r>
              <a:rPr sz="1100">
                <a:latin typeface="微软雅黑"/>
              </a:rPr>
              <a:t>来源：课程自编；BO 的采集函数与离线回放协议见第 14 讲；具体平台案例见第 15 讲与课程导论案例页。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备注占位符 99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sz="1100">
                <a:latin typeface="微软雅黑"/>
              </a:rPr>
              <a:t>第39页｜补充｜从生成结构到机器人验证：闭环正在形成</a:t>
            </a:r>
          </a:p>
          <a:p>
            <a:r>
              <a:rPr sz="1100">
                <a:latin typeface="微软雅黑"/>
              </a:rPr>
              <a:t>生成—筛选—合成—表征四段，任一环断开都不叫闭环。当前多数工作报告的是其中一两段，读论文时要看清「闭环」覆盖到哪一步。</a:t>
            </a:r>
          </a:p>
          <a:p>
            <a:r>
              <a:rPr sz="1100">
                <a:latin typeface="微软雅黑"/>
              </a:rPr>
              <a:t>来源：课程自编；以第 15 讲的自驱动实验室讨论为准。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备注占位符 99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sz="1100">
                <a:latin typeface="微软雅黑"/>
              </a:rPr>
              <a:t>第40页｜必讲｜四种方法：并存、分工与协同</a:t>
            </a:r>
          </a:p>
          <a:p>
            <a:r>
              <a:rPr sz="1100">
                <a:latin typeface="微软雅黑"/>
              </a:rPr>
              <a:t>四种方法并存：经验试错、理论计算、数据驱动、自主发现。经验给可行域与失败模式，理论计算给机理与一致性检查，数据模型把昂贵环节换成代理，闭环把下一步决策自动化；是分工不是接替。</a:t>
            </a:r>
          </a:p>
          <a:p>
            <a:r>
              <a:rPr sz="1100">
                <a:latin typeface="微软雅黑"/>
              </a:rPr>
              <a:t>来源：课程自编；与导论 P7—P16 十例的「证据层级」一致。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备注占位符 99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sz="1100">
                <a:latin typeface="微软雅黑"/>
              </a:rPr>
              <a:t>第45页｜分隔页（补充）｜AI 材料产业与黄金热（分隔页）</a:t>
            </a:r>
          </a:p>
          <a:p>
            <a:r>
              <a:rPr sz="1100">
                <a:latin typeface="微软雅黑"/>
              </a:rPr>
              <a:t>第四部分：产业视角。强调本部分多为教学情景与公开信息，不作为投资或就业建议。</a:t>
            </a:r>
          </a:p>
          <a:p>
            <a:r>
              <a:rPr sz="1100">
                <a:latin typeface="微软雅黑"/>
              </a:rPr>
              <a:t>来源：课程自编。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备注占位符 99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sz="1100">
                <a:latin typeface="微软雅黑"/>
              </a:rPr>
              <a:t>第47页｜补充｜AI 材料「淘金热」</a:t>
            </a:r>
          </a:p>
          <a:p>
            <a:r>
              <a:rPr sz="1100">
                <a:latin typeface="微软雅黑"/>
              </a:rPr>
              <a:t>热度来自三股力量：算力、数据积累、自动化实验。但热度不等于产出，读产业新闻要区分「发布平台」与「验证结果」。</a:t>
            </a:r>
          </a:p>
          <a:p>
            <a:r>
              <a:rPr sz="1100">
                <a:latin typeface="微软雅黑"/>
              </a:rPr>
              <a:t>来源：课程自编；不引用具体融资额或市场规模。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备注占位符 99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sz="1100">
                <a:latin typeface="微软雅黑"/>
              </a:rPr>
              <a:t>第48页｜补充｜工业界在做什么</a:t>
            </a:r>
          </a:p>
          <a:p>
            <a:r>
              <a:rPr sz="1100">
                <a:latin typeface="微软雅黑"/>
              </a:rPr>
              <a:t>工业界的三类落点：配方优化、工艺窗口、质量预测。共同点是「有历史数据 + 有明确指标」，这正是数据驱动最容易产生价值的地方。</a:t>
            </a:r>
          </a:p>
          <a:p>
            <a:r>
              <a:rPr sz="1100">
                <a:latin typeface="微软雅黑"/>
              </a:rPr>
              <a:t>来源：课程自编概述；不指名具体企业产品性能。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备注占位符 99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sz="1100">
                <a:latin typeface="微软雅黑"/>
              </a:rPr>
              <a:t>第51页｜必讲｜对淘金热的冷静审视</a:t>
            </a:r>
          </a:p>
          <a:p>
            <a:r>
              <a:rPr sz="1100">
                <a:latin typeface="微软雅黑"/>
              </a:rPr>
              <a:t>四类问题：数据（计算与实验有系统差）、评估（泄漏与口径）、可复现（代码/版本）、证据（候选≠发现）。这四条也是本课程的评分关注点。</a:t>
            </a:r>
          </a:p>
          <a:p>
            <a:r>
              <a:rPr sz="1100">
                <a:latin typeface="微软雅黑"/>
              </a:rPr>
              <a:t>来源：课程自编；与 V5 大纲「可信评估」要求一致。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备注占位符 99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sz="1100">
                <a:latin typeface="微软雅黑"/>
              </a:rPr>
              <a:t>第52页｜补充｜这与在座的你有什么关系？</a:t>
            </a:r>
          </a:p>
          <a:p>
            <a:r>
              <a:rPr sz="1100">
                <a:latin typeface="微软雅黑"/>
              </a:rPr>
              <a:t>把产业问题翻译成博士课题：你的数据是否够、指标是否明确、验证是否独立。这三问决定你能不能把 AI 用在真问题上。</a:t>
            </a:r>
          </a:p>
          <a:p>
            <a:r>
              <a:rPr sz="1100">
                <a:latin typeface="微软雅黑"/>
              </a:rPr>
              <a:t>来源：课程自编。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备注占位符 99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sz="1100">
                <a:latin typeface="微软雅黑"/>
              </a:rPr>
              <a:t>第53页｜分隔页（补充）｜课程地图与学术诚信（分隔页）</a:t>
            </a:r>
          </a:p>
          <a:p>
            <a:r>
              <a:rPr sz="1100">
                <a:latin typeface="微软雅黑"/>
              </a:rPr>
              <a:t>第五部分：课程结构、考核节点与 AI 使用边界。本页只报幕。</a:t>
            </a:r>
          </a:p>
          <a:p>
            <a:r>
              <a:rPr sz="1100">
                <a:latin typeface="微软雅黑"/>
              </a:rPr>
              <a:t>来源：课程自编。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备注占位符 99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sz="1100">
                <a:latin typeface="微软雅黑"/>
              </a:rPr>
              <a:t>第56页｜必讲｜学术诚信与 AI 工具使用边界</a:t>
            </a:r>
          </a:p>
          <a:p>
            <a:r>
              <a:rPr sz="1100">
                <a:latin typeface="微软雅黑"/>
              </a:rPr>
              <a:t>三条底线：数据与引用可追溯、AI 使用要声明、生成内容不作实验证据。允许用 AI 辅助，不允许用它替代独立复核。</a:t>
            </a:r>
          </a:p>
          <a:p>
            <a:r>
              <a:rPr sz="1100">
                <a:latin typeface="微软雅黑"/>
              </a:rPr>
              <a:t>来源：V5 大纲「研究表达与诚信」与课程导论 P30 约定（不是本讲 P30 的可解释性页）；不虚构处分条款。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备注占位符 99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sz="1100">
                <a:latin typeface="微软雅黑"/>
              </a:rPr>
              <a:t>第58页｜必讲·小结｜本讲小结与下讲预告</a:t>
            </a:r>
          </a:p>
          <a:p>
            <a:r>
              <a:rPr sz="1100">
                <a:latin typeface="微软雅黑"/>
              </a:rPr>
              <a:t>三句话收束：材料信息学是数据科学用于材料；小数据与外推决定方法选择；候选必须用独立证据检验。六维是本课的任务条件，不是领域二分。下讲：任务卡与数据生态。</a:t>
            </a:r>
          </a:p>
          <a:p>
            <a:r>
              <a:rPr sz="1100">
                <a:latin typeface="微软雅黑"/>
              </a:rPr>
              <a:t>来源：课程自编；下讲内容见第 2 讲任务书与 V5 计划。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notesSlide" Target="../notesSlides/notesSlide2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3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3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3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notesSlide" Target="../notesSlides/notesSlide3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notesSlide" Target="../notesSlides/notesSlide4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0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notesSlide" Target="../notesSlides/notesSlide5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9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0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文本框 3" descr="{&quot;isTemplate&quot;:true,&quot;type&quot;:&quot;text&quot;}"/>
          <p:cNvSpPr txBox="1"/>
          <p:nvPr/>
        </p:nvSpPr>
        <p:spPr>
          <a:xfrm>
            <a:off x="342900" y="171450"/>
            <a:ext cx="3524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在材料科学中的应用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讲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材料信息学导论与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产业</a:t>
            </a:r>
            <a:endParaRPr/>
          </a:p>
        </p:txBody>
      </p:sp>
      <p:sp>
        <p:nvSpPr>
          <p:cNvPr id="5" name="文本框 4" descr="{&quot;isTemplate&quot;:true,&quot;type&quot;:&quot;text&quot;}"/>
          <p:cNvSpPr txBox="1"/>
          <p:nvPr/>
        </p:nvSpPr>
        <p:spPr>
          <a:xfrm>
            <a:off x="10477500" y="171450"/>
            <a:ext cx="2667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封面</a:t>
            </a:r>
            <a:endParaRPr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 l="847" r="847"/>
          <a:stretch>
            <a:fillRect/>
          </a:stretch>
        </p:blipFill>
        <p:spPr>
          <a:xfrm>
            <a:off x="10858500" y="123825"/>
            <a:ext cx="990600" cy="247650"/>
          </a:xfrm>
          <a:prstGeom prst="rect">
            <a:avLst/>
          </a:prstGeom>
          <a:ln/>
        </p:spPr>
      </p:pic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381000" y="666750"/>
            <a:ext cx="114300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E3F8C"/>
                </a:solidFill>
                <a:latin typeface="钉钉进步体"/>
                <a:ea typeface="钉钉进步体"/>
              </a:rPr>
              <a:t>AI </a:t>
            </a:r>
            <a:r>
              <a:rPr lang="zh-CN" sz="2400" b="1">
                <a:solidFill>
                  <a:srgbClr val="0E3F8C"/>
                </a:solidFill>
                <a:latin typeface="钉钉进步体"/>
                <a:ea typeface="钉钉进步体"/>
              </a:rPr>
              <a:t>在材料科学中的应用</a:t>
            </a:r>
            <a:endParaRPr/>
          </a:p>
        </p:txBody>
      </p:sp>
      <p:sp>
        <p:nvSpPr>
          <p:cNvPr id="8" name="矩形: 圆角 7"/>
          <p:cNvSpPr/>
          <p:nvPr/>
        </p:nvSpPr>
        <p:spPr>
          <a:xfrm>
            <a:off x="381000" y="1114425"/>
            <a:ext cx="571500" cy="47625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文本框 9" descr="{&quot;isTemplate&quot;:true,&quot;type&quot;:&quot;text&quot;}"/>
          <p:cNvSpPr txBox="1"/>
          <p:nvPr/>
        </p:nvSpPr>
        <p:spPr>
          <a:xfrm>
            <a:off x="666750" y="2838450"/>
            <a:ext cx="10858500" cy="666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4350" b="1">
                <a:solidFill>
                  <a:srgbClr val="0B1B33"/>
                </a:solidFill>
                <a:latin typeface="钉钉进步体"/>
                <a:ea typeface="钉钉进步体"/>
              </a:rPr>
              <a:t>AI </a:t>
            </a:r>
            <a:r>
              <a:rPr lang="zh-CN" sz="4350" b="1">
                <a:solidFill>
                  <a:srgbClr val="0B1B33"/>
                </a:solidFill>
                <a:latin typeface="钉钉进步体"/>
                <a:ea typeface="钉钉进步体"/>
              </a:rPr>
              <a:t>在材料科学中的应用</a:t>
            </a:r>
            <a:endParaRPr/>
          </a:p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666750" y="3638550"/>
            <a:ext cx="108585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E4FA8"/>
                </a:solidFill>
                <a:latin typeface="钉钉进步体"/>
                <a:ea typeface="钉钉进步体"/>
              </a:rPr>
              <a:t>第</a:t>
            </a:r>
            <a:r>
              <a:rPr lang="en-US" sz="2550" b="1">
                <a:solidFill>
                  <a:srgbClr val="1E4FA8"/>
                </a:solidFill>
                <a:latin typeface="钉钉进步体"/>
                <a:ea typeface="钉钉进步体"/>
              </a:rPr>
              <a:t> 1 </a:t>
            </a:r>
            <a:r>
              <a:rPr lang="zh-CN" sz="2550" b="1">
                <a:solidFill>
                  <a:srgbClr val="1E4FA8"/>
                </a:solidFill>
                <a:latin typeface="钉钉进步体"/>
                <a:ea typeface="钉钉进步体"/>
              </a:rPr>
              <a:t>讲　材料信息学导论与</a:t>
            </a:r>
            <a:r>
              <a:rPr lang="en-US" sz="2550" b="1">
                <a:solidFill>
                  <a:srgbClr val="1E4FA8"/>
                </a:solidFill>
                <a:latin typeface="钉钉进步体"/>
                <a:ea typeface="钉钉进步体"/>
              </a:rPr>
              <a:t> AI </a:t>
            </a:r>
            <a:r>
              <a:rPr lang="zh-CN" sz="2550" b="1">
                <a:solidFill>
                  <a:srgbClr val="1E4FA8"/>
                </a:solidFill>
                <a:latin typeface="钉钉进步体"/>
                <a:ea typeface="钉钉进步体"/>
              </a:rPr>
              <a:t>产业</a:t>
            </a:r>
            <a:endParaRPr/>
          </a:p>
        </p:txBody>
      </p:sp>
      <p:sp>
        <p:nvSpPr>
          <p:cNvPr id="12" name="矩形: 圆角 11"/>
          <p:cNvSpPr/>
          <p:nvPr/>
        </p:nvSpPr>
        <p:spPr>
          <a:xfrm>
            <a:off x="666750" y="4257675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FFC10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文本框 12" descr="{&quot;isTemplate&quot;:true,&quot;type&quot;:&quot;text&quot;}"/>
          <p:cNvSpPr txBox="1"/>
          <p:nvPr/>
        </p:nvSpPr>
        <p:spPr>
          <a:xfrm>
            <a:off x="666750" y="4562475"/>
            <a:ext cx="108585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>
                <a:solidFill>
                  <a:srgbClr val="3A4759"/>
                </a:solidFill>
                <a:latin typeface="微软雅黑"/>
                <a:ea typeface="微软雅黑"/>
              </a:rPr>
              <a:t>What is Materials Informatics </a:t>
            </a:r>
            <a:r>
              <a:rPr lang="zh-CN" sz="1500">
                <a:solidFill>
                  <a:srgbClr val="3A4759"/>
                </a:solidFill>
                <a:latin typeface="微软雅黑"/>
                <a:ea typeface="微软雅黑"/>
              </a:rPr>
              <a:t>｜</a:t>
            </a:r>
            <a:r>
              <a:rPr lang="en-US" sz="1500">
                <a:solidFill>
                  <a:srgbClr val="3A4759"/>
                </a:solidFill>
                <a:latin typeface="微软雅黑"/>
                <a:ea typeface="微软雅黑"/>
              </a:rPr>
              <a:t> </a:t>
            </a:r>
            <a:r>
              <a:rPr lang="zh-CN" sz="1500">
                <a:solidFill>
                  <a:srgbClr val="3A4759"/>
                </a:solidFill>
                <a:latin typeface="微软雅黑"/>
                <a:ea typeface="微软雅黑"/>
              </a:rPr>
              <a:t>覆盖原课程讲义</a:t>
            </a:r>
            <a:r>
              <a:rPr lang="en-US" sz="1500">
                <a:solidFill>
                  <a:srgbClr val="3A4759"/>
                </a:solidFill>
                <a:latin typeface="微软雅黑"/>
                <a:ea typeface="微软雅黑"/>
              </a:rPr>
              <a:t> 2 · 3 · 3a · 4</a:t>
            </a:r>
            <a:endParaRPr/>
          </a:p>
        </p:txBody>
      </p:sp>
      <p:sp>
        <p:nvSpPr>
          <p:cNvPr id="14" name="文本框 13" descr="{&quot;isTemplate&quot;:true,&quot;type&quot;:&quot;text&quot;}"/>
          <p:cNvSpPr txBox="1"/>
          <p:nvPr/>
        </p:nvSpPr>
        <p:spPr>
          <a:xfrm>
            <a:off x="666750" y="5076825"/>
            <a:ext cx="8572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主讲：何刚</a:t>
            </a:r>
            <a:endParaRPr/>
          </a:p>
        </p:txBody>
      </p:sp>
      <p:sp>
        <p:nvSpPr>
          <p:cNvPr id="15" name="文本框 14" descr="{&quot;isTemplate&quot;:true,&quot;type&quot;:&quot;text&quot;}"/>
          <p:cNvSpPr txBox="1"/>
          <p:nvPr/>
        </p:nvSpPr>
        <p:spPr>
          <a:xfrm>
            <a:off x="1905000" y="5076825"/>
            <a:ext cx="124777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>
                <a:solidFill>
                  <a:srgbClr val="1A2230"/>
                </a:solidFill>
                <a:latin typeface="微软雅黑"/>
                <a:ea typeface="微软雅黑"/>
              </a:rPr>
              <a:t>2 </a:t>
            </a: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学分</a:t>
            </a:r>
            <a:r>
              <a:rPr lang="en-US" sz="1350">
                <a:solidFill>
                  <a:srgbClr val="1A2230"/>
                </a:solidFill>
                <a:latin typeface="微软雅黑"/>
                <a:ea typeface="微软雅黑"/>
              </a:rPr>
              <a:t> / 32 </a:t>
            </a: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学时</a:t>
            </a:r>
            <a:endParaRPr/>
          </a:p>
        </p:txBody>
      </p:sp>
      <p:sp>
        <p:nvSpPr>
          <p:cNvPr id="16" name="文本框 15" descr="{&quot;isTemplate&quot;:true,&quot;type&quot;:&quot;text&quot;}"/>
          <p:cNvSpPr txBox="1"/>
          <p:nvPr/>
        </p:nvSpPr>
        <p:spPr>
          <a:xfrm>
            <a:off x="3533775" y="5076825"/>
            <a:ext cx="90487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>
                <a:solidFill>
                  <a:srgbClr val="1A2230"/>
                </a:solidFill>
                <a:latin typeface="微软雅黑"/>
                <a:ea typeface="微软雅黑"/>
              </a:rPr>
              <a:t>16 </a:t>
            </a: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讲</a:t>
            </a:r>
            <a:r>
              <a:rPr lang="en-US" sz="1350">
                <a:solidFill>
                  <a:srgbClr val="1A2230"/>
                </a:solidFill>
                <a:latin typeface="微软雅黑"/>
                <a:ea typeface="微软雅黑"/>
              </a:rPr>
              <a:t> · 8 </a:t>
            </a: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周</a:t>
            </a:r>
            <a:endParaRPr/>
          </a:p>
        </p:txBody>
      </p:sp>
      <p:sp>
        <p:nvSpPr>
          <p:cNvPr id="17" name="文本框 16" descr="{&quot;isTemplate&quot;:true,&quot;type&quot;:&quot;text&quot;}"/>
          <p:cNvSpPr txBox="1"/>
          <p:nvPr/>
        </p:nvSpPr>
        <p:spPr>
          <a:xfrm>
            <a:off x="4819650" y="5076825"/>
            <a:ext cx="8572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考核：考查</a:t>
            </a:r>
            <a:endParaRPr/>
          </a:p>
        </p:txBody>
      </p:sp>
      <p:sp>
        <p:nvSpPr>
          <p:cNvPr id="18" name="文本框 17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19" name="文本框 18" descr="{&quot;isTemplate&quot;:true,&quot;type&quot;:&quot;text&quot;}"/>
          <p:cNvSpPr txBox="1"/>
          <p:nvPr/>
        </p:nvSpPr>
        <p:spPr>
          <a:xfrm>
            <a:off x="55054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20" name="文本框 19" descr="{&quot;isTemplate&quot;:true,&quot;type&quot;:&quot;text&quot;}"/>
          <p:cNvSpPr txBox="1"/>
          <p:nvPr/>
        </p:nvSpPr>
        <p:spPr>
          <a:xfrm>
            <a:off x="11477625" y="6610350"/>
            <a:ext cx="3333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1 / 60</a:t>
            </a: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6750" y="1924050"/>
            <a:ext cx="1085850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E4FA8"/>
                </a:solidFill>
                <a:latin typeface="微软雅黑"/>
              </a:rPr>
              <a:t>开课单位：材料与化学学院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400" b="1">
                <a:solidFill>
                  <a:srgbClr val="1E4FA8"/>
                </a:solidFill>
                <a:latin typeface="微软雅黑"/>
              </a:rPr>
              <a:t>授课教师：计算机科学与技术学院　何刚　教授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矩形 30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7" name="矩形 306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8" name="文本框 307" descr="{&quot;isTemplate&quot;:true,&quot;type&quot;:&quot;text&quot;}"/>
          <p:cNvSpPr txBox="1"/>
          <p:nvPr/>
        </p:nvSpPr>
        <p:spPr>
          <a:xfrm>
            <a:off x="342900" y="171450"/>
            <a:ext cx="3524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在材料科学中的应用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讲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材料信息学导论与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产业</a:t>
            </a:r>
            <a:endParaRPr/>
          </a:p>
        </p:txBody>
      </p:sp>
      <p:sp>
        <p:nvSpPr>
          <p:cNvPr id="309" name="文本框 308" descr="{&quot;isTemplate&quot;:true,&quot;type&quot;:&quot;text&quot;}"/>
          <p:cNvSpPr txBox="1"/>
          <p:nvPr/>
        </p:nvSpPr>
        <p:spPr>
          <a:xfrm>
            <a:off x="10077450" y="171450"/>
            <a:ext cx="704850" cy="161925"/>
          </a:xfrm>
          <a:prstGeom prst="rect">
            <a:avLst/>
          </a:prstGeom>
        </p:spPr>
        <p:txBody>
          <a:bodyPr wrap="square" lIns="0" tIns="0" rIns="0" bIns="0"/>
          <a:lstStyle/>
          <a:p>
            <a:pPr>
              <a:lnSpc>
                <a:spcPct val="100000"/>
              </a:lnSpc>
            </a:pPr>
            <a:r>
              <a:rPr lang="zh-CN" sz="1050" b="0">
                <a:solidFill>
                  <a:srgbClr val="FFFFFF"/>
                </a:solidFill>
                <a:latin typeface="微软雅黑"/>
                <a:ea typeface="微软雅黑"/>
              </a:rPr>
              <a:t>阅读导航</a:t>
            </a:r>
            <a:endParaRPr/>
          </a:p>
        </p:txBody>
      </p:sp>
      <p:pic>
        <p:nvPicPr>
          <p:cNvPr id="310" name="图片 309"/>
          <p:cNvPicPr>
            <a:picLocks noChangeAspect="1"/>
          </p:cNvPicPr>
          <p:nvPr/>
        </p:nvPicPr>
        <p:blipFill>
          <a:blip r:embed="rId3"/>
          <a:srcRect l="847" r="847"/>
          <a:stretch>
            <a:fillRect/>
          </a:stretch>
        </p:blipFill>
        <p:spPr>
          <a:xfrm>
            <a:off x="10858500" y="123825"/>
            <a:ext cx="990600" cy="247650"/>
          </a:xfrm>
          <a:prstGeom prst="rect">
            <a:avLst/>
          </a:prstGeom>
          <a:ln/>
        </p:spPr>
      </p:pic>
      <p:sp>
        <p:nvSpPr>
          <p:cNvPr id="311" name="文本框 310" descr="{&quot;isTemplate&quot;:true,&quot;type&quot;:&quot;text&quot;}"/>
          <p:cNvSpPr txBox="1"/>
          <p:nvPr/>
        </p:nvSpPr>
        <p:spPr>
          <a:xfrm>
            <a:off x="381000" y="647700"/>
            <a:ext cx="11430000" cy="371475"/>
          </a:xfrm>
          <a:prstGeom prst="rect">
            <a:avLst/>
          </a:prstGeom>
        </p:spPr>
        <p:txBody>
          <a:bodyPr wrap="square" lIns="0" tIns="0" rIns="0" bIns="0"/>
          <a:lstStyle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钉钉进步体"/>
                <a:ea typeface="钉钉进步体"/>
              </a:rPr>
              <a:t>阅读导航：两段指定 + 两条论文线索</a:t>
            </a:r>
            <a:endParaRPr/>
          </a:p>
        </p:txBody>
      </p:sp>
      <p:sp>
        <p:nvSpPr>
          <p:cNvPr id="312" name="矩形: 圆角 311"/>
          <p:cNvSpPr/>
          <p:nvPr/>
        </p:nvSpPr>
        <p:spPr>
          <a:xfrm>
            <a:off x="381000" y="1095375"/>
            <a:ext cx="571500" cy="47625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0" name="文本框 339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341" name="文本框 340" descr="{&quot;isTemplate&quot;:true,&quot;type&quot;:&quot;text&quot;}"/>
          <p:cNvSpPr txBox="1"/>
          <p:nvPr/>
        </p:nvSpPr>
        <p:spPr>
          <a:xfrm>
            <a:off x="55054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342" name="文本框 341" descr="{&quot;isTemplate&quot;:true,&quot;type&quot;:&quot;text&quot;}"/>
          <p:cNvSpPr txBox="1"/>
          <p:nvPr/>
        </p:nvSpPr>
        <p:spPr>
          <a:xfrm>
            <a:off x="11477625" y="6610350"/>
            <a:ext cx="3333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2 / 60</a:t>
            </a:r>
            <a:endParaRPr/>
          </a:p>
        </p:txBody>
      </p:sp>
      <p:sp>
        <p:nvSpPr>
          <p:cNvPr id="343" name="TextBox 342"/>
          <p:cNvSpPr txBox="1"/>
          <p:nvPr/>
        </p:nvSpPr>
        <p:spPr>
          <a:xfrm>
            <a:off x="381000" y="1200150"/>
            <a:ext cx="11430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3A4759"/>
                </a:solidFill>
                <a:latin typeface="微软雅黑"/>
              </a:rPr>
              <a:t>只列本次真正用到的选段与论文：课前指定两段（合计约 6 页），其余标为课上导读、按需查阅或背景/案例选读。</a:t>
            </a:r>
          </a:p>
        </p:txBody>
      </p:sp>
      <p:sp>
        <p:nvSpPr>
          <p:cNvPr id="344" name="Rectangle 343"/>
          <p:cNvSpPr/>
          <p:nvPr/>
        </p:nvSpPr>
        <p:spPr>
          <a:xfrm>
            <a:off x="381000" y="1466850"/>
            <a:ext cx="11430000" cy="323850"/>
          </a:xfrm>
          <a:prstGeom prst="rect">
            <a:avLst/>
          </a:prstGeom>
          <a:solidFill>
            <a:srgbClr val="0E3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TextBox 344"/>
          <p:cNvSpPr txBox="1"/>
          <p:nvPr/>
        </p:nvSpPr>
        <p:spPr>
          <a:xfrm>
            <a:off x="476250" y="1543050"/>
            <a:ext cx="13144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微软雅黑"/>
              </a:rPr>
              <a:t>类别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1905000" y="1543050"/>
            <a:ext cx="57912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微软雅黑"/>
              </a:rPr>
              <a:t>出处（精确到节 / 图，页码以本地 PDF 为准）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7810500" y="1543050"/>
            <a:ext cx="25527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微软雅黑"/>
              </a:rPr>
              <a:t>本讲用途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10477500" y="1543050"/>
            <a:ext cx="13144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层次</a:t>
            </a:r>
          </a:p>
        </p:txBody>
      </p:sp>
      <p:sp>
        <p:nvSpPr>
          <p:cNvPr id="349" name="Rectangle 348"/>
          <p:cNvSpPr/>
          <p:nvPr/>
        </p:nvSpPr>
        <p:spPr>
          <a:xfrm>
            <a:off x="381000" y="2228850"/>
            <a:ext cx="11430000" cy="9525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TextBox 349"/>
          <p:cNvSpPr txBox="1"/>
          <p:nvPr/>
        </p:nvSpPr>
        <p:spPr>
          <a:xfrm>
            <a:off x="476250" y="1847850"/>
            <a:ext cx="13144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E3F8C"/>
                </a:solidFill>
                <a:latin typeface="微软雅黑"/>
              </a:rPr>
              <a:t>教材 T</a:t>
            </a:r>
          </a:p>
        </p:txBody>
      </p:sp>
      <p:sp>
        <p:nvSpPr>
          <p:cNvPr id="351" name="TextBox 350"/>
          <p:cNvSpPr txBox="1"/>
          <p:nvPr/>
        </p:nvSpPr>
        <p:spPr>
          <a:xfrm>
            <a:off x="1885950" y="1838325"/>
            <a:ext cx="57912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2C3947"/>
                </a:solidFill>
                <a:latin typeface="微软雅黑"/>
              </a:rPr>
              <a:t>ISLP (2023) §2.1.1 Why Estimate f?（印刷 p17 起 / PDF 31 起，约 3 页）</a:t>
            </a:r>
          </a:p>
        </p:txBody>
      </p:sp>
      <p:sp>
        <p:nvSpPr>
          <p:cNvPr id="352" name="TextBox 351"/>
          <p:cNvSpPr txBox="1"/>
          <p:nvPr/>
        </p:nvSpPr>
        <p:spPr>
          <a:xfrm>
            <a:off x="7791450" y="1838325"/>
            <a:ext cx="25527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2C3947"/>
                </a:solidFill>
                <a:latin typeface="微软雅黑"/>
              </a:rPr>
              <a:t>把「预测」拆成 f 与误差：问题链的起点</a:t>
            </a:r>
          </a:p>
        </p:txBody>
      </p:sp>
      <p:sp>
        <p:nvSpPr>
          <p:cNvPr id="353" name="TextBox 352"/>
          <p:cNvSpPr txBox="1"/>
          <p:nvPr/>
        </p:nvSpPr>
        <p:spPr>
          <a:xfrm>
            <a:off x="10420350" y="1847850"/>
            <a:ext cx="1352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1E4FA8"/>
                </a:solidFill>
                <a:latin typeface="微软雅黑"/>
              </a:rPr>
              <a:t>指定</a:t>
            </a:r>
          </a:p>
        </p:txBody>
      </p:sp>
      <p:sp>
        <p:nvSpPr>
          <p:cNvPr id="354" name="Rectangle 353"/>
          <p:cNvSpPr/>
          <p:nvPr/>
        </p:nvSpPr>
        <p:spPr>
          <a:xfrm>
            <a:off x="381000" y="2228850"/>
            <a:ext cx="11430000" cy="43815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381000" y="2667000"/>
            <a:ext cx="11430000" cy="9525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TextBox 355"/>
          <p:cNvSpPr txBox="1"/>
          <p:nvPr/>
        </p:nvSpPr>
        <p:spPr>
          <a:xfrm>
            <a:off x="476250" y="2286000"/>
            <a:ext cx="13144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E3F8C"/>
                </a:solidFill>
                <a:latin typeface="微软雅黑"/>
              </a:rPr>
              <a:t>教材 T</a:t>
            </a:r>
          </a:p>
        </p:txBody>
      </p:sp>
      <p:sp>
        <p:nvSpPr>
          <p:cNvPr id="357" name="TextBox 356"/>
          <p:cNvSpPr txBox="1"/>
          <p:nvPr/>
        </p:nvSpPr>
        <p:spPr>
          <a:xfrm>
            <a:off x="1885950" y="2276475"/>
            <a:ext cx="57912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2C3947"/>
                </a:solidFill>
                <a:latin typeface="微软雅黑"/>
              </a:rPr>
              <a:t>ISLP §2.2.1 Measuring the Quality of Fit（印刷 p28 起 / PDF 42 起，约 3 页）</a:t>
            </a:r>
          </a:p>
        </p:txBody>
      </p:sp>
      <p:sp>
        <p:nvSpPr>
          <p:cNvPr id="358" name="TextBox 357"/>
          <p:cNvSpPr txBox="1"/>
          <p:nvPr/>
        </p:nvSpPr>
        <p:spPr>
          <a:xfrm>
            <a:off x="7791450" y="2276475"/>
            <a:ext cx="25527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2C3947"/>
                </a:solidFill>
                <a:latin typeface="微软雅黑"/>
              </a:rPr>
              <a:t>训练误差 ≠ 泛化误差；第 6—8 讲持续回扣</a:t>
            </a:r>
          </a:p>
        </p:txBody>
      </p:sp>
      <p:sp>
        <p:nvSpPr>
          <p:cNvPr id="359" name="TextBox 358"/>
          <p:cNvSpPr txBox="1"/>
          <p:nvPr/>
        </p:nvSpPr>
        <p:spPr>
          <a:xfrm>
            <a:off x="10420350" y="2286000"/>
            <a:ext cx="1352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1E4FA8"/>
                </a:solidFill>
                <a:latin typeface="微软雅黑"/>
              </a:rPr>
              <a:t>指定</a:t>
            </a:r>
          </a:p>
        </p:txBody>
      </p:sp>
      <p:sp>
        <p:nvSpPr>
          <p:cNvPr id="360" name="Rectangle 359"/>
          <p:cNvSpPr/>
          <p:nvPr/>
        </p:nvSpPr>
        <p:spPr>
          <a:xfrm>
            <a:off x="381000" y="3105150"/>
            <a:ext cx="11430000" cy="9525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TextBox 360"/>
          <p:cNvSpPr txBox="1"/>
          <p:nvPr/>
        </p:nvSpPr>
        <p:spPr>
          <a:xfrm>
            <a:off x="476250" y="2724150"/>
            <a:ext cx="13144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E3F8C"/>
                </a:solidFill>
                <a:latin typeface="微软雅黑"/>
              </a:rPr>
              <a:t>教材 T</a:t>
            </a:r>
          </a:p>
        </p:txBody>
      </p:sp>
      <p:sp>
        <p:nvSpPr>
          <p:cNvPr id="362" name="TextBox 361"/>
          <p:cNvSpPr txBox="1"/>
          <p:nvPr/>
        </p:nvSpPr>
        <p:spPr>
          <a:xfrm>
            <a:off x="1885950" y="2714625"/>
            <a:ext cx="57912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2C3947"/>
                </a:solidFill>
                <a:latin typeface="微软雅黑"/>
              </a:rPr>
              <a:t>第 1 章 Introduction；§2.1/§2.2 其余段；§2.3 Lab（PDF 54 起）</a:t>
            </a:r>
          </a:p>
        </p:txBody>
      </p:sp>
      <p:sp>
        <p:nvSpPr>
          <p:cNvPr id="363" name="TextBox 362"/>
          <p:cNvSpPr txBox="1"/>
          <p:nvPr/>
        </p:nvSpPr>
        <p:spPr>
          <a:xfrm>
            <a:off x="7791450" y="2714625"/>
            <a:ext cx="25527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2C3947"/>
                </a:solidFill>
                <a:latin typeface="微软雅黑"/>
              </a:rPr>
              <a:t>全书地图；Python 上机按需查阅</a:t>
            </a:r>
          </a:p>
        </p:txBody>
      </p:sp>
      <p:sp>
        <p:nvSpPr>
          <p:cNvPr id="364" name="TextBox 363"/>
          <p:cNvSpPr txBox="1"/>
          <p:nvPr/>
        </p:nvSpPr>
        <p:spPr>
          <a:xfrm>
            <a:off x="10420350" y="2724150"/>
            <a:ext cx="1352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1E4FA8"/>
                </a:solidFill>
                <a:latin typeface="微软雅黑"/>
              </a:rPr>
              <a:t>导读 / 按需</a:t>
            </a:r>
          </a:p>
        </p:txBody>
      </p:sp>
      <p:sp>
        <p:nvSpPr>
          <p:cNvPr id="365" name="Rectangle 364"/>
          <p:cNvSpPr/>
          <p:nvPr/>
        </p:nvSpPr>
        <p:spPr>
          <a:xfrm>
            <a:off x="381000" y="3105150"/>
            <a:ext cx="11430000" cy="43815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381000" y="3543300"/>
            <a:ext cx="11430000" cy="9525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TextBox 366"/>
          <p:cNvSpPr txBox="1"/>
          <p:nvPr/>
        </p:nvSpPr>
        <p:spPr>
          <a:xfrm>
            <a:off x="476250" y="3162300"/>
            <a:ext cx="13144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E3F8C"/>
                </a:solidFill>
                <a:latin typeface="微软雅黑"/>
              </a:rPr>
              <a:t>参考书 R1</a:t>
            </a:r>
          </a:p>
        </p:txBody>
      </p:sp>
      <p:sp>
        <p:nvSpPr>
          <p:cNvPr id="368" name="TextBox 367"/>
          <p:cNvSpPr txBox="1"/>
          <p:nvPr/>
        </p:nvSpPr>
        <p:spPr>
          <a:xfrm>
            <a:off x="1885950" y="3152775"/>
            <a:ext cx="57912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2C3947"/>
                </a:solidFill>
                <a:latin typeface="微软雅黑"/>
              </a:rPr>
              <a:t>Zhang. The Elements of Machine Learning（英文版，2025/2026 订正）第 1 章 Introduction</a:t>
            </a:r>
          </a:p>
        </p:txBody>
      </p:sp>
      <p:sp>
        <p:nvSpPr>
          <p:cNvPr id="369" name="TextBox 368"/>
          <p:cNvSpPr txBox="1"/>
          <p:nvPr/>
        </p:nvSpPr>
        <p:spPr>
          <a:xfrm>
            <a:off x="7791450" y="3152775"/>
            <a:ext cx="25527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2C3947"/>
                </a:solidFill>
                <a:latin typeface="微软雅黑"/>
              </a:rPr>
              <a:t>「任务—表示—模型」框架的材料语境</a:t>
            </a:r>
          </a:p>
        </p:txBody>
      </p:sp>
      <p:sp>
        <p:nvSpPr>
          <p:cNvPr id="370" name="TextBox 369"/>
          <p:cNvSpPr txBox="1"/>
          <p:nvPr/>
        </p:nvSpPr>
        <p:spPr>
          <a:xfrm>
            <a:off x="10420350" y="3162300"/>
            <a:ext cx="1352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1E4FA8"/>
                </a:solidFill>
                <a:latin typeface="微软雅黑"/>
              </a:rPr>
              <a:t>背景选读</a:t>
            </a:r>
          </a:p>
        </p:txBody>
      </p:sp>
      <p:sp>
        <p:nvSpPr>
          <p:cNvPr id="371" name="Rectangle 370"/>
          <p:cNvSpPr/>
          <p:nvPr/>
        </p:nvSpPr>
        <p:spPr>
          <a:xfrm>
            <a:off x="381000" y="3981450"/>
            <a:ext cx="11430000" cy="9525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TextBox 371"/>
          <p:cNvSpPr txBox="1"/>
          <p:nvPr/>
        </p:nvSpPr>
        <p:spPr>
          <a:xfrm>
            <a:off x="476250" y="3600450"/>
            <a:ext cx="13144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E3F8C"/>
                </a:solidFill>
                <a:latin typeface="微软雅黑"/>
              </a:rPr>
              <a:t>论文 P1</a:t>
            </a:r>
          </a:p>
        </p:txBody>
      </p:sp>
      <p:sp>
        <p:nvSpPr>
          <p:cNvPr id="373" name="TextBox 372"/>
          <p:cNvSpPr txBox="1"/>
          <p:nvPr/>
        </p:nvSpPr>
        <p:spPr>
          <a:xfrm>
            <a:off x="1885950" y="3590925"/>
            <a:ext cx="57912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2C3947"/>
                </a:solidFill>
                <a:latin typeface="微软雅黑"/>
              </a:rPr>
              <a:t>Xie &amp; Grossman (2018). Crystal Graph Convolutional Neural Networks… PRL 120:145301，DOI 10.1103/PhysRevLett.120.145301</a:t>
            </a:r>
          </a:p>
        </p:txBody>
      </p:sp>
      <p:sp>
        <p:nvSpPr>
          <p:cNvPr id="374" name="TextBox 373"/>
          <p:cNvSpPr txBox="1"/>
          <p:nvPr/>
        </p:nvSpPr>
        <p:spPr>
          <a:xfrm>
            <a:off x="7791450" y="3590925"/>
            <a:ext cx="25527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2C3947"/>
                </a:solidFill>
                <a:latin typeface="微软雅黑"/>
              </a:rPr>
              <a:t>看图表示如何直接学性质；模型预测的边界</a:t>
            </a:r>
          </a:p>
        </p:txBody>
      </p:sp>
      <p:sp>
        <p:nvSpPr>
          <p:cNvPr id="375" name="TextBox 374"/>
          <p:cNvSpPr txBox="1"/>
          <p:nvPr/>
        </p:nvSpPr>
        <p:spPr>
          <a:xfrm>
            <a:off x="10420350" y="3600450"/>
            <a:ext cx="1352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1E4FA8"/>
                </a:solidFill>
                <a:latin typeface="微软雅黑"/>
              </a:rPr>
              <a:t>案例选读</a:t>
            </a:r>
          </a:p>
        </p:txBody>
      </p:sp>
      <p:sp>
        <p:nvSpPr>
          <p:cNvPr id="376" name="Rectangle 375"/>
          <p:cNvSpPr/>
          <p:nvPr/>
        </p:nvSpPr>
        <p:spPr>
          <a:xfrm>
            <a:off x="381000" y="3981450"/>
            <a:ext cx="11430000" cy="43815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381000" y="4419600"/>
            <a:ext cx="11430000" cy="9525"/>
          </a:xfrm>
          <a:prstGeom prst="rect">
            <a:avLst/>
          </a:prstGeom>
          <a:solidFill>
            <a:srgbClr val="D6D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TextBox 377"/>
          <p:cNvSpPr txBox="1"/>
          <p:nvPr/>
        </p:nvSpPr>
        <p:spPr>
          <a:xfrm>
            <a:off x="476250" y="4038600"/>
            <a:ext cx="13144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E3F8C"/>
                </a:solidFill>
                <a:latin typeface="微软雅黑"/>
              </a:rPr>
              <a:t>论文 P2</a:t>
            </a:r>
          </a:p>
        </p:txBody>
      </p:sp>
      <p:sp>
        <p:nvSpPr>
          <p:cNvPr id="379" name="TextBox 378"/>
          <p:cNvSpPr txBox="1"/>
          <p:nvPr/>
        </p:nvSpPr>
        <p:spPr>
          <a:xfrm>
            <a:off x="1885950" y="4029075"/>
            <a:ext cx="57912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2C3947"/>
                </a:solidFill>
                <a:latin typeface="微软雅黑"/>
              </a:rPr>
              <a:t>Merchant et al. (2023). Scaling deep learning for materials discovery. Nature，DOI 10.1038/s41586-023-06735-9</a:t>
            </a:r>
          </a:p>
        </p:txBody>
      </p:sp>
      <p:sp>
        <p:nvSpPr>
          <p:cNvPr id="380" name="TextBox 379"/>
          <p:cNvSpPr txBox="1"/>
          <p:nvPr/>
        </p:nvSpPr>
        <p:spPr>
          <a:xfrm>
            <a:off x="7791450" y="4029075"/>
            <a:ext cx="25527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2C3947"/>
                </a:solidFill>
                <a:latin typeface="微软雅黑"/>
              </a:rPr>
              <a:t>只看 Fig. 1 与「候选/计算/实验」证据分层</a:t>
            </a:r>
          </a:p>
        </p:txBody>
      </p:sp>
      <p:sp>
        <p:nvSpPr>
          <p:cNvPr id="381" name="TextBox 380"/>
          <p:cNvSpPr txBox="1"/>
          <p:nvPr/>
        </p:nvSpPr>
        <p:spPr>
          <a:xfrm>
            <a:off x="10420350" y="4038600"/>
            <a:ext cx="1352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1E4FA8"/>
                </a:solidFill>
                <a:latin typeface="微软雅黑"/>
              </a:rPr>
              <a:t>案例选读</a:t>
            </a:r>
          </a:p>
        </p:txBody>
      </p:sp>
      <p:sp>
        <p:nvSpPr>
          <p:cNvPr id="382" name="Rounded Rectangle 381"/>
          <p:cNvSpPr/>
          <p:nvPr/>
        </p:nvSpPr>
        <p:spPr>
          <a:xfrm>
            <a:off x="381000" y="4552950"/>
            <a:ext cx="5600700" cy="952500"/>
          </a:xfrm>
          <a:prstGeom prst="roundRect">
            <a:avLst>
              <a:gd name="adj" fmla="val 6000"/>
            </a:avLst>
          </a:prstGeom>
          <a:solidFill>
            <a:srgbClr val="E8F1FC"/>
          </a:solidFill>
          <a:ln w="12700">
            <a:solidFill>
              <a:srgbClr val="1E4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3" name="TextBox 382"/>
          <p:cNvSpPr txBox="1"/>
          <p:nvPr/>
        </p:nvSpPr>
        <p:spPr>
          <a:xfrm>
            <a:off x="533400" y="4648200"/>
            <a:ext cx="52959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E3F8C"/>
                </a:solidFill>
                <a:latin typeface="微软雅黑"/>
              </a:rPr>
              <a:t>课前只读两段（约 6 页）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2C3947"/>
                </a:solidFill>
                <a:latin typeface="微软雅黑"/>
              </a:rPr>
              <a:t>读完要能回答两个问题：预测误差由哪两部分构成？为什么训练误差不能当泛化误差？</a:t>
            </a:r>
          </a:p>
        </p:txBody>
      </p:sp>
      <p:sp>
        <p:nvSpPr>
          <p:cNvPr id="384" name="Rounded Rectangle 383"/>
          <p:cNvSpPr/>
          <p:nvPr/>
        </p:nvSpPr>
        <p:spPr>
          <a:xfrm>
            <a:off x="6172200" y="4552950"/>
            <a:ext cx="5638800" cy="9525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5" name="TextBox 384"/>
          <p:cNvSpPr txBox="1"/>
          <p:nvPr/>
        </p:nvSpPr>
        <p:spPr>
          <a:xfrm>
            <a:off x="6324600" y="4648200"/>
            <a:ext cx="5334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E3F8C"/>
                </a:solidFill>
                <a:latin typeface="微软雅黑"/>
              </a:rPr>
              <a:t>版本与口径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2C3947"/>
                </a:solidFill>
                <a:latin typeface="微软雅黑"/>
              </a:rPr>
              <a:t>ISLP 为 2023 Python 版（James / Witten / Hastie / Tibshirani / Taylor）；R1 为英文版。不把英文版称作中文上下卷；章节页码以本地 PDF 目录为准。</a:t>
            </a:r>
          </a:p>
        </p:txBody>
      </p:sp>
      <p:sp>
        <p:nvSpPr>
          <p:cNvPr id="386" name="TextBox 385"/>
          <p:cNvSpPr txBox="1"/>
          <p:nvPr/>
        </p:nvSpPr>
        <p:spPr>
          <a:xfrm>
            <a:off x="381000" y="5581650"/>
            <a:ext cx="11430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3A4759"/>
                </a:solidFill>
                <a:latin typeface="微软雅黑"/>
              </a:rPr>
              <a:t>阅读层次：指定＝课前必读；导读＝课上随讲；按需＝用到再翻；背景/案例选读＝只取结论与边界。论文不要求读全文，只看摘要、Fig. 1 与结论。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矩形 66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62" name="矩形 661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63" name="文本框 662" descr="{&quot;isTemplate&quot;:true,&quot;type&quot;:&quot;text&quot;}"/>
          <p:cNvSpPr txBox="1"/>
          <p:nvPr/>
        </p:nvSpPr>
        <p:spPr>
          <a:xfrm>
            <a:off x="342900" y="171450"/>
            <a:ext cx="3524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在材料科学中的应用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讲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材料信息学导论与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产业</a:t>
            </a:r>
            <a:endParaRPr/>
          </a:p>
        </p:txBody>
      </p:sp>
      <p:sp>
        <p:nvSpPr>
          <p:cNvPr id="664" name="文本框 663" descr="{&quot;isTemplate&quot;:true,&quot;type&quot;:&quot;text&quot;}"/>
          <p:cNvSpPr txBox="1"/>
          <p:nvPr/>
        </p:nvSpPr>
        <p:spPr>
          <a:xfrm>
            <a:off x="10477500" y="171450"/>
            <a:ext cx="2667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导论</a:t>
            </a:r>
            <a:endParaRPr/>
          </a:p>
        </p:txBody>
      </p:sp>
      <p:pic>
        <p:nvPicPr>
          <p:cNvPr id="665" name="图片 664"/>
          <p:cNvPicPr>
            <a:picLocks noChangeAspect="1"/>
          </p:cNvPicPr>
          <p:nvPr/>
        </p:nvPicPr>
        <p:blipFill>
          <a:blip r:embed="rId3"/>
          <a:srcRect l="847" r="847"/>
          <a:stretch>
            <a:fillRect/>
          </a:stretch>
        </p:blipFill>
        <p:spPr>
          <a:xfrm>
            <a:off x="10858500" y="123825"/>
            <a:ext cx="990600" cy="247650"/>
          </a:xfrm>
          <a:prstGeom prst="rect">
            <a:avLst/>
          </a:prstGeom>
          <a:ln/>
        </p:spPr>
      </p:pic>
      <p:sp>
        <p:nvSpPr>
          <p:cNvPr id="666" name="文本框 665" descr="{&quot;isTemplate&quot;:true,&quot;type&quot;:&quot;text&quot;}"/>
          <p:cNvSpPr txBox="1"/>
          <p:nvPr/>
        </p:nvSpPr>
        <p:spPr>
          <a:xfrm>
            <a:off x="381000" y="647700"/>
            <a:ext cx="11430000" cy="371475"/>
          </a:xfrm>
          <a:prstGeom prst="rect">
            <a:avLst/>
          </a:prstGeom>
        </p:spPr>
        <p:txBody>
          <a:bodyPr wrap="square" lIns="0" tIns="0" rIns="0" bIns="0"/>
          <a:lstStyle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E3F8C"/>
                </a:solidFill>
                <a:latin typeface="钉钉进步体"/>
                <a:ea typeface="钉钉进步体"/>
              </a:rPr>
              <a:t>本讲学习结果与 90 分钟路线</a:t>
            </a:r>
            <a:endParaRPr/>
          </a:p>
        </p:txBody>
      </p:sp>
      <p:sp>
        <p:nvSpPr>
          <p:cNvPr id="667" name="矩形: 圆角 666"/>
          <p:cNvSpPr/>
          <p:nvPr/>
        </p:nvSpPr>
        <p:spPr>
          <a:xfrm>
            <a:off x="381000" y="1095375"/>
            <a:ext cx="571500" cy="47625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16" name="文本框 715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717" name="文本框 716" descr="{&quot;isTemplate&quot;:true,&quot;type&quot;:&quot;text&quot;}"/>
          <p:cNvSpPr txBox="1"/>
          <p:nvPr/>
        </p:nvSpPr>
        <p:spPr>
          <a:xfrm>
            <a:off x="55054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718" name="文本框 717" descr="{&quot;isTemplate&quot;:true,&quot;type&quot;:&quot;text&quot;}"/>
          <p:cNvSpPr txBox="1"/>
          <p:nvPr/>
        </p:nvSpPr>
        <p:spPr>
          <a:xfrm>
            <a:off x="11477625" y="6610350"/>
            <a:ext cx="3333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3 / 60</a:t>
            </a:r>
            <a:endParaRPr/>
          </a:p>
        </p:txBody>
      </p:sp>
      <p:sp>
        <p:nvSpPr>
          <p:cNvPr id="719" name="TextBox 718"/>
          <p:cNvSpPr txBox="1"/>
          <p:nvPr/>
        </p:nvSpPr>
        <p:spPr>
          <a:xfrm>
            <a:off x="381000" y="1200150"/>
            <a:ext cx="11430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3A4759"/>
                </a:solidFill>
                <a:latin typeface="微软雅黑"/>
              </a:rPr>
              <a:t>四句话是验收标准；前 35 分钟用独立导论 PPT，本讲只再教 55 分钟，旧 60 页不逐页重讲。</a:t>
            </a:r>
          </a:p>
        </p:txBody>
      </p:sp>
      <p:sp>
        <p:nvSpPr>
          <p:cNvPr id="720" name="Rounded Rectangle 719"/>
          <p:cNvSpPr/>
          <p:nvPr/>
        </p:nvSpPr>
        <p:spPr>
          <a:xfrm>
            <a:off x="381000" y="1466850"/>
            <a:ext cx="3162300" cy="139065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1" name="Oval 720"/>
          <p:cNvSpPr/>
          <p:nvPr/>
        </p:nvSpPr>
        <p:spPr>
          <a:xfrm>
            <a:off x="514350" y="1581150"/>
            <a:ext cx="247650" cy="247650"/>
          </a:xfrm>
          <a:prstGeom prst="ellipse">
            <a:avLst/>
          </a:prstGeom>
          <a:solidFill>
            <a:srgbClr val="0E3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" name="TextBox 721"/>
          <p:cNvSpPr txBox="1"/>
          <p:nvPr/>
        </p:nvSpPr>
        <p:spPr>
          <a:xfrm>
            <a:off x="514350" y="1609725"/>
            <a:ext cx="2476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723" name="TextBox 722"/>
          <p:cNvSpPr txBox="1"/>
          <p:nvPr/>
        </p:nvSpPr>
        <p:spPr>
          <a:xfrm>
            <a:off x="838200" y="1590675"/>
            <a:ext cx="2571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E3F8C"/>
                </a:solidFill>
                <a:latin typeface="微软雅黑"/>
              </a:rPr>
              <a:t>材料问题</a:t>
            </a:r>
          </a:p>
        </p:txBody>
      </p:sp>
      <p:sp>
        <p:nvSpPr>
          <p:cNvPr id="724" name="TextBox 723"/>
          <p:cNvSpPr txBox="1"/>
          <p:nvPr/>
        </p:nvSpPr>
        <p:spPr>
          <a:xfrm>
            <a:off x="514350" y="1905000"/>
            <a:ext cx="28956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C3947"/>
                </a:solidFill>
                <a:latin typeface="微软雅黑"/>
              </a:rPr>
              <a:t>目标性质（带隙 / 效率 / 强度）、候选空间多大、支持哪一步决策。</a:t>
            </a:r>
          </a:p>
        </p:txBody>
      </p:sp>
      <p:sp>
        <p:nvSpPr>
          <p:cNvPr id="725" name="TextBox 724"/>
          <p:cNvSpPr txBox="1"/>
          <p:nvPr/>
        </p:nvSpPr>
        <p:spPr>
          <a:xfrm>
            <a:off x="514350" y="2457450"/>
            <a:ext cx="2895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1E4FA8"/>
                </a:solidFill>
                <a:latin typeface="微软雅黑"/>
              </a:rPr>
              <a:t>句法：我要预测 ___ 体系的 ___，用于 ___。</a:t>
            </a:r>
          </a:p>
        </p:txBody>
      </p:sp>
      <p:sp>
        <p:nvSpPr>
          <p:cNvPr id="726" name="Rounded Rectangle 725"/>
          <p:cNvSpPr/>
          <p:nvPr/>
        </p:nvSpPr>
        <p:spPr>
          <a:xfrm>
            <a:off x="3695700" y="1466850"/>
            <a:ext cx="3162300" cy="139065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7" name="Oval 726"/>
          <p:cNvSpPr/>
          <p:nvPr/>
        </p:nvSpPr>
        <p:spPr>
          <a:xfrm>
            <a:off x="3829050" y="1581150"/>
            <a:ext cx="247650" cy="247650"/>
          </a:xfrm>
          <a:prstGeom prst="ellipse">
            <a:avLst/>
          </a:prstGeom>
          <a:solidFill>
            <a:srgbClr val="0E3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TextBox 727"/>
          <p:cNvSpPr txBox="1"/>
          <p:nvPr/>
        </p:nvSpPr>
        <p:spPr>
          <a:xfrm>
            <a:off x="3829050" y="1609725"/>
            <a:ext cx="2476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729" name="TextBox 728"/>
          <p:cNvSpPr txBox="1"/>
          <p:nvPr/>
        </p:nvSpPr>
        <p:spPr>
          <a:xfrm>
            <a:off x="4152900" y="1590675"/>
            <a:ext cx="2571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E3F8C"/>
                </a:solidFill>
                <a:latin typeface="微软雅黑"/>
              </a:rPr>
              <a:t>样本单位</a:t>
            </a:r>
          </a:p>
        </p:txBody>
      </p:sp>
      <p:sp>
        <p:nvSpPr>
          <p:cNvPr id="730" name="TextBox 729"/>
          <p:cNvSpPr txBox="1"/>
          <p:nvPr/>
        </p:nvSpPr>
        <p:spPr>
          <a:xfrm>
            <a:off x="3829050" y="1905000"/>
            <a:ext cx="28956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C3947"/>
                </a:solidFill>
                <a:latin typeface="微软雅黑"/>
              </a:rPr>
              <a:t>一条记录是计算条目、样品还是制备批次？它决定样本量、去重与划分。</a:t>
            </a:r>
          </a:p>
        </p:txBody>
      </p:sp>
      <p:sp>
        <p:nvSpPr>
          <p:cNvPr id="731" name="TextBox 730"/>
          <p:cNvSpPr txBox="1"/>
          <p:nvPr/>
        </p:nvSpPr>
        <p:spPr>
          <a:xfrm>
            <a:off x="3829050" y="2457450"/>
            <a:ext cx="2895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1E4FA8"/>
                </a:solidFill>
                <a:latin typeface="微软雅黑"/>
              </a:rPr>
              <a:t>同成分不同工艺要保留条件，按问题定义分组。</a:t>
            </a:r>
          </a:p>
        </p:txBody>
      </p:sp>
      <p:sp>
        <p:nvSpPr>
          <p:cNvPr id="732" name="Rounded Rectangle 731"/>
          <p:cNvSpPr/>
          <p:nvPr/>
        </p:nvSpPr>
        <p:spPr>
          <a:xfrm>
            <a:off x="381000" y="2971800"/>
            <a:ext cx="3162300" cy="139065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3" name="Oval 732"/>
          <p:cNvSpPr/>
          <p:nvPr/>
        </p:nvSpPr>
        <p:spPr>
          <a:xfrm>
            <a:off x="514350" y="3086100"/>
            <a:ext cx="247650" cy="247650"/>
          </a:xfrm>
          <a:prstGeom prst="ellipse">
            <a:avLst/>
          </a:prstGeom>
          <a:solidFill>
            <a:srgbClr val="0E3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TextBox 733"/>
          <p:cNvSpPr txBox="1"/>
          <p:nvPr/>
        </p:nvSpPr>
        <p:spPr>
          <a:xfrm>
            <a:off x="514350" y="3114675"/>
            <a:ext cx="2476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735" name="TextBox 734"/>
          <p:cNvSpPr txBox="1"/>
          <p:nvPr/>
        </p:nvSpPr>
        <p:spPr>
          <a:xfrm>
            <a:off x="838200" y="3095625"/>
            <a:ext cx="2571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E3F8C"/>
                </a:solidFill>
                <a:latin typeface="微软雅黑"/>
              </a:rPr>
              <a:t>验证证据</a:t>
            </a:r>
          </a:p>
        </p:txBody>
      </p:sp>
      <p:sp>
        <p:nvSpPr>
          <p:cNvPr id="736" name="TextBox 735"/>
          <p:cNvSpPr txBox="1"/>
          <p:nvPr/>
        </p:nvSpPr>
        <p:spPr>
          <a:xfrm>
            <a:off x="514350" y="3409950"/>
            <a:ext cx="28956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C3947"/>
                </a:solidFill>
                <a:latin typeface="微软雅黑"/>
              </a:rPr>
              <a:t>区分「模型候选」与「实验证实」：后者要独立合成与表征证据。</a:t>
            </a:r>
          </a:p>
        </p:txBody>
      </p:sp>
      <p:sp>
        <p:nvSpPr>
          <p:cNvPr id="737" name="TextBox 736"/>
          <p:cNvSpPr txBox="1"/>
          <p:nvPr/>
        </p:nvSpPr>
        <p:spPr>
          <a:xfrm>
            <a:off x="514350" y="3962400"/>
            <a:ext cx="2895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1E4FA8"/>
                </a:solidFill>
                <a:latin typeface="微软雅黑"/>
              </a:rPr>
              <a:t>每讲追问：这一步的证据来自哪里？</a:t>
            </a:r>
          </a:p>
        </p:txBody>
      </p:sp>
      <p:sp>
        <p:nvSpPr>
          <p:cNvPr id="738" name="Rounded Rectangle 737"/>
          <p:cNvSpPr/>
          <p:nvPr/>
        </p:nvSpPr>
        <p:spPr>
          <a:xfrm>
            <a:off x="3695700" y="2971800"/>
            <a:ext cx="3162300" cy="139065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9" name="Oval 738"/>
          <p:cNvSpPr/>
          <p:nvPr/>
        </p:nvSpPr>
        <p:spPr>
          <a:xfrm>
            <a:off x="3829050" y="3086100"/>
            <a:ext cx="247650" cy="247650"/>
          </a:xfrm>
          <a:prstGeom prst="ellipse">
            <a:avLst/>
          </a:prstGeom>
          <a:solidFill>
            <a:srgbClr val="0E3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TextBox 739"/>
          <p:cNvSpPr txBox="1"/>
          <p:nvPr/>
        </p:nvSpPr>
        <p:spPr>
          <a:xfrm>
            <a:off x="3829050" y="3114675"/>
            <a:ext cx="2476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741" name="TextBox 740"/>
          <p:cNvSpPr txBox="1"/>
          <p:nvPr/>
        </p:nvSpPr>
        <p:spPr>
          <a:xfrm>
            <a:off x="4152900" y="3095625"/>
            <a:ext cx="2571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E3F8C"/>
                </a:solidFill>
                <a:latin typeface="微软雅黑"/>
              </a:rPr>
              <a:t>下一步行动</a:t>
            </a:r>
          </a:p>
        </p:txBody>
      </p:sp>
      <p:sp>
        <p:nvSpPr>
          <p:cNvPr id="742" name="TextBox 741"/>
          <p:cNvSpPr txBox="1"/>
          <p:nvPr/>
        </p:nvSpPr>
        <p:spPr>
          <a:xfrm>
            <a:off x="3829050" y="3409950"/>
            <a:ext cx="28956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C3947"/>
                </a:solidFill>
                <a:latin typeface="微软雅黑"/>
              </a:rPr>
              <a:t>写出可检验动作：测什么、算什么、与什么对照。</a:t>
            </a:r>
          </a:p>
        </p:txBody>
      </p:sp>
      <p:sp>
        <p:nvSpPr>
          <p:cNvPr id="743" name="TextBox 742"/>
          <p:cNvSpPr txBox="1"/>
          <p:nvPr/>
        </p:nvSpPr>
        <p:spPr>
          <a:xfrm>
            <a:off x="3829050" y="3962400"/>
            <a:ext cx="2895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1E4FA8"/>
                </a:solidFill>
                <a:latin typeface="微软雅黑"/>
              </a:rPr>
              <a:t>这一栏就是 P60 退出题的第四栏。</a:t>
            </a:r>
          </a:p>
        </p:txBody>
      </p:sp>
      <p:sp>
        <p:nvSpPr>
          <p:cNvPr id="744" name="TextBox 743"/>
          <p:cNvSpPr txBox="1"/>
          <p:nvPr/>
        </p:nvSpPr>
        <p:spPr>
          <a:xfrm>
            <a:off x="7048500" y="1428750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E3F8C"/>
                </a:solidFill>
                <a:latin typeface="微软雅黑"/>
              </a:rPr>
              <a:t>90 分钟怎么用（本讲只再教 55 分钟）</a:t>
            </a:r>
          </a:p>
        </p:txBody>
      </p:sp>
      <p:sp>
        <p:nvSpPr>
          <p:cNvPr id="745" name="Rectangle 744"/>
          <p:cNvSpPr/>
          <p:nvPr/>
        </p:nvSpPr>
        <p:spPr>
          <a:xfrm>
            <a:off x="7048500" y="1676400"/>
            <a:ext cx="552450" cy="438150"/>
          </a:xfrm>
          <a:prstGeom prst="rect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TextBox 745"/>
          <p:cNvSpPr txBox="1"/>
          <p:nvPr/>
        </p:nvSpPr>
        <p:spPr>
          <a:xfrm>
            <a:off x="7048500" y="1781175"/>
            <a:ext cx="5524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E3F8C"/>
                </a:solidFill>
                <a:latin typeface="微软雅黑"/>
              </a:rPr>
              <a:t>35′</a:t>
            </a:r>
          </a:p>
        </p:txBody>
      </p:sp>
      <p:sp>
        <p:nvSpPr>
          <p:cNvPr id="747" name="TextBox 746"/>
          <p:cNvSpPr txBox="1"/>
          <p:nvPr/>
        </p:nvSpPr>
        <p:spPr>
          <a:xfrm>
            <a:off x="7677150" y="1714500"/>
            <a:ext cx="4095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3F8C"/>
                </a:solidFill>
                <a:latin typeface="微软雅黑"/>
              </a:rPr>
              <a:t>独立导论（导论 PPT P1—30）</a:t>
            </a:r>
          </a:p>
        </p:txBody>
      </p:sp>
      <p:sp>
        <p:nvSpPr>
          <p:cNvPr id="748" name="TextBox 747"/>
          <p:cNvSpPr txBox="1"/>
          <p:nvPr/>
        </p:nvSpPr>
        <p:spPr>
          <a:xfrm>
            <a:off x="7677150" y="1905000"/>
            <a:ext cx="40957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A4759"/>
                </a:solidFill>
                <a:latin typeface="微软雅黑"/>
              </a:rPr>
              <a:t>按导论 README 既定路线；已验收，不改</a:t>
            </a:r>
          </a:p>
        </p:txBody>
      </p:sp>
      <p:sp>
        <p:nvSpPr>
          <p:cNvPr id="749" name="Rectangle 748"/>
          <p:cNvSpPr/>
          <p:nvPr/>
        </p:nvSpPr>
        <p:spPr>
          <a:xfrm>
            <a:off x="7048500" y="2152650"/>
            <a:ext cx="552450" cy="438150"/>
          </a:xfrm>
          <a:prstGeom prst="rect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" name="TextBox 749"/>
          <p:cNvSpPr txBox="1"/>
          <p:nvPr/>
        </p:nvSpPr>
        <p:spPr>
          <a:xfrm>
            <a:off x="7048500" y="2257425"/>
            <a:ext cx="5524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E3F8C"/>
                </a:solidFill>
                <a:latin typeface="微软雅黑"/>
              </a:rPr>
              <a:t>20′</a:t>
            </a:r>
          </a:p>
        </p:txBody>
      </p:sp>
      <p:sp>
        <p:nvSpPr>
          <p:cNvPr id="751" name="TextBox 750"/>
          <p:cNvSpPr txBox="1"/>
          <p:nvPr/>
        </p:nvSpPr>
        <p:spPr>
          <a:xfrm>
            <a:off x="7677150" y="2190750"/>
            <a:ext cx="4095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3F8C"/>
                </a:solidFill>
                <a:latin typeface="微软雅黑"/>
              </a:rPr>
              <a:t>问题链</a:t>
            </a:r>
          </a:p>
        </p:txBody>
      </p:sp>
      <p:sp>
        <p:nvSpPr>
          <p:cNvPr id="752" name="TextBox 751"/>
          <p:cNvSpPr txBox="1"/>
          <p:nvPr/>
        </p:nvSpPr>
        <p:spPr>
          <a:xfrm>
            <a:off x="7677150" y="2381250"/>
            <a:ext cx="40957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A4759"/>
                </a:solidFill>
                <a:latin typeface="微软雅黑"/>
              </a:rPr>
              <a:t>P8—9、P17、P24、P40、P42—43、P49（18′）</a:t>
            </a:r>
          </a:p>
        </p:txBody>
      </p:sp>
      <p:sp>
        <p:nvSpPr>
          <p:cNvPr id="753" name="Rectangle 752"/>
          <p:cNvSpPr/>
          <p:nvPr/>
        </p:nvSpPr>
        <p:spPr>
          <a:xfrm>
            <a:off x="7048500" y="2628900"/>
            <a:ext cx="552450" cy="438150"/>
          </a:xfrm>
          <a:prstGeom prst="rect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TextBox 753"/>
          <p:cNvSpPr txBox="1"/>
          <p:nvPr/>
        </p:nvSpPr>
        <p:spPr>
          <a:xfrm>
            <a:off x="7048500" y="2733675"/>
            <a:ext cx="5524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E3F8C"/>
                </a:solidFill>
                <a:latin typeface="微软雅黑"/>
              </a:rPr>
              <a:t>15′</a:t>
            </a:r>
          </a:p>
        </p:txBody>
      </p:sp>
      <p:sp>
        <p:nvSpPr>
          <p:cNvPr id="755" name="TextBox 754"/>
          <p:cNvSpPr txBox="1"/>
          <p:nvPr/>
        </p:nvSpPr>
        <p:spPr>
          <a:xfrm>
            <a:off x="7677150" y="2667000"/>
            <a:ext cx="4095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3F8C"/>
                </a:solidFill>
                <a:latin typeface="微软雅黑"/>
              </a:rPr>
              <a:t>数据与证据</a:t>
            </a:r>
          </a:p>
        </p:txBody>
      </p:sp>
      <p:sp>
        <p:nvSpPr>
          <p:cNvPr id="756" name="TextBox 755"/>
          <p:cNvSpPr txBox="1"/>
          <p:nvPr/>
        </p:nvSpPr>
        <p:spPr>
          <a:xfrm>
            <a:off x="7677150" y="2857500"/>
            <a:ext cx="40957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A4759"/>
                </a:solidFill>
                <a:latin typeface="微软雅黑"/>
              </a:rPr>
              <a:t>P21—23、P25、P27—29、P51/56</a:t>
            </a:r>
          </a:p>
        </p:txBody>
      </p:sp>
      <p:sp>
        <p:nvSpPr>
          <p:cNvPr id="757" name="Rectangle 756"/>
          <p:cNvSpPr/>
          <p:nvPr/>
        </p:nvSpPr>
        <p:spPr>
          <a:xfrm>
            <a:off x="7048500" y="3105150"/>
            <a:ext cx="552450" cy="438150"/>
          </a:xfrm>
          <a:prstGeom prst="rect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TextBox 757"/>
          <p:cNvSpPr txBox="1"/>
          <p:nvPr/>
        </p:nvSpPr>
        <p:spPr>
          <a:xfrm>
            <a:off x="7048500" y="3209925"/>
            <a:ext cx="5524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E3F8C"/>
                </a:solidFill>
                <a:latin typeface="微软雅黑"/>
              </a:rPr>
              <a:t>15′</a:t>
            </a:r>
          </a:p>
        </p:txBody>
      </p:sp>
      <p:sp>
        <p:nvSpPr>
          <p:cNvPr id="759" name="TextBox 758"/>
          <p:cNvSpPr txBox="1"/>
          <p:nvPr/>
        </p:nvSpPr>
        <p:spPr>
          <a:xfrm>
            <a:off x="7677150" y="3143250"/>
            <a:ext cx="4095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3F8C"/>
                </a:solidFill>
                <a:latin typeface="微软雅黑"/>
              </a:rPr>
              <a:t>标准库预检（独立实践）</a:t>
            </a:r>
          </a:p>
        </p:txBody>
      </p:sp>
      <p:sp>
        <p:nvSpPr>
          <p:cNvPr id="760" name="TextBox 759"/>
          <p:cNvSpPr txBox="1"/>
          <p:nvPr/>
        </p:nvSpPr>
        <p:spPr>
          <a:xfrm>
            <a:off x="7677150" y="3333750"/>
            <a:ext cx="40957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A4759"/>
                </a:solidFill>
                <a:latin typeface="微软雅黑"/>
              </a:rPr>
              <a:t>P59：读 CSV → 核单位 → 存 SVG → 记版本</a:t>
            </a:r>
          </a:p>
        </p:txBody>
      </p:sp>
      <p:sp>
        <p:nvSpPr>
          <p:cNvPr id="761" name="Rectangle 760"/>
          <p:cNvSpPr/>
          <p:nvPr/>
        </p:nvSpPr>
        <p:spPr>
          <a:xfrm>
            <a:off x="7048500" y="3581400"/>
            <a:ext cx="552450" cy="438150"/>
          </a:xfrm>
          <a:prstGeom prst="rect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TextBox 761"/>
          <p:cNvSpPr txBox="1"/>
          <p:nvPr/>
        </p:nvSpPr>
        <p:spPr>
          <a:xfrm>
            <a:off x="7048500" y="3686175"/>
            <a:ext cx="5524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E3F8C"/>
                </a:solidFill>
                <a:latin typeface="微软雅黑"/>
              </a:rPr>
              <a:t>5′</a:t>
            </a:r>
          </a:p>
        </p:txBody>
      </p:sp>
      <p:sp>
        <p:nvSpPr>
          <p:cNvPr id="763" name="TextBox 762"/>
          <p:cNvSpPr txBox="1"/>
          <p:nvPr/>
        </p:nvSpPr>
        <p:spPr>
          <a:xfrm>
            <a:off x="7677150" y="3619500"/>
            <a:ext cx="4095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3F8C"/>
                </a:solidFill>
                <a:latin typeface="微软雅黑"/>
              </a:rPr>
              <a:t>退出与过渡</a:t>
            </a:r>
          </a:p>
        </p:txBody>
      </p:sp>
      <p:sp>
        <p:nvSpPr>
          <p:cNvPr id="764" name="TextBox 763"/>
          <p:cNvSpPr txBox="1"/>
          <p:nvPr/>
        </p:nvSpPr>
        <p:spPr>
          <a:xfrm>
            <a:off x="7677150" y="3810000"/>
            <a:ext cx="40957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A4759"/>
                </a:solidFill>
                <a:latin typeface="微软雅黑"/>
              </a:rPr>
              <a:t>P60 四栏 + P58 下讲预告</a:t>
            </a:r>
          </a:p>
        </p:txBody>
      </p:sp>
      <p:sp>
        <p:nvSpPr>
          <p:cNvPr id="765" name="TextBox 764"/>
          <p:cNvSpPr txBox="1"/>
          <p:nvPr/>
        </p:nvSpPr>
        <p:spPr>
          <a:xfrm>
            <a:off x="7048500" y="4076700"/>
            <a:ext cx="4762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3A4759"/>
                </a:solidFill>
                <a:latin typeface="微软雅黑"/>
              </a:rPr>
              <a:t>合计 90 分钟。必讲页、补充页与每组分钟见《授课路线-V5.md》；P2 阅读导航在 P1—P3 的 2 分钟定位里交代。</a:t>
            </a:r>
          </a:p>
        </p:txBody>
      </p:sp>
      <p:sp>
        <p:nvSpPr>
          <p:cNvPr id="766" name="Rounded Rectangle 765"/>
          <p:cNvSpPr/>
          <p:nvPr/>
        </p:nvSpPr>
        <p:spPr>
          <a:xfrm>
            <a:off x="381000" y="4572000"/>
            <a:ext cx="6362700" cy="819150"/>
          </a:xfrm>
          <a:prstGeom prst="roundRect">
            <a:avLst>
              <a:gd name="adj" fmla="val 6000"/>
            </a:avLst>
          </a:prstGeom>
          <a:solidFill>
            <a:srgbClr val="E8F1FC"/>
          </a:solidFill>
          <a:ln w="12700">
            <a:solidFill>
              <a:srgbClr val="1E4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7" name="TextBox 766"/>
          <p:cNvSpPr txBox="1"/>
          <p:nvPr/>
        </p:nvSpPr>
        <p:spPr>
          <a:xfrm>
            <a:off x="533400" y="4667250"/>
            <a:ext cx="60579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E3F8C"/>
                </a:solidFill>
                <a:latin typeface="微软雅黑"/>
              </a:rPr>
              <a:t>课堂产出（三项）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2C3947"/>
                </a:solidFill>
                <a:latin typeface="微软雅黑"/>
              </a:rPr>
              <a:t>① 预检记录（四项打勾）  ② 一条可检验的研究问题  ③ 退出题四栏；过程证据 2 分不挪作本讲额外分。</a:t>
            </a:r>
          </a:p>
        </p:txBody>
      </p:sp>
      <p:sp>
        <p:nvSpPr>
          <p:cNvPr id="768" name="TextBox 767"/>
          <p:cNvSpPr txBox="1"/>
          <p:nvPr/>
        </p:nvSpPr>
        <p:spPr>
          <a:xfrm>
            <a:off x="381000" y="5581650"/>
            <a:ext cx="1143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3A4759"/>
                </a:solidFill>
                <a:latin typeface="微软雅黑"/>
              </a:rPr>
              <a:t>页号说明：P4—P60 页号不变；原 P2（学习结果）并入本页，原 P3（90 分钟路线）压缩为右上；P2 为新增阅读导航。逐页必讲/补充与分钟见《授课路线-V5.md》。</a:t>
            </a:r>
          </a:p>
        </p:txBody>
      </p:sp>
      <p:sp>
        <p:nvSpPr>
          <p:cNvPr id="769" name="Rounded Rectangle 768"/>
          <p:cNvSpPr/>
          <p:nvPr/>
        </p:nvSpPr>
        <p:spPr>
          <a:xfrm>
            <a:off x="6896100" y="4572000"/>
            <a:ext cx="4914900" cy="81915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0" name="TextBox 769"/>
          <p:cNvSpPr txBox="1"/>
          <p:nvPr/>
        </p:nvSpPr>
        <p:spPr>
          <a:xfrm>
            <a:off x="7048500" y="4667250"/>
            <a:ext cx="46101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E3F8C"/>
                </a:solidFill>
                <a:latin typeface="微软雅黑"/>
              </a:rPr>
              <a:t>与第 2 讲的衔接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2C3947"/>
                </a:solidFill>
                <a:latin typeface="微软雅黑"/>
              </a:rPr>
              <a:t>退出题四栏 → 第 2 讲任务卡：输入 / 目标 / 样本单位 / 可用时点 / 验证。本讲不新增计分项，也不改 HW 节点。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矩形 10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17" name="文本框 1016" descr="{&quot;isTemplate&quot;:true,&quot;type&quot;:&quot;text&quot;}"/>
          <p:cNvSpPr txBox="1"/>
          <p:nvPr/>
        </p:nvSpPr>
        <p:spPr>
          <a:xfrm>
            <a:off x="5429250" y="1990725"/>
            <a:ext cx="1343025" cy="12573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0" b="1">
                <a:solidFill>
                  <a:srgbClr val="0E3F8C"/>
                </a:solidFill>
                <a:latin typeface="钉钉进步体"/>
                <a:ea typeface="钉钉进步体"/>
              </a:rPr>
              <a:t>01</a:t>
            </a:r>
            <a:endParaRPr/>
          </a:p>
        </p:txBody>
      </p:sp>
      <p:sp>
        <p:nvSpPr>
          <p:cNvPr id="1018" name="文本框 1017" descr="{&quot;isTemplate&quot;:true,&quot;type&quot;:&quot;text&quot;}"/>
          <p:cNvSpPr txBox="1"/>
          <p:nvPr/>
        </p:nvSpPr>
        <p:spPr>
          <a:xfrm>
            <a:off x="4724400" y="3305175"/>
            <a:ext cx="2743200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B1B33"/>
                </a:solidFill>
                <a:latin typeface="钉钉进步体"/>
                <a:ea typeface="钉钉进步体"/>
              </a:rPr>
              <a:t>什么是材料信息学</a:t>
            </a:r>
            <a:endParaRPr/>
          </a:p>
        </p:txBody>
      </p:sp>
      <p:sp>
        <p:nvSpPr>
          <p:cNvPr id="1019" name="矩形: 圆角 1018"/>
          <p:cNvSpPr/>
          <p:nvPr/>
        </p:nvSpPr>
        <p:spPr>
          <a:xfrm>
            <a:off x="5667375" y="3895725"/>
            <a:ext cx="857250" cy="47625"/>
          </a:xfrm>
          <a:prstGeom prst="roundRect">
            <a:avLst>
              <a:gd name="adj" fmla="val 60000"/>
            </a:avLst>
          </a:prstGeom>
          <a:solidFill>
            <a:srgbClr val="FFC10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20" name="文本框 1019" descr="{&quot;isTemplate&quot;:true,&quot;type&quot;:&quot;text&quot;}"/>
          <p:cNvSpPr txBox="1"/>
          <p:nvPr/>
        </p:nvSpPr>
        <p:spPr>
          <a:xfrm>
            <a:off x="2667000" y="4133850"/>
            <a:ext cx="68580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70000"/>
              </a:lnSpc>
            </a:pPr>
            <a:r>
              <a:rPr lang="zh-CN" sz="1500">
                <a:solidFill>
                  <a:srgbClr val="3A4759"/>
                </a:solidFill>
                <a:latin typeface="微软雅黑"/>
                <a:ea typeface="微软雅黑"/>
              </a:rPr>
              <a:t>材料科学的经典四面体</a:t>
            </a:r>
            <a:r>
              <a:rPr lang="en-US" sz="1500">
                <a:solidFill>
                  <a:srgbClr val="3A4759"/>
                </a:solidFill>
                <a:latin typeface="微软雅黑"/>
                <a:ea typeface="微软雅黑"/>
              </a:rPr>
              <a:t> · </a:t>
            </a:r>
            <a:r>
              <a:rPr lang="zh-CN" sz="1500">
                <a:solidFill>
                  <a:srgbClr val="3A4759"/>
                </a:solidFill>
                <a:latin typeface="微软雅黑"/>
                <a:ea typeface="微软雅黑"/>
              </a:rPr>
              <a:t>一个仅几十年的学科</a:t>
            </a:r>
            <a:r>
              <a:rPr lang="en-US" sz="1500">
                <a:solidFill>
                  <a:srgbClr val="3A4759"/>
                </a:solidFill>
                <a:latin typeface="微软雅黑"/>
                <a:ea typeface="微软雅黑"/>
              </a:rPr>
              <a:t> · </a:t>
            </a:r>
            <a:r>
              <a:rPr lang="zh-CN" sz="1500">
                <a:solidFill>
                  <a:srgbClr val="3A4759"/>
                </a:solidFill>
                <a:latin typeface="微软雅黑"/>
                <a:ea typeface="微软雅黑"/>
              </a:rPr>
              <a:t>我们为何需要数据驱动的材料科学</a:t>
            </a:r>
            <a:endParaRPr/>
          </a:p>
        </p:txBody>
      </p:sp>
      <p:sp>
        <p:nvSpPr>
          <p:cNvPr id="1021" name="文本框 1020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1022" name="文本框 1021" descr="{&quot;isTemplate&quot;:true,&quot;type&quot;:&quot;text&quot;}"/>
          <p:cNvSpPr txBox="1"/>
          <p:nvPr/>
        </p:nvSpPr>
        <p:spPr>
          <a:xfrm>
            <a:off x="55054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1023" name="文本框 1022" descr="{&quot;isTemplate&quot;:true,&quot;type&quot;:&quot;text&quot;}"/>
          <p:cNvSpPr txBox="1"/>
          <p:nvPr/>
        </p:nvSpPr>
        <p:spPr>
          <a:xfrm>
            <a:off x="11477625" y="6610350"/>
            <a:ext cx="3333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4 / 60</a:t>
            </a:r>
            <a:endParaRPr/>
          </a:p>
        </p:txBody>
      </p:sp>
      <p:pic>
        <p:nvPicPr>
          <p:cNvPr id="3" name="LogoWBG">
            <a:extLst>
              <a:ext uri="{FF2B5EF4-FFF2-40B4-BE49-F238E27FC236}">
                <a16:creationId xmlns:a16="http://schemas.microsoft.com/office/drawing/2014/main" id="{2C9E9789-D761-49E7-86F8-1117DDC93E7A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1500" y="177800"/>
            <a:ext cx="952500" cy="2350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矩形 134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46" name="矩形 1345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47" name="文本框 1346" descr="{&quot;isTemplate&quot;:true,&quot;type&quot;:&quot;text&quot;}"/>
          <p:cNvSpPr txBox="1"/>
          <p:nvPr/>
        </p:nvSpPr>
        <p:spPr>
          <a:xfrm>
            <a:off x="342900" y="171450"/>
            <a:ext cx="3524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在材料科学中的应用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讲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材料信息学导论与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产业</a:t>
            </a:r>
            <a:endParaRPr/>
          </a:p>
        </p:txBody>
      </p:sp>
      <p:sp>
        <p:nvSpPr>
          <p:cNvPr id="1348" name="文本框 1347" descr="{&quot;isTemplate&quot;:true,&quot;type&quot;:&quot;text&quot;}"/>
          <p:cNvSpPr txBox="1"/>
          <p:nvPr/>
        </p:nvSpPr>
        <p:spPr>
          <a:xfrm>
            <a:off x="9486900" y="171450"/>
            <a:ext cx="12573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01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什么是材料信息学</a:t>
            </a:r>
            <a:endParaRPr/>
          </a:p>
        </p:txBody>
      </p:sp>
      <p:pic>
        <p:nvPicPr>
          <p:cNvPr id="1349" name="图片 1348"/>
          <p:cNvPicPr>
            <a:picLocks noChangeAspect="1"/>
          </p:cNvPicPr>
          <p:nvPr/>
        </p:nvPicPr>
        <p:blipFill>
          <a:blip r:embed="rId2"/>
          <a:srcRect l="847" r="847"/>
          <a:stretch>
            <a:fillRect/>
          </a:stretch>
        </p:blipFill>
        <p:spPr>
          <a:xfrm>
            <a:off x="10858500" y="123825"/>
            <a:ext cx="990600" cy="247650"/>
          </a:xfrm>
          <a:prstGeom prst="rect">
            <a:avLst/>
          </a:prstGeom>
          <a:ln/>
        </p:spPr>
      </p:pic>
      <p:sp>
        <p:nvSpPr>
          <p:cNvPr id="1350" name="文本框 1349" descr="{&quot;isTemplate&quot;:true,&quot;type&quot;:&quot;text&quot;}"/>
          <p:cNvSpPr txBox="1"/>
          <p:nvPr/>
        </p:nvSpPr>
        <p:spPr>
          <a:xfrm>
            <a:off x="381000" y="666750"/>
            <a:ext cx="114300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钉钉进步体"/>
                <a:ea typeface="钉钉进步体"/>
              </a:rPr>
              <a:t>开场：银幕上的</a:t>
            </a:r>
            <a:r>
              <a:rPr lang="en-US" sz="2400" b="1">
                <a:solidFill>
                  <a:srgbClr val="0E3F8C"/>
                </a:solidFill>
                <a:latin typeface="钉钉进步体"/>
                <a:ea typeface="钉钉进步体"/>
              </a:rPr>
              <a:t> AI vs </a:t>
            </a:r>
            <a:r>
              <a:rPr lang="zh-CN" sz="2400" b="1">
                <a:solidFill>
                  <a:srgbClr val="0E3F8C"/>
                </a:solidFill>
                <a:latin typeface="钉钉进步体"/>
                <a:ea typeface="钉钉进步体"/>
              </a:rPr>
              <a:t>实验室里的</a:t>
            </a:r>
            <a:r>
              <a:rPr lang="en-US" sz="2400" b="1">
                <a:solidFill>
                  <a:srgbClr val="0E3F8C"/>
                </a:solidFill>
                <a:latin typeface="钉钉进步体"/>
                <a:ea typeface="钉钉进步体"/>
              </a:rPr>
              <a:t> AI</a:t>
            </a:r>
            <a:endParaRPr/>
          </a:p>
        </p:txBody>
      </p:sp>
      <p:sp>
        <p:nvSpPr>
          <p:cNvPr id="1351" name="矩形: 圆角 1350"/>
          <p:cNvSpPr/>
          <p:nvPr/>
        </p:nvSpPr>
        <p:spPr>
          <a:xfrm>
            <a:off x="381000" y="1114425"/>
            <a:ext cx="571500" cy="47625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52" name="矩形: 圆角 1351"/>
          <p:cNvSpPr/>
          <p:nvPr/>
        </p:nvSpPr>
        <p:spPr>
          <a:xfrm>
            <a:off x="381000" y="1333500"/>
            <a:ext cx="5905500" cy="4619625"/>
          </a:xfrm>
          <a:prstGeom prst="roundRect">
            <a:avLst>
              <a:gd name="adj" fmla="val 2474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53" name="图形 1352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1562100"/>
            <a:ext cx="285750" cy="285750"/>
          </a:xfrm>
          <a:prstGeom prst="rect">
            <a:avLst/>
          </a:prstGeom>
          <a:ln/>
        </p:spPr>
      </p:pic>
      <p:sp>
        <p:nvSpPr>
          <p:cNvPr id="1354" name="文本框 1353" descr="{&quot;isTemplate&quot;:true,&quot;type&quot;:&quot;text&quot;}"/>
          <p:cNvSpPr txBox="1"/>
          <p:nvPr/>
        </p:nvSpPr>
        <p:spPr>
          <a:xfrm>
            <a:off x="1009650" y="1571625"/>
            <a:ext cx="131445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微软雅黑"/>
                <a:ea typeface="微软雅黑"/>
              </a:rPr>
              <a:t>银幕上的想象</a:t>
            </a:r>
            <a:endParaRPr/>
          </a:p>
        </p:txBody>
      </p:sp>
      <p:sp>
        <p:nvSpPr>
          <p:cNvPr id="1355" name="文本框 1354" descr="{&quot;isTemplate&quot;:true,&quot;type&quot;:&quot;text&quot;}"/>
          <p:cNvSpPr txBox="1"/>
          <p:nvPr/>
        </p:nvSpPr>
        <p:spPr>
          <a:xfrm>
            <a:off x="609600" y="1981200"/>
            <a:ext cx="5448300" cy="10763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5000"/>
              </a:lnSpc>
            </a:pPr>
            <a:r>
              <a:rPr lang="zh-CN" sz="1425">
                <a:solidFill>
                  <a:srgbClr val="1A2230"/>
                </a:solidFill>
                <a:latin typeface="微软雅黑"/>
                <a:ea typeface="微软雅黑"/>
              </a:rPr>
              <a:t>终结者、贾维斯式的</a:t>
            </a:r>
            <a:r>
              <a:rPr lang="en-US" sz="1425">
                <a:solidFill>
                  <a:srgbClr val="1A2230"/>
                </a:solidFill>
                <a:latin typeface="微软雅黑"/>
                <a:ea typeface="微软雅黑"/>
              </a:rPr>
              <a:t> AI</a:t>
            </a:r>
            <a:r>
              <a:rPr lang="zh-CN" sz="1425">
                <a:solidFill>
                  <a:srgbClr val="1A2230"/>
                </a:solidFill>
                <a:latin typeface="微软雅黑"/>
                <a:ea typeface="微软雅黑"/>
              </a:rPr>
              <a:t>：拥有</a:t>
            </a:r>
            <a:r>
              <a:rPr lang="zh-CN" sz="1425" b="1">
                <a:solidFill>
                  <a:srgbClr val="1A2230"/>
                </a:solidFill>
                <a:latin typeface="微软雅黑"/>
                <a:ea typeface="微软雅黑"/>
              </a:rPr>
              <a:t>自主意识</a:t>
            </a:r>
            <a:r>
              <a:rPr lang="zh-CN" sz="1425">
                <a:solidFill>
                  <a:srgbClr val="1A2230"/>
                </a:solidFill>
                <a:latin typeface="微软雅黑"/>
                <a:ea typeface="微软雅黑"/>
              </a:rPr>
              <a:t>、无所不能、瞬间学会一切。这让公众——也包括不少科研人员——对</a:t>
            </a:r>
            <a:r>
              <a:rPr lang="en-US" sz="1425">
                <a:solidFill>
                  <a:srgbClr val="1A2230"/>
                </a:solidFill>
                <a:latin typeface="微软雅黑"/>
                <a:ea typeface="微软雅黑"/>
              </a:rPr>
              <a:t> AI </a:t>
            </a:r>
            <a:r>
              <a:rPr lang="zh-CN" sz="1425">
                <a:solidFill>
                  <a:srgbClr val="1A2230"/>
                </a:solidFill>
                <a:latin typeface="微软雅黑"/>
                <a:ea typeface="微软雅黑"/>
              </a:rPr>
              <a:t>抱有两种极端态度：盲目乐观，或莫名恐慌。</a:t>
            </a:r>
            <a:endParaRPr/>
          </a:p>
        </p:txBody>
      </p:sp>
      <p:sp>
        <p:nvSpPr>
          <p:cNvPr id="1356" name="文本框 1355" descr="{&quot;isTemplate&quot;:true,&quot;type&quot;:&quot;text&quot;}"/>
          <p:cNvSpPr txBox="1"/>
          <p:nvPr/>
        </p:nvSpPr>
        <p:spPr>
          <a:xfrm>
            <a:off x="609600" y="3171825"/>
            <a:ext cx="5448300" cy="723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5000"/>
              </a:lnSpc>
            </a:pPr>
            <a:r>
              <a:rPr lang="zh-CN" sz="1425">
                <a:solidFill>
                  <a:srgbClr val="1A2230"/>
                </a:solidFill>
                <a:latin typeface="微软雅黑"/>
                <a:ea typeface="微软雅黑"/>
              </a:rPr>
              <a:t>好莱坞的</a:t>
            </a:r>
            <a:r>
              <a:rPr lang="en-US" sz="1425">
                <a:solidFill>
                  <a:srgbClr val="1A2230"/>
                </a:solidFill>
                <a:latin typeface="微软雅黑"/>
                <a:ea typeface="微软雅黑"/>
              </a:rPr>
              <a:t> AI </a:t>
            </a:r>
            <a:r>
              <a:rPr lang="zh-CN" sz="1425">
                <a:solidFill>
                  <a:srgbClr val="1A2230"/>
                </a:solidFill>
                <a:latin typeface="微软雅黑"/>
                <a:ea typeface="微软雅黑"/>
              </a:rPr>
              <a:t>是</a:t>
            </a:r>
            <a:r>
              <a:rPr lang="zh-CN" sz="1425" b="1">
                <a:solidFill>
                  <a:srgbClr val="1E4FA8"/>
                </a:solidFill>
                <a:latin typeface="微软雅黑"/>
                <a:ea typeface="微软雅黑"/>
              </a:rPr>
              <a:t>叙事工具</a:t>
            </a:r>
            <a:r>
              <a:rPr lang="zh-CN" sz="1425">
                <a:solidFill>
                  <a:srgbClr val="1A2230"/>
                </a:solidFill>
                <a:latin typeface="微软雅黑"/>
                <a:ea typeface="微软雅黑"/>
              </a:rPr>
              <a:t>，不是技术现状。把它当作科研预期，是本课程首先要破除的迷思。</a:t>
            </a:r>
            <a:endParaRPr/>
          </a:p>
        </p:txBody>
      </p:sp>
      <p:sp>
        <p:nvSpPr>
          <p:cNvPr id="1357" name="矩形: 圆角 1356"/>
          <p:cNvSpPr/>
          <p:nvPr/>
        </p:nvSpPr>
        <p:spPr>
          <a:xfrm>
            <a:off x="6534150" y="1333500"/>
            <a:ext cx="5276850" cy="4619625"/>
          </a:xfrm>
          <a:prstGeom prst="roundRect">
            <a:avLst>
              <a:gd name="adj" fmla="val 2474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58" name="图形 1357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62750" y="1562100"/>
            <a:ext cx="285750" cy="285750"/>
          </a:xfrm>
          <a:prstGeom prst="rect">
            <a:avLst/>
          </a:prstGeom>
          <a:ln/>
        </p:spPr>
      </p:pic>
      <p:sp>
        <p:nvSpPr>
          <p:cNvPr id="1359" name="文本框 1358" descr="{&quot;isTemplate&quot;:true,&quot;type&quot;:&quot;text&quot;}"/>
          <p:cNvSpPr txBox="1"/>
          <p:nvPr/>
        </p:nvSpPr>
        <p:spPr>
          <a:xfrm>
            <a:off x="7162800" y="1571625"/>
            <a:ext cx="1533525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微软雅黑"/>
                <a:ea typeface="微软雅黑"/>
              </a:rPr>
              <a:t>实验室里的现实</a:t>
            </a:r>
            <a:endParaRPr/>
          </a:p>
        </p:txBody>
      </p:sp>
      <p:sp>
        <p:nvSpPr>
          <p:cNvPr id="1360" name="文本框 1359" descr="{&quot;isTemplate&quot;:true,&quot;type&quot;:&quot;text&quot;}"/>
          <p:cNvSpPr txBox="1"/>
          <p:nvPr/>
        </p:nvSpPr>
        <p:spPr>
          <a:xfrm>
            <a:off x="6762750" y="1981200"/>
            <a:ext cx="4819650" cy="723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5000"/>
              </a:lnSpc>
            </a:pPr>
            <a:r>
              <a:rPr lang="zh-CN" sz="1425">
                <a:solidFill>
                  <a:srgbClr val="1A2230"/>
                </a:solidFill>
                <a:latin typeface="微软雅黑"/>
                <a:ea typeface="微软雅黑"/>
              </a:rPr>
              <a:t>机器学习需要</a:t>
            </a:r>
            <a:r>
              <a:rPr lang="zh-CN" sz="1425" b="1">
                <a:solidFill>
                  <a:srgbClr val="1E4FA8"/>
                </a:solidFill>
                <a:latin typeface="微软雅黑"/>
                <a:ea typeface="微软雅黑"/>
              </a:rPr>
              <a:t>「被教会」</a:t>
            </a:r>
            <a:r>
              <a:rPr lang="zh-CN" sz="1425">
                <a:solidFill>
                  <a:srgbClr val="1A2230"/>
                </a:solidFill>
                <a:latin typeface="微软雅黑"/>
                <a:ea typeface="微软雅黑"/>
              </a:rPr>
              <a:t>：人工整理的数据、精心构造的特征、反复调试的模型。</a:t>
            </a:r>
            <a:endParaRPr/>
          </a:p>
        </p:txBody>
      </p:sp>
      <p:sp>
        <p:nvSpPr>
          <p:cNvPr id="1361" name="文本框 1360" descr="{&quot;isTemplate&quot;:true,&quot;type&quot;:&quot;text&quot;}"/>
          <p:cNvSpPr txBox="1"/>
          <p:nvPr/>
        </p:nvSpPr>
        <p:spPr>
          <a:xfrm>
            <a:off x="6762750" y="2819400"/>
            <a:ext cx="4819650" cy="723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5000"/>
              </a:lnSpc>
            </a:pPr>
            <a:r>
              <a:rPr lang="zh-CN" sz="1425">
                <a:solidFill>
                  <a:srgbClr val="1A2230"/>
                </a:solidFill>
                <a:latin typeface="微软雅黑"/>
                <a:ea typeface="微软雅黑"/>
              </a:rPr>
              <a:t>它会犯错、会过拟合、会在训练分布之外失灵——</a:t>
            </a:r>
            <a:r>
              <a:rPr lang="zh-CN" sz="1425" b="1">
                <a:solidFill>
                  <a:srgbClr val="1A2230"/>
                </a:solidFill>
                <a:latin typeface="微软雅黑"/>
                <a:ea typeface="微软雅黑"/>
              </a:rPr>
              <a:t>理解边界，才能用得可靠</a:t>
            </a:r>
            <a:r>
              <a:rPr lang="zh-CN" sz="1425">
                <a:solidFill>
                  <a:srgbClr val="1A2230"/>
                </a:solidFill>
                <a:latin typeface="微软雅黑"/>
                <a:ea typeface="微软雅黑"/>
              </a:rPr>
              <a:t>。</a:t>
            </a:r>
            <a:endParaRPr/>
          </a:p>
        </p:txBody>
      </p:sp>
      <p:sp>
        <p:nvSpPr>
          <p:cNvPr id="1362" name="矩形: 圆角 1361"/>
          <p:cNvSpPr/>
          <p:nvPr/>
        </p:nvSpPr>
        <p:spPr>
          <a:xfrm>
            <a:off x="381000" y="6086475"/>
            <a:ext cx="11430000" cy="428625"/>
          </a:xfrm>
          <a:prstGeom prst="roundRect">
            <a:avLst>
              <a:gd name="adj" fmla="val 17778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63" name="文本框 1362" descr="{&quot;isTemplate&quot;:true,&quot;type&quot;:&quot;text&quot;}"/>
          <p:cNvSpPr txBox="1"/>
          <p:nvPr/>
        </p:nvSpPr>
        <p:spPr>
          <a:xfrm>
            <a:off x="609600" y="6191250"/>
            <a:ext cx="109728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425">
                <a:solidFill>
                  <a:srgbClr val="FFFFFF"/>
                </a:solidFill>
                <a:latin typeface="微软雅黑"/>
                <a:ea typeface="微软雅黑"/>
              </a:rPr>
              <a:t>本课程立场：既不神化，也不轻视——把</a:t>
            </a:r>
            <a:r>
              <a:rPr lang="en-US" sz="1425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sz="1425">
                <a:solidFill>
                  <a:srgbClr val="FFFFFF"/>
                </a:solidFill>
                <a:latin typeface="微软雅黑"/>
                <a:ea typeface="微软雅黑"/>
              </a:rPr>
              <a:t>当作材料研究的</a:t>
            </a:r>
            <a:r>
              <a:rPr lang="zh-CN" sz="1425" b="1">
                <a:solidFill>
                  <a:srgbClr val="FFC107"/>
                </a:solidFill>
                <a:latin typeface="微软雅黑"/>
                <a:ea typeface="微软雅黑"/>
              </a:rPr>
              <a:t>新型仪器</a:t>
            </a:r>
            <a:r>
              <a:rPr lang="zh-CN" sz="1425">
                <a:solidFill>
                  <a:srgbClr val="FFFFFF"/>
                </a:solidFill>
                <a:latin typeface="微软雅黑"/>
                <a:ea typeface="微软雅黑"/>
              </a:rPr>
              <a:t>来学习和驾驭</a:t>
            </a:r>
            <a:endParaRPr/>
          </a:p>
        </p:txBody>
      </p:sp>
      <p:sp>
        <p:nvSpPr>
          <p:cNvPr id="1364" name="文本框 1363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1365" name="文本框 1364" descr="{&quot;isTemplate&quot;:true,&quot;type&quot;:&quot;text&quot;}"/>
          <p:cNvSpPr txBox="1"/>
          <p:nvPr/>
        </p:nvSpPr>
        <p:spPr>
          <a:xfrm>
            <a:off x="55054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1366" name="文本框 1365" descr="{&quot;isTemplate&quot;:true,&quot;type&quot;:&quot;text&quot;}"/>
          <p:cNvSpPr txBox="1"/>
          <p:nvPr/>
        </p:nvSpPr>
        <p:spPr>
          <a:xfrm>
            <a:off x="11477625" y="6610350"/>
            <a:ext cx="3333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5 / 60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矩形 180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04" name="矩形 1803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05" name="文本框 1804" descr="{&quot;isTemplate&quot;:true,&quot;type&quot;:&quot;text&quot;}"/>
          <p:cNvSpPr txBox="1"/>
          <p:nvPr/>
        </p:nvSpPr>
        <p:spPr>
          <a:xfrm>
            <a:off x="342900" y="171450"/>
            <a:ext cx="3524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在材料科学中的应用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讲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材料信息学导论与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产业</a:t>
            </a:r>
            <a:endParaRPr/>
          </a:p>
        </p:txBody>
      </p:sp>
      <p:sp>
        <p:nvSpPr>
          <p:cNvPr id="1806" name="文本框 1805" descr="{&quot;isTemplate&quot;:true,&quot;type&quot;:&quot;text&quot;}"/>
          <p:cNvSpPr txBox="1"/>
          <p:nvPr/>
        </p:nvSpPr>
        <p:spPr>
          <a:xfrm>
            <a:off x="9486900" y="171450"/>
            <a:ext cx="12573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01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什么是材料信息学</a:t>
            </a:r>
            <a:endParaRPr/>
          </a:p>
        </p:txBody>
      </p:sp>
      <p:pic>
        <p:nvPicPr>
          <p:cNvPr id="1807" name="图片 1806"/>
          <p:cNvPicPr>
            <a:picLocks noChangeAspect="1"/>
          </p:cNvPicPr>
          <p:nvPr/>
        </p:nvPicPr>
        <p:blipFill>
          <a:blip r:embed="rId2"/>
          <a:srcRect l="847" r="847"/>
          <a:stretch>
            <a:fillRect/>
          </a:stretch>
        </p:blipFill>
        <p:spPr>
          <a:xfrm>
            <a:off x="10858500" y="123825"/>
            <a:ext cx="990600" cy="247650"/>
          </a:xfrm>
          <a:prstGeom prst="rect">
            <a:avLst/>
          </a:prstGeom>
          <a:ln/>
        </p:spPr>
      </p:pic>
      <p:sp>
        <p:nvSpPr>
          <p:cNvPr id="1808" name="文本框 1807" descr="{&quot;isTemplate&quot;:true,&quot;type&quot;:&quot;text&quot;}"/>
          <p:cNvSpPr txBox="1"/>
          <p:nvPr/>
        </p:nvSpPr>
        <p:spPr>
          <a:xfrm>
            <a:off x="381000" y="666750"/>
            <a:ext cx="114300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E3F8C"/>
                </a:solidFill>
                <a:latin typeface="钉钉进步体"/>
                <a:ea typeface="钉钉进步体"/>
              </a:rPr>
              <a:t>AI</a:t>
            </a:r>
            <a:r>
              <a:rPr lang="zh-CN" sz="2400" b="1">
                <a:solidFill>
                  <a:srgbClr val="0E3F8C"/>
                </a:solidFill>
                <a:latin typeface="钉钉进步体"/>
                <a:ea typeface="钉钉进步体"/>
              </a:rPr>
              <a:t>、机器学习与深度学习的关系</a:t>
            </a:r>
            <a:endParaRPr/>
          </a:p>
        </p:txBody>
      </p:sp>
      <p:sp>
        <p:nvSpPr>
          <p:cNvPr id="1809" name="矩形: 圆角 1808"/>
          <p:cNvSpPr/>
          <p:nvPr/>
        </p:nvSpPr>
        <p:spPr>
          <a:xfrm>
            <a:off x="381000" y="1114425"/>
            <a:ext cx="571500" cy="47625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10" name="矩形: 圆角 1809"/>
          <p:cNvSpPr/>
          <p:nvPr/>
        </p:nvSpPr>
        <p:spPr>
          <a:xfrm>
            <a:off x="381000" y="1333500"/>
            <a:ext cx="6991350" cy="5181600"/>
          </a:xfrm>
          <a:prstGeom prst="roundRect">
            <a:avLst>
              <a:gd name="adj" fmla="val 2206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11" name="文本框 1810" descr="{&quot;isTemplate&quot;:true,&quot;type&quot;:&quot;text&quot;}"/>
          <p:cNvSpPr txBox="1"/>
          <p:nvPr/>
        </p:nvSpPr>
        <p:spPr>
          <a:xfrm>
            <a:off x="609600" y="1562100"/>
            <a:ext cx="65341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微软雅黑"/>
                <a:ea typeface="微软雅黑"/>
              </a:rPr>
              <a:t>三层嵌套关系</a:t>
            </a:r>
            <a:endParaRPr/>
          </a:p>
        </p:txBody>
      </p:sp>
      <p:sp>
        <p:nvSpPr>
          <p:cNvPr id="1812" name="矩形: 圆角 1811"/>
          <p:cNvSpPr/>
          <p:nvPr/>
        </p:nvSpPr>
        <p:spPr>
          <a:xfrm>
            <a:off x="609600" y="1971675"/>
            <a:ext cx="6534150" cy="800100"/>
          </a:xfrm>
          <a:prstGeom prst="roundRect">
            <a:avLst>
              <a:gd name="adj" fmla="val 9524"/>
            </a:avLst>
          </a:prstGeom>
          <a:solidFill>
            <a:srgbClr val="DCE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13" name="文本框 1812" descr="{&quot;isTemplate&quot;:true,&quot;type&quot;:&quot;text&quot;}"/>
          <p:cNvSpPr txBox="1"/>
          <p:nvPr/>
        </p:nvSpPr>
        <p:spPr>
          <a:xfrm>
            <a:off x="781050" y="2105025"/>
            <a:ext cx="61912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B1B33"/>
                </a:solidFill>
                <a:latin typeface="微软雅黑"/>
                <a:ea typeface="微软雅黑"/>
              </a:rPr>
              <a:t>人工智能</a:t>
            </a:r>
            <a:r>
              <a:rPr lang="en-US" sz="1425" b="1">
                <a:solidFill>
                  <a:srgbClr val="0B1B33"/>
                </a:solidFill>
                <a:latin typeface="微软雅黑"/>
                <a:ea typeface="微软雅黑"/>
              </a:rPr>
              <a:t> Artificial Intelligence</a:t>
            </a:r>
            <a:endParaRPr/>
          </a:p>
        </p:txBody>
      </p:sp>
      <p:sp>
        <p:nvSpPr>
          <p:cNvPr id="1814" name="文本框 1813" descr="{&quot;isTemplate&quot;:true,&quot;type&quot;:&quot;text&quot;}"/>
          <p:cNvSpPr txBox="1"/>
          <p:nvPr/>
        </p:nvSpPr>
        <p:spPr>
          <a:xfrm>
            <a:off x="781050" y="2362200"/>
            <a:ext cx="61912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00">
                <a:solidFill>
                  <a:srgbClr val="2C3947"/>
                </a:solidFill>
                <a:latin typeface="微软雅黑"/>
                <a:ea typeface="微软雅黑"/>
              </a:rPr>
              <a:t>让机器完成通常需要人类智能的任务：感知、识别、决策、翻译</a:t>
            </a:r>
            <a:endParaRPr/>
          </a:p>
        </p:txBody>
      </p:sp>
      <p:sp>
        <p:nvSpPr>
          <p:cNvPr id="1815" name="矩形: 圆角 1814"/>
          <p:cNvSpPr/>
          <p:nvPr/>
        </p:nvSpPr>
        <p:spPr>
          <a:xfrm>
            <a:off x="838200" y="2886075"/>
            <a:ext cx="6305550" cy="800100"/>
          </a:xfrm>
          <a:prstGeom prst="roundRect">
            <a:avLst>
              <a:gd name="adj" fmla="val 9524"/>
            </a:avLst>
          </a:prstGeom>
          <a:solidFill>
            <a:srgbClr val="BFD3E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16" name="文本框 1815" descr="{&quot;isTemplate&quot;:true,&quot;type&quot;:&quot;text&quot;}"/>
          <p:cNvSpPr txBox="1"/>
          <p:nvPr/>
        </p:nvSpPr>
        <p:spPr>
          <a:xfrm>
            <a:off x="1009650" y="3019425"/>
            <a:ext cx="59626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B1B33"/>
                </a:solidFill>
                <a:latin typeface="微软雅黑"/>
                <a:ea typeface="微软雅黑"/>
              </a:rPr>
              <a:t>机器学习</a:t>
            </a:r>
            <a:r>
              <a:rPr lang="en-US" sz="1425" b="1">
                <a:solidFill>
                  <a:srgbClr val="0B1B33"/>
                </a:solidFill>
                <a:latin typeface="微软雅黑"/>
                <a:ea typeface="微软雅黑"/>
              </a:rPr>
              <a:t> Machine Learning</a:t>
            </a:r>
            <a:endParaRPr/>
          </a:p>
        </p:txBody>
      </p:sp>
      <p:sp>
        <p:nvSpPr>
          <p:cNvPr id="1817" name="文本框 1816" descr="{&quot;isTemplate&quot;:true,&quot;type&quot;:&quot;text&quot;}"/>
          <p:cNvSpPr txBox="1"/>
          <p:nvPr/>
        </p:nvSpPr>
        <p:spPr>
          <a:xfrm>
            <a:off x="1009650" y="3276600"/>
            <a:ext cx="59626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00">
                <a:solidFill>
                  <a:srgbClr val="2C3947"/>
                </a:solidFill>
                <a:latin typeface="微软雅黑"/>
                <a:ea typeface="微软雅黑"/>
              </a:rPr>
              <a:t>从数据中学习模式，而不是逐条编写规则</a:t>
            </a:r>
            <a:endParaRPr/>
          </a:p>
        </p:txBody>
      </p:sp>
      <p:sp>
        <p:nvSpPr>
          <p:cNvPr id="1818" name="矩形: 圆角 1817"/>
          <p:cNvSpPr/>
          <p:nvPr/>
        </p:nvSpPr>
        <p:spPr>
          <a:xfrm>
            <a:off x="1066800" y="3800475"/>
            <a:ext cx="6076950" cy="800100"/>
          </a:xfrm>
          <a:prstGeom prst="roundRect">
            <a:avLst>
              <a:gd name="adj" fmla="val 9524"/>
            </a:avLst>
          </a:prstGeom>
          <a:solidFill>
            <a:srgbClr val="8FB4E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19" name="文本框 1818" descr="{&quot;isTemplate&quot;:true,&quot;type&quot;:&quot;text&quot;}"/>
          <p:cNvSpPr txBox="1"/>
          <p:nvPr/>
        </p:nvSpPr>
        <p:spPr>
          <a:xfrm>
            <a:off x="1238250" y="3933825"/>
            <a:ext cx="57340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B1B33"/>
                </a:solidFill>
                <a:latin typeface="微软雅黑"/>
                <a:ea typeface="微软雅黑"/>
              </a:rPr>
              <a:t>深度学习</a:t>
            </a:r>
            <a:r>
              <a:rPr lang="en-US" sz="1425" b="1">
                <a:solidFill>
                  <a:srgbClr val="0B1B33"/>
                </a:solidFill>
                <a:latin typeface="微软雅黑"/>
                <a:ea typeface="微软雅黑"/>
              </a:rPr>
              <a:t> Deep Learning</a:t>
            </a:r>
            <a:endParaRPr/>
          </a:p>
        </p:txBody>
      </p:sp>
      <p:sp>
        <p:nvSpPr>
          <p:cNvPr id="1820" name="文本框 1819" descr="{&quot;isTemplate&quot;:true,&quot;type&quot;:&quot;text&quot;}"/>
          <p:cNvSpPr txBox="1"/>
          <p:nvPr/>
        </p:nvSpPr>
        <p:spPr>
          <a:xfrm>
            <a:off x="1238250" y="4191000"/>
            <a:ext cx="57340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00">
                <a:solidFill>
                  <a:srgbClr val="2C3947"/>
                </a:solidFill>
                <a:latin typeface="微软雅黑"/>
                <a:ea typeface="微软雅黑"/>
              </a:rPr>
              <a:t>用多层神经网络自动学习数据的表示</a:t>
            </a:r>
            <a:endParaRPr/>
          </a:p>
        </p:txBody>
      </p:sp>
      <p:sp>
        <p:nvSpPr>
          <p:cNvPr id="1821" name="矩形: 圆角 1820"/>
          <p:cNvSpPr/>
          <p:nvPr/>
        </p:nvSpPr>
        <p:spPr>
          <a:xfrm>
            <a:off x="7620000" y="1333500"/>
            <a:ext cx="4191000" cy="2000250"/>
          </a:xfrm>
          <a:prstGeom prst="roundRect">
            <a:avLst>
              <a:gd name="adj" fmla="val 4762"/>
            </a:avLst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22" name="文本框 1821" descr="{&quot;isTemplate&quot;:true,&quot;type&quot;:&quot;text&quot;}"/>
          <p:cNvSpPr txBox="1"/>
          <p:nvPr/>
        </p:nvSpPr>
        <p:spPr>
          <a:xfrm>
            <a:off x="7810500" y="1524000"/>
            <a:ext cx="38100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8D6E00"/>
                </a:solidFill>
                <a:latin typeface="微软雅黑"/>
                <a:ea typeface="微软雅黑"/>
              </a:rPr>
              <a:t>两个容易混淆的极点</a:t>
            </a:r>
            <a:endParaRPr/>
          </a:p>
        </p:txBody>
      </p:sp>
      <p:sp>
        <p:nvSpPr>
          <p:cNvPr id="1823" name="文本框 1822" descr="{&quot;isTemplate&quot;:true,&quot;type&quot;:&quot;text&quot;}"/>
          <p:cNvSpPr txBox="1"/>
          <p:nvPr/>
        </p:nvSpPr>
        <p:spPr>
          <a:xfrm>
            <a:off x="7810500" y="1828800"/>
            <a:ext cx="381000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15000"/>
              </a:lnSpc>
            </a:pPr>
            <a:r>
              <a:rPr sz="1275" b="1">
                <a:solidFill>
                  <a:srgbClr val="0E3F8C"/>
                </a:solidFill>
                <a:latin typeface="微软雅黑"/>
              </a:rPr>
              <a:t>符号主义</a:t>
            </a:r>
            <a:r>
              <a:rPr sz="1275" b="0">
                <a:solidFill>
                  <a:srgbClr val="2C3947"/>
                </a:solidFill>
                <a:latin typeface="微软雅黑"/>
              </a:rPr>
              <a:t>：把知识写成显式规则与符号结构（专家系统、规则库、知识图谱）。</a:t>
            </a:r>
            <a:endParaRPr/>
          </a:p>
        </p:txBody>
      </p:sp>
      <p:sp>
        <p:nvSpPr>
          <p:cNvPr id="1824" name="文本框 1823" descr="{&quot;isTemplate&quot;:true,&quot;type&quot;:&quot;text&quot;}"/>
          <p:cNvSpPr txBox="1"/>
          <p:nvPr/>
        </p:nvSpPr>
        <p:spPr>
          <a:xfrm>
            <a:off x="7810500" y="2514600"/>
            <a:ext cx="381000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15000"/>
              </a:lnSpc>
            </a:pPr>
            <a:r>
              <a:rPr sz="1275" b="1">
                <a:solidFill>
                  <a:srgbClr val="0E3F8C"/>
                </a:solidFill>
                <a:latin typeface="微软雅黑"/>
              </a:rPr>
              <a:t>学习主义</a:t>
            </a:r>
            <a:r>
              <a:rPr sz="1275" b="0">
                <a:solidFill>
                  <a:srgbClr val="2C3947"/>
                </a:solidFill>
                <a:latin typeface="微软雅黑"/>
              </a:rPr>
              <a:t>：让模型从数据中拟合关系；并不必然牺牲可读性——线性模型、决策树仍可读，深度网络通常较难。</a:t>
            </a:r>
            <a:endParaRPr/>
          </a:p>
        </p:txBody>
      </p:sp>
      <p:sp>
        <p:nvSpPr>
          <p:cNvPr id="1825" name="矩形: 圆角 1824"/>
          <p:cNvSpPr/>
          <p:nvPr/>
        </p:nvSpPr>
        <p:spPr>
          <a:xfrm>
            <a:off x="7620000" y="3467100"/>
            <a:ext cx="4191000" cy="1619250"/>
          </a:xfrm>
          <a:prstGeom prst="roundRect">
            <a:avLst>
              <a:gd name="adj" fmla="val 5882"/>
            </a:avLst>
          </a:prstGeom>
          <a:solidFill>
            <a:srgbClr val="E8F1FC"/>
          </a:solidFill>
          <a:ln w="12700">
            <a:solidFill>
              <a:srgbClr val="1E4F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26" name="文本框 1825" descr="{&quot;isTemplate&quot;:true,&quot;type&quot;:&quot;text&quot;}"/>
          <p:cNvSpPr txBox="1"/>
          <p:nvPr/>
        </p:nvSpPr>
        <p:spPr>
          <a:xfrm>
            <a:off x="7810500" y="3657600"/>
            <a:ext cx="38100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/>
                <a:ea typeface="微软雅黑"/>
              </a:rPr>
              <a:t>材料科学的立场</a:t>
            </a:r>
            <a:endParaRPr/>
          </a:p>
        </p:txBody>
      </p:sp>
      <p:sp>
        <p:nvSpPr>
          <p:cNvPr id="1827" name="文本框 1826" descr="{&quot;isTemplate&quot;:true,&quot;type&quot;:&quot;text&quot;}"/>
          <p:cNvSpPr txBox="1"/>
          <p:nvPr/>
        </p:nvSpPr>
        <p:spPr>
          <a:xfrm>
            <a:off x="7810500" y="3962400"/>
            <a:ext cx="3810000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本课程不认为二者互斥。</a:t>
            </a:r>
            <a:r>
              <a:rPr lang="en-US" sz="1275" b="1">
                <a:solidFill>
                  <a:srgbClr val="1E4FA8"/>
                </a:solidFill>
                <a:latin typeface="微软雅黑"/>
                <a:ea typeface="微软雅黑"/>
              </a:rPr>
              <a:t>PINN</a:t>
            </a:r>
            <a:r>
              <a:rPr lang="zh-CN" sz="1275" b="1">
                <a:solidFill>
                  <a:srgbClr val="1E4FA8"/>
                </a:solidFill>
                <a:latin typeface="微软雅黑"/>
                <a:ea typeface="微软雅黑"/>
              </a:rPr>
              <a:t>（第</a:t>
            </a:r>
            <a:r>
              <a:rPr lang="en-US" sz="1275" b="1">
                <a:solidFill>
                  <a:srgbClr val="1E4FA8"/>
                </a:solidFill>
                <a:latin typeface="微软雅黑"/>
                <a:ea typeface="微软雅黑"/>
              </a:rPr>
              <a:t> 15 </a:t>
            </a:r>
            <a:r>
              <a:rPr lang="zh-CN" sz="1275" b="1">
                <a:solidFill>
                  <a:srgbClr val="1E4FA8"/>
                </a:solidFill>
                <a:latin typeface="微软雅黑"/>
                <a:ea typeface="微软雅黑"/>
              </a:rPr>
              <a:t>讲）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正是把两者融合的典型：网络负责拟合，物理方程作为损失项把先验注入。</a:t>
            </a:r>
            <a:endParaRPr/>
          </a:p>
        </p:txBody>
      </p:sp>
      <p:sp>
        <p:nvSpPr>
          <p:cNvPr id="1828" name="文本框 1827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1829" name="文本框 1828" descr="{&quot;isTemplate&quot;:true,&quot;type&quot;:&quot;text&quot;}"/>
          <p:cNvSpPr txBox="1"/>
          <p:nvPr/>
        </p:nvSpPr>
        <p:spPr>
          <a:xfrm>
            <a:off x="55054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1830" name="文本框 1829" descr="{&quot;isTemplate&quot;:true,&quot;type&quot;:&quot;text&quot;}"/>
          <p:cNvSpPr txBox="1"/>
          <p:nvPr/>
        </p:nvSpPr>
        <p:spPr>
          <a:xfrm>
            <a:off x="11477625" y="6610350"/>
            <a:ext cx="3333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6 / 60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" name="矩形 189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97" name="矩形 1896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98" name="文本框 1897" descr="{&quot;isTemplate&quot;:true,&quot;type&quot;:&quot;text&quot;}"/>
          <p:cNvSpPr txBox="1"/>
          <p:nvPr/>
        </p:nvSpPr>
        <p:spPr>
          <a:xfrm>
            <a:off x="342900" y="171450"/>
            <a:ext cx="3524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在材料科学中的应用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讲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材料信息学导论与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产业</a:t>
            </a:r>
            <a:endParaRPr/>
          </a:p>
        </p:txBody>
      </p:sp>
      <p:sp>
        <p:nvSpPr>
          <p:cNvPr id="1899" name="文本框 1898" descr="{&quot;isTemplate&quot;:true,&quot;type&quot;:&quot;text&quot;}"/>
          <p:cNvSpPr txBox="1"/>
          <p:nvPr/>
        </p:nvSpPr>
        <p:spPr>
          <a:xfrm>
            <a:off x="9486900" y="171450"/>
            <a:ext cx="12573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01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什么是材料信息学</a:t>
            </a:r>
            <a:endParaRPr/>
          </a:p>
        </p:txBody>
      </p:sp>
      <p:pic>
        <p:nvPicPr>
          <p:cNvPr id="1900" name="图片 1899"/>
          <p:cNvPicPr>
            <a:picLocks noChangeAspect="1"/>
          </p:cNvPicPr>
          <p:nvPr/>
        </p:nvPicPr>
        <p:blipFill>
          <a:blip r:embed="rId2"/>
          <a:srcRect l="847" r="847"/>
          <a:stretch>
            <a:fillRect/>
          </a:stretch>
        </p:blipFill>
        <p:spPr>
          <a:xfrm>
            <a:off x="10858500" y="123825"/>
            <a:ext cx="990600" cy="247650"/>
          </a:xfrm>
          <a:prstGeom prst="rect">
            <a:avLst/>
          </a:prstGeom>
          <a:ln/>
        </p:spPr>
      </p:pic>
      <p:sp>
        <p:nvSpPr>
          <p:cNvPr id="1901" name="文本框 1900" descr="{&quot;isTemplate&quot;:true,&quot;type&quot;:&quot;text&quot;}"/>
          <p:cNvSpPr txBox="1"/>
          <p:nvPr/>
        </p:nvSpPr>
        <p:spPr>
          <a:xfrm>
            <a:off x="381000" y="666750"/>
            <a:ext cx="114300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钉钉进步体"/>
                <a:ea typeface="钉钉进步体"/>
              </a:rPr>
              <a:t>传统编程</a:t>
            </a:r>
            <a:r>
              <a:rPr lang="en-US" sz="2400" b="1">
                <a:solidFill>
                  <a:srgbClr val="0E3F8C"/>
                </a:solidFill>
                <a:latin typeface="钉钉进步体"/>
                <a:ea typeface="钉钉进步体"/>
              </a:rPr>
              <a:t> vs </a:t>
            </a:r>
            <a:r>
              <a:rPr lang="zh-CN" sz="2400" b="1">
                <a:solidFill>
                  <a:srgbClr val="0E3F8C"/>
                </a:solidFill>
                <a:latin typeface="钉钉进步体"/>
                <a:ea typeface="钉钉进步体"/>
              </a:rPr>
              <a:t>机器学习：范式倒置</a:t>
            </a:r>
            <a:endParaRPr/>
          </a:p>
        </p:txBody>
      </p:sp>
      <p:sp>
        <p:nvSpPr>
          <p:cNvPr id="1902" name="矩形: 圆角 1901"/>
          <p:cNvSpPr/>
          <p:nvPr/>
        </p:nvSpPr>
        <p:spPr>
          <a:xfrm>
            <a:off x="381000" y="1114425"/>
            <a:ext cx="571500" cy="47625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03" name="矩形: 圆角 1902"/>
          <p:cNvSpPr/>
          <p:nvPr/>
        </p:nvSpPr>
        <p:spPr>
          <a:xfrm>
            <a:off x="381000" y="2362200"/>
            <a:ext cx="5619750" cy="2324100"/>
          </a:xfrm>
          <a:prstGeom prst="roundRect">
            <a:avLst>
              <a:gd name="adj" fmla="val 4918"/>
            </a:avLst>
          </a:prstGeom>
          <a:solidFill>
            <a:srgbClr val="F5F3F0"/>
          </a:solidFill>
          <a:ln w="12700">
            <a:solidFill>
              <a:srgbClr val="D8D0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04" name="文本框 1903" descr="{&quot;isTemplate&quot;:true,&quot;type&quot;:&quot;text&quot;}"/>
          <p:cNvSpPr txBox="1"/>
          <p:nvPr/>
        </p:nvSpPr>
        <p:spPr>
          <a:xfrm>
            <a:off x="590550" y="2571750"/>
            <a:ext cx="52006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5D4E3A"/>
                </a:solidFill>
                <a:latin typeface="微软雅黑"/>
                <a:ea typeface="微软雅黑"/>
              </a:rPr>
              <a:t>传统编程：规则先行</a:t>
            </a:r>
            <a:endParaRPr/>
          </a:p>
        </p:txBody>
      </p:sp>
      <p:sp>
        <p:nvSpPr>
          <p:cNvPr id="1905" name="矩形: 圆角 1904"/>
          <p:cNvSpPr/>
          <p:nvPr/>
        </p:nvSpPr>
        <p:spPr>
          <a:xfrm>
            <a:off x="590550" y="2971800"/>
            <a:ext cx="12382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D8D0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06" name="文本框 1905" descr="{&quot;isTemplate&quot;:true,&quot;type&quot;:&quot;text&quot;}"/>
          <p:cNvSpPr txBox="1"/>
          <p:nvPr/>
        </p:nvSpPr>
        <p:spPr>
          <a:xfrm>
            <a:off x="742950" y="3086100"/>
            <a:ext cx="9334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350" b="1">
                <a:solidFill>
                  <a:srgbClr val="3A2F22"/>
                </a:solidFill>
                <a:latin typeface="微软雅黑"/>
                <a:ea typeface="微软雅黑"/>
              </a:rPr>
              <a:t>规则</a:t>
            </a:r>
            <a:r>
              <a:rPr lang="en-US" sz="1350" b="1">
                <a:solidFill>
                  <a:srgbClr val="3A2F22"/>
                </a:solidFill>
                <a:latin typeface="微软雅黑"/>
                <a:ea typeface="微软雅黑"/>
              </a:rPr>
              <a:t> + </a:t>
            </a:r>
            <a:r>
              <a:rPr lang="zh-CN" sz="1350" b="1">
                <a:solidFill>
                  <a:srgbClr val="3A2F22"/>
                </a:solidFill>
                <a:latin typeface="微软雅黑"/>
                <a:ea typeface="微软雅黑"/>
              </a:rPr>
              <a:t>数据</a:t>
            </a:r>
            <a:endParaRPr/>
          </a:p>
        </p:txBody>
      </p:sp>
      <p:sp>
        <p:nvSpPr>
          <p:cNvPr id="1907" name="矩形: 圆角 1906"/>
          <p:cNvSpPr/>
          <p:nvPr/>
        </p:nvSpPr>
        <p:spPr>
          <a:xfrm>
            <a:off x="1924050" y="2971800"/>
            <a:ext cx="6477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D8D0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08" name="文本框 1907" descr="{&quot;isTemplate&quot;:true,&quot;type&quot;:&quot;text&quot;}"/>
          <p:cNvSpPr txBox="1"/>
          <p:nvPr/>
        </p:nvSpPr>
        <p:spPr>
          <a:xfrm>
            <a:off x="2076450" y="3086100"/>
            <a:ext cx="3429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350" b="1">
                <a:solidFill>
                  <a:srgbClr val="3A2F22"/>
                </a:solidFill>
                <a:latin typeface="微软雅黑"/>
                <a:ea typeface="微软雅黑"/>
              </a:rPr>
              <a:t>程序</a:t>
            </a:r>
            <a:endParaRPr/>
          </a:p>
        </p:txBody>
      </p:sp>
      <p:sp>
        <p:nvSpPr>
          <p:cNvPr id="1909" name="矩形: 圆角 1908"/>
          <p:cNvSpPr/>
          <p:nvPr/>
        </p:nvSpPr>
        <p:spPr>
          <a:xfrm>
            <a:off x="2667000" y="2971800"/>
            <a:ext cx="6477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D8D0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10" name="文本框 1909" descr="{&quot;isTemplate&quot;:true,&quot;type&quot;:&quot;text&quot;}"/>
          <p:cNvSpPr txBox="1"/>
          <p:nvPr/>
        </p:nvSpPr>
        <p:spPr>
          <a:xfrm>
            <a:off x="2819400" y="3086100"/>
            <a:ext cx="3429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350" b="1">
                <a:solidFill>
                  <a:srgbClr val="3A2F22"/>
                </a:solidFill>
                <a:latin typeface="微软雅黑"/>
                <a:ea typeface="微软雅黑"/>
              </a:rPr>
              <a:t>答案</a:t>
            </a:r>
            <a:endParaRPr/>
          </a:p>
        </p:txBody>
      </p:sp>
      <p:sp>
        <p:nvSpPr>
          <p:cNvPr id="1911" name="文本框 1910" descr="{&quot;isTemplate&quot;:true,&quot;type&quot;:&quot;text&quot;}"/>
          <p:cNvSpPr txBox="1"/>
          <p:nvPr/>
        </p:nvSpPr>
        <p:spPr>
          <a:xfrm>
            <a:off x="590550" y="3543300"/>
            <a:ext cx="520065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275">
                <a:solidFill>
                  <a:srgbClr val="3A4759"/>
                </a:solidFill>
                <a:latin typeface="微软雅黑"/>
                <a:ea typeface="微软雅黑"/>
              </a:rPr>
              <a:t>适用范围：规则清晰、可枚举。</a:t>
            </a:r>
            <a:r>
              <a:rPr lang="zh-CN" sz="1275" b="1">
                <a:solidFill>
                  <a:srgbClr val="3A4759"/>
                </a:solidFill>
                <a:latin typeface="微软雅黑"/>
                <a:ea typeface="微软雅黑"/>
              </a:rPr>
              <a:t>材料问题中真正的难点恰恰是「规律尚未被写下」</a:t>
            </a:r>
            <a:r>
              <a:rPr lang="zh-CN" sz="1275">
                <a:solidFill>
                  <a:srgbClr val="3A4759"/>
                </a:solidFill>
                <a:latin typeface="微软雅黑"/>
                <a:ea typeface="微软雅黑"/>
              </a:rPr>
              <a:t>——比如带隙与组分的定量关系，至今没有解析模型。</a:t>
            </a:r>
            <a:endParaRPr/>
          </a:p>
        </p:txBody>
      </p:sp>
      <p:sp>
        <p:nvSpPr>
          <p:cNvPr id="1912" name="矩形: 圆角 1911"/>
          <p:cNvSpPr/>
          <p:nvPr/>
        </p:nvSpPr>
        <p:spPr>
          <a:xfrm>
            <a:off x="6191250" y="2362200"/>
            <a:ext cx="5619750" cy="2324100"/>
          </a:xfrm>
          <a:prstGeom prst="roundRect">
            <a:avLst>
              <a:gd name="adj" fmla="val 4918"/>
            </a:avLst>
          </a:prstGeom>
          <a:solidFill>
            <a:srgbClr val="E8F1FC"/>
          </a:solidFill>
          <a:ln w="12700">
            <a:solidFill>
              <a:srgbClr val="1E4F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13" name="文本框 1912" descr="{&quot;isTemplate&quot;:true,&quot;type&quot;:&quot;text&quot;}"/>
          <p:cNvSpPr txBox="1"/>
          <p:nvPr/>
        </p:nvSpPr>
        <p:spPr>
          <a:xfrm>
            <a:off x="6400800" y="2571750"/>
            <a:ext cx="52006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微软雅黑"/>
                <a:ea typeface="微软雅黑"/>
              </a:rPr>
              <a:t>机器学习：数据先行</a:t>
            </a:r>
            <a:endParaRPr/>
          </a:p>
        </p:txBody>
      </p:sp>
      <p:sp>
        <p:nvSpPr>
          <p:cNvPr id="1914" name="矩形: 圆角 1913"/>
          <p:cNvSpPr/>
          <p:nvPr/>
        </p:nvSpPr>
        <p:spPr>
          <a:xfrm>
            <a:off x="6400800" y="2971800"/>
            <a:ext cx="123825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1E4F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15" name="文本框 1914" descr="{&quot;isTemplate&quot;:true,&quot;type&quot;:&quot;text&quot;}"/>
          <p:cNvSpPr txBox="1"/>
          <p:nvPr/>
        </p:nvSpPr>
        <p:spPr>
          <a:xfrm>
            <a:off x="6553200" y="3086100"/>
            <a:ext cx="9334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微软雅黑"/>
                <a:ea typeface="微软雅黑"/>
              </a:rPr>
              <a:t>数据</a:t>
            </a:r>
            <a:r>
              <a:rPr lang="en-US" sz="1350" b="1">
                <a:solidFill>
                  <a:srgbClr val="0E3F8C"/>
                </a:solidFill>
                <a:latin typeface="微软雅黑"/>
                <a:ea typeface="微软雅黑"/>
              </a:rPr>
              <a:t> + </a:t>
            </a:r>
            <a:r>
              <a:rPr lang="zh-CN" sz="1350" b="1">
                <a:solidFill>
                  <a:srgbClr val="0E3F8C"/>
                </a:solidFill>
                <a:latin typeface="微软雅黑"/>
                <a:ea typeface="微软雅黑"/>
              </a:rPr>
              <a:t>答案</a:t>
            </a:r>
            <a:endParaRPr/>
          </a:p>
        </p:txBody>
      </p:sp>
      <p:sp>
        <p:nvSpPr>
          <p:cNvPr id="1916" name="矩形: 圆角 1915"/>
          <p:cNvSpPr/>
          <p:nvPr/>
        </p:nvSpPr>
        <p:spPr>
          <a:xfrm>
            <a:off x="7734300" y="2971800"/>
            <a:ext cx="6477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1E4F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17" name="文本框 1916" descr="{&quot;isTemplate&quot;:true,&quot;type&quot;:&quot;text&quot;}"/>
          <p:cNvSpPr txBox="1"/>
          <p:nvPr/>
        </p:nvSpPr>
        <p:spPr>
          <a:xfrm>
            <a:off x="7886700" y="3086100"/>
            <a:ext cx="3429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微软雅黑"/>
                <a:ea typeface="微软雅黑"/>
              </a:rPr>
              <a:t>模型</a:t>
            </a:r>
            <a:endParaRPr/>
          </a:p>
        </p:txBody>
      </p:sp>
      <p:sp>
        <p:nvSpPr>
          <p:cNvPr id="1918" name="矩形: 圆角 1917"/>
          <p:cNvSpPr/>
          <p:nvPr/>
        </p:nvSpPr>
        <p:spPr>
          <a:xfrm>
            <a:off x="8477250" y="2971800"/>
            <a:ext cx="6477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1E4F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19" name="文本框 1918" descr="{&quot;isTemplate&quot;:true,&quot;type&quot;:&quot;text&quot;}"/>
          <p:cNvSpPr txBox="1"/>
          <p:nvPr/>
        </p:nvSpPr>
        <p:spPr>
          <a:xfrm>
            <a:off x="8629650" y="3086100"/>
            <a:ext cx="3429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微软雅黑"/>
                <a:ea typeface="微软雅黑"/>
              </a:rPr>
              <a:t>规律</a:t>
            </a:r>
            <a:endParaRPr/>
          </a:p>
        </p:txBody>
      </p:sp>
      <p:sp>
        <p:nvSpPr>
          <p:cNvPr id="1920" name="文本框 1919" descr="{&quot;isTemplate&quot;:true,&quot;type&quot;:&quot;text&quot;}"/>
          <p:cNvSpPr txBox="1"/>
          <p:nvPr/>
        </p:nvSpPr>
        <p:spPr>
          <a:xfrm>
            <a:off x="6400800" y="3543300"/>
            <a:ext cx="5200650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275">
                <a:solidFill>
                  <a:srgbClr val="3A4759"/>
                </a:solidFill>
                <a:latin typeface="微软雅黑"/>
                <a:ea typeface="微软雅黑"/>
              </a:rPr>
              <a:t>适用条件：</a:t>
            </a:r>
            <a:r>
              <a:rPr lang="zh-CN" sz="1275" b="1">
                <a:solidFill>
                  <a:srgbClr val="1E4FA8"/>
                </a:solidFill>
                <a:latin typeface="微软雅黑"/>
                <a:ea typeface="微软雅黑"/>
              </a:rPr>
              <a:t>有足够的历史数据，且其中隐含可学的相关结构</a:t>
            </a:r>
            <a:r>
              <a:rPr lang="zh-CN" sz="1275">
                <a:solidFill>
                  <a:srgbClr val="3A4759"/>
                </a:solidFill>
                <a:latin typeface="微软雅黑"/>
                <a:ea typeface="微软雅黑"/>
              </a:rPr>
              <a:t>。</a:t>
            </a:r>
            <a:r>
              <a:rPr lang="en-US" sz="1275">
                <a:solidFill>
                  <a:srgbClr val="3A4759"/>
                </a:solidFill>
                <a:latin typeface="微软雅黑"/>
                <a:ea typeface="微软雅黑"/>
              </a:rPr>
              <a:t>Google </a:t>
            </a:r>
            <a:r>
              <a:rPr lang="zh-CN" sz="1275">
                <a:solidFill>
                  <a:srgbClr val="3A4759"/>
                </a:solidFill>
                <a:latin typeface="微软雅黑"/>
                <a:ea typeface="微软雅黑"/>
              </a:rPr>
              <a:t>翻译的演进正是从「写规则」到「从语料学」——这条路径材料科学同样适用。</a:t>
            </a:r>
            <a:endParaRPr/>
          </a:p>
        </p:txBody>
      </p:sp>
      <p:sp>
        <p:nvSpPr>
          <p:cNvPr id="1921" name="矩形: 圆角 1920"/>
          <p:cNvSpPr/>
          <p:nvPr/>
        </p:nvSpPr>
        <p:spPr>
          <a:xfrm>
            <a:off x="381000" y="4838700"/>
            <a:ext cx="11430000" cy="657225"/>
          </a:xfrm>
          <a:prstGeom prst="roundRect">
            <a:avLst>
              <a:gd name="adj" fmla="val 14493"/>
            </a:avLst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22" name="文本框 1921" descr="{&quot;isTemplate&quot;:true,&quot;type&quot;:&quot;text&quot;}"/>
          <p:cNvSpPr txBox="1"/>
          <p:nvPr/>
        </p:nvSpPr>
        <p:spPr>
          <a:xfrm>
            <a:off x="609600" y="4991100"/>
            <a:ext cx="10972800" cy="3524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425" b="1">
                <a:solidFill>
                  <a:srgbClr val="8D6E00"/>
                </a:solidFill>
                <a:latin typeface="微软雅黑"/>
                <a:ea typeface="微软雅黑"/>
              </a:rPr>
              <a:t>关键洞察：</a:t>
            </a:r>
            <a:r>
              <a:rPr lang="zh-CN" sz="1425">
                <a:solidFill>
                  <a:srgbClr val="1A2230"/>
                </a:solidFill>
                <a:latin typeface="微软雅黑"/>
                <a:ea typeface="微软雅黑"/>
              </a:rPr>
              <a:t>材料科学中大量「有用但尚无理论表述」的关系，可以直接从数据中学到——这正是材料信息学存在的理由。</a:t>
            </a:r>
            <a:endParaRPr/>
          </a:p>
        </p:txBody>
      </p:sp>
      <p:sp>
        <p:nvSpPr>
          <p:cNvPr id="1923" name="文本框 1922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1924" name="文本框 1923" descr="{&quot;isTemplate&quot;:true,&quot;type&quot;:&quot;text&quot;}"/>
          <p:cNvSpPr txBox="1"/>
          <p:nvPr/>
        </p:nvSpPr>
        <p:spPr>
          <a:xfrm>
            <a:off x="55054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1925" name="文本框 1924" descr="{&quot;isTemplate&quot;:true,&quot;type&quot;:&quot;text&quot;}"/>
          <p:cNvSpPr txBox="1"/>
          <p:nvPr/>
        </p:nvSpPr>
        <p:spPr>
          <a:xfrm>
            <a:off x="11477625" y="6610350"/>
            <a:ext cx="3333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7 / 60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7" name="矩形 19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28" name="矩形 1927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29" name="文本框 1928" descr="{&quot;isTemplate&quot;:true,&quot;type&quot;:&quot;text&quot;}"/>
          <p:cNvSpPr txBox="1"/>
          <p:nvPr/>
        </p:nvSpPr>
        <p:spPr>
          <a:xfrm>
            <a:off x="342900" y="171450"/>
            <a:ext cx="3524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在材料科学中的应用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讲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材料信息学导论与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产业</a:t>
            </a:r>
            <a:endParaRPr/>
          </a:p>
        </p:txBody>
      </p:sp>
      <p:sp>
        <p:nvSpPr>
          <p:cNvPr id="1930" name="文本框 1929" descr="{&quot;isTemplate&quot;:true,&quot;type&quot;:&quot;text&quot;}"/>
          <p:cNvSpPr txBox="1"/>
          <p:nvPr/>
        </p:nvSpPr>
        <p:spPr>
          <a:xfrm>
            <a:off x="9486900" y="171450"/>
            <a:ext cx="12573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01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什么是材料信息学</a:t>
            </a:r>
            <a:endParaRPr/>
          </a:p>
        </p:txBody>
      </p:sp>
      <p:pic>
        <p:nvPicPr>
          <p:cNvPr id="1931" name="图片 1930"/>
          <p:cNvPicPr>
            <a:picLocks noChangeAspect="1"/>
          </p:cNvPicPr>
          <p:nvPr/>
        </p:nvPicPr>
        <p:blipFill>
          <a:blip r:embed="rId2"/>
          <a:srcRect l="847" r="847"/>
          <a:stretch>
            <a:fillRect/>
          </a:stretch>
        </p:blipFill>
        <p:spPr>
          <a:xfrm>
            <a:off x="10858500" y="123825"/>
            <a:ext cx="990600" cy="247650"/>
          </a:xfrm>
          <a:prstGeom prst="rect">
            <a:avLst/>
          </a:prstGeom>
          <a:ln/>
        </p:spPr>
      </p:pic>
      <p:sp>
        <p:nvSpPr>
          <p:cNvPr id="1932" name="文本框 1931" descr="{&quot;isTemplate&quot;:true,&quot;type&quot;:&quot;text&quot;}"/>
          <p:cNvSpPr txBox="1"/>
          <p:nvPr/>
        </p:nvSpPr>
        <p:spPr>
          <a:xfrm>
            <a:off x="381000" y="666750"/>
            <a:ext cx="114300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钉钉进步体"/>
                <a:ea typeface="钉钉进步体"/>
              </a:rPr>
              <a:t>什么是材料信息学</a:t>
            </a:r>
            <a:endParaRPr/>
          </a:p>
        </p:txBody>
      </p:sp>
      <p:sp>
        <p:nvSpPr>
          <p:cNvPr id="1933" name="矩形: 圆角 1932"/>
          <p:cNvSpPr/>
          <p:nvPr/>
        </p:nvSpPr>
        <p:spPr>
          <a:xfrm>
            <a:off x="381000" y="1114425"/>
            <a:ext cx="571500" cy="47625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34" name="矩形: 圆角 1933"/>
          <p:cNvSpPr/>
          <p:nvPr/>
        </p:nvSpPr>
        <p:spPr>
          <a:xfrm>
            <a:off x="381000" y="2409825"/>
            <a:ext cx="11430000" cy="1428750"/>
          </a:xfrm>
          <a:prstGeom prst="roundRect">
            <a:avLst>
              <a:gd name="adj" fmla="val 9333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35" name="文本框 1934" descr="{&quot;isTemplate&quot;:true,&quot;type&quot;:&quot;text&quot;}"/>
          <p:cNvSpPr txBox="1"/>
          <p:nvPr/>
        </p:nvSpPr>
        <p:spPr>
          <a:xfrm>
            <a:off x="704850" y="2657475"/>
            <a:ext cx="10782300" cy="5905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50000"/>
              </a:lnSpc>
            </a:pPr>
            <a:r>
              <a:rPr lang="zh-CN" sz="2550">
                <a:solidFill>
                  <a:srgbClr val="FFFFFF"/>
                </a:solidFill>
                <a:latin typeface="微软雅黑"/>
                <a:ea typeface="微软雅黑"/>
              </a:rPr>
              <a:t>材料信息学</a:t>
            </a:r>
            <a:r>
              <a:rPr lang="en-US" sz="2550">
                <a:solidFill>
                  <a:srgbClr val="FFFFFF"/>
                </a:solidFill>
                <a:latin typeface="微软雅黑"/>
                <a:ea typeface="微软雅黑"/>
              </a:rPr>
              <a:t> = </a:t>
            </a:r>
            <a:r>
              <a:rPr lang="zh-CN" sz="2550" b="1">
                <a:solidFill>
                  <a:srgbClr val="FFC107"/>
                </a:solidFill>
                <a:latin typeface="微软雅黑"/>
                <a:ea typeface="微软雅黑"/>
              </a:rPr>
              <a:t>数据科学</a:t>
            </a:r>
            <a:r>
              <a:rPr lang="en-US" sz="25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2550">
                <a:solidFill>
                  <a:srgbClr val="FFFFFF"/>
                </a:solidFill>
                <a:latin typeface="微软雅黑"/>
                <a:ea typeface="微软雅黑"/>
              </a:rPr>
              <a:t>应用于</a:t>
            </a:r>
            <a:r>
              <a:rPr lang="en-US" sz="25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2550" b="1">
                <a:solidFill>
                  <a:srgbClr val="FFC107"/>
                </a:solidFill>
                <a:latin typeface="微软雅黑"/>
                <a:ea typeface="微软雅黑"/>
              </a:rPr>
              <a:t>材料科学</a:t>
            </a:r>
            <a:endParaRPr/>
          </a:p>
        </p:txBody>
      </p:sp>
      <p:sp>
        <p:nvSpPr>
          <p:cNvPr id="1936" name="文本框 1935" descr="{&quot;isTemplate&quot;:true,&quot;type&quot;:&quot;text&quot;}"/>
          <p:cNvSpPr txBox="1"/>
          <p:nvPr/>
        </p:nvSpPr>
        <p:spPr>
          <a:xfrm>
            <a:off x="704850" y="3362325"/>
            <a:ext cx="107823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1500">
                <a:solidFill>
                  <a:srgbClr val="BFD3EE"/>
                </a:solidFill>
                <a:latin typeface="微软雅黑"/>
                <a:ea typeface="微软雅黑"/>
              </a:rPr>
              <a:t>Materials Informatics is data science applied to materials science —— Taylor D. Sparks, University of Utah</a:t>
            </a:r>
            <a:endParaRPr/>
          </a:p>
        </p:txBody>
      </p:sp>
      <p:sp>
        <p:nvSpPr>
          <p:cNvPr id="1937" name="矩形: 圆角 1936"/>
          <p:cNvSpPr/>
          <p:nvPr/>
        </p:nvSpPr>
        <p:spPr>
          <a:xfrm>
            <a:off x="381000" y="4086225"/>
            <a:ext cx="3686175" cy="1276350"/>
          </a:xfrm>
          <a:prstGeom prst="roundRect">
            <a:avLst>
              <a:gd name="adj" fmla="val 7463"/>
            </a:avLst>
          </a:prstGeom>
          <a:solidFill>
            <a:srgbClr val="DCE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38" name="文本框 1937" descr="{&quot;isTemplate&quot;:true,&quot;type&quot;:&quot;text&quot;}"/>
          <p:cNvSpPr txBox="1"/>
          <p:nvPr/>
        </p:nvSpPr>
        <p:spPr>
          <a:xfrm>
            <a:off x="590550" y="4257675"/>
            <a:ext cx="3267075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B1B33"/>
                </a:solidFill>
                <a:latin typeface="微软雅黑"/>
                <a:ea typeface="微软雅黑"/>
              </a:rPr>
              <a:t>材料科学</a:t>
            </a:r>
            <a:endParaRPr/>
          </a:p>
        </p:txBody>
      </p:sp>
      <p:sp>
        <p:nvSpPr>
          <p:cNvPr id="1939" name="文本框 1938" descr="{&quot;isTemplate&quot;:true,&quot;type&quot;:&quot;text&quot;}"/>
          <p:cNvSpPr txBox="1"/>
          <p:nvPr/>
        </p:nvSpPr>
        <p:spPr>
          <a:xfrm>
            <a:off x="590550" y="4581525"/>
            <a:ext cx="3267075" cy="6096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275">
                <a:solidFill>
                  <a:srgbClr val="2C3947"/>
                </a:solidFill>
                <a:latin typeface="微软雅黑"/>
                <a:ea typeface="微软雅黑"/>
              </a:rPr>
              <a:t>结构</a:t>
            </a:r>
            <a:r>
              <a:rPr lang="en-US" sz="1275">
                <a:solidFill>
                  <a:srgbClr val="2C3947"/>
                </a:solidFill>
                <a:latin typeface="微软雅黑"/>
                <a:ea typeface="微软雅黑"/>
              </a:rPr>
              <a:t> · </a:t>
            </a:r>
            <a:r>
              <a:rPr lang="zh-CN" sz="1275">
                <a:solidFill>
                  <a:srgbClr val="2C3947"/>
                </a:solidFill>
                <a:latin typeface="微软雅黑"/>
                <a:ea typeface="微软雅黑"/>
              </a:rPr>
              <a:t>性质</a:t>
            </a:r>
            <a:r>
              <a:rPr lang="en-US" sz="1275">
                <a:solidFill>
                  <a:srgbClr val="2C3947"/>
                </a:solidFill>
                <a:latin typeface="微软雅黑"/>
                <a:ea typeface="微软雅黑"/>
              </a:rPr>
              <a:t> · </a:t>
            </a:r>
            <a:r>
              <a:rPr lang="zh-CN" sz="1275">
                <a:solidFill>
                  <a:srgbClr val="2C3947"/>
                </a:solidFill>
                <a:latin typeface="微软雅黑"/>
                <a:ea typeface="微软雅黑"/>
              </a:rPr>
              <a:t>工艺</a:t>
            </a:r>
            <a:r>
              <a:rPr lang="en-US" sz="1275">
                <a:solidFill>
                  <a:srgbClr val="2C3947"/>
                </a:solidFill>
                <a:latin typeface="微软雅黑"/>
                <a:ea typeface="微软雅黑"/>
              </a:rPr>
              <a:t> · </a:t>
            </a:r>
            <a:r>
              <a:rPr lang="zh-CN" sz="1275">
                <a:solidFill>
                  <a:srgbClr val="2C3947"/>
                </a:solidFill>
                <a:latin typeface="微软雅黑"/>
                <a:ea typeface="微软雅黑"/>
              </a:rPr>
              <a:t>性能</a:t>
            </a:r>
            <a:r>
              <a:rPr lang="en-US" sz="1275">
                <a:solidFill>
                  <a:srgbClr val="2C3947"/>
                </a:solidFill>
                <a:latin typeface="微软雅黑"/>
                <a:ea typeface="微软雅黑"/>
              </a:rPr>
              <a:t> · </a:t>
            </a:r>
            <a:r>
              <a:rPr lang="zh-CN" sz="1275">
                <a:solidFill>
                  <a:srgbClr val="2C3947"/>
                </a:solidFill>
                <a:latin typeface="微软雅黑"/>
                <a:ea typeface="微软雅黑"/>
              </a:rPr>
              <a:t>表征的物理化学知识与数据</a:t>
            </a:r>
            <a:endParaRPr/>
          </a:p>
        </p:txBody>
      </p:sp>
      <p:sp>
        <p:nvSpPr>
          <p:cNvPr id="1940" name="矩形: 圆角 1939"/>
          <p:cNvSpPr/>
          <p:nvPr/>
        </p:nvSpPr>
        <p:spPr>
          <a:xfrm>
            <a:off x="4257675" y="4086225"/>
            <a:ext cx="3676650" cy="1276350"/>
          </a:xfrm>
          <a:prstGeom prst="roundRect">
            <a:avLst>
              <a:gd name="adj" fmla="val 7463"/>
            </a:avLst>
          </a:prstGeom>
          <a:solidFill>
            <a:srgbClr val="BFD3E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41" name="文本框 1940" descr="{&quot;isTemplate&quot;:true,&quot;type&quot;:&quot;text&quot;}"/>
          <p:cNvSpPr txBox="1"/>
          <p:nvPr/>
        </p:nvSpPr>
        <p:spPr>
          <a:xfrm>
            <a:off x="4467225" y="4257675"/>
            <a:ext cx="32575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B1B33"/>
                </a:solidFill>
                <a:latin typeface="微软雅黑"/>
                <a:ea typeface="微软雅黑"/>
              </a:rPr>
              <a:t>数据科学</a:t>
            </a:r>
            <a:endParaRPr/>
          </a:p>
        </p:txBody>
      </p:sp>
      <p:sp>
        <p:nvSpPr>
          <p:cNvPr id="1942" name="文本框 1941" descr="{&quot;isTemplate&quot;:true,&quot;type&quot;:&quot;text&quot;}"/>
          <p:cNvSpPr txBox="1"/>
          <p:nvPr/>
        </p:nvSpPr>
        <p:spPr>
          <a:xfrm>
            <a:off x="4467225" y="4581525"/>
            <a:ext cx="3257550" cy="6096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275">
                <a:solidFill>
                  <a:srgbClr val="2C3947"/>
                </a:solidFill>
                <a:latin typeface="微软雅黑"/>
                <a:ea typeface="微软雅黑"/>
              </a:rPr>
              <a:t>统计、机器学习、可视化；从数据中提取复杂趋势的能力</a:t>
            </a:r>
            <a:endParaRPr/>
          </a:p>
        </p:txBody>
      </p:sp>
      <p:sp>
        <p:nvSpPr>
          <p:cNvPr id="1943" name="矩形: 圆角 1942"/>
          <p:cNvSpPr/>
          <p:nvPr/>
        </p:nvSpPr>
        <p:spPr>
          <a:xfrm>
            <a:off x="8124825" y="4086225"/>
            <a:ext cx="3686175" cy="1276350"/>
          </a:xfrm>
          <a:prstGeom prst="roundRect">
            <a:avLst>
              <a:gd name="adj" fmla="val 7463"/>
            </a:avLst>
          </a:prstGeom>
          <a:solidFill>
            <a:srgbClr val="8FB4E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44" name="文本框 1943" descr="{&quot;isTemplate&quot;:true,&quot;type&quot;:&quot;text&quot;}"/>
          <p:cNvSpPr txBox="1"/>
          <p:nvPr/>
        </p:nvSpPr>
        <p:spPr>
          <a:xfrm>
            <a:off x="8334375" y="4257675"/>
            <a:ext cx="3267075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B1B33"/>
                </a:solidFill>
                <a:latin typeface="微软雅黑"/>
                <a:ea typeface="微软雅黑"/>
              </a:rPr>
              <a:t>交叉点</a:t>
            </a:r>
            <a:endParaRPr/>
          </a:p>
        </p:txBody>
      </p:sp>
      <p:sp>
        <p:nvSpPr>
          <p:cNvPr id="1945" name="文本框 1944" descr="{&quot;isTemplate&quot;:true,&quot;type&quot;:&quot;text&quot;}"/>
          <p:cNvSpPr txBox="1"/>
          <p:nvPr/>
        </p:nvSpPr>
        <p:spPr>
          <a:xfrm>
            <a:off x="8334375" y="4581525"/>
            <a:ext cx="3267075" cy="6096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275">
                <a:solidFill>
                  <a:srgbClr val="2C3947"/>
                </a:solidFill>
                <a:latin typeface="微软雅黑"/>
                <a:ea typeface="微软雅黑"/>
              </a:rPr>
              <a:t>把材料知识形式化，使机器可以学习；再把模型结果翻译回物理语言</a:t>
            </a:r>
            <a:endParaRPr/>
          </a:p>
        </p:txBody>
      </p:sp>
      <p:sp>
        <p:nvSpPr>
          <p:cNvPr id="1946" name="文本框 1945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1947" name="文本框 1946" descr="{&quot;isTemplate&quot;:true,&quot;type&quot;:&quot;text&quot;}"/>
          <p:cNvSpPr txBox="1"/>
          <p:nvPr/>
        </p:nvSpPr>
        <p:spPr>
          <a:xfrm>
            <a:off x="55054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1948" name="文本框 1947" descr="{&quot;isTemplate&quot;:true,&quot;type&quot;:&quot;text&quot;}"/>
          <p:cNvSpPr txBox="1"/>
          <p:nvPr/>
        </p:nvSpPr>
        <p:spPr>
          <a:xfrm>
            <a:off x="11477625" y="6610350"/>
            <a:ext cx="3333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8 / 60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0" name="矩形 194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51" name="矩形 1950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52" name="文本框 1951" descr="{&quot;isTemplate&quot;:true,&quot;type&quot;:&quot;text&quot;}"/>
          <p:cNvSpPr txBox="1"/>
          <p:nvPr/>
        </p:nvSpPr>
        <p:spPr>
          <a:xfrm>
            <a:off x="342900" y="171450"/>
            <a:ext cx="3524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在材料科学中的应用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讲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材料信息学导论与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产业</a:t>
            </a:r>
            <a:endParaRPr/>
          </a:p>
        </p:txBody>
      </p:sp>
      <p:sp>
        <p:nvSpPr>
          <p:cNvPr id="1953" name="文本框 1952" descr="{&quot;isTemplate&quot;:true,&quot;type&quot;:&quot;text&quot;}"/>
          <p:cNvSpPr txBox="1"/>
          <p:nvPr/>
        </p:nvSpPr>
        <p:spPr>
          <a:xfrm>
            <a:off x="9486900" y="171450"/>
            <a:ext cx="12573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01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什么是材料信息学</a:t>
            </a:r>
            <a:endParaRPr/>
          </a:p>
        </p:txBody>
      </p:sp>
      <p:pic>
        <p:nvPicPr>
          <p:cNvPr id="1954" name="图片 1953"/>
          <p:cNvPicPr>
            <a:picLocks noChangeAspect="1"/>
          </p:cNvPicPr>
          <p:nvPr/>
        </p:nvPicPr>
        <p:blipFill>
          <a:blip r:embed="rId2"/>
          <a:srcRect l="847" r="847"/>
          <a:stretch>
            <a:fillRect/>
          </a:stretch>
        </p:blipFill>
        <p:spPr>
          <a:xfrm>
            <a:off x="10858500" y="123825"/>
            <a:ext cx="990600" cy="247650"/>
          </a:xfrm>
          <a:prstGeom prst="rect">
            <a:avLst/>
          </a:prstGeom>
          <a:ln/>
        </p:spPr>
      </p:pic>
      <p:sp>
        <p:nvSpPr>
          <p:cNvPr id="1955" name="文本框 1954" descr="{&quot;isTemplate&quot;:true,&quot;type&quot;:&quot;text&quot;}"/>
          <p:cNvSpPr txBox="1"/>
          <p:nvPr/>
        </p:nvSpPr>
        <p:spPr>
          <a:xfrm>
            <a:off x="381000" y="666750"/>
            <a:ext cx="114300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钉钉进步体"/>
                <a:ea typeface="钉钉进步体"/>
              </a:rPr>
              <a:t>材料科学的经典四面体</a:t>
            </a:r>
            <a:endParaRPr/>
          </a:p>
        </p:txBody>
      </p:sp>
      <p:sp>
        <p:nvSpPr>
          <p:cNvPr id="1956" name="矩形: 圆角 1955"/>
          <p:cNvSpPr/>
          <p:nvPr/>
        </p:nvSpPr>
        <p:spPr>
          <a:xfrm>
            <a:off x="381000" y="1114425"/>
            <a:ext cx="571500" cy="47625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57" name="矩形: 圆角 1956"/>
          <p:cNvSpPr/>
          <p:nvPr/>
        </p:nvSpPr>
        <p:spPr>
          <a:xfrm>
            <a:off x="381000" y="2162175"/>
            <a:ext cx="11430000" cy="2095500"/>
          </a:xfrm>
          <a:prstGeom prst="roundRect">
            <a:avLst>
              <a:gd name="adj" fmla="val 545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58" name="文本框 1957" descr="{&quot;isTemplate&quot;:true,&quot;type&quot;:&quot;text&quot;}"/>
          <p:cNvSpPr txBox="1"/>
          <p:nvPr/>
        </p:nvSpPr>
        <p:spPr>
          <a:xfrm>
            <a:off x="590550" y="2371725"/>
            <a:ext cx="110109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微软雅黑"/>
                <a:ea typeface="微软雅黑"/>
              </a:rPr>
              <a:t>五个概念构成材料科学的完整语境</a:t>
            </a:r>
            <a:endParaRPr/>
          </a:p>
        </p:txBody>
      </p:sp>
      <p:sp>
        <p:nvSpPr>
          <p:cNvPr id="1959" name="矩形: 圆角 1958"/>
          <p:cNvSpPr/>
          <p:nvPr/>
        </p:nvSpPr>
        <p:spPr>
          <a:xfrm>
            <a:off x="590550" y="2771775"/>
            <a:ext cx="2095500" cy="1276350"/>
          </a:xfrm>
          <a:prstGeom prst="roundRect">
            <a:avLst>
              <a:gd name="adj" fmla="val 7463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60" name="矩形: 圆角 1959"/>
          <p:cNvSpPr/>
          <p:nvPr/>
        </p:nvSpPr>
        <p:spPr>
          <a:xfrm>
            <a:off x="1428750" y="292417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61" name="文本框 1960" descr="{&quot;isTemplate&quot;:true,&quot;type&quot;:&quot;text&quot;}"/>
          <p:cNvSpPr txBox="1"/>
          <p:nvPr/>
        </p:nvSpPr>
        <p:spPr>
          <a:xfrm>
            <a:off x="1581150" y="3019425"/>
            <a:ext cx="1238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  <a:endParaRPr/>
          </a:p>
        </p:txBody>
      </p:sp>
      <p:sp>
        <p:nvSpPr>
          <p:cNvPr id="1962" name="文本框 1961" descr="{&quot;isTemplate&quot;:true,&quot;type&quot;:&quot;text&quot;}"/>
          <p:cNvSpPr txBox="1"/>
          <p:nvPr/>
        </p:nvSpPr>
        <p:spPr>
          <a:xfrm>
            <a:off x="1038225" y="3419475"/>
            <a:ext cx="120967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350" b="1">
                <a:solidFill>
                  <a:srgbClr val="0B1B33"/>
                </a:solidFill>
                <a:latin typeface="微软雅黑"/>
                <a:ea typeface="微软雅黑"/>
              </a:rPr>
              <a:t>结构</a:t>
            </a:r>
            <a:r>
              <a:rPr lang="en-US" sz="1350" b="1">
                <a:solidFill>
                  <a:srgbClr val="0B1B33"/>
                </a:solidFill>
                <a:latin typeface="微软雅黑"/>
                <a:ea typeface="微软雅黑"/>
              </a:rPr>
              <a:t> Structure</a:t>
            </a:r>
            <a:endParaRPr/>
          </a:p>
        </p:txBody>
      </p:sp>
      <p:sp>
        <p:nvSpPr>
          <p:cNvPr id="1963" name="文本框 1962" descr="{&quot;isTemplate&quot;:true,&quot;type&quot;:&quot;text&quot;}"/>
          <p:cNvSpPr txBox="1"/>
          <p:nvPr/>
        </p:nvSpPr>
        <p:spPr>
          <a:xfrm>
            <a:off x="1238250" y="3667125"/>
            <a:ext cx="8001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40000"/>
              </a:lnSpc>
            </a:pPr>
            <a:r>
              <a:rPr lang="zh-CN" sz="1050">
                <a:solidFill>
                  <a:srgbClr val="6B7889"/>
                </a:solidFill>
                <a:latin typeface="微软雅黑"/>
                <a:ea typeface="微软雅黑"/>
              </a:rPr>
              <a:t>原子如何排列</a:t>
            </a:r>
            <a:endParaRPr/>
          </a:p>
        </p:txBody>
      </p:sp>
      <p:sp>
        <p:nvSpPr>
          <p:cNvPr id="1964" name="矩形: 圆角 1963"/>
          <p:cNvSpPr/>
          <p:nvPr/>
        </p:nvSpPr>
        <p:spPr>
          <a:xfrm>
            <a:off x="2819400" y="2771775"/>
            <a:ext cx="2095500" cy="1276350"/>
          </a:xfrm>
          <a:prstGeom prst="roundRect">
            <a:avLst>
              <a:gd name="adj" fmla="val 7463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65" name="矩形: 圆角 1964"/>
          <p:cNvSpPr/>
          <p:nvPr/>
        </p:nvSpPr>
        <p:spPr>
          <a:xfrm>
            <a:off x="3657600" y="292417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66" name="文本框 1965" descr="{&quot;isTemplate&quot;:true,&quot;type&quot;:&quot;text&quot;}"/>
          <p:cNvSpPr txBox="1"/>
          <p:nvPr/>
        </p:nvSpPr>
        <p:spPr>
          <a:xfrm>
            <a:off x="3810000" y="3019425"/>
            <a:ext cx="1238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  <a:endParaRPr/>
          </a:p>
        </p:txBody>
      </p:sp>
      <p:sp>
        <p:nvSpPr>
          <p:cNvPr id="1967" name="文本框 1966" descr="{&quot;isTemplate&quot;:true,&quot;type&quot;:&quot;text&quot;}"/>
          <p:cNvSpPr txBox="1"/>
          <p:nvPr/>
        </p:nvSpPr>
        <p:spPr>
          <a:xfrm>
            <a:off x="3295650" y="3419475"/>
            <a:ext cx="11430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350" b="1">
                <a:solidFill>
                  <a:srgbClr val="0B1B33"/>
                </a:solidFill>
                <a:latin typeface="微软雅黑"/>
                <a:ea typeface="微软雅黑"/>
              </a:rPr>
              <a:t>性质</a:t>
            </a:r>
            <a:r>
              <a:rPr lang="en-US" sz="1350" b="1">
                <a:solidFill>
                  <a:srgbClr val="0B1B33"/>
                </a:solidFill>
                <a:latin typeface="微软雅黑"/>
                <a:ea typeface="微软雅黑"/>
              </a:rPr>
              <a:t> Property</a:t>
            </a:r>
            <a:endParaRPr/>
          </a:p>
        </p:txBody>
      </p:sp>
      <p:sp>
        <p:nvSpPr>
          <p:cNvPr id="1968" name="文本框 1967" descr="{&quot;isTemplate&quot;:true,&quot;type&quot;:&quot;text&quot;}"/>
          <p:cNvSpPr txBox="1"/>
          <p:nvPr/>
        </p:nvSpPr>
        <p:spPr>
          <a:xfrm>
            <a:off x="3228975" y="3667125"/>
            <a:ext cx="128587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40000"/>
              </a:lnSpc>
            </a:pPr>
            <a:r>
              <a:rPr lang="zh-CN" sz="1050">
                <a:solidFill>
                  <a:srgbClr val="6B7889"/>
                </a:solidFill>
                <a:latin typeface="微软雅黑"/>
                <a:ea typeface="微软雅黑"/>
              </a:rPr>
              <a:t>带隙、强度、韧性……</a:t>
            </a:r>
            <a:endParaRPr/>
          </a:p>
        </p:txBody>
      </p:sp>
      <p:sp>
        <p:nvSpPr>
          <p:cNvPr id="1969" name="矩形: 圆角 1968"/>
          <p:cNvSpPr/>
          <p:nvPr/>
        </p:nvSpPr>
        <p:spPr>
          <a:xfrm>
            <a:off x="5048250" y="2771775"/>
            <a:ext cx="2095500" cy="1276350"/>
          </a:xfrm>
          <a:prstGeom prst="roundRect">
            <a:avLst>
              <a:gd name="adj" fmla="val 7463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70" name="矩形: 圆角 1969"/>
          <p:cNvSpPr/>
          <p:nvPr/>
        </p:nvSpPr>
        <p:spPr>
          <a:xfrm>
            <a:off x="5886450" y="292417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3E77C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71" name="文本框 1970" descr="{&quot;isTemplate&quot;:true,&quot;type&quot;:&quot;text&quot;}"/>
          <p:cNvSpPr txBox="1"/>
          <p:nvPr/>
        </p:nvSpPr>
        <p:spPr>
          <a:xfrm>
            <a:off x="6038850" y="3019425"/>
            <a:ext cx="1238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  <a:endParaRPr/>
          </a:p>
        </p:txBody>
      </p:sp>
      <p:sp>
        <p:nvSpPr>
          <p:cNvPr id="1972" name="文本框 1971" descr="{&quot;isTemplate&quot;:true,&quot;type&quot;:&quot;text&quot;}"/>
          <p:cNvSpPr txBox="1"/>
          <p:nvPr/>
        </p:nvSpPr>
        <p:spPr>
          <a:xfrm>
            <a:off x="5429250" y="3419475"/>
            <a:ext cx="13335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350" b="1">
                <a:solidFill>
                  <a:srgbClr val="0B1B33"/>
                </a:solidFill>
                <a:latin typeface="微软雅黑"/>
                <a:ea typeface="微软雅黑"/>
              </a:rPr>
              <a:t>工艺</a:t>
            </a:r>
            <a:r>
              <a:rPr lang="en-US" sz="1350" b="1">
                <a:solidFill>
                  <a:srgbClr val="0B1B33"/>
                </a:solidFill>
                <a:latin typeface="微软雅黑"/>
                <a:ea typeface="微软雅黑"/>
              </a:rPr>
              <a:t> Processing</a:t>
            </a:r>
            <a:endParaRPr/>
          </a:p>
        </p:txBody>
      </p:sp>
      <p:sp>
        <p:nvSpPr>
          <p:cNvPr id="1973" name="文本框 1972" descr="{&quot;isTemplate&quot;:true,&quot;type&quot;:&quot;text&quot;}"/>
          <p:cNvSpPr txBox="1"/>
          <p:nvPr/>
        </p:nvSpPr>
        <p:spPr>
          <a:xfrm>
            <a:off x="5629275" y="3667125"/>
            <a:ext cx="9334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40000"/>
              </a:lnSpc>
            </a:pPr>
            <a:r>
              <a:rPr lang="zh-CN" sz="1050">
                <a:solidFill>
                  <a:srgbClr val="6B7889"/>
                </a:solidFill>
                <a:latin typeface="微软雅黑"/>
                <a:ea typeface="微软雅黑"/>
              </a:rPr>
              <a:t>如何制备与加工</a:t>
            </a:r>
            <a:endParaRPr/>
          </a:p>
        </p:txBody>
      </p:sp>
      <p:sp>
        <p:nvSpPr>
          <p:cNvPr id="1974" name="矩形: 圆角 1973"/>
          <p:cNvSpPr/>
          <p:nvPr/>
        </p:nvSpPr>
        <p:spPr>
          <a:xfrm>
            <a:off x="7277100" y="2771775"/>
            <a:ext cx="2095500" cy="1276350"/>
          </a:xfrm>
          <a:prstGeom prst="roundRect">
            <a:avLst>
              <a:gd name="adj" fmla="val 7463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75" name="矩形: 圆角 1974"/>
          <p:cNvSpPr/>
          <p:nvPr/>
        </p:nvSpPr>
        <p:spPr>
          <a:xfrm>
            <a:off x="8115300" y="292417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6E9BD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76" name="文本框 1975" descr="{&quot;isTemplate&quot;:true,&quot;type&quot;:&quot;text&quot;}"/>
          <p:cNvSpPr txBox="1"/>
          <p:nvPr/>
        </p:nvSpPr>
        <p:spPr>
          <a:xfrm>
            <a:off x="8267700" y="3019425"/>
            <a:ext cx="1238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  <a:endParaRPr/>
          </a:p>
        </p:txBody>
      </p:sp>
      <p:sp>
        <p:nvSpPr>
          <p:cNvPr id="1977" name="文本框 1976" descr="{&quot;isTemplate&quot;:true,&quot;type&quot;:&quot;text&quot;}"/>
          <p:cNvSpPr txBox="1"/>
          <p:nvPr/>
        </p:nvSpPr>
        <p:spPr>
          <a:xfrm>
            <a:off x="7572375" y="3419475"/>
            <a:ext cx="15049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350" b="1">
                <a:solidFill>
                  <a:srgbClr val="0B1B33"/>
                </a:solidFill>
                <a:latin typeface="微软雅黑"/>
                <a:ea typeface="微软雅黑"/>
              </a:rPr>
              <a:t>性能</a:t>
            </a:r>
            <a:r>
              <a:rPr lang="en-US" sz="1350" b="1">
                <a:solidFill>
                  <a:srgbClr val="0B1B33"/>
                </a:solidFill>
                <a:latin typeface="微软雅黑"/>
                <a:ea typeface="微软雅黑"/>
              </a:rPr>
              <a:t> Performance</a:t>
            </a:r>
            <a:endParaRPr/>
          </a:p>
        </p:txBody>
      </p:sp>
      <p:sp>
        <p:nvSpPr>
          <p:cNvPr id="1978" name="文本框 1977" descr="{&quot;isTemplate&quot;:true,&quot;type&quot;:&quot;text&quot;}"/>
          <p:cNvSpPr txBox="1"/>
          <p:nvPr/>
        </p:nvSpPr>
        <p:spPr>
          <a:xfrm>
            <a:off x="7858125" y="3667125"/>
            <a:ext cx="9334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40000"/>
              </a:lnSpc>
            </a:pPr>
            <a:r>
              <a:rPr lang="zh-CN" sz="1050">
                <a:solidFill>
                  <a:srgbClr val="6B7889"/>
                </a:solidFill>
                <a:latin typeface="微软雅黑"/>
                <a:ea typeface="微软雅黑"/>
              </a:rPr>
              <a:t>服役条件下表现</a:t>
            </a:r>
            <a:endParaRPr/>
          </a:p>
        </p:txBody>
      </p:sp>
      <p:sp>
        <p:nvSpPr>
          <p:cNvPr id="1979" name="矩形: 圆角 1978"/>
          <p:cNvSpPr/>
          <p:nvPr/>
        </p:nvSpPr>
        <p:spPr>
          <a:xfrm>
            <a:off x="9505950" y="2771775"/>
            <a:ext cx="2095500" cy="1276350"/>
          </a:xfrm>
          <a:prstGeom prst="roundRect">
            <a:avLst>
              <a:gd name="adj" fmla="val 7463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80" name="矩形: 圆角 1979"/>
          <p:cNvSpPr/>
          <p:nvPr/>
        </p:nvSpPr>
        <p:spPr>
          <a:xfrm>
            <a:off x="10344150" y="292417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A0BE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81" name="文本框 1980" descr="{&quot;isTemplate&quot;:true,&quot;type&quot;:&quot;text&quot;}"/>
          <p:cNvSpPr txBox="1"/>
          <p:nvPr/>
        </p:nvSpPr>
        <p:spPr>
          <a:xfrm>
            <a:off x="10496550" y="3019425"/>
            <a:ext cx="1238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  <a:endParaRPr/>
          </a:p>
        </p:txBody>
      </p:sp>
      <p:sp>
        <p:nvSpPr>
          <p:cNvPr id="1982" name="文本框 1981" descr="{&quot;isTemplate&quot;:true,&quot;type&quot;:&quot;text&quot;}"/>
          <p:cNvSpPr txBox="1"/>
          <p:nvPr/>
        </p:nvSpPr>
        <p:spPr>
          <a:xfrm>
            <a:off x="9648825" y="3419475"/>
            <a:ext cx="181927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350" b="1">
                <a:solidFill>
                  <a:srgbClr val="0B1B33"/>
                </a:solidFill>
                <a:latin typeface="微软雅黑"/>
                <a:ea typeface="微软雅黑"/>
              </a:rPr>
              <a:t>表征</a:t>
            </a:r>
            <a:r>
              <a:rPr lang="en-US" sz="1350" b="1">
                <a:solidFill>
                  <a:srgbClr val="0B1B33"/>
                </a:solidFill>
                <a:latin typeface="微软雅黑"/>
                <a:ea typeface="微软雅黑"/>
              </a:rPr>
              <a:t> Characterization</a:t>
            </a:r>
            <a:endParaRPr/>
          </a:p>
        </p:txBody>
      </p:sp>
      <p:sp>
        <p:nvSpPr>
          <p:cNvPr id="1983" name="文本框 1982" descr="{&quot;isTemplate&quot;:true,&quot;type&quot;:&quot;text&quot;}"/>
          <p:cNvSpPr txBox="1"/>
          <p:nvPr/>
        </p:nvSpPr>
        <p:spPr>
          <a:xfrm>
            <a:off x="10086975" y="3667125"/>
            <a:ext cx="9334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40000"/>
              </a:lnSpc>
            </a:pPr>
            <a:r>
              <a:rPr lang="zh-CN" sz="1050">
                <a:solidFill>
                  <a:srgbClr val="6B7889"/>
                </a:solidFill>
                <a:latin typeface="微软雅黑"/>
                <a:ea typeface="微软雅黑"/>
              </a:rPr>
              <a:t>如何测量与验证</a:t>
            </a:r>
            <a:endParaRPr/>
          </a:p>
        </p:txBody>
      </p:sp>
      <p:sp>
        <p:nvSpPr>
          <p:cNvPr id="1984" name="矩形: 圆角 1983"/>
          <p:cNvSpPr/>
          <p:nvPr/>
        </p:nvSpPr>
        <p:spPr>
          <a:xfrm>
            <a:off x="381000" y="4391025"/>
            <a:ext cx="5619750" cy="1304925"/>
          </a:xfrm>
          <a:prstGeom prst="roundRect">
            <a:avLst>
              <a:gd name="adj" fmla="val 7299"/>
            </a:avLst>
          </a:prstGeom>
          <a:solidFill>
            <a:srgbClr val="E8F1FC"/>
          </a:solidFill>
          <a:ln w="12700">
            <a:solidFill>
              <a:srgbClr val="1E4F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85" name="文本框 1984" descr="{&quot;isTemplate&quot;:true,&quot;type&quot;:&quot;text&quot;}"/>
          <p:cNvSpPr txBox="1"/>
          <p:nvPr/>
        </p:nvSpPr>
        <p:spPr>
          <a:xfrm>
            <a:off x="571500" y="4581525"/>
            <a:ext cx="52387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/>
                <a:ea typeface="微软雅黑"/>
              </a:rPr>
              <a:t>传统研究方式</a:t>
            </a:r>
            <a:endParaRPr/>
          </a:p>
        </p:txBody>
      </p:sp>
      <p:sp>
        <p:nvSpPr>
          <p:cNvPr id="1986" name="文本框 1985" descr="{&quot;isTemplate&quot;:true,&quot;type&quot;:&quot;text&quot;}"/>
          <p:cNvSpPr txBox="1"/>
          <p:nvPr/>
        </p:nvSpPr>
        <p:spPr>
          <a:xfrm>
            <a:off x="571500" y="4876800"/>
            <a:ext cx="523875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沿一条链路单向推进：工艺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 →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结构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 →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性质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 →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性能。每一环都要手工设计实验、逐一验证假设，</a:t>
            </a:r>
            <a:r>
              <a:rPr lang="zh-CN" sz="1275" b="1">
                <a:solidFill>
                  <a:srgbClr val="1A2230"/>
                </a:solidFill>
                <a:latin typeface="微软雅黑"/>
                <a:ea typeface="微软雅黑"/>
              </a:rPr>
              <a:t>周期以年计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。</a:t>
            </a:r>
            <a:endParaRPr/>
          </a:p>
        </p:txBody>
      </p:sp>
      <p:sp>
        <p:nvSpPr>
          <p:cNvPr id="1987" name="矩形: 圆角 1986"/>
          <p:cNvSpPr/>
          <p:nvPr/>
        </p:nvSpPr>
        <p:spPr>
          <a:xfrm>
            <a:off x="6191250" y="4391025"/>
            <a:ext cx="5619750" cy="1304925"/>
          </a:xfrm>
          <a:prstGeom prst="roundRect">
            <a:avLst>
              <a:gd name="adj" fmla="val 7299"/>
            </a:avLst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88" name="文本框 1987" descr="{&quot;isTemplate&quot;:true,&quot;type&quot;:&quot;text&quot;}"/>
          <p:cNvSpPr txBox="1"/>
          <p:nvPr/>
        </p:nvSpPr>
        <p:spPr>
          <a:xfrm>
            <a:off x="6381750" y="4581525"/>
            <a:ext cx="52387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8D6E00"/>
                </a:solidFill>
                <a:latin typeface="微软雅黑"/>
                <a:ea typeface="微软雅黑"/>
              </a:rPr>
              <a:t>材料信息学的介入点</a:t>
            </a:r>
            <a:endParaRPr/>
          </a:p>
        </p:txBody>
      </p:sp>
      <p:sp>
        <p:nvSpPr>
          <p:cNvPr id="1989" name="文本框 1988" descr="{&quot;isTemplate&quot;:true,&quot;type&quot;:&quot;text&quot;}"/>
          <p:cNvSpPr txBox="1"/>
          <p:nvPr/>
        </p:nvSpPr>
        <p:spPr>
          <a:xfrm>
            <a:off x="6381750" y="4876800"/>
            <a:ext cx="523875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把这条链路上的</a:t>
            </a:r>
            <a:r>
              <a:rPr lang="zh-CN" sz="1275" b="1">
                <a:solidFill>
                  <a:srgbClr val="1A2230"/>
                </a:solidFill>
                <a:latin typeface="微软雅黑"/>
                <a:ea typeface="微软雅黑"/>
              </a:rPr>
              <a:t>全部历史数据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连起来，让模型同时跨越多个环节，寻找人工难以穷尽的关联。</a:t>
            </a:r>
            <a:endParaRPr/>
          </a:p>
        </p:txBody>
      </p:sp>
      <p:sp>
        <p:nvSpPr>
          <p:cNvPr id="1990" name="文本框 1989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1991" name="文本框 1990" descr="{&quot;isTemplate&quot;:true,&quot;type&quot;:&quot;text&quot;}"/>
          <p:cNvSpPr txBox="1"/>
          <p:nvPr/>
        </p:nvSpPr>
        <p:spPr>
          <a:xfrm>
            <a:off x="55054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1992" name="文本框 1991" descr="{&quot;isTemplate&quot;:true,&quot;type&quot;:&quot;text&quot;}"/>
          <p:cNvSpPr txBox="1"/>
          <p:nvPr/>
        </p:nvSpPr>
        <p:spPr>
          <a:xfrm>
            <a:off x="11477625" y="6610350"/>
            <a:ext cx="3333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9 / 60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矩形 22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文本框 23" descr="{&quot;isTemplate&quot;:true,&quot;type&quot;:&quot;text&quot;}"/>
          <p:cNvSpPr txBox="1"/>
          <p:nvPr/>
        </p:nvSpPr>
        <p:spPr>
          <a:xfrm>
            <a:off x="342900" y="171450"/>
            <a:ext cx="3524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在材料科学中的应用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讲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材料信息学导论与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产业</a:t>
            </a:r>
            <a:endParaRPr/>
          </a:p>
        </p:txBody>
      </p:sp>
      <p:sp>
        <p:nvSpPr>
          <p:cNvPr id="25" name="文本框 24" descr="{&quot;isTemplate&quot;:true,&quot;type&quot;:&quot;text&quot;}"/>
          <p:cNvSpPr txBox="1"/>
          <p:nvPr/>
        </p:nvSpPr>
        <p:spPr>
          <a:xfrm>
            <a:off x="9486900" y="171450"/>
            <a:ext cx="12573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01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什么是材料信息学</a:t>
            </a:r>
            <a:endParaRPr/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2"/>
          <a:srcRect l="847" r="847"/>
          <a:stretch>
            <a:fillRect/>
          </a:stretch>
        </p:blipFill>
        <p:spPr>
          <a:xfrm>
            <a:off x="10858500" y="123825"/>
            <a:ext cx="990600" cy="247650"/>
          </a:xfrm>
          <a:prstGeom prst="rect">
            <a:avLst/>
          </a:prstGeom>
          <a:ln/>
        </p:spPr>
      </p:pic>
      <p:sp>
        <p:nvSpPr>
          <p:cNvPr id="27" name="文本框 26" descr="{&quot;isTemplate&quot;:true,&quot;type&quot;:&quot;text&quot;}"/>
          <p:cNvSpPr txBox="1"/>
          <p:nvPr/>
        </p:nvSpPr>
        <p:spPr>
          <a:xfrm>
            <a:off x="381000" y="666750"/>
            <a:ext cx="11430000" cy="371475"/>
          </a:xfrm>
          <a:prstGeom prst="rect">
            <a:avLst/>
          </a:prstGeom>
        </p:spPr>
        <p:txBody>
          <a:bodyPr wrap="square" lIns="0" tIns="0" rIns="0" bIns="0"/>
          <a:lstStyle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钉钉进步体"/>
                <a:ea typeface="钉钉进步体"/>
              </a:rPr>
              <a:t>学科框架：从经验关系到数据关系</a:t>
            </a:r>
            <a:endParaRPr/>
          </a:p>
        </p:txBody>
      </p:sp>
      <p:sp>
        <p:nvSpPr>
          <p:cNvPr id="28" name="矩形: 圆角 27"/>
          <p:cNvSpPr/>
          <p:nvPr/>
        </p:nvSpPr>
        <p:spPr>
          <a:xfrm>
            <a:off x="381000" y="1114425"/>
            <a:ext cx="571500" cy="47625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矩形: 圆角 28"/>
          <p:cNvSpPr/>
          <p:nvPr/>
        </p:nvSpPr>
        <p:spPr>
          <a:xfrm>
            <a:off x="381000" y="1885950"/>
            <a:ext cx="3810000" cy="2447925"/>
          </a:xfrm>
          <a:prstGeom prst="roundRect">
            <a:avLst>
              <a:gd name="adj" fmla="val 3891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rcRect t="17" b="17"/>
          <a:stretch>
            <a:fillRect/>
          </a:stretch>
        </p:blipFill>
        <p:spPr>
          <a:xfrm>
            <a:off x="1400175" y="2038350"/>
            <a:ext cx="1781175" cy="1905000"/>
          </a:xfrm>
          <a:prstGeom prst="rect">
            <a:avLst/>
          </a:prstGeom>
          <a:ln/>
        </p:spPr>
      </p:pic>
      <p:sp>
        <p:nvSpPr>
          <p:cNvPr id="31" name="文本框 30" descr="{&quot;isTemplate&quot;:true,&quot;type&quot;:&quot;text&quot;}"/>
          <p:cNvSpPr txBox="1"/>
          <p:nvPr/>
        </p:nvSpPr>
        <p:spPr>
          <a:xfrm>
            <a:off x="495300" y="4038600"/>
            <a:ext cx="3581400" cy="17145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B97A8"/>
                </a:solidFill>
                <a:latin typeface="微软雅黑"/>
              </a:rPr>
              <a:t>原刊首页（历史课程配图；未核馆藏与许可）</a:t>
            </a:r>
            <a:endParaRPr/>
          </a:p>
        </p:txBody>
      </p:sp>
      <p:sp>
        <p:nvSpPr>
          <p:cNvPr id="32" name="矩形: 圆角 31"/>
          <p:cNvSpPr/>
          <p:nvPr/>
        </p:nvSpPr>
        <p:spPr>
          <a:xfrm>
            <a:off x="381000" y="4448175"/>
            <a:ext cx="3810000" cy="1514475"/>
          </a:xfrm>
          <a:prstGeom prst="roundRect">
            <a:avLst>
              <a:gd name="adj" fmla="val 628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文本框 32" descr="{&quot;isTemplate&quot;:true,&quot;type&quot;:&quot;text&quot;}"/>
          <p:cNvSpPr txBox="1"/>
          <p:nvPr/>
        </p:nvSpPr>
        <p:spPr>
          <a:xfrm>
            <a:off x="552450" y="4619625"/>
            <a:ext cx="3467100" cy="209550"/>
          </a:xfrm>
          <a:prstGeom prst="rect">
            <a:avLst/>
          </a:prstGeom>
        </p:spPr>
        <p:txBody>
          <a:bodyPr wrap="squar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微软雅黑"/>
                <a:ea typeface="微软雅黑"/>
              </a:rPr>
              <a:t>这篇文献是什么</a:t>
            </a:r>
            <a:endParaRPr/>
          </a:p>
        </p:txBody>
      </p:sp>
      <p:sp>
        <p:nvSpPr>
          <p:cNvPr id="34" name="文本框 33" descr="{&quot;isTemplate&quot;:true,&quot;type&quot;:&quot;text&quot;}"/>
          <p:cNvSpPr txBox="1"/>
          <p:nvPr/>
        </p:nvSpPr>
        <p:spPr>
          <a:xfrm>
            <a:off x="552450" y="4905375"/>
            <a:ext cx="3467100" cy="885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2C3947"/>
                </a:solidFill>
                <a:latin typeface="微软雅黑"/>
              </a:rPr>
              <a:t>Krishna Rajan (2005), Materials Today 8(10), 38–45, DOI 10.1016/S1369-7021(05)71123-8：一篇提出领域框架与方法议程的综述，不是某个具体材料的发现报告。</a:t>
            </a:r>
            <a:endParaRPr/>
          </a:p>
        </p:txBody>
      </p:sp>
      <p:sp>
        <p:nvSpPr>
          <p:cNvPr id="35" name="矩形: 圆角 34"/>
          <p:cNvSpPr/>
          <p:nvPr/>
        </p:nvSpPr>
        <p:spPr>
          <a:xfrm>
            <a:off x="4419600" y="2181225"/>
            <a:ext cx="7391400" cy="1152525"/>
          </a:xfrm>
          <a:prstGeom prst="roundRect">
            <a:avLst>
              <a:gd name="adj" fmla="val 8264"/>
            </a:avLst>
          </a:prstGeom>
          <a:solidFill>
            <a:srgbClr val="E8F1FC"/>
          </a:solidFill>
          <a:ln w="12700">
            <a:solidFill>
              <a:srgbClr val="1E4F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文本框 35" descr="{&quot;isTemplate&quot;:true,&quot;type&quot;:&quot;text&quot;}"/>
          <p:cNvSpPr txBox="1"/>
          <p:nvPr/>
        </p:nvSpPr>
        <p:spPr>
          <a:xfrm>
            <a:off x="4610100" y="2371725"/>
            <a:ext cx="70104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/>
                <a:ea typeface="微软雅黑"/>
              </a:rPr>
              <a:t>传统路径：经验规律</a:t>
            </a:r>
            <a:endParaRPr/>
          </a:p>
        </p:txBody>
      </p:sp>
      <p:sp>
        <p:nvSpPr>
          <p:cNvPr id="37" name="文本框 36" descr="{&quot;isTemplate&quot;:true,&quot;type&quot;:&quot;text&quot;}"/>
          <p:cNvSpPr txBox="1"/>
          <p:nvPr/>
        </p:nvSpPr>
        <p:spPr>
          <a:xfrm>
            <a:off x="4610100" y="2667000"/>
            <a:ext cx="70104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整理数据</a:t>
            </a:r>
            <a:r>
              <a:rPr lang="en-US" sz="1350">
                <a:solidFill>
                  <a:srgbClr val="1A2230"/>
                </a:solidFill>
                <a:latin typeface="微软雅黑"/>
                <a:ea typeface="微软雅黑"/>
              </a:rPr>
              <a:t> → </a:t>
            </a: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画图</a:t>
            </a:r>
            <a:r>
              <a:rPr lang="en-US" sz="1350">
                <a:solidFill>
                  <a:srgbClr val="1A2230"/>
                </a:solidFill>
                <a:latin typeface="微软雅黑"/>
                <a:ea typeface="微软雅黑"/>
              </a:rPr>
              <a:t> → </a:t>
            </a: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拟合经验式</a:t>
            </a:r>
            <a:r>
              <a:rPr lang="en-US" sz="1350">
                <a:solidFill>
                  <a:srgbClr val="1A2230"/>
                </a:solidFill>
                <a:latin typeface="微软雅黑"/>
                <a:ea typeface="微软雅黑"/>
              </a:rPr>
              <a:t> → </a:t>
            </a: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判断适用范围</a:t>
            </a:r>
            <a:endParaRPr/>
          </a:p>
        </p:txBody>
      </p:sp>
      <p:sp>
        <p:nvSpPr>
          <p:cNvPr id="38" name="文本框 37" descr="{&quot;isTemplate&quot;:true,&quot;type&quot;:&quot;text&quot;}"/>
          <p:cNvSpPr txBox="1"/>
          <p:nvPr/>
        </p:nvSpPr>
        <p:spPr>
          <a:xfrm>
            <a:off x="4610100" y="2952750"/>
            <a:ext cx="7010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3A4759"/>
                </a:solidFill>
                <a:latin typeface="微软雅黑"/>
                <a:ea typeface="微软雅黑"/>
              </a:rPr>
              <a:t>例：</a:t>
            </a:r>
            <a:r>
              <a:rPr lang="en-US" sz="1200">
                <a:solidFill>
                  <a:srgbClr val="3A4759"/>
                </a:solidFill>
                <a:latin typeface="微软雅黑"/>
                <a:ea typeface="微软雅黑"/>
              </a:rPr>
              <a:t>Hall–Petch </a:t>
            </a:r>
            <a:r>
              <a:rPr lang="zh-CN" sz="1200">
                <a:solidFill>
                  <a:srgbClr val="3A4759"/>
                </a:solidFill>
                <a:latin typeface="微软雅黑"/>
                <a:ea typeface="微软雅黑"/>
              </a:rPr>
              <a:t>关系</a:t>
            </a:r>
            <a:r>
              <a:rPr lang="en-US" sz="1200">
                <a:solidFill>
                  <a:srgbClr val="3A4759"/>
                </a:solidFill>
                <a:latin typeface="微软雅黑"/>
                <a:ea typeface="微软雅黑"/>
              </a:rPr>
              <a:t> σ = σ₀ + k·d-1/2</a:t>
            </a:r>
            <a:r>
              <a:rPr lang="zh-CN" sz="1200">
                <a:solidFill>
                  <a:srgbClr val="3A4759"/>
                </a:solidFill>
                <a:latin typeface="微软雅黑"/>
                <a:ea typeface="微软雅黑"/>
              </a:rPr>
              <a:t>。斜率</a:t>
            </a:r>
            <a:r>
              <a:rPr lang="en-US" sz="1200">
                <a:solidFill>
                  <a:srgbClr val="3A4759"/>
                </a:solidFill>
                <a:latin typeface="微软雅黑"/>
                <a:ea typeface="微软雅黑"/>
              </a:rPr>
              <a:t> k </a:t>
            </a:r>
            <a:r>
              <a:rPr lang="zh-CN" sz="1200">
                <a:solidFill>
                  <a:srgbClr val="3A4759"/>
                </a:solidFill>
                <a:latin typeface="微软雅黑"/>
                <a:ea typeface="微软雅黑"/>
              </a:rPr>
              <a:t>缺少第一性原理预测能力，只能事后解释。</a:t>
            </a:r>
            <a:endParaRPr/>
          </a:p>
        </p:txBody>
      </p:sp>
      <p:sp>
        <p:nvSpPr>
          <p:cNvPr id="39" name="矩形: 圆角 38"/>
          <p:cNvSpPr/>
          <p:nvPr/>
        </p:nvSpPr>
        <p:spPr>
          <a:xfrm>
            <a:off x="4419600" y="3467100"/>
            <a:ext cx="7391400" cy="1152525"/>
          </a:xfrm>
          <a:prstGeom prst="roundRect">
            <a:avLst>
              <a:gd name="adj" fmla="val 8264"/>
            </a:avLst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文本框 39" descr="{&quot;isTemplate&quot;:true,&quot;type&quot;:&quot;text&quot;}"/>
          <p:cNvSpPr txBox="1"/>
          <p:nvPr/>
        </p:nvSpPr>
        <p:spPr>
          <a:xfrm>
            <a:off x="4610100" y="3657600"/>
            <a:ext cx="70104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8D6E00"/>
                </a:solidFill>
                <a:latin typeface="微软雅黑"/>
                <a:ea typeface="微软雅黑"/>
              </a:rPr>
              <a:t>数据驱动路径</a:t>
            </a:r>
            <a:endParaRPr/>
          </a:p>
        </p:txBody>
      </p:sp>
      <p:sp>
        <p:nvSpPr>
          <p:cNvPr id="41" name="文本框 40" descr="{&quot;isTemplate&quot;:true,&quot;type&quot;:&quot;text&quot;}"/>
          <p:cNvSpPr txBox="1"/>
          <p:nvPr/>
        </p:nvSpPr>
        <p:spPr>
          <a:xfrm>
            <a:off x="4610100" y="3952875"/>
            <a:ext cx="70104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构造特征</a:t>
            </a:r>
            <a:r>
              <a:rPr lang="en-US" sz="1350">
                <a:solidFill>
                  <a:srgbClr val="1A2230"/>
                </a:solidFill>
                <a:latin typeface="微软雅黑"/>
                <a:ea typeface="微软雅黑"/>
              </a:rPr>
              <a:t> → </a:t>
            </a: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训练模型</a:t>
            </a:r>
            <a:r>
              <a:rPr lang="en-US" sz="1350">
                <a:solidFill>
                  <a:srgbClr val="1A2230"/>
                </a:solidFill>
                <a:latin typeface="微软雅黑"/>
                <a:ea typeface="微软雅黑"/>
              </a:rPr>
              <a:t> → </a:t>
            </a: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直接预测</a:t>
            </a:r>
            <a:endParaRPr/>
          </a:p>
        </p:txBody>
      </p:sp>
      <p:sp>
        <p:nvSpPr>
          <p:cNvPr id="42" name="文本框 41" descr="{&quot;isTemplate&quot;:true,&quot;type&quot;:&quot;text&quot;}"/>
          <p:cNvSpPr txBox="1"/>
          <p:nvPr/>
        </p:nvSpPr>
        <p:spPr>
          <a:xfrm>
            <a:off x="4610100" y="4238625"/>
            <a:ext cx="7010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3A4759"/>
                </a:solidFill>
                <a:latin typeface="微软雅黑"/>
                <a:ea typeface="微软雅黑"/>
              </a:rPr>
              <a:t>跳过「先写方程再验证」的环节，在覆盖范围内直接给出数值预测。</a:t>
            </a:r>
            <a:endParaRPr/>
          </a:p>
        </p:txBody>
      </p:sp>
      <p:sp>
        <p:nvSpPr>
          <p:cNvPr id="43" name="矩形: 圆角 42"/>
          <p:cNvSpPr/>
          <p:nvPr/>
        </p:nvSpPr>
        <p:spPr>
          <a:xfrm>
            <a:off x="4419600" y="4752975"/>
            <a:ext cx="7391400" cy="923925"/>
          </a:xfrm>
          <a:prstGeom prst="roundRect">
            <a:avLst>
              <a:gd name="adj" fmla="val 10309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文本框 43" descr="{&quot;isTemplate&quot;:true,&quot;type&quot;:&quot;text&quot;}"/>
          <p:cNvSpPr txBox="1"/>
          <p:nvPr/>
        </p:nvSpPr>
        <p:spPr>
          <a:xfrm>
            <a:off x="4648200" y="4905375"/>
            <a:ext cx="693420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FFC107"/>
                </a:solidFill>
                <a:latin typeface="微软雅黑"/>
                <a:ea typeface="微软雅黑"/>
              </a:rPr>
              <a:t>但要注意：</a:t>
            </a: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数据驱动不等于「不要物理」。特征怎么构造、损失怎么设计，仍然由物理直觉决定——这是本课程贯穿始终的主线。</a:t>
            </a:r>
            <a:endParaRPr/>
          </a:p>
        </p:txBody>
      </p:sp>
      <p:sp>
        <p:nvSpPr>
          <p:cNvPr id="45" name="文本框 44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46" name="文本框 45" descr="{&quot;isTemplate&quot;:true,&quot;type&quot;:&quot;text&quot;}"/>
          <p:cNvSpPr txBox="1"/>
          <p:nvPr/>
        </p:nvSpPr>
        <p:spPr>
          <a:xfrm>
            <a:off x="54673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47" name="文本框 46" descr="{&quot;isTemplate&quot;:true,&quot;type&quot;:&quot;text&quot;}"/>
          <p:cNvSpPr txBox="1"/>
          <p:nvPr/>
        </p:nvSpPr>
        <p:spPr>
          <a:xfrm>
            <a:off x="11410950" y="6610350"/>
            <a:ext cx="4000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10 / 60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0" name="矩形 49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" name="文本框 50" descr="{&quot;isTemplate&quot;:true,&quot;type&quot;:&quot;text&quot;}"/>
          <p:cNvSpPr txBox="1"/>
          <p:nvPr/>
        </p:nvSpPr>
        <p:spPr>
          <a:xfrm>
            <a:off x="342900" y="171450"/>
            <a:ext cx="3524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在材料科学中的应用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讲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材料信息学导论与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产业</a:t>
            </a:r>
            <a:endParaRPr/>
          </a:p>
        </p:txBody>
      </p:sp>
      <p:sp>
        <p:nvSpPr>
          <p:cNvPr id="52" name="文本框 51" descr="{&quot;isTemplate&quot;:true,&quot;type&quot;:&quot;text&quot;}"/>
          <p:cNvSpPr txBox="1"/>
          <p:nvPr/>
        </p:nvSpPr>
        <p:spPr>
          <a:xfrm>
            <a:off x="8734425" y="171450"/>
            <a:ext cx="20097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01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什么是材料信息学</a:t>
            </a: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补充阅读</a:t>
            </a:r>
            <a:endParaRPr/>
          </a:p>
        </p:txBody>
      </p:sp>
      <p:pic>
        <p:nvPicPr>
          <p:cNvPr id="53" name="图片 52"/>
          <p:cNvPicPr>
            <a:picLocks noChangeAspect="1"/>
          </p:cNvPicPr>
          <p:nvPr/>
        </p:nvPicPr>
        <p:blipFill>
          <a:blip r:embed="rId3"/>
          <a:srcRect l="847" r="847"/>
          <a:stretch>
            <a:fillRect/>
          </a:stretch>
        </p:blipFill>
        <p:spPr>
          <a:xfrm>
            <a:off x="10858500" y="123825"/>
            <a:ext cx="990600" cy="247650"/>
          </a:xfrm>
          <a:prstGeom prst="rect">
            <a:avLst/>
          </a:prstGeom>
          <a:ln/>
        </p:spPr>
      </p:pic>
      <p:sp>
        <p:nvSpPr>
          <p:cNvPr id="54" name="文本框 53" descr="{&quot;isTemplate&quot;:true,&quot;type&quot;:&quot;text&quot;}"/>
          <p:cNvSpPr txBox="1"/>
          <p:nvPr/>
        </p:nvSpPr>
        <p:spPr>
          <a:xfrm>
            <a:off x="381000" y="666750"/>
            <a:ext cx="114300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钉钉进步体"/>
                <a:ea typeface="钉钉进步体"/>
              </a:rPr>
              <a:t>机器学习能提取高度复杂的趋势</a:t>
            </a:r>
            <a:endParaRPr/>
          </a:p>
        </p:txBody>
      </p:sp>
      <p:sp>
        <p:nvSpPr>
          <p:cNvPr id="55" name="矩形: 圆角 54"/>
          <p:cNvSpPr/>
          <p:nvPr/>
        </p:nvSpPr>
        <p:spPr>
          <a:xfrm>
            <a:off x="381000" y="1114425"/>
            <a:ext cx="571500" cy="47625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" name="矩形: 圆角 55"/>
          <p:cNvSpPr/>
          <p:nvPr/>
        </p:nvSpPr>
        <p:spPr>
          <a:xfrm>
            <a:off x="381000" y="1333500"/>
            <a:ext cx="11430000" cy="1762125"/>
          </a:xfrm>
          <a:prstGeom prst="roundRect">
            <a:avLst>
              <a:gd name="adj" fmla="val 6486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文本框 56" descr="{&quot;isTemplate&quot;:true,&quot;type&quot;:&quot;text&quot;}"/>
          <p:cNvSpPr txBox="1"/>
          <p:nvPr/>
        </p:nvSpPr>
        <p:spPr>
          <a:xfrm>
            <a:off x="609600" y="1562100"/>
            <a:ext cx="109728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微软雅黑"/>
                <a:ea typeface="微软雅黑"/>
              </a:rPr>
              <a:t>机器学习已经为科学带来真实进展</a:t>
            </a:r>
            <a:endParaRPr/>
          </a:p>
        </p:txBody>
      </p:sp>
      <p:sp>
        <p:nvSpPr>
          <p:cNvPr id="58" name="矩形: 圆角 57"/>
          <p:cNvSpPr/>
          <p:nvPr/>
        </p:nvSpPr>
        <p:spPr>
          <a:xfrm>
            <a:off x="609600" y="1971675"/>
            <a:ext cx="2600325" cy="895350"/>
          </a:xfrm>
          <a:prstGeom prst="roundRect">
            <a:avLst>
              <a:gd name="adj" fmla="val 10638"/>
            </a:avLst>
          </a:prstGeom>
          <a:solidFill>
            <a:srgbClr val="E3EC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9" name="文本框 58" descr="{&quot;isTemplate&quot;:true,&quot;type&quot;:&quot;text&quot;}"/>
          <p:cNvSpPr txBox="1"/>
          <p:nvPr/>
        </p:nvSpPr>
        <p:spPr>
          <a:xfrm>
            <a:off x="1543050" y="2143125"/>
            <a:ext cx="7334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1500" b="1">
                <a:solidFill>
                  <a:srgbClr val="0B1B33"/>
                </a:solidFill>
                <a:latin typeface="微软雅黑"/>
                <a:ea typeface="微软雅黑"/>
              </a:rPr>
              <a:t>Al 7075</a:t>
            </a:r>
            <a:endParaRPr/>
          </a:p>
        </p:txBody>
      </p:sp>
      <p:sp>
        <p:nvSpPr>
          <p:cNvPr id="60" name="文本框 59" descr="{&quot;isTemplate&quot;:true,&quot;type&quot;:&quot;text&quot;}"/>
          <p:cNvSpPr txBox="1"/>
          <p:nvPr/>
        </p:nvSpPr>
        <p:spPr>
          <a:xfrm>
            <a:off x="1457325" y="2428875"/>
            <a:ext cx="91440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45000"/>
              </a:lnSpc>
            </a:pPr>
            <a:r>
              <a:rPr lang="zh-CN" sz="1200">
                <a:solidFill>
                  <a:srgbClr val="2C3947"/>
                </a:solidFill>
                <a:latin typeface="微软雅黑"/>
                <a:ea typeface="微软雅黑"/>
              </a:rPr>
              <a:t>高强度铝合金</a:t>
            </a:r>
            <a:endParaRPr/>
          </a:p>
        </p:txBody>
      </p:sp>
      <p:sp>
        <p:nvSpPr>
          <p:cNvPr id="61" name="矩形: 圆角 60"/>
          <p:cNvSpPr/>
          <p:nvPr/>
        </p:nvSpPr>
        <p:spPr>
          <a:xfrm>
            <a:off x="3400425" y="1971675"/>
            <a:ext cx="2600325" cy="895350"/>
          </a:xfrm>
          <a:prstGeom prst="roundRect">
            <a:avLst>
              <a:gd name="adj" fmla="val 10638"/>
            </a:avLst>
          </a:prstGeom>
          <a:solidFill>
            <a:srgbClr val="D3E0F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2" name="文本框 61" descr="{&quot;isTemplate&quot;:true,&quot;type&quot;:&quot;text&quot;}"/>
          <p:cNvSpPr txBox="1"/>
          <p:nvPr/>
        </p:nvSpPr>
        <p:spPr>
          <a:xfrm>
            <a:off x="4229100" y="2143125"/>
            <a:ext cx="9525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500" b="1">
                <a:solidFill>
                  <a:srgbClr val="0B1B33"/>
                </a:solidFill>
                <a:latin typeface="微软雅黑"/>
                <a:ea typeface="微软雅黑"/>
              </a:rPr>
              <a:t>玻璃与陶瓷</a:t>
            </a:r>
            <a:endParaRPr/>
          </a:p>
        </p:txBody>
      </p:sp>
      <p:sp>
        <p:nvSpPr>
          <p:cNvPr id="63" name="文本框 62" descr="{&quot;isTemplate&quot;:true,&quot;type&quot;:&quot;text&quot;}"/>
          <p:cNvSpPr txBox="1"/>
          <p:nvPr/>
        </p:nvSpPr>
        <p:spPr>
          <a:xfrm>
            <a:off x="4095750" y="2428875"/>
            <a:ext cx="121920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45000"/>
              </a:lnSpc>
            </a:pPr>
            <a:r>
              <a:rPr lang="zh-CN" sz="1200">
                <a:solidFill>
                  <a:srgbClr val="2C3947"/>
                </a:solidFill>
                <a:latin typeface="微软雅黑"/>
                <a:ea typeface="微软雅黑"/>
              </a:rPr>
              <a:t>复杂成分设计空间</a:t>
            </a:r>
            <a:endParaRPr/>
          </a:p>
        </p:txBody>
      </p:sp>
      <p:sp>
        <p:nvSpPr>
          <p:cNvPr id="64" name="矩形: 圆角 63"/>
          <p:cNvSpPr/>
          <p:nvPr/>
        </p:nvSpPr>
        <p:spPr>
          <a:xfrm>
            <a:off x="6191250" y="1971675"/>
            <a:ext cx="2600325" cy="895350"/>
          </a:xfrm>
          <a:prstGeom prst="roundRect">
            <a:avLst>
              <a:gd name="adj" fmla="val 10638"/>
            </a:avLst>
          </a:prstGeom>
          <a:solidFill>
            <a:srgbClr val="C3D5E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5" name="文本框 64" descr="{&quot;isTemplate&quot;:true,&quot;type&quot;:&quot;text&quot;}"/>
          <p:cNvSpPr txBox="1"/>
          <p:nvPr/>
        </p:nvSpPr>
        <p:spPr>
          <a:xfrm>
            <a:off x="7115175" y="2143125"/>
            <a:ext cx="7620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500" b="1">
                <a:solidFill>
                  <a:srgbClr val="0B1B33"/>
                </a:solidFill>
                <a:latin typeface="微软雅黑"/>
                <a:ea typeface="微软雅黑"/>
              </a:rPr>
              <a:t>电池材料</a:t>
            </a:r>
            <a:endParaRPr/>
          </a:p>
        </p:txBody>
      </p:sp>
      <p:sp>
        <p:nvSpPr>
          <p:cNvPr id="66" name="文本框 65" descr="{&quot;isTemplate&quot;:true,&quot;type&quot;:&quot;text&quot;}"/>
          <p:cNvSpPr txBox="1"/>
          <p:nvPr/>
        </p:nvSpPr>
        <p:spPr>
          <a:xfrm>
            <a:off x="6810375" y="2428875"/>
            <a:ext cx="137160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45000"/>
              </a:lnSpc>
            </a:pPr>
            <a:r>
              <a:rPr lang="zh-CN" sz="1200">
                <a:solidFill>
                  <a:srgbClr val="2C3947"/>
                </a:solidFill>
                <a:latin typeface="微软雅黑"/>
                <a:ea typeface="微软雅黑"/>
              </a:rPr>
              <a:t>能量密度与循环寿命</a:t>
            </a:r>
            <a:endParaRPr/>
          </a:p>
        </p:txBody>
      </p:sp>
      <p:sp>
        <p:nvSpPr>
          <p:cNvPr id="67" name="矩形: 圆角 66"/>
          <p:cNvSpPr/>
          <p:nvPr/>
        </p:nvSpPr>
        <p:spPr>
          <a:xfrm>
            <a:off x="8982075" y="1971675"/>
            <a:ext cx="2600325" cy="895350"/>
          </a:xfrm>
          <a:prstGeom prst="roundRect">
            <a:avLst>
              <a:gd name="adj" fmla="val 10638"/>
            </a:avLst>
          </a:prstGeom>
          <a:solidFill>
            <a:srgbClr val="B3C9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8" name="文本框 67" descr="{&quot;isTemplate&quot;:true,&quot;type&quot;:&quot;text&quot;}"/>
          <p:cNvSpPr txBox="1"/>
          <p:nvPr/>
        </p:nvSpPr>
        <p:spPr>
          <a:xfrm>
            <a:off x="9906000" y="2143125"/>
            <a:ext cx="7620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500" b="1">
                <a:solidFill>
                  <a:srgbClr val="0B1B33"/>
                </a:solidFill>
                <a:latin typeface="微软雅黑"/>
                <a:ea typeface="微软雅黑"/>
              </a:rPr>
              <a:t>光伏材料</a:t>
            </a:r>
            <a:endParaRPr/>
          </a:p>
        </p:txBody>
      </p:sp>
      <p:sp>
        <p:nvSpPr>
          <p:cNvPr id="69" name="文本框 68" descr="{&quot;isTemplate&quot;:true,&quot;type&quot;:&quot;text&quot;}"/>
          <p:cNvSpPr txBox="1"/>
          <p:nvPr/>
        </p:nvSpPr>
        <p:spPr>
          <a:xfrm>
            <a:off x="9448800" y="2428875"/>
            <a:ext cx="167640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45000"/>
              </a:lnSpc>
            </a:pPr>
            <a:r>
              <a:rPr lang="zh-CN" sz="1200">
                <a:solidFill>
                  <a:srgbClr val="2C3947"/>
                </a:solidFill>
                <a:latin typeface="微软雅黑"/>
                <a:ea typeface="微软雅黑"/>
              </a:rPr>
              <a:t>带隙与转换效率联合优化</a:t>
            </a:r>
            <a:endParaRPr/>
          </a:p>
        </p:txBody>
      </p:sp>
      <p:sp>
        <p:nvSpPr>
          <p:cNvPr id="70" name="矩形: 圆角 69"/>
          <p:cNvSpPr/>
          <p:nvPr/>
        </p:nvSpPr>
        <p:spPr>
          <a:xfrm>
            <a:off x="381000" y="3248025"/>
            <a:ext cx="5619750" cy="3267075"/>
          </a:xfrm>
          <a:prstGeom prst="roundRect">
            <a:avLst>
              <a:gd name="adj" fmla="val 291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文本框 70" descr="{&quot;isTemplate&quot;:true,&quot;type&quot;:&quot;text&quot;}"/>
          <p:cNvSpPr txBox="1"/>
          <p:nvPr/>
        </p:nvSpPr>
        <p:spPr>
          <a:xfrm>
            <a:off x="590550" y="3457575"/>
            <a:ext cx="52006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/>
                <a:ea typeface="微软雅黑"/>
              </a:rPr>
              <a:t>早期代表性工作（脚本化时代）</a:t>
            </a:r>
            <a:endParaRPr/>
          </a:p>
        </p:txBody>
      </p:sp>
      <p:sp>
        <p:nvSpPr>
          <p:cNvPr id="72" name="矩形: 圆角 71"/>
          <p:cNvSpPr/>
          <p:nvPr/>
        </p:nvSpPr>
        <p:spPr>
          <a:xfrm>
            <a:off x="590550" y="38481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3" name="文本框 72" descr="{&quot;isTemplate&quot;:true,&quot;type&quot;:&quot;text&quot;}"/>
          <p:cNvSpPr txBox="1"/>
          <p:nvPr/>
        </p:nvSpPr>
        <p:spPr>
          <a:xfrm>
            <a:off x="762000" y="3781425"/>
            <a:ext cx="366712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Gaultois et al.</a:t>
            </a:r>
            <a:endParaRPr/>
          </a:p>
        </p:txBody>
      </p:sp>
      <p:sp>
        <p:nvSpPr>
          <p:cNvPr id="74" name="文本框 73" descr="{&quot;isTemplate&quot;:true,&quot;type&quot;:&quot;text&quot;}"/>
          <p:cNvSpPr txBox="1"/>
          <p:nvPr/>
        </p:nvSpPr>
        <p:spPr>
          <a:xfrm>
            <a:off x="4524375" y="3790950"/>
            <a:ext cx="3333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0E3F8C"/>
                </a:solidFill>
                <a:latin typeface="微软雅黑"/>
                <a:ea typeface="微软雅黑"/>
              </a:rPr>
              <a:t>2013</a:t>
            </a:r>
            <a:endParaRPr/>
          </a:p>
        </p:txBody>
      </p:sp>
      <p:sp>
        <p:nvSpPr>
          <p:cNvPr id="75" name="文本框 74" descr="{&quot;isTemplate&quot;:true,&quot;type&quot;:&quot;text&quot;}"/>
          <p:cNvSpPr txBox="1"/>
          <p:nvPr/>
        </p:nvSpPr>
        <p:spPr>
          <a:xfrm>
            <a:off x="4953000" y="3800475"/>
            <a:ext cx="8382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6B7889"/>
                </a:solidFill>
                <a:latin typeface="微软雅黑"/>
                <a:ea typeface="微软雅黑"/>
              </a:rPr>
              <a:t>Chem. Mater.</a:t>
            </a:r>
            <a:endParaRPr/>
          </a:p>
        </p:txBody>
      </p:sp>
      <p:sp>
        <p:nvSpPr>
          <p:cNvPr id="76" name="矩形: 圆角 75"/>
          <p:cNvSpPr/>
          <p:nvPr/>
        </p:nvSpPr>
        <p:spPr>
          <a:xfrm>
            <a:off x="590550" y="41433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7" name="文本框 76" descr="{&quot;isTemplate&quot;:true,&quot;type&quot;:&quot;text&quot;}"/>
          <p:cNvSpPr txBox="1"/>
          <p:nvPr/>
        </p:nvSpPr>
        <p:spPr>
          <a:xfrm>
            <a:off x="762000" y="4076700"/>
            <a:ext cx="383857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Gaultois et al.</a:t>
            </a:r>
            <a:endParaRPr/>
          </a:p>
        </p:txBody>
      </p:sp>
      <p:sp>
        <p:nvSpPr>
          <p:cNvPr id="78" name="文本框 77" descr="{&quot;isTemplate&quot;:true,&quot;type&quot;:&quot;text&quot;}"/>
          <p:cNvSpPr txBox="1"/>
          <p:nvPr/>
        </p:nvSpPr>
        <p:spPr>
          <a:xfrm>
            <a:off x="4695825" y="4086225"/>
            <a:ext cx="3333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0E3F8C"/>
                </a:solidFill>
                <a:latin typeface="微软雅黑"/>
                <a:ea typeface="微软雅黑"/>
              </a:rPr>
              <a:t>2016</a:t>
            </a:r>
            <a:endParaRPr/>
          </a:p>
        </p:txBody>
      </p:sp>
      <p:sp>
        <p:nvSpPr>
          <p:cNvPr id="79" name="文本框 78" descr="{&quot;isTemplate&quot;:true,&quot;type&quot;:&quot;text&quot;}"/>
          <p:cNvSpPr txBox="1"/>
          <p:nvPr/>
        </p:nvSpPr>
        <p:spPr>
          <a:xfrm>
            <a:off x="5124450" y="4095750"/>
            <a:ext cx="6667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6B7889"/>
                </a:solidFill>
                <a:latin typeface="微软雅黑"/>
                <a:ea typeface="微软雅黑"/>
              </a:rPr>
              <a:t>APL Mater.</a:t>
            </a:r>
            <a:endParaRPr/>
          </a:p>
        </p:txBody>
      </p:sp>
      <p:sp>
        <p:nvSpPr>
          <p:cNvPr id="80" name="矩形: 圆角 79"/>
          <p:cNvSpPr/>
          <p:nvPr/>
        </p:nvSpPr>
        <p:spPr>
          <a:xfrm>
            <a:off x="590550" y="44386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1" name="文本框 80" descr="{&quot;isTemplate&quot;:true,&quot;type&quot;:&quot;text&quot;}"/>
          <p:cNvSpPr txBox="1"/>
          <p:nvPr/>
        </p:nvSpPr>
        <p:spPr>
          <a:xfrm>
            <a:off x="762000" y="4371975"/>
            <a:ext cx="32385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Ghadbeigi et al.</a:t>
            </a:r>
            <a:endParaRPr/>
          </a:p>
        </p:txBody>
      </p:sp>
      <p:sp>
        <p:nvSpPr>
          <p:cNvPr id="82" name="文本框 81" descr="{&quot;isTemplate&quot;:true,&quot;type&quot;:&quot;text&quot;}"/>
          <p:cNvSpPr txBox="1"/>
          <p:nvPr/>
        </p:nvSpPr>
        <p:spPr>
          <a:xfrm>
            <a:off x="4095750" y="4381500"/>
            <a:ext cx="3333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0E3F8C"/>
                </a:solidFill>
                <a:latin typeface="微软雅黑"/>
                <a:ea typeface="微软雅黑"/>
              </a:rPr>
              <a:t>2016</a:t>
            </a:r>
            <a:endParaRPr/>
          </a:p>
        </p:txBody>
      </p:sp>
      <p:sp>
        <p:nvSpPr>
          <p:cNvPr id="83" name="文本框 82" descr="{&quot;isTemplate&quot;:true,&quot;type&quot;:&quot;text&quot;}"/>
          <p:cNvSpPr txBox="1"/>
          <p:nvPr/>
        </p:nvSpPr>
        <p:spPr>
          <a:xfrm>
            <a:off x="4524375" y="4391025"/>
            <a:ext cx="12668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6B7889"/>
                </a:solidFill>
                <a:latin typeface="微软雅黑"/>
                <a:ea typeface="微软雅黑"/>
              </a:rPr>
              <a:t>Energy Environ. Sci.</a:t>
            </a:r>
            <a:endParaRPr/>
          </a:p>
        </p:txBody>
      </p:sp>
      <p:sp>
        <p:nvSpPr>
          <p:cNvPr id="84" name="矩形: 圆角 83"/>
          <p:cNvSpPr/>
          <p:nvPr/>
        </p:nvSpPr>
        <p:spPr>
          <a:xfrm>
            <a:off x="590550" y="47339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5" name="文本框 84" descr="{&quot;isTemplate&quot;:true,&quot;type&quot;:&quot;text&quot;}"/>
          <p:cNvSpPr txBox="1"/>
          <p:nvPr/>
        </p:nvSpPr>
        <p:spPr>
          <a:xfrm>
            <a:off x="762000" y="4667250"/>
            <a:ext cx="36385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Sparks et al.</a:t>
            </a:r>
            <a:endParaRPr/>
          </a:p>
        </p:txBody>
      </p:sp>
      <p:sp>
        <p:nvSpPr>
          <p:cNvPr id="86" name="文本框 85" descr="{&quot;isTemplate&quot;:true,&quot;type&quot;:&quot;text&quot;}"/>
          <p:cNvSpPr txBox="1"/>
          <p:nvPr/>
        </p:nvSpPr>
        <p:spPr>
          <a:xfrm>
            <a:off x="4495800" y="4676775"/>
            <a:ext cx="3333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0E3F8C"/>
                </a:solidFill>
                <a:latin typeface="微软雅黑"/>
                <a:ea typeface="微软雅黑"/>
              </a:rPr>
              <a:t>2016</a:t>
            </a:r>
            <a:endParaRPr/>
          </a:p>
        </p:txBody>
      </p:sp>
      <p:sp>
        <p:nvSpPr>
          <p:cNvPr id="87" name="文本框 86" descr="{&quot;isTemplate&quot;:true,&quot;type&quot;:&quot;text&quot;}"/>
          <p:cNvSpPr txBox="1"/>
          <p:nvPr/>
        </p:nvSpPr>
        <p:spPr>
          <a:xfrm>
            <a:off x="4924425" y="4686300"/>
            <a:ext cx="8667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6B7889"/>
                </a:solidFill>
                <a:latin typeface="微软雅黑"/>
                <a:ea typeface="微软雅黑"/>
              </a:rPr>
              <a:t>Scripta Mater.</a:t>
            </a:r>
            <a:endParaRPr/>
          </a:p>
        </p:txBody>
      </p:sp>
      <p:sp>
        <p:nvSpPr>
          <p:cNvPr id="88" name="文本框 87" descr="{&quot;isTemplate&quot;:true,&quot;type&quot;:&quot;text&quot;}"/>
          <p:cNvSpPr txBox="1"/>
          <p:nvPr/>
        </p:nvSpPr>
        <p:spPr>
          <a:xfrm>
            <a:off x="590550" y="5000625"/>
            <a:ext cx="520065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200">
                <a:solidFill>
                  <a:srgbClr val="3A4759"/>
                </a:solidFill>
                <a:latin typeface="微软雅黑"/>
                <a:ea typeface="微软雅黑"/>
              </a:rPr>
              <a:t>这些工作早期使用「</a:t>
            </a:r>
            <a:r>
              <a:rPr lang="zh-CN" sz="1200" b="1">
                <a:solidFill>
                  <a:srgbClr val="3A4759"/>
                </a:solidFill>
                <a:latin typeface="微软雅黑"/>
                <a:ea typeface="微软雅黑"/>
              </a:rPr>
              <a:t>大数据</a:t>
            </a:r>
            <a:r>
              <a:rPr lang="zh-CN" sz="1200">
                <a:solidFill>
                  <a:srgbClr val="3A4759"/>
                </a:solidFill>
                <a:latin typeface="微软雅黑"/>
                <a:ea typeface="微软雅黑"/>
              </a:rPr>
              <a:t>」一词来写分析性综述——说明学科起步阶段，方法论尚在摸索。</a:t>
            </a:r>
            <a:endParaRPr/>
          </a:p>
        </p:txBody>
      </p:sp>
      <p:sp>
        <p:nvSpPr>
          <p:cNvPr id="89" name="矩形: 圆角 88"/>
          <p:cNvSpPr/>
          <p:nvPr/>
        </p:nvSpPr>
        <p:spPr>
          <a:xfrm>
            <a:off x="6191250" y="3248025"/>
            <a:ext cx="5619750" cy="3267075"/>
          </a:xfrm>
          <a:prstGeom prst="roundRect">
            <a:avLst>
              <a:gd name="adj" fmla="val 2915"/>
            </a:avLst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" name="文本框 89" descr="{&quot;isTemplate&quot;:true,&quot;type&quot;:&quot;text&quot;}"/>
          <p:cNvSpPr txBox="1"/>
          <p:nvPr/>
        </p:nvSpPr>
        <p:spPr>
          <a:xfrm>
            <a:off x="6400800" y="3457575"/>
            <a:ext cx="52006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8D6E00"/>
                </a:solidFill>
                <a:latin typeface="微软雅黑"/>
                <a:ea typeface="微软雅黑"/>
              </a:rPr>
              <a:t>学科年龄：仅数十年</a:t>
            </a:r>
            <a:endParaRPr/>
          </a:p>
        </p:txBody>
      </p:sp>
      <p:sp>
        <p:nvSpPr>
          <p:cNvPr id="91" name="文本框 90" descr="{&quot;isTemplate&quot;:true,&quot;type&quot;:&quot;text&quot;}"/>
          <p:cNvSpPr txBox="1"/>
          <p:nvPr/>
        </p:nvSpPr>
        <p:spPr>
          <a:xfrm>
            <a:off x="6400800" y="3781425"/>
            <a:ext cx="5200650" cy="6477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5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相比材料学数百年积累，这个学科非常年轻。原课程讲义中有句坦率的话：</a:t>
            </a:r>
            <a:r>
              <a:rPr lang="zh-CN" sz="1275" b="1">
                <a:solidFill>
                  <a:srgbClr val="1A2230"/>
                </a:solidFill>
                <a:latin typeface="微软雅黑"/>
                <a:ea typeface="微软雅黑"/>
              </a:rPr>
              <a:t>「早期没人知道自己在做什么」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。</a:t>
            </a:r>
            <a:endParaRPr/>
          </a:p>
        </p:txBody>
      </p:sp>
      <p:sp>
        <p:nvSpPr>
          <p:cNvPr id="92" name="文本框 91" descr="{&quot;isTemplate&quot;:true,&quot;type&quot;:&quot;text&quot;}"/>
          <p:cNvSpPr txBox="1"/>
          <p:nvPr/>
        </p:nvSpPr>
        <p:spPr>
          <a:xfrm>
            <a:off x="6400800" y="4524375"/>
            <a:ext cx="5200650" cy="6477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5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这既是学科不成熟的表现，也意味着</a:t>
            </a:r>
            <a:r>
              <a:rPr lang="zh-CN" sz="1275" b="1">
                <a:solidFill>
                  <a:srgbClr val="8D6E00"/>
                </a:solidFill>
                <a:latin typeface="微软雅黑"/>
                <a:ea typeface="微软雅黑"/>
              </a:rPr>
              <a:t>方法论仍有大量开放空间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——对本课程学生而言是机会。</a:t>
            </a:r>
            <a:endParaRPr/>
          </a:p>
        </p:txBody>
      </p:sp>
      <p:sp>
        <p:nvSpPr>
          <p:cNvPr id="93" name="文本框 92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94" name="文本框 93" descr="{&quot;isTemplate&quot;:true,&quot;type&quot;:&quot;text&quot;}"/>
          <p:cNvSpPr txBox="1"/>
          <p:nvPr/>
        </p:nvSpPr>
        <p:spPr>
          <a:xfrm>
            <a:off x="54673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95" name="文本框 94" descr="{&quot;isTemplate&quot;:true,&quot;type&quot;:&quot;text&quot;}"/>
          <p:cNvSpPr txBox="1"/>
          <p:nvPr/>
        </p:nvSpPr>
        <p:spPr>
          <a:xfrm>
            <a:off x="11410950" y="6610350"/>
            <a:ext cx="4000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11 / 60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矩形 9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8" name="矩形 97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9" name="文本框 98" descr="{&quot;isTemplate&quot;:true,&quot;type&quot;:&quot;text&quot;}"/>
          <p:cNvSpPr txBox="1"/>
          <p:nvPr/>
        </p:nvSpPr>
        <p:spPr>
          <a:xfrm>
            <a:off x="342900" y="171450"/>
            <a:ext cx="3524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在材料科学中的应用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讲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材料信息学导论与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产业</a:t>
            </a:r>
            <a:endParaRPr/>
          </a:p>
        </p:txBody>
      </p:sp>
      <p:sp>
        <p:nvSpPr>
          <p:cNvPr id="100" name="文本框 99" descr="{&quot;isTemplate&quot;:true,&quot;type&quot;:&quot;text&quot;}"/>
          <p:cNvSpPr txBox="1"/>
          <p:nvPr/>
        </p:nvSpPr>
        <p:spPr>
          <a:xfrm>
            <a:off x="9486900" y="171450"/>
            <a:ext cx="12573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01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什么是材料信息学</a:t>
            </a:r>
            <a:endParaRPr/>
          </a:p>
        </p:txBody>
      </p:sp>
      <p:pic>
        <p:nvPicPr>
          <p:cNvPr id="101" name="图片 100"/>
          <p:cNvPicPr>
            <a:picLocks noChangeAspect="1"/>
          </p:cNvPicPr>
          <p:nvPr/>
        </p:nvPicPr>
        <p:blipFill>
          <a:blip r:embed="rId2"/>
          <a:srcRect l="847" r="847"/>
          <a:stretch>
            <a:fillRect/>
          </a:stretch>
        </p:blipFill>
        <p:spPr>
          <a:xfrm>
            <a:off x="10858500" y="123825"/>
            <a:ext cx="990600" cy="247650"/>
          </a:xfrm>
          <a:prstGeom prst="rect">
            <a:avLst/>
          </a:prstGeom>
          <a:ln/>
        </p:spPr>
      </p:pic>
      <p:sp>
        <p:nvSpPr>
          <p:cNvPr id="102" name="文本框 101" descr="{&quot;isTemplate&quot;:true,&quot;type&quot;:&quot;text&quot;}"/>
          <p:cNvSpPr txBox="1"/>
          <p:nvPr/>
        </p:nvSpPr>
        <p:spPr>
          <a:xfrm>
            <a:off x="381000" y="666750"/>
            <a:ext cx="114300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钉钉进步体"/>
                <a:ea typeface="钉钉进步体"/>
              </a:rPr>
              <a:t>两种趋势：一种写得成公式，一种写不出来</a:t>
            </a:r>
            <a:endParaRPr/>
          </a:p>
        </p:txBody>
      </p:sp>
      <p:sp>
        <p:nvSpPr>
          <p:cNvPr id="103" name="矩形: 圆角 102"/>
          <p:cNvSpPr/>
          <p:nvPr/>
        </p:nvSpPr>
        <p:spPr>
          <a:xfrm>
            <a:off x="381000" y="1114425"/>
            <a:ext cx="571500" cy="47625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4" name="矩形: 圆角 103"/>
          <p:cNvSpPr/>
          <p:nvPr/>
        </p:nvSpPr>
        <p:spPr>
          <a:xfrm>
            <a:off x="381000" y="1276350"/>
            <a:ext cx="11430000" cy="914400"/>
          </a:xfrm>
          <a:prstGeom prst="roundRect">
            <a:avLst>
              <a:gd name="adj" fmla="val 1250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5" name="文本框 104" descr="{&quot;isTemplate&quot;:true,&quot;type&quot;:&quot;text&quot;}"/>
          <p:cNvSpPr txBox="1"/>
          <p:nvPr/>
        </p:nvSpPr>
        <p:spPr>
          <a:xfrm>
            <a:off x="609600" y="1428750"/>
            <a:ext cx="10972800" cy="6096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275">
                <a:solidFill>
                  <a:srgbClr val="3A4759"/>
                </a:solidFill>
                <a:latin typeface="微软雅黑"/>
                <a:ea typeface="微软雅黑"/>
              </a:rPr>
              <a:t>左边是</a:t>
            </a:r>
            <a:r>
              <a:rPr lang="zh-CN" sz="1275" b="1">
                <a:solidFill>
                  <a:srgbClr val="3A4759"/>
                </a:solidFill>
                <a:latin typeface="微软雅黑"/>
                <a:ea typeface="微软雅黑"/>
              </a:rPr>
              <a:t>教科书里的材料规律</a:t>
            </a:r>
            <a:r>
              <a:rPr lang="zh-CN" sz="1275">
                <a:solidFill>
                  <a:srgbClr val="3A4759"/>
                </a:solidFill>
                <a:latin typeface="微软雅黑"/>
                <a:ea typeface="微软雅黑"/>
              </a:rPr>
              <a:t>：</a:t>
            </a:r>
            <a:r>
              <a:rPr lang="en-US" sz="1275">
                <a:solidFill>
                  <a:srgbClr val="3A4759"/>
                </a:solidFill>
                <a:latin typeface="微软雅黑"/>
                <a:ea typeface="微软雅黑"/>
              </a:rPr>
              <a:t>Hall–Petch </a:t>
            </a:r>
            <a:r>
              <a:rPr lang="zh-CN" sz="1275">
                <a:solidFill>
                  <a:srgbClr val="3A4759"/>
                </a:solidFill>
                <a:latin typeface="微软雅黑"/>
                <a:ea typeface="微软雅黑"/>
              </a:rPr>
              <a:t>关系，能用一条公式写完。</a:t>
            </a:r>
            <a:r>
              <a:rPr lang="en-US" sz="1275">
                <a:solidFill>
                  <a:srgbClr val="3A4759"/>
                </a:solidFill>
                <a:latin typeface="微软雅黑"/>
                <a:ea typeface="微软雅黑"/>
              </a:rPr>
              <a:t> </a:t>
            </a:r>
            <a:r>
              <a:rPr lang="zh-CN" sz="1275">
                <a:solidFill>
                  <a:srgbClr val="3A4759"/>
                </a:solidFill>
                <a:latin typeface="微软雅黑"/>
                <a:ea typeface="微软雅黑"/>
              </a:rPr>
              <a:t>右边是</a:t>
            </a:r>
            <a:r>
              <a:rPr lang="zh-CN" sz="1275" b="1">
                <a:solidFill>
                  <a:srgbClr val="C62828"/>
                </a:solidFill>
                <a:latin typeface="微软雅黑"/>
                <a:ea typeface="微软雅黑"/>
              </a:rPr>
              <a:t>真实文献中的数据</a:t>
            </a:r>
            <a:r>
              <a:rPr lang="zh-CN" sz="1275">
                <a:solidFill>
                  <a:srgbClr val="3A4759"/>
                </a:solidFill>
                <a:latin typeface="微软雅黑"/>
                <a:ea typeface="微软雅黑"/>
              </a:rPr>
              <a:t>：热电优值</a:t>
            </a:r>
            <a:r>
              <a:rPr lang="en-US" sz="1275">
                <a:solidFill>
                  <a:srgbClr val="3A4759"/>
                </a:solidFill>
                <a:latin typeface="微软雅黑"/>
                <a:ea typeface="微软雅黑"/>
              </a:rPr>
              <a:t> ZT </a:t>
            </a:r>
            <a:r>
              <a:rPr lang="zh-CN" sz="1275">
                <a:solidFill>
                  <a:srgbClr val="3A4759"/>
                </a:solidFill>
                <a:latin typeface="微软雅黑"/>
                <a:ea typeface="微软雅黑"/>
              </a:rPr>
              <a:t>随时间散点分布，规律藏在数百个点里，没有闭式解。</a:t>
            </a:r>
            <a:endParaRPr/>
          </a:p>
        </p:txBody>
      </p:sp>
      <p:sp>
        <p:nvSpPr>
          <p:cNvPr id="106" name="矩形: 圆角 105"/>
          <p:cNvSpPr/>
          <p:nvPr/>
        </p:nvSpPr>
        <p:spPr>
          <a:xfrm>
            <a:off x="381000" y="2228850"/>
            <a:ext cx="5629275" cy="3733800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12700">
            <a:solidFill>
              <a:srgbClr val="C9D8E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07" name="图片 106"/>
          <p:cNvPicPr>
            <a:picLocks noChangeAspect="1"/>
          </p:cNvPicPr>
          <p:nvPr/>
        </p:nvPicPr>
        <p:blipFill>
          <a:blip r:embed="rId3"/>
          <a:srcRect l="38" r="38"/>
          <a:stretch>
            <a:fillRect/>
          </a:stretch>
        </p:blipFill>
        <p:spPr>
          <a:xfrm>
            <a:off x="1447800" y="2343150"/>
            <a:ext cx="3505200" cy="3276600"/>
          </a:xfrm>
          <a:prstGeom prst="rect">
            <a:avLst/>
          </a:prstGeom>
          <a:ln/>
        </p:spPr>
      </p:pic>
      <p:sp>
        <p:nvSpPr>
          <p:cNvPr id="108" name="文本框 107" descr="{&quot;isTemplate&quot;:true,&quot;type&quot;:&quot;text&quot;}"/>
          <p:cNvSpPr txBox="1"/>
          <p:nvPr/>
        </p:nvSpPr>
        <p:spPr>
          <a:xfrm>
            <a:off x="1695450" y="5676900"/>
            <a:ext cx="30099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6B7889"/>
                </a:solidFill>
                <a:latin typeface="微软雅黑"/>
                <a:ea typeface="微软雅黑"/>
              </a:rPr>
              <a:t>Hall–Petch</a:t>
            </a:r>
            <a:r>
              <a:rPr lang="zh-CN" sz="1125">
                <a:solidFill>
                  <a:srgbClr val="6B7889"/>
                </a:solidFill>
                <a:latin typeface="微软雅黑"/>
                <a:ea typeface="微软雅黑"/>
              </a:rPr>
              <a:t>：</a:t>
            </a:r>
            <a:r>
              <a:rPr lang="en-US" sz="1125">
                <a:solidFill>
                  <a:srgbClr val="6B7889"/>
                </a:solidFill>
                <a:latin typeface="微软雅黑"/>
                <a:ea typeface="微软雅黑"/>
              </a:rPr>
              <a:t>H = 1.413 + 1.257 D </a:t>
            </a:r>
            <a:r>
              <a:rPr lang="zh-CN" sz="1125">
                <a:solidFill>
                  <a:srgbClr val="6B7889"/>
                </a:solidFill>
                <a:latin typeface="微软雅黑"/>
                <a:ea typeface="微软雅黑"/>
              </a:rPr>
              <a:t>的</a:t>
            </a:r>
            <a:r>
              <a:rPr lang="en-US" sz="1125">
                <a:solidFill>
                  <a:srgbClr val="6B7889"/>
                </a:solidFill>
                <a:latin typeface="微软雅黑"/>
                <a:ea typeface="微软雅黑"/>
              </a:rPr>
              <a:t> −0.5 </a:t>
            </a:r>
            <a:r>
              <a:rPr lang="zh-CN" sz="1125">
                <a:solidFill>
                  <a:srgbClr val="6B7889"/>
                </a:solidFill>
                <a:latin typeface="微软雅黑"/>
                <a:ea typeface="微软雅黑"/>
              </a:rPr>
              <a:t>次方</a:t>
            </a:r>
            <a:endParaRPr/>
          </a:p>
        </p:txBody>
      </p:sp>
      <p:sp>
        <p:nvSpPr>
          <p:cNvPr id="109" name="矩形: 圆角 108"/>
          <p:cNvSpPr/>
          <p:nvPr/>
        </p:nvSpPr>
        <p:spPr>
          <a:xfrm>
            <a:off x="6181725" y="2228850"/>
            <a:ext cx="5629275" cy="3733800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12700">
            <a:solidFill>
              <a:srgbClr val="C9D8E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0" name="图片 109"/>
          <p:cNvPicPr>
            <a:picLocks noChangeAspect="1"/>
          </p:cNvPicPr>
          <p:nvPr/>
        </p:nvPicPr>
        <p:blipFill>
          <a:blip r:embed="rId4"/>
          <a:srcRect l="19" r="19"/>
          <a:stretch>
            <a:fillRect/>
          </a:stretch>
        </p:blipFill>
        <p:spPr>
          <a:xfrm>
            <a:off x="7105650" y="2343150"/>
            <a:ext cx="3781425" cy="3276600"/>
          </a:xfrm>
          <a:prstGeom prst="rect">
            <a:avLst/>
          </a:prstGeom>
          <a:ln/>
        </p:spPr>
      </p:pic>
      <p:sp>
        <p:nvSpPr>
          <p:cNvPr id="111" name="文本框 110" descr="{&quot;isTemplate&quot;:true,&quot;type&quot;:&quot;text&quot;}"/>
          <p:cNvSpPr txBox="1"/>
          <p:nvPr/>
        </p:nvSpPr>
        <p:spPr>
          <a:xfrm>
            <a:off x="7610475" y="5676900"/>
            <a:ext cx="27813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125">
                <a:solidFill>
                  <a:srgbClr val="6B7889"/>
                </a:solidFill>
                <a:latin typeface="微软雅黑"/>
                <a:ea typeface="微软雅黑"/>
              </a:rPr>
              <a:t>热电优值</a:t>
            </a:r>
            <a:r>
              <a:rPr lang="en-US" sz="1125">
                <a:solidFill>
                  <a:srgbClr val="6B7889"/>
                </a:solidFill>
                <a:latin typeface="微软雅黑"/>
                <a:ea typeface="微软雅黑"/>
              </a:rPr>
              <a:t> ZT</a:t>
            </a:r>
            <a:r>
              <a:rPr lang="zh-CN" sz="1125">
                <a:solidFill>
                  <a:srgbClr val="6B7889"/>
                </a:solidFill>
                <a:latin typeface="微软雅黑"/>
                <a:ea typeface="微软雅黑"/>
              </a:rPr>
              <a:t>：上千条记录，仅红点为年均值</a:t>
            </a:r>
            <a:endParaRPr/>
          </a:p>
        </p:txBody>
      </p:sp>
      <p:sp>
        <p:nvSpPr>
          <p:cNvPr id="112" name="矩形: 圆角 111"/>
          <p:cNvSpPr/>
          <p:nvPr/>
        </p:nvSpPr>
        <p:spPr>
          <a:xfrm>
            <a:off x="381000" y="6019800"/>
            <a:ext cx="11430000" cy="476250"/>
          </a:xfrm>
          <a:prstGeom prst="roundRect">
            <a:avLst>
              <a:gd name="adj" fmla="val 20000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3" name="文本框 112" descr="{&quot;isTemplate&quot;:true,&quot;type&quot;:&quot;text&quot;}"/>
          <p:cNvSpPr txBox="1"/>
          <p:nvPr/>
        </p:nvSpPr>
        <p:spPr>
          <a:xfrm>
            <a:off x="609600" y="6153150"/>
            <a:ext cx="109728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这就是机器学习的用武之地：</a:t>
            </a:r>
            <a:r>
              <a:rPr lang="zh-CN" sz="1350" b="1">
                <a:solidFill>
                  <a:srgbClr val="FFC107"/>
                </a:solidFill>
                <a:latin typeface="微软雅黑"/>
                <a:ea typeface="微软雅黑"/>
              </a:rPr>
              <a:t>当规律写不成公式时，就让模型去逼近它</a:t>
            </a:r>
            <a:endParaRPr/>
          </a:p>
        </p:txBody>
      </p:sp>
      <p:sp>
        <p:nvSpPr>
          <p:cNvPr id="114" name="文本框 113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115" name="文本框 114" descr="{&quot;isTemplate&quot;:true,&quot;type&quot;:&quot;text&quot;}"/>
          <p:cNvSpPr txBox="1"/>
          <p:nvPr/>
        </p:nvSpPr>
        <p:spPr>
          <a:xfrm>
            <a:off x="54673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116" name="文本框 115" descr="{&quot;isTemplate&quot;:true,&quot;type&quot;:&quot;text&quot;}"/>
          <p:cNvSpPr txBox="1"/>
          <p:nvPr/>
        </p:nvSpPr>
        <p:spPr>
          <a:xfrm>
            <a:off x="11410950" y="6619875"/>
            <a:ext cx="4000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12 / 60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矩形 1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9" name="矩形 118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0" name="文本框 119" descr="{&quot;isTemplate&quot;:true,&quot;type&quot;:&quot;text&quot;}"/>
          <p:cNvSpPr txBox="1"/>
          <p:nvPr/>
        </p:nvSpPr>
        <p:spPr>
          <a:xfrm>
            <a:off x="342900" y="171450"/>
            <a:ext cx="3524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在材料科学中的应用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讲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材料信息学导论与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产业</a:t>
            </a:r>
            <a:endParaRPr/>
          </a:p>
        </p:txBody>
      </p:sp>
      <p:sp>
        <p:nvSpPr>
          <p:cNvPr id="121" name="文本框 120" descr="{&quot;isTemplate&quot;:true,&quot;type&quot;:&quot;text&quot;}"/>
          <p:cNvSpPr txBox="1"/>
          <p:nvPr/>
        </p:nvSpPr>
        <p:spPr>
          <a:xfrm>
            <a:off x="9486900" y="171450"/>
            <a:ext cx="12573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01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什么是材料信息学</a:t>
            </a:r>
            <a:endParaRPr/>
          </a:p>
        </p:txBody>
      </p:sp>
      <p:pic>
        <p:nvPicPr>
          <p:cNvPr id="122" name="图片 121"/>
          <p:cNvPicPr>
            <a:picLocks noChangeAspect="1"/>
          </p:cNvPicPr>
          <p:nvPr/>
        </p:nvPicPr>
        <p:blipFill>
          <a:blip r:embed="rId2"/>
          <a:srcRect l="847" r="847"/>
          <a:stretch>
            <a:fillRect/>
          </a:stretch>
        </p:blipFill>
        <p:spPr>
          <a:xfrm>
            <a:off x="10858500" y="123825"/>
            <a:ext cx="990600" cy="247650"/>
          </a:xfrm>
          <a:prstGeom prst="rect">
            <a:avLst/>
          </a:prstGeom>
          <a:ln/>
        </p:spPr>
      </p:pic>
      <p:sp>
        <p:nvSpPr>
          <p:cNvPr id="123" name="文本框 122" descr="{&quot;isTemplate&quot;:true,&quot;type&quot;:&quot;text&quot;}"/>
          <p:cNvSpPr txBox="1"/>
          <p:nvPr/>
        </p:nvSpPr>
        <p:spPr>
          <a:xfrm>
            <a:off x="381000" y="666750"/>
            <a:ext cx="114300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钉钉进步体"/>
                <a:ea typeface="钉钉进步体"/>
              </a:rPr>
              <a:t>材料基因组计划：一份</a:t>
            </a:r>
            <a:r>
              <a:rPr lang="en-US" sz="2400" b="1">
                <a:solidFill>
                  <a:srgbClr val="0E3F8C"/>
                </a:solidFill>
                <a:latin typeface="钉钉进步体"/>
                <a:ea typeface="钉钉进步体"/>
              </a:rPr>
              <a:t> 2011 </a:t>
            </a:r>
            <a:r>
              <a:rPr lang="zh-CN" sz="2400" b="1">
                <a:solidFill>
                  <a:srgbClr val="0E3F8C"/>
                </a:solidFill>
                <a:latin typeface="钉钉进步体"/>
                <a:ea typeface="钉钉进步体"/>
              </a:rPr>
              <a:t>年的国家文件</a:t>
            </a:r>
            <a:endParaRPr/>
          </a:p>
        </p:txBody>
      </p:sp>
      <p:sp>
        <p:nvSpPr>
          <p:cNvPr id="124" name="矩形: 圆角 123"/>
          <p:cNvSpPr/>
          <p:nvPr/>
        </p:nvSpPr>
        <p:spPr>
          <a:xfrm>
            <a:off x="381000" y="1114425"/>
            <a:ext cx="571500" cy="47625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5" name="矩形: 圆角 124"/>
          <p:cNvSpPr/>
          <p:nvPr/>
        </p:nvSpPr>
        <p:spPr>
          <a:xfrm>
            <a:off x="381000" y="1276350"/>
            <a:ext cx="3619500" cy="523875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C9D8E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26" name="图片 125"/>
          <p:cNvPicPr>
            <a:picLocks noChangeAspect="1"/>
          </p:cNvPicPr>
          <p:nvPr/>
        </p:nvPicPr>
        <p:blipFill>
          <a:blip r:embed="rId3"/>
          <a:srcRect t="147" b="147"/>
          <a:stretch>
            <a:fillRect/>
          </a:stretch>
        </p:blipFill>
        <p:spPr>
          <a:xfrm>
            <a:off x="571500" y="1971675"/>
            <a:ext cx="3238500" cy="3609975"/>
          </a:xfrm>
          <a:prstGeom prst="rect">
            <a:avLst/>
          </a:prstGeom>
          <a:ln/>
        </p:spPr>
      </p:pic>
      <p:sp>
        <p:nvSpPr>
          <p:cNvPr id="127" name="文本框 126" descr="{&quot;isTemplate&quot;:true,&quot;type&quot;:&quot;text&quot;}"/>
          <p:cNvSpPr txBox="1"/>
          <p:nvPr/>
        </p:nvSpPr>
        <p:spPr>
          <a:xfrm>
            <a:off x="1000125" y="5657850"/>
            <a:ext cx="2381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1050">
                <a:solidFill>
                  <a:srgbClr val="6B7889"/>
                </a:solidFill>
                <a:latin typeface="微软雅黑"/>
                <a:ea typeface="微软雅黑"/>
              </a:rPr>
              <a:t>MGI </a:t>
            </a:r>
            <a:r>
              <a:rPr lang="zh-CN" sz="1050">
                <a:solidFill>
                  <a:srgbClr val="6B7889"/>
                </a:solidFill>
                <a:latin typeface="微软雅黑"/>
                <a:ea typeface="微软雅黑"/>
              </a:rPr>
              <a:t>战略规划原文封面（</a:t>
            </a:r>
            <a:r>
              <a:rPr lang="en-US" sz="1050">
                <a:solidFill>
                  <a:srgbClr val="6B7889"/>
                </a:solidFill>
                <a:latin typeface="微软雅黑"/>
                <a:ea typeface="微软雅黑"/>
              </a:rPr>
              <a:t>2011 </a:t>
            </a:r>
            <a:r>
              <a:rPr lang="zh-CN" sz="1050">
                <a:solidFill>
                  <a:srgbClr val="6B7889"/>
                </a:solidFill>
                <a:latin typeface="微软雅黑"/>
                <a:ea typeface="微软雅黑"/>
              </a:rPr>
              <a:t>年</a:t>
            </a:r>
            <a:r>
              <a:rPr lang="en-US" sz="1050">
                <a:solidFill>
                  <a:srgbClr val="6B7889"/>
                </a:solidFill>
                <a:latin typeface="微软雅黑"/>
                <a:ea typeface="微软雅黑"/>
              </a:rPr>
              <a:t> 6 </a:t>
            </a:r>
            <a:r>
              <a:rPr lang="zh-CN" sz="1050">
                <a:solidFill>
                  <a:srgbClr val="6B7889"/>
                </a:solidFill>
                <a:latin typeface="微软雅黑"/>
                <a:ea typeface="微软雅黑"/>
              </a:rPr>
              <a:t>月）</a:t>
            </a:r>
            <a:endParaRPr/>
          </a:p>
        </p:txBody>
      </p:sp>
      <p:sp>
        <p:nvSpPr>
          <p:cNvPr id="128" name="矩形: 圆角 127"/>
          <p:cNvSpPr/>
          <p:nvPr/>
        </p:nvSpPr>
        <p:spPr>
          <a:xfrm>
            <a:off x="4191000" y="1924050"/>
            <a:ext cx="7620000" cy="1371600"/>
          </a:xfrm>
          <a:prstGeom prst="roundRect">
            <a:avLst>
              <a:gd name="adj" fmla="val 6944"/>
            </a:avLst>
          </a:prstGeom>
          <a:solidFill>
            <a:srgbClr val="E3EC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9" name="文本框 128" descr="{&quot;isTemplate&quot;:true,&quot;type&quot;:&quot;text&quot;}"/>
          <p:cNvSpPr txBox="1"/>
          <p:nvPr/>
        </p:nvSpPr>
        <p:spPr>
          <a:xfrm>
            <a:off x="4419600" y="2114550"/>
            <a:ext cx="71628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微软雅黑"/>
                <a:ea typeface="微软雅黑"/>
              </a:rPr>
              <a:t>这份文件改变了什么</a:t>
            </a:r>
            <a:endParaRPr/>
          </a:p>
        </p:txBody>
      </p:sp>
      <p:sp>
        <p:nvSpPr>
          <p:cNvPr id="130" name="文本框 129" descr="{&quot;isTemplate&quot;:true,&quot;type&quot;:&quot;text&quot;}"/>
          <p:cNvSpPr txBox="1"/>
          <p:nvPr/>
        </p:nvSpPr>
        <p:spPr>
          <a:xfrm>
            <a:off x="4419600" y="2457450"/>
            <a:ext cx="7162800" cy="6477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5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它把材料研发的周期问题</a:t>
            </a:r>
            <a:r>
              <a:rPr lang="zh-CN" sz="1275" b="1">
                <a:solidFill>
                  <a:srgbClr val="1A2230"/>
                </a:solidFill>
                <a:latin typeface="微软雅黑"/>
                <a:ea typeface="微软雅黑"/>
              </a:rPr>
              <a:t>正式写成了国家层面的战略命题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：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当时先进材料从发现到商用平均需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 10–20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年，而产业竞争等不起。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提出的解法是「把计算、实验、数据三条线打通，把周期压缩一半」。</a:t>
            </a:r>
            <a:endParaRPr/>
          </a:p>
        </p:txBody>
      </p:sp>
      <p:sp>
        <p:nvSpPr>
          <p:cNvPr id="131" name="矩形: 圆角 130"/>
          <p:cNvSpPr/>
          <p:nvPr/>
        </p:nvSpPr>
        <p:spPr>
          <a:xfrm>
            <a:off x="4191000" y="3409950"/>
            <a:ext cx="7620000" cy="1371600"/>
          </a:xfrm>
          <a:prstGeom prst="roundRect">
            <a:avLst>
              <a:gd name="adj" fmla="val 6944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2" name="文本框 131" descr="{&quot;isTemplate&quot;:true,&quot;type&quot;:&quot;text&quot;}"/>
          <p:cNvSpPr txBox="1"/>
          <p:nvPr/>
        </p:nvSpPr>
        <p:spPr>
          <a:xfrm>
            <a:off x="4419600" y="3600450"/>
            <a:ext cx="71628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微软雅黑"/>
                <a:ea typeface="微软雅黑"/>
              </a:rPr>
              <a:t>为什么本课程从它讲起</a:t>
            </a:r>
            <a:endParaRPr/>
          </a:p>
        </p:txBody>
      </p:sp>
      <p:sp>
        <p:nvSpPr>
          <p:cNvPr id="133" name="文本框 132" descr="{&quot;isTemplate&quot;:true,&quot;type&quot;:&quot;text&quot;}"/>
          <p:cNvSpPr txBox="1"/>
          <p:nvPr/>
        </p:nvSpPr>
        <p:spPr>
          <a:xfrm>
            <a:off x="4419600" y="3943350"/>
            <a:ext cx="7162800" cy="6477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5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因为「材料信息学」这个学科名，正是这套战略的产物。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它一开始就不是纯粹的学术兴趣，而是</a:t>
            </a:r>
            <a:r>
              <a:rPr lang="zh-CN" sz="1275" b="1">
                <a:solidFill>
                  <a:srgbClr val="C62828"/>
                </a:solidFill>
                <a:latin typeface="微软雅黑"/>
                <a:ea typeface="微软雅黑"/>
              </a:rPr>
              <a:t>带着明确工程目标的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——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这也解释了本课程为什么把「数据工程」放在最前面讲。</a:t>
            </a:r>
            <a:endParaRPr/>
          </a:p>
        </p:txBody>
      </p:sp>
      <p:sp>
        <p:nvSpPr>
          <p:cNvPr id="134" name="矩形: 圆角 133"/>
          <p:cNvSpPr/>
          <p:nvPr/>
        </p:nvSpPr>
        <p:spPr>
          <a:xfrm>
            <a:off x="4191000" y="4895850"/>
            <a:ext cx="7620000" cy="971550"/>
          </a:xfrm>
          <a:prstGeom prst="roundRect">
            <a:avLst>
              <a:gd name="adj" fmla="val 9804"/>
            </a:avLst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5" name="文本框 134" descr="{&quot;isTemplate&quot;:true,&quot;type&quot;:&quot;text&quot;}"/>
          <p:cNvSpPr txBox="1"/>
          <p:nvPr/>
        </p:nvSpPr>
        <p:spPr>
          <a:xfrm>
            <a:off x="4419600" y="5067300"/>
            <a:ext cx="716280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275" b="1">
                <a:solidFill>
                  <a:srgbClr val="8D6E00"/>
                </a:solidFill>
                <a:latin typeface="微软雅黑"/>
                <a:ea typeface="微软雅黑"/>
              </a:rPr>
              <a:t>注意时间：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2011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年的文件里还没有「深度学习」这个词。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十五年后回看，真正被兑现的是</a:t>
            </a:r>
            <a:r>
              <a:rPr lang="zh-CN" sz="1275" b="1">
                <a:solidFill>
                  <a:srgbClr val="1A2230"/>
                </a:solidFill>
                <a:latin typeface="微软雅黑"/>
                <a:ea typeface="微软雅黑"/>
              </a:rPr>
              <a:t>数据基础设施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，而不是当年预期最乐观的那部分。</a:t>
            </a:r>
            <a:endParaRPr/>
          </a:p>
        </p:txBody>
      </p:sp>
      <p:sp>
        <p:nvSpPr>
          <p:cNvPr id="136" name="文本框 135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137" name="文本框 136" descr="{&quot;isTemplate&quot;:true,&quot;type&quot;:&quot;text&quot;}"/>
          <p:cNvSpPr txBox="1"/>
          <p:nvPr/>
        </p:nvSpPr>
        <p:spPr>
          <a:xfrm>
            <a:off x="54673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138" name="文本框 137" descr="{&quot;isTemplate&quot;:true,&quot;type&quot;:&quot;text&quot;}"/>
          <p:cNvSpPr txBox="1"/>
          <p:nvPr/>
        </p:nvSpPr>
        <p:spPr>
          <a:xfrm>
            <a:off x="11410950" y="6610350"/>
            <a:ext cx="4000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13 / 60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矩形 13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1" name="矩形 140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2" name="文本框 141" descr="{&quot;isTemplate&quot;:true,&quot;type&quot;:&quot;text&quot;}"/>
          <p:cNvSpPr txBox="1"/>
          <p:nvPr/>
        </p:nvSpPr>
        <p:spPr>
          <a:xfrm>
            <a:off x="342900" y="171450"/>
            <a:ext cx="3524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在材料科学中的应用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讲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材料信息学导论与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产业</a:t>
            </a:r>
            <a:endParaRPr/>
          </a:p>
        </p:txBody>
      </p:sp>
      <p:sp>
        <p:nvSpPr>
          <p:cNvPr id="143" name="文本框 142" descr="{&quot;isTemplate&quot;:true,&quot;type&quot;:&quot;text&quot;}"/>
          <p:cNvSpPr txBox="1"/>
          <p:nvPr/>
        </p:nvSpPr>
        <p:spPr>
          <a:xfrm>
            <a:off x="9486900" y="171450"/>
            <a:ext cx="12573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01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什么是材料信息学</a:t>
            </a:r>
            <a:endParaRPr/>
          </a:p>
        </p:txBody>
      </p:sp>
      <p:pic>
        <p:nvPicPr>
          <p:cNvPr id="144" name="图片 143"/>
          <p:cNvPicPr>
            <a:picLocks noChangeAspect="1"/>
          </p:cNvPicPr>
          <p:nvPr/>
        </p:nvPicPr>
        <p:blipFill>
          <a:blip r:embed="rId2"/>
          <a:srcRect l="847" r="847"/>
          <a:stretch>
            <a:fillRect/>
          </a:stretch>
        </p:blipFill>
        <p:spPr>
          <a:xfrm>
            <a:off x="10858500" y="123825"/>
            <a:ext cx="990600" cy="247650"/>
          </a:xfrm>
          <a:prstGeom prst="rect">
            <a:avLst/>
          </a:prstGeom>
          <a:ln/>
        </p:spPr>
      </p:pic>
      <p:sp>
        <p:nvSpPr>
          <p:cNvPr id="145" name="文本框 144" descr="{&quot;isTemplate&quot;:true,&quot;type&quot;:&quot;text&quot;}"/>
          <p:cNvSpPr txBox="1"/>
          <p:nvPr/>
        </p:nvSpPr>
        <p:spPr>
          <a:xfrm>
            <a:off x="381000" y="666750"/>
            <a:ext cx="114300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钉钉进步体"/>
                <a:ea typeface="钉钉进步体"/>
              </a:rPr>
              <a:t>材料基因假说：是否存在「基因」？</a:t>
            </a:r>
            <a:endParaRPr/>
          </a:p>
        </p:txBody>
      </p:sp>
      <p:sp>
        <p:nvSpPr>
          <p:cNvPr id="146" name="矩形: 圆角 145"/>
          <p:cNvSpPr/>
          <p:nvPr/>
        </p:nvSpPr>
        <p:spPr>
          <a:xfrm>
            <a:off x="381000" y="1114425"/>
            <a:ext cx="571500" cy="47625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7" name="矩形: 圆角 146"/>
          <p:cNvSpPr/>
          <p:nvPr/>
        </p:nvSpPr>
        <p:spPr>
          <a:xfrm>
            <a:off x="381000" y="1333500"/>
            <a:ext cx="11430000" cy="1209675"/>
          </a:xfrm>
          <a:prstGeom prst="roundRect">
            <a:avLst>
              <a:gd name="adj" fmla="val 9449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8" name="文本框 147" descr="{&quot;isTemplate&quot;:true,&quot;type&quot;:&quot;text&quot;}"/>
          <p:cNvSpPr txBox="1"/>
          <p:nvPr/>
        </p:nvSpPr>
        <p:spPr>
          <a:xfrm>
            <a:off x="666750" y="1562100"/>
            <a:ext cx="10858500" cy="4476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950">
                <a:solidFill>
                  <a:srgbClr val="FFFFFF"/>
                </a:solidFill>
                <a:latin typeface="微软雅黑"/>
                <a:ea typeface="微软雅黑"/>
              </a:rPr>
              <a:t>核心提问：</a:t>
            </a:r>
            <a:r>
              <a:rPr lang="zh-CN" sz="1950" b="1">
                <a:solidFill>
                  <a:srgbClr val="FFC107"/>
                </a:solidFill>
                <a:latin typeface="微软雅黑"/>
                <a:ea typeface="微软雅黑"/>
              </a:rPr>
              <a:t>是否存在决定目标行为的「材料基因」？</a:t>
            </a:r>
            <a:endParaRPr/>
          </a:p>
        </p:txBody>
      </p:sp>
      <p:sp>
        <p:nvSpPr>
          <p:cNvPr id="149" name="文本框 148" descr="{&quot;isTemplate&quot;:true,&quot;type&quot;:&quot;text&quot;}"/>
          <p:cNvSpPr txBox="1"/>
          <p:nvPr/>
        </p:nvSpPr>
        <p:spPr>
          <a:xfrm>
            <a:off x="666750" y="2105025"/>
            <a:ext cx="108585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BFD3EE"/>
                </a:solidFill>
                <a:latin typeface="微软雅黑"/>
                <a:ea typeface="微软雅黑"/>
              </a:rPr>
              <a:t>若存在，它是什么？藏在哪些变量里？如何从已知材料中把它读出来，再写入新材料？</a:t>
            </a:r>
            <a:endParaRPr/>
          </a:p>
        </p:txBody>
      </p:sp>
      <p:sp>
        <p:nvSpPr>
          <p:cNvPr id="150" name="矩形: 圆角 149"/>
          <p:cNvSpPr/>
          <p:nvPr/>
        </p:nvSpPr>
        <p:spPr>
          <a:xfrm>
            <a:off x="381000" y="2695575"/>
            <a:ext cx="3686175" cy="3076575"/>
          </a:xfrm>
          <a:prstGeom prst="roundRect">
            <a:avLst>
              <a:gd name="adj" fmla="val 3715"/>
            </a:avLst>
          </a:prstGeom>
          <a:solidFill>
            <a:srgbClr val="E8F1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1" name="文本框 150" descr="{&quot;isTemplate&quot;:true,&quot;type&quot;:&quot;text&quot;}"/>
          <p:cNvSpPr txBox="1"/>
          <p:nvPr/>
        </p:nvSpPr>
        <p:spPr>
          <a:xfrm>
            <a:off x="590550" y="2905125"/>
            <a:ext cx="3267075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微软雅黑"/>
                <a:ea typeface="微软雅黑"/>
              </a:rPr>
              <a:t>支持证据</a:t>
            </a:r>
            <a:endParaRPr/>
          </a:p>
        </p:txBody>
      </p:sp>
      <p:sp>
        <p:nvSpPr>
          <p:cNvPr id="152" name="文本框 151" descr="{&quot;isTemplate&quot;:true,&quot;type&quot;:&quot;text&quot;}"/>
          <p:cNvSpPr txBox="1"/>
          <p:nvPr/>
        </p:nvSpPr>
        <p:spPr>
          <a:xfrm>
            <a:off x="590550" y="3267075"/>
            <a:ext cx="3267075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5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已实现「反演」出部分关键描述符：</a:t>
            </a:r>
            <a:endParaRPr/>
          </a:p>
        </p:txBody>
      </p:sp>
      <p:sp>
        <p:nvSpPr>
          <p:cNvPr id="153" name="文本框 152" descr="{&quot;isTemplate&quot;:true,&quot;type&quot;:&quot;text&quot;}"/>
          <p:cNvSpPr txBox="1"/>
          <p:nvPr/>
        </p:nvSpPr>
        <p:spPr>
          <a:xfrm>
            <a:off x="590550" y="3705225"/>
            <a:ext cx="3267075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5000"/>
              </a:lnSpc>
            </a:pP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·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元素属性与合金强度</a:t>
            </a:r>
            <a:endParaRPr/>
          </a:p>
        </p:txBody>
      </p:sp>
      <p:sp>
        <p:nvSpPr>
          <p:cNvPr id="154" name="文本框 153" descr="{&quot;isTemplate&quot;:true,&quot;type&quot;:&quot;text&quot;}"/>
          <p:cNvSpPr txBox="1"/>
          <p:nvPr/>
        </p:nvSpPr>
        <p:spPr>
          <a:xfrm>
            <a:off x="590550" y="4143375"/>
            <a:ext cx="3267075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5000"/>
              </a:lnSpc>
            </a:pP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·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化合物形成能（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DFT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数据直接学）</a:t>
            </a:r>
            <a:endParaRPr/>
          </a:p>
        </p:txBody>
      </p:sp>
      <p:sp>
        <p:nvSpPr>
          <p:cNvPr id="155" name="文本框 154" descr="{&quot;isTemplate&quot;:true,&quot;type&quot;:&quot;text&quot;}"/>
          <p:cNvSpPr txBox="1"/>
          <p:nvPr/>
        </p:nvSpPr>
        <p:spPr>
          <a:xfrm>
            <a:off x="590550" y="4581525"/>
            <a:ext cx="3267075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5000"/>
              </a:lnSpc>
            </a:pP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·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金属玻璃形成能力（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Rajan 2005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）</a:t>
            </a:r>
            <a:endParaRPr/>
          </a:p>
        </p:txBody>
      </p:sp>
      <p:sp>
        <p:nvSpPr>
          <p:cNvPr id="156" name="矩形: 圆角 155"/>
          <p:cNvSpPr/>
          <p:nvPr/>
        </p:nvSpPr>
        <p:spPr>
          <a:xfrm>
            <a:off x="4257675" y="2695575"/>
            <a:ext cx="3676650" cy="3076575"/>
          </a:xfrm>
          <a:prstGeom prst="roundRect">
            <a:avLst>
              <a:gd name="adj" fmla="val 3715"/>
            </a:avLst>
          </a:prstGeom>
          <a:solidFill>
            <a:srgbClr val="FFF8E1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7" name="文本框 156" descr="{&quot;isTemplate&quot;:true,&quot;type&quot;:&quot;text&quot;}"/>
          <p:cNvSpPr txBox="1"/>
          <p:nvPr/>
        </p:nvSpPr>
        <p:spPr>
          <a:xfrm>
            <a:off x="4467225" y="2905125"/>
            <a:ext cx="32575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8D6E00"/>
                </a:solidFill>
                <a:latin typeface="微软雅黑"/>
                <a:ea typeface="微软雅黑"/>
              </a:rPr>
              <a:t>尚未解决</a:t>
            </a:r>
            <a:endParaRPr/>
          </a:p>
        </p:txBody>
      </p:sp>
      <p:sp>
        <p:nvSpPr>
          <p:cNvPr id="158" name="文本框 157" descr="{&quot;isTemplate&quot;:true,&quot;type&quot;:&quot;text&quot;}"/>
          <p:cNvSpPr txBox="1"/>
          <p:nvPr/>
        </p:nvSpPr>
        <p:spPr>
          <a:xfrm>
            <a:off x="4467225" y="3267075"/>
            <a:ext cx="325755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5000"/>
              </a:lnSpc>
            </a:pP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·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基因的载体是什么？元素？键？拓扑？</a:t>
            </a:r>
            <a:endParaRPr/>
          </a:p>
        </p:txBody>
      </p:sp>
      <p:sp>
        <p:nvSpPr>
          <p:cNvPr id="159" name="文本框 158" descr="{&quot;isTemplate&quot;:true,&quot;type&quot;:&quot;text&quot;}"/>
          <p:cNvSpPr txBox="1"/>
          <p:nvPr/>
        </p:nvSpPr>
        <p:spPr>
          <a:xfrm>
            <a:off x="4467225" y="3705225"/>
            <a:ext cx="325755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5000"/>
              </a:lnSpc>
            </a:pP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·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同一「基因」在不同基体中是否等价？</a:t>
            </a:r>
            <a:endParaRPr/>
          </a:p>
        </p:txBody>
      </p:sp>
      <p:sp>
        <p:nvSpPr>
          <p:cNvPr id="160" name="文本框 159" descr="{&quot;isTemplate&quot;:true,&quot;type&quot;:&quot;text&quot;}"/>
          <p:cNvSpPr txBox="1"/>
          <p:nvPr/>
        </p:nvSpPr>
        <p:spPr>
          <a:xfrm>
            <a:off x="4467225" y="4143375"/>
            <a:ext cx="325755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5000"/>
              </a:lnSpc>
            </a:pP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·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如何定量表达并跨体系迁移？</a:t>
            </a:r>
            <a:endParaRPr/>
          </a:p>
        </p:txBody>
      </p:sp>
      <p:sp>
        <p:nvSpPr>
          <p:cNvPr id="161" name="矩形: 圆角 160"/>
          <p:cNvSpPr/>
          <p:nvPr/>
        </p:nvSpPr>
        <p:spPr>
          <a:xfrm>
            <a:off x="8124825" y="2695575"/>
            <a:ext cx="3686175" cy="3076575"/>
          </a:xfrm>
          <a:prstGeom prst="roundRect">
            <a:avLst>
              <a:gd name="adj" fmla="val 3715"/>
            </a:avLst>
          </a:prstGeom>
          <a:solidFill>
            <a:srgbClr val="E8F5E9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2" name="文本框 161" descr="{&quot;isTemplate&quot;:true,&quot;type&quot;:&quot;text&quot;}"/>
          <p:cNvSpPr txBox="1"/>
          <p:nvPr/>
        </p:nvSpPr>
        <p:spPr>
          <a:xfrm>
            <a:off x="8334375" y="2905125"/>
            <a:ext cx="3267075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B5E20"/>
                </a:solidFill>
                <a:latin typeface="微软雅黑"/>
                <a:ea typeface="微软雅黑"/>
              </a:rPr>
              <a:t>本课程的处理</a:t>
            </a:r>
            <a:endParaRPr/>
          </a:p>
        </p:txBody>
      </p:sp>
      <p:sp>
        <p:nvSpPr>
          <p:cNvPr id="163" name="文本框 162" descr="{&quot;isTemplate&quot;:true,&quot;type&quot;:&quot;text&quot;}"/>
          <p:cNvSpPr txBox="1"/>
          <p:nvPr/>
        </p:nvSpPr>
        <p:spPr>
          <a:xfrm>
            <a:off x="8334375" y="3267075"/>
            <a:ext cx="3267075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5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不假定基因的唯一形式，而是教你</a:t>
            </a:r>
            <a:endParaRPr/>
          </a:p>
        </p:txBody>
      </p:sp>
      <p:sp>
        <p:nvSpPr>
          <p:cNvPr id="164" name="文本框 163" descr="{&quot;isTemplate&quot;:true,&quot;type&quot;:&quot;text&quot;}"/>
          <p:cNvSpPr txBox="1"/>
          <p:nvPr/>
        </p:nvSpPr>
        <p:spPr>
          <a:xfrm>
            <a:off x="8334375" y="3705225"/>
            <a:ext cx="3267075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5000"/>
              </a:lnSpc>
            </a:pPr>
            <a:r>
              <a:rPr lang="zh-CN" sz="1275" b="1">
                <a:solidFill>
                  <a:srgbClr val="1A2230"/>
                </a:solidFill>
                <a:latin typeface="微软雅黑"/>
                <a:ea typeface="微软雅黑"/>
              </a:rPr>
              <a:t>用数据判断哪种特征真正携带信息</a:t>
            </a:r>
            <a:endParaRPr/>
          </a:p>
        </p:txBody>
      </p:sp>
      <p:sp>
        <p:nvSpPr>
          <p:cNvPr id="165" name="文本框 164" descr="{&quot;isTemplate&quot;:true,&quot;type&quot;:&quot;text&quot;}"/>
          <p:cNvSpPr txBox="1"/>
          <p:nvPr/>
        </p:nvSpPr>
        <p:spPr>
          <a:xfrm>
            <a:off x="8334375" y="4143375"/>
            <a:ext cx="3267075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5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——这是第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 4–5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讲的内容</a:t>
            </a:r>
            <a:endParaRPr/>
          </a:p>
        </p:txBody>
      </p:sp>
      <p:sp>
        <p:nvSpPr>
          <p:cNvPr id="166" name="矩形: 圆角 165"/>
          <p:cNvSpPr/>
          <p:nvPr/>
        </p:nvSpPr>
        <p:spPr>
          <a:xfrm>
            <a:off x="381000" y="5924550"/>
            <a:ext cx="11430000" cy="590550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7" name="文本框 166" descr="{&quot;isTemplate&quot;:true,&quot;type&quot;:&quot;text&quot;}"/>
          <p:cNvSpPr txBox="1"/>
          <p:nvPr/>
        </p:nvSpPr>
        <p:spPr>
          <a:xfrm>
            <a:off x="609600" y="6057900"/>
            <a:ext cx="1097280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sz="1350" b="1">
                <a:solidFill>
                  <a:srgbClr val="1E4FA8"/>
                </a:solidFill>
                <a:latin typeface="微软雅黑"/>
                <a:ea typeface="微软雅黑"/>
              </a:rPr>
              <a:t>教学立场：</a:t>
            </a: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把「材料基因」当作一个</a:t>
            </a:r>
            <a:r>
              <a:rPr lang="zh-CN" sz="1350" b="1">
                <a:solidFill>
                  <a:srgbClr val="1A2230"/>
                </a:solidFill>
                <a:latin typeface="微软雅黑"/>
                <a:ea typeface="微软雅黑"/>
              </a:rPr>
              <a:t>可检验的科学假说</a:t>
            </a: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而非既定事实，用数据支持或证伪它。</a:t>
            </a:r>
            <a:endParaRPr/>
          </a:p>
        </p:txBody>
      </p:sp>
      <p:sp>
        <p:nvSpPr>
          <p:cNvPr id="168" name="文本框 167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169" name="文本框 168" descr="{&quot;isTemplate&quot;:true,&quot;type&quot;:&quot;text&quot;}"/>
          <p:cNvSpPr txBox="1"/>
          <p:nvPr/>
        </p:nvSpPr>
        <p:spPr>
          <a:xfrm>
            <a:off x="54673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170" name="文本框 169" descr="{&quot;isTemplate&quot;:true,&quot;type&quot;:&quot;text&quot;}"/>
          <p:cNvSpPr txBox="1"/>
          <p:nvPr/>
        </p:nvSpPr>
        <p:spPr>
          <a:xfrm>
            <a:off x="11410950" y="6610350"/>
            <a:ext cx="4000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14 / 60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矩形 17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3" name="矩形 172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4" name="文本框 173" descr="{&quot;isTemplate&quot;:true,&quot;type&quot;:&quot;text&quot;}"/>
          <p:cNvSpPr txBox="1"/>
          <p:nvPr/>
        </p:nvSpPr>
        <p:spPr>
          <a:xfrm>
            <a:off x="342900" y="171450"/>
            <a:ext cx="3524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在材料科学中的应用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讲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材料信息学导论与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产业</a:t>
            </a:r>
            <a:endParaRPr/>
          </a:p>
        </p:txBody>
      </p:sp>
      <p:sp>
        <p:nvSpPr>
          <p:cNvPr id="175" name="文本框 174" descr="{&quot;isTemplate&quot;:true,&quot;type&quot;:&quot;text&quot;}"/>
          <p:cNvSpPr txBox="1"/>
          <p:nvPr/>
        </p:nvSpPr>
        <p:spPr>
          <a:xfrm>
            <a:off x="9486900" y="171450"/>
            <a:ext cx="12573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01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什么是材料信息学</a:t>
            </a:r>
            <a:endParaRPr/>
          </a:p>
        </p:txBody>
      </p:sp>
      <p:pic>
        <p:nvPicPr>
          <p:cNvPr id="176" name="图片 175"/>
          <p:cNvPicPr>
            <a:picLocks noChangeAspect="1"/>
          </p:cNvPicPr>
          <p:nvPr/>
        </p:nvPicPr>
        <p:blipFill>
          <a:blip r:embed="rId2"/>
          <a:srcRect l="847" r="847"/>
          <a:stretch>
            <a:fillRect/>
          </a:stretch>
        </p:blipFill>
        <p:spPr>
          <a:xfrm>
            <a:off x="10858500" y="123825"/>
            <a:ext cx="990600" cy="247650"/>
          </a:xfrm>
          <a:prstGeom prst="rect">
            <a:avLst/>
          </a:prstGeom>
          <a:ln/>
        </p:spPr>
      </p:pic>
      <p:sp>
        <p:nvSpPr>
          <p:cNvPr id="177" name="文本框 176" descr="{&quot;isTemplate&quot;:true,&quot;type&quot;:&quot;text&quot;}"/>
          <p:cNvSpPr txBox="1"/>
          <p:nvPr/>
        </p:nvSpPr>
        <p:spPr>
          <a:xfrm>
            <a:off x="381000" y="666750"/>
            <a:ext cx="114300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钉钉进步体"/>
                <a:ea typeface="钉钉进步体"/>
              </a:rPr>
              <a:t>为什么需要数据驱动的材料科学？</a:t>
            </a:r>
            <a:endParaRPr/>
          </a:p>
        </p:txBody>
      </p:sp>
      <p:sp>
        <p:nvSpPr>
          <p:cNvPr id="178" name="矩形: 圆角 177"/>
          <p:cNvSpPr/>
          <p:nvPr/>
        </p:nvSpPr>
        <p:spPr>
          <a:xfrm>
            <a:off x="381000" y="1114425"/>
            <a:ext cx="571500" cy="47625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9" name="矩形: 圆角 178"/>
          <p:cNvSpPr/>
          <p:nvPr/>
        </p:nvSpPr>
        <p:spPr>
          <a:xfrm>
            <a:off x="381000" y="1333500"/>
            <a:ext cx="11430000" cy="1104900"/>
          </a:xfrm>
          <a:prstGeom prst="roundRect">
            <a:avLst>
              <a:gd name="adj" fmla="val 10345"/>
            </a:avLst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0" name="文本框 179" descr="{&quot;isTemplate&quot;:true,&quot;type&quot;:&quot;text&quot;}"/>
          <p:cNvSpPr txBox="1"/>
          <p:nvPr/>
        </p:nvSpPr>
        <p:spPr>
          <a:xfrm>
            <a:off x="628650" y="1543050"/>
            <a:ext cx="109347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8D6E00"/>
                </a:solidFill>
                <a:latin typeface="微软雅黑"/>
                <a:ea typeface="微软雅黑"/>
              </a:rPr>
              <a:t>根本原因：材料改进大多是渐进的，突破只是例外</a:t>
            </a:r>
            <a:endParaRPr/>
          </a:p>
        </p:txBody>
      </p:sp>
      <p:sp>
        <p:nvSpPr>
          <p:cNvPr id="181" name="文本框 180" descr="{&quot;isTemplate&quot;:true,&quot;type&quot;:&quot;text&quot;}"/>
          <p:cNvSpPr txBox="1"/>
          <p:nvPr/>
        </p:nvSpPr>
        <p:spPr>
          <a:xfrm>
            <a:off x="628650" y="1895475"/>
            <a:ext cx="10934700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靠经验试错能持续拿到「几个百分点」的提升，但</a:t>
            </a:r>
            <a:r>
              <a:rPr lang="zh-CN" sz="1350" b="1">
                <a:solidFill>
                  <a:srgbClr val="1A2230"/>
                </a:solidFill>
                <a:latin typeface="微软雅黑"/>
                <a:ea typeface="微软雅黑"/>
              </a:rPr>
              <a:t>无法产生数量级级别的突破</a:t>
            </a: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。而科学与社会真正需要的，恰恰是后者。</a:t>
            </a:r>
            <a:endParaRPr/>
          </a:p>
        </p:txBody>
      </p:sp>
      <p:sp>
        <p:nvSpPr>
          <p:cNvPr id="182" name="矩形: 圆角 181"/>
          <p:cNvSpPr/>
          <p:nvPr/>
        </p:nvSpPr>
        <p:spPr>
          <a:xfrm>
            <a:off x="381000" y="2571750"/>
            <a:ext cx="2743200" cy="3305175"/>
          </a:xfrm>
          <a:prstGeom prst="roundRect">
            <a:avLst>
              <a:gd name="adj" fmla="val 3472"/>
            </a:avLst>
          </a:prstGeom>
          <a:solidFill>
            <a:srgbClr val="E3EC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3" name="文本框 182" descr="{&quot;isTemplate&quot;:true,&quot;type&quot;:&quot;text&quot;}"/>
          <p:cNvSpPr txBox="1"/>
          <p:nvPr/>
        </p:nvSpPr>
        <p:spPr>
          <a:xfrm>
            <a:off x="552450" y="2762250"/>
            <a:ext cx="24003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1425" b="1">
                <a:solidFill>
                  <a:srgbClr val="0B1B33"/>
                </a:solidFill>
                <a:latin typeface="微软雅黑"/>
                <a:ea typeface="微软雅黑"/>
              </a:rPr>
              <a:t>① </a:t>
            </a:r>
            <a:r>
              <a:rPr lang="zh-CN" sz="1425" b="1">
                <a:solidFill>
                  <a:srgbClr val="0B1B33"/>
                </a:solidFill>
                <a:latin typeface="微软雅黑"/>
                <a:ea typeface="微软雅黑"/>
              </a:rPr>
              <a:t>培养下一代</a:t>
            </a:r>
            <a:r>
              <a:rPr lang="en-US" sz="1425" b="1">
                <a:solidFill>
                  <a:srgbClr val="0B1B33"/>
                </a:solidFill>
                <a:latin typeface="微软雅黑"/>
                <a:ea typeface="微软雅黑"/>
              </a:rPr>
              <a:t> workforce</a:t>
            </a:r>
            <a:endParaRPr/>
          </a:p>
        </p:txBody>
      </p:sp>
      <p:sp>
        <p:nvSpPr>
          <p:cNvPr id="184" name="文本框 183" descr="{&quot;isTemplate&quot;:true,&quot;type&quot;:&quot;text&quot;}"/>
          <p:cNvSpPr txBox="1"/>
          <p:nvPr/>
        </p:nvSpPr>
        <p:spPr>
          <a:xfrm>
            <a:off x="552450" y="3181350"/>
            <a:ext cx="240030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275">
                <a:solidFill>
                  <a:srgbClr val="2C3947"/>
                </a:solidFill>
                <a:latin typeface="微软雅黑"/>
                <a:ea typeface="微软雅黑"/>
              </a:rPr>
              <a:t>让材料专业的学生具备数据科学能力，避免学科割裂</a:t>
            </a:r>
            <a:endParaRPr/>
          </a:p>
        </p:txBody>
      </p:sp>
      <p:sp>
        <p:nvSpPr>
          <p:cNvPr id="185" name="矩形: 圆角 184"/>
          <p:cNvSpPr/>
          <p:nvPr/>
        </p:nvSpPr>
        <p:spPr>
          <a:xfrm>
            <a:off x="3276600" y="2571750"/>
            <a:ext cx="2743200" cy="3305175"/>
          </a:xfrm>
          <a:prstGeom prst="roundRect">
            <a:avLst>
              <a:gd name="adj" fmla="val 3472"/>
            </a:avLst>
          </a:prstGeom>
          <a:solidFill>
            <a:srgbClr val="D3E0F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6" name="文本框 185" descr="{&quot;isTemplate&quot;:true,&quot;type&quot;:&quot;text&quot;}"/>
          <p:cNvSpPr txBox="1"/>
          <p:nvPr/>
        </p:nvSpPr>
        <p:spPr>
          <a:xfrm>
            <a:off x="3448050" y="2762250"/>
            <a:ext cx="24003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1425" b="1">
                <a:solidFill>
                  <a:srgbClr val="0B1B33"/>
                </a:solidFill>
                <a:latin typeface="微软雅黑"/>
                <a:ea typeface="微软雅黑"/>
              </a:rPr>
              <a:t>② </a:t>
            </a:r>
            <a:r>
              <a:rPr lang="zh-CN" sz="1425" b="1">
                <a:solidFill>
                  <a:srgbClr val="0B1B33"/>
                </a:solidFill>
                <a:latin typeface="微软雅黑"/>
                <a:ea typeface="微软雅黑"/>
              </a:rPr>
              <a:t>促成范式转移</a:t>
            </a:r>
            <a:endParaRPr/>
          </a:p>
        </p:txBody>
      </p:sp>
      <p:sp>
        <p:nvSpPr>
          <p:cNvPr id="187" name="文本框 186" descr="{&quot;isTemplate&quot;:true,&quot;type&quot;:&quot;text&quot;}"/>
          <p:cNvSpPr txBox="1"/>
          <p:nvPr/>
        </p:nvSpPr>
        <p:spPr>
          <a:xfrm>
            <a:off x="3448050" y="3181350"/>
            <a:ext cx="240030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275">
                <a:solidFill>
                  <a:srgbClr val="2C3947"/>
                </a:solidFill>
                <a:latin typeface="微软雅黑"/>
                <a:ea typeface="微软雅黑"/>
              </a:rPr>
              <a:t>把材料开发从串行试错转为并行筛选</a:t>
            </a:r>
            <a:endParaRPr/>
          </a:p>
        </p:txBody>
      </p:sp>
      <p:sp>
        <p:nvSpPr>
          <p:cNvPr id="188" name="矩形: 圆角 187"/>
          <p:cNvSpPr/>
          <p:nvPr/>
        </p:nvSpPr>
        <p:spPr>
          <a:xfrm>
            <a:off x="6172200" y="2571750"/>
            <a:ext cx="2743200" cy="3305175"/>
          </a:xfrm>
          <a:prstGeom prst="roundRect">
            <a:avLst>
              <a:gd name="adj" fmla="val 3472"/>
            </a:avLst>
          </a:prstGeom>
          <a:solidFill>
            <a:srgbClr val="C3D5E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9" name="文本框 188" descr="{&quot;isTemplate&quot;:true,&quot;type&quot;:&quot;text&quot;}"/>
          <p:cNvSpPr txBox="1"/>
          <p:nvPr/>
        </p:nvSpPr>
        <p:spPr>
          <a:xfrm>
            <a:off x="6343650" y="2762250"/>
            <a:ext cx="24003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1425" b="1">
                <a:solidFill>
                  <a:srgbClr val="0B1B33"/>
                </a:solidFill>
                <a:latin typeface="微软雅黑"/>
                <a:ea typeface="微软雅黑"/>
              </a:rPr>
              <a:t>③ </a:t>
            </a:r>
            <a:r>
              <a:rPr lang="zh-CN" sz="1425" b="1">
                <a:solidFill>
                  <a:srgbClr val="0B1B33"/>
                </a:solidFill>
                <a:latin typeface="微软雅黑"/>
                <a:ea typeface="微软雅黑"/>
              </a:rPr>
              <a:t>整合实验·计算·理论</a:t>
            </a:r>
            <a:endParaRPr/>
          </a:p>
        </p:txBody>
      </p:sp>
      <p:sp>
        <p:nvSpPr>
          <p:cNvPr id="190" name="文本框 189" descr="{&quot;isTemplate&quot;:true,&quot;type&quot;:&quot;text&quot;}"/>
          <p:cNvSpPr txBox="1"/>
          <p:nvPr/>
        </p:nvSpPr>
        <p:spPr>
          <a:xfrm>
            <a:off x="6343650" y="3181350"/>
            <a:ext cx="240030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275">
                <a:solidFill>
                  <a:srgbClr val="2C3947"/>
                </a:solidFill>
                <a:latin typeface="微软雅黑"/>
                <a:ea typeface="微软雅黑"/>
              </a:rPr>
              <a:t>三条数据流长期割裂，</a:t>
            </a:r>
            <a:r>
              <a:rPr lang="en-US" sz="1275">
                <a:solidFill>
                  <a:srgbClr val="2C3947"/>
                </a:solidFill>
                <a:latin typeface="微软雅黑"/>
                <a:ea typeface="微软雅黑"/>
              </a:rPr>
              <a:t>ML </a:t>
            </a:r>
            <a:r>
              <a:rPr lang="zh-CN" sz="1275">
                <a:solidFill>
                  <a:srgbClr val="2C3947"/>
                </a:solidFill>
                <a:latin typeface="微软雅黑"/>
                <a:ea typeface="微软雅黑"/>
              </a:rPr>
              <a:t>是天然的连接层</a:t>
            </a:r>
            <a:endParaRPr/>
          </a:p>
        </p:txBody>
      </p:sp>
      <p:sp>
        <p:nvSpPr>
          <p:cNvPr id="191" name="矩形: 圆角 190"/>
          <p:cNvSpPr/>
          <p:nvPr/>
        </p:nvSpPr>
        <p:spPr>
          <a:xfrm>
            <a:off x="9067800" y="2571750"/>
            <a:ext cx="2743200" cy="3305175"/>
          </a:xfrm>
          <a:prstGeom prst="roundRect">
            <a:avLst>
              <a:gd name="adj" fmla="val 3472"/>
            </a:avLst>
          </a:prstGeom>
          <a:solidFill>
            <a:srgbClr val="B3C9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2" name="文本框 191" descr="{&quot;isTemplate&quot;:true,&quot;type&quot;:&quot;text&quot;}"/>
          <p:cNvSpPr txBox="1"/>
          <p:nvPr/>
        </p:nvSpPr>
        <p:spPr>
          <a:xfrm>
            <a:off x="9239250" y="2762250"/>
            <a:ext cx="24003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1425" b="1">
                <a:solidFill>
                  <a:srgbClr val="0B1B33"/>
                </a:solidFill>
                <a:latin typeface="微软雅黑"/>
                <a:ea typeface="微软雅黑"/>
              </a:rPr>
              <a:t>④ </a:t>
            </a:r>
            <a:r>
              <a:rPr lang="zh-CN" sz="1425" b="1">
                <a:solidFill>
                  <a:srgbClr val="0B1B33"/>
                </a:solidFill>
                <a:latin typeface="微软雅黑"/>
                <a:ea typeface="微软雅黑"/>
              </a:rPr>
              <a:t>降低数据获取门槛</a:t>
            </a:r>
            <a:endParaRPr/>
          </a:p>
        </p:txBody>
      </p:sp>
      <p:sp>
        <p:nvSpPr>
          <p:cNvPr id="193" name="文本框 192" descr="{&quot;isTemplate&quot;:true,&quot;type&quot;:&quot;text&quot;}"/>
          <p:cNvSpPr txBox="1"/>
          <p:nvPr/>
        </p:nvSpPr>
        <p:spPr>
          <a:xfrm>
            <a:off x="9239250" y="3181350"/>
            <a:ext cx="240030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275">
                <a:solidFill>
                  <a:srgbClr val="2C3947"/>
                </a:solidFill>
                <a:latin typeface="微软雅黑"/>
                <a:ea typeface="微软雅黑"/>
              </a:rPr>
              <a:t>让散落各处的实验与计算数据可被复用</a:t>
            </a:r>
            <a:endParaRPr/>
          </a:p>
        </p:txBody>
      </p:sp>
      <p:sp>
        <p:nvSpPr>
          <p:cNvPr id="194" name="矩形: 圆角 193"/>
          <p:cNvSpPr/>
          <p:nvPr/>
        </p:nvSpPr>
        <p:spPr>
          <a:xfrm>
            <a:off x="381000" y="6010275"/>
            <a:ext cx="11430000" cy="504825"/>
          </a:xfrm>
          <a:prstGeom prst="roundRect">
            <a:avLst>
              <a:gd name="adj" fmla="val 18868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5" name="文本框 194" descr="{&quot;isTemplate&quot;:true,&quot;type&quot;:&quot;text&quot;}"/>
          <p:cNvSpPr txBox="1"/>
          <p:nvPr/>
        </p:nvSpPr>
        <p:spPr>
          <a:xfrm>
            <a:off x="609600" y="6153150"/>
            <a:ext cx="109728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425">
                <a:solidFill>
                  <a:srgbClr val="FFFFFF"/>
                </a:solidFill>
                <a:latin typeface="微软雅黑"/>
                <a:ea typeface="微软雅黑"/>
              </a:rPr>
              <a:t>新工具不是为了替代实验，而是为了</a:t>
            </a:r>
            <a:r>
              <a:rPr lang="zh-CN" sz="1425" b="1">
                <a:solidFill>
                  <a:srgbClr val="FFC107"/>
                </a:solidFill>
                <a:latin typeface="微软雅黑"/>
                <a:ea typeface="微软雅黑"/>
              </a:rPr>
              <a:t>找到实验最该做的那一个</a:t>
            </a:r>
            <a:endParaRPr/>
          </a:p>
        </p:txBody>
      </p:sp>
      <p:sp>
        <p:nvSpPr>
          <p:cNvPr id="196" name="文本框 195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197" name="文本框 196" descr="{&quot;isTemplate&quot;:true,&quot;type&quot;:&quot;text&quot;}"/>
          <p:cNvSpPr txBox="1"/>
          <p:nvPr/>
        </p:nvSpPr>
        <p:spPr>
          <a:xfrm>
            <a:off x="54673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198" name="文本框 197" descr="{&quot;isTemplate&quot;:true,&quot;type&quot;:&quot;text&quot;}"/>
          <p:cNvSpPr txBox="1"/>
          <p:nvPr/>
        </p:nvSpPr>
        <p:spPr>
          <a:xfrm>
            <a:off x="11410950" y="6610350"/>
            <a:ext cx="4000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15 / 60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矩形 19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1" name="矩形 200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2" name="文本框 201" descr="{&quot;isTemplate&quot;:true,&quot;type&quot;:&quot;text&quot;}"/>
          <p:cNvSpPr txBox="1"/>
          <p:nvPr/>
        </p:nvSpPr>
        <p:spPr>
          <a:xfrm>
            <a:off x="342900" y="171450"/>
            <a:ext cx="3524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在材料科学中的应用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讲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材料信息学导论与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产业</a:t>
            </a:r>
            <a:endParaRPr/>
          </a:p>
        </p:txBody>
      </p:sp>
      <p:sp>
        <p:nvSpPr>
          <p:cNvPr id="203" name="文本框 202" descr="{&quot;isTemplate&quot;:true,&quot;type&quot;:&quot;text&quot;}"/>
          <p:cNvSpPr txBox="1"/>
          <p:nvPr/>
        </p:nvSpPr>
        <p:spPr>
          <a:xfrm>
            <a:off x="9486900" y="171450"/>
            <a:ext cx="12573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01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什么是材料信息学</a:t>
            </a:r>
            <a:endParaRPr/>
          </a:p>
        </p:txBody>
      </p:sp>
      <p:pic>
        <p:nvPicPr>
          <p:cNvPr id="204" name="图片 203"/>
          <p:cNvPicPr>
            <a:picLocks noChangeAspect="1"/>
          </p:cNvPicPr>
          <p:nvPr/>
        </p:nvPicPr>
        <p:blipFill>
          <a:blip r:embed="rId3"/>
          <a:srcRect l="847" r="847"/>
          <a:stretch>
            <a:fillRect/>
          </a:stretch>
        </p:blipFill>
        <p:spPr>
          <a:xfrm>
            <a:off x="10858500" y="123825"/>
            <a:ext cx="990600" cy="247650"/>
          </a:xfrm>
          <a:prstGeom prst="rect">
            <a:avLst/>
          </a:prstGeom>
          <a:ln/>
        </p:spPr>
      </p:pic>
      <p:sp>
        <p:nvSpPr>
          <p:cNvPr id="205" name="文本框 204" descr="{&quot;isTemplate&quot;:true,&quot;type&quot;:&quot;text&quot;}"/>
          <p:cNvSpPr txBox="1"/>
          <p:nvPr/>
        </p:nvSpPr>
        <p:spPr>
          <a:xfrm>
            <a:off x="381000" y="666750"/>
            <a:ext cx="114300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钉钉进步体"/>
                <a:ea typeface="钉钉进步体"/>
              </a:rPr>
              <a:t>化学空白区：一个写清口径的估计</a:t>
            </a:r>
            <a:endParaRPr/>
          </a:p>
        </p:txBody>
      </p:sp>
      <p:sp>
        <p:nvSpPr>
          <p:cNvPr id="206" name="矩形: 圆角 205"/>
          <p:cNvSpPr/>
          <p:nvPr/>
        </p:nvSpPr>
        <p:spPr>
          <a:xfrm>
            <a:off x="381000" y="1114425"/>
            <a:ext cx="571500" cy="47625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7" name="矩形: 圆角 206"/>
          <p:cNvSpPr/>
          <p:nvPr/>
        </p:nvSpPr>
        <p:spPr>
          <a:xfrm>
            <a:off x="381000" y="1257300"/>
            <a:ext cx="4476750" cy="5238750"/>
          </a:xfrm>
          <a:prstGeom prst="roundRect">
            <a:avLst>
              <a:gd name="adj" fmla="val 2979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8" name="文本框 207" descr="{&quot;isTemplate&quot;:true,&quot;type&quot;:&quot;text&quot;}"/>
          <p:cNvSpPr txBox="1"/>
          <p:nvPr/>
        </p:nvSpPr>
        <p:spPr>
          <a:xfrm>
            <a:off x="647700" y="2876550"/>
            <a:ext cx="39433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575">
                <a:solidFill>
                  <a:srgbClr val="BFD3EE"/>
                </a:solidFill>
                <a:latin typeface="微软雅黑"/>
                <a:ea typeface="微软雅黑"/>
              </a:rPr>
              <a:t>成分组合数量的量级估计</a:t>
            </a:r>
            <a:endParaRPr/>
          </a:p>
        </p:txBody>
      </p:sp>
      <p:sp>
        <p:nvSpPr>
          <p:cNvPr id="209" name="文本框 208" descr="{&quot;isTemplate&quot;:true,&quot;type&quot;:&quot;text&quot;}"/>
          <p:cNvSpPr txBox="1"/>
          <p:nvPr/>
        </p:nvSpPr>
        <p:spPr>
          <a:xfrm>
            <a:off x="647700" y="3200400"/>
            <a:ext cx="3943350" cy="6477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4200" b="1">
                <a:solidFill>
                  <a:srgbClr val="FFC107"/>
                </a:solidFill>
                <a:latin typeface="钉钉进步体"/>
                <a:ea typeface="钉钉进步体"/>
              </a:rPr>
              <a:t>≈ 5.8×10¹²</a:t>
            </a:r>
            <a:endParaRPr/>
          </a:p>
        </p:txBody>
      </p:sp>
      <p:sp>
        <p:nvSpPr>
          <p:cNvPr id="210" name="文本框 209" descr="{&quot;isTemplate&quot;:true,&quot;type&quot;:&quot;text&quot;}"/>
          <p:cNvSpPr txBox="1"/>
          <p:nvPr/>
        </p:nvSpPr>
        <p:spPr>
          <a:xfrm>
            <a:off x="647700" y="3943350"/>
            <a:ext cx="3943350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ctr">
              <a:lnSpc>
                <a:spcPct val="155000"/>
              </a:lnSpc>
            </a:pPr>
            <a:r>
              <a:rPr lang="zh-CN" sz="1200">
                <a:solidFill>
                  <a:srgbClr val="BFD3EE"/>
                </a:solidFill>
                <a:latin typeface="微软雅黑"/>
                <a:ea typeface="微软雅黑"/>
              </a:rPr>
              <a:t>假设：</a:t>
            </a:r>
            <a:r>
              <a:rPr lang="en-US" sz="1200">
                <a:solidFill>
                  <a:srgbClr val="BFD3EE"/>
                </a:solidFill>
                <a:latin typeface="微软雅黑"/>
                <a:ea typeface="微软雅黑"/>
              </a:rPr>
              <a:t>89 </a:t>
            </a:r>
            <a:r>
              <a:rPr lang="zh-CN" sz="1200">
                <a:solidFill>
                  <a:srgbClr val="BFD3EE"/>
                </a:solidFill>
                <a:latin typeface="微软雅黑"/>
                <a:ea typeface="微软雅黑"/>
              </a:rPr>
              <a:t>种元素中选</a:t>
            </a:r>
            <a:r>
              <a:rPr lang="en-US" sz="1200">
                <a:solidFill>
                  <a:srgbClr val="BFD3EE"/>
                </a:solidFill>
                <a:latin typeface="微软雅黑"/>
                <a:ea typeface="微软雅黑"/>
              </a:rPr>
              <a:t> 1–10 </a:t>
            </a:r>
            <a:r>
              <a:rPr lang="zh-CN" sz="1200">
                <a:solidFill>
                  <a:srgbClr val="BFD3EE"/>
                </a:solidFill>
                <a:latin typeface="微软雅黑"/>
                <a:ea typeface="微软雅黑"/>
              </a:rPr>
              <a:t>种，</a:t>
            </a:r>
            <a:r>
              <a:rPr lang="zh-CN" sz="1200">
                <a:solidFill>
                  <a:srgbClr val="FFC107"/>
                </a:solidFill>
                <a:latin typeface="微软雅黑"/>
                <a:ea typeface="微软雅黑"/>
              </a:rPr>
              <a:t>不计比例、不计结构</a:t>
            </a:r>
            <a:r>
              <a:rPr lang="zh-CN" sz="1200">
                <a:solidFill>
                  <a:srgbClr val="BFD3EE"/>
                </a:solidFill>
                <a:latin typeface="微软雅黑"/>
                <a:ea typeface="微软雅黑"/>
              </a:rPr>
              <a:t>；Σ</a:t>
            </a:r>
            <a:r>
              <a:rPr lang="en-US" sz="1200">
                <a:solidFill>
                  <a:srgbClr val="BFD3EE"/>
                </a:solidFill>
                <a:latin typeface="微软雅黑"/>
                <a:ea typeface="微软雅黑"/>
              </a:rPr>
              <a:t>C(89,k) ≈ 5.80×10¹²</a:t>
            </a:r>
            <a:endParaRPr/>
          </a:p>
        </p:txBody>
      </p:sp>
      <p:sp>
        <p:nvSpPr>
          <p:cNvPr id="211" name="矩形 210"/>
          <p:cNvSpPr/>
          <p:nvPr/>
        </p:nvSpPr>
        <p:spPr>
          <a:xfrm>
            <a:off x="647700" y="4629150"/>
            <a:ext cx="3943350" cy="9525"/>
          </a:xfrm>
          <a:prstGeom prst="rect">
            <a:avLst/>
          </a:prstGeom>
          <a:solidFill>
            <a:srgbClr val="2C5CA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2" name="文本框 211" descr="{&quot;isTemplate&quot;:true,&quot;type&quot;:&quot;text&quot;}"/>
          <p:cNvSpPr txBox="1"/>
          <p:nvPr/>
        </p:nvSpPr>
        <p:spPr>
          <a:xfrm>
            <a:off x="647700" y="4733925"/>
            <a:ext cx="394335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zh-CN" sz="975">
                <a:solidFill>
                  <a:srgbClr val="8FB4E4"/>
                </a:solidFill>
                <a:latin typeface="微软雅黑"/>
                <a:ea typeface="微软雅黑"/>
              </a:rPr>
              <a:t>口径说明：本页按上述假设计算。科普图</a:t>
            </a:r>
            <a:r>
              <a:rPr lang="en-US" sz="975">
                <a:solidFill>
                  <a:srgbClr val="8FB4E4"/>
                </a:solidFill>
                <a:latin typeface="微软雅黑"/>
                <a:ea typeface="微软雅黑"/>
              </a:rPr>
              <a:t> htwins.net/scale2 </a:t>
            </a:r>
            <a:r>
              <a:rPr lang="zh-CN" sz="975">
                <a:solidFill>
                  <a:srgbClr val="8FB4E4"/>
                </a:solidFill>
                <a:latin typeface="微软雅黑"/>
                <a:ea typeface="微软雅黑"/>
              </a:rPr>
              <a:t>的</a:t>
            </a:r>
            <a:r>
              <a:rPr lang="en-US" sz="975">
                <a:solidFill>
                  <a:srgbClr val="8FB4E4"/>
                </a:solidFill>
                <a:latin typeface="微软雅黑"/>
                <a:ea typeface="微软雅黑"/>
              </a:rPr>
              <a:t> 10¹² </a:t>
            </a:r>
            <a:r>
              <a:rPr lang="zh-CN" sz="975">
                <a:solidFill>
                  <a:srgbClr val="8FB4E4"/>
                </a:solidFill>
                <a:latin typeface="微软雅黑"/>
                <a:ea typeface="微软雅黑"/>
              </a:rPr>
              <a:t>采用不同口径，两者不混用、不相除。</a:t>
            </a:r>
            <a:endParaRPr/>
          </a:p>
        </p:txBody>
      </p:sp>
      <p:sp>
        <p:nvSpPr>
          <p:cNvPr id="213" name="矩形: 圆角 212"/>
          <p:cNvSpPr/>
          <p:nvPr/>
        </p:nvSpPr>
        <p:spPr>
          <a:xfrm>
            <a:off x="5105400" y="1257300"/>
            <a:ext cx="6705600" cy="2514600"/>
          </a:xfrm>
          <a:prstGeom prst="roundRect">
            <a:avLst>
              <a:gd name="adj" fmla="val 416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4" name="文本框 213" descr="{&quot;isTemplate&quot;:true,&quot;type&quot;:&quot;text&quot;}"/>
          <p:cNvSpPr txBox="1"/>
          <p:nvPr/>
        </p:nvSpPr>
        <p:spPr>
          <a:xfrm>
            <a:off x="5314950" y="1409700"/>
            <a:ext cx="62865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/>
                <a:ea typeface="微软雅黑"/>
              </a:rPr>
              <a:t>组合规模的含义</a:t>
            </a:r>
            <a:endParaRPr/>
          </a:p>
        </p:txBody>
      </p:sp>
      <p:sp>
        <p:nvSpPr>
          <p:cNvPr id="215" name="文本框 214" descr="{&quot;isTemplate&quot;:true,&quot;type&quot;:&quot;text&quot;}"/>
          <p:cNvSpPr txBox="1"/>
          <p:nvPr/>
        </p:nvSpPr>
        <p:spPr>
          <a:xfrm>
            <a:off x="5314950" y="1752600"/>
            <a:ext cx="628650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275">
                <a:solidFill>
                  <a:srgbClr val="3A4759"/>
                </a:solidFill>
                <a:latin typeface="微软雅黑"/>
                <a:ea typeface="微软雅黑"/>
              </a:rPr>
              <a:t>每个「元素子集」只定义</a:t>
            </a:r>
            <a:r>
              <a:rPr lang="zh-CN" sz="1275" b="1">
                <a:solidFill>
                  <a:srgbClr val="3A4759"/>
                </a:solidFill>
                <a:latin typeface="微软雅黑"/>
                <a:ea typeface="微软雅黑"/>
              </a:rPr>
              <a:t>一个化学体系</a:t>
            </a:r>
            <a:r>
              <a:rPr lang="zh-CN" sz="1275">
                <a:solidFill>
                  <a:srgbClr val="3A4759"/>
                </a:solidFill>
                <a:latin typeface="微软雅黑"/>
                <a:ea typeface="微软雅黑"/>
              </a:rPr>
              <a:t>：它不指定配比、不指定结构，也不说明能否合成。</a:t>
            </a:r>
            <a:endParaRPr/>
          </a:p>
        </p:txBody>
      </p:sp>
      <p:sp>
        <p:nvSpPr>
          <p:cNvPr id="216" name="文本框 215" descr="{&quot;isTemplate&quot;:true,&quot;type&quot;:&quot;text&quot;}"/>
          <p:cNvSpPr txBox="1"/>
          <p:nvPr/>
        </p:nvSpPr>
        <p:spPr>
          <a:xfrm>
            <a:off x="5314950" y="2476500"/>
            <a:ext cx="628650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en-US" sz="1275">
                <a:solidFill>
                  <a:srgbClr val="3A4759"/>
                </a:solidFill>
                <a:latin typeface="微软雅黑"/>
                <a:ea typeface="微软雅黑"/>
              </a:rPr>
              <a:t>5.8×10¹² </a:t>
            </a:r>
            <a:r>
              <a:rPr lang="zh-CN" sz="1275">
                <a:solidFill>
                  <a:srgbClr val="3A4759"/>
                </a:solidFill>
                <a:latin typeface="微软雅黑"/>
                <a:ea typeface="微软雅黑"/>
              </a:rPr>
              <a:t>是</a:t>
            </a:r>
            <a:r>
              <a:rPr lang="zh-CN" sz="1275" b="1">
                <a:solidFill>
                  <a:srgbClr val="C62828"/>
                </a:solidFill>
                <a:latin typeface="微软雅黑"/>
                <a:ea typeface="微软雅黑"/>
              </a:rPr>
              <a:t>体系组合的数量级</a:t>
            </a:r>
            <a:r>
              <a:rPr lang="zh-CN" sz="1275">
                <a:solidFill>
                  <a:srgbClr val="3A4759"/>
                </a:solidFill>
                <a:latin typeface="微软雅黑"/>
                <a:ea typeface="微软雅黑"/>
              </a:rPr>
              <a:t>，既不是「可合成材料数」，也不是「尚未发现的材料数」。</a:t>
            </a:r>
            <a:endParaRPr/>
          </a:p>
        </p:txBody>
      </p:sp>
      <p:sp>
        <p:nvSpPr>
          <p:cNvPr id="217" name="文本框 216" descr="{&quot;isTemplate&quot;:true,&quot;type&quot;:&quot;text&quot;}"/>
          <p:cNvSpPr txBox="1"/>
          <p:nvPr/>
        </p:nvSpPr>
        <p:spPr>
          <a:xfrm>
            <a:off x="5314950" y="3200400"/>
            <a:ext cx="628650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125">
                <a:solidFill>
                  <a:srgbClr val="5D6E85"/>
                </a:solidFill>
                <a:latin typeface="微软雅黑"/>
                <a:ea typeface="微软雅黑"/>
              </a:rPr>
              <a:t>所以本页不给「已探索比例」：分子是化合物条目数，分母是元素子集组合数，计数单位不同，不能相除。</a:t>
            </a:r>
            <a:endParaRPr/>
          </a:p>
        </p:txBody>
      </p:sp>
      <p:sp>
        <p:nvSpPr>
          <p:cNvPr id="218" name="矩形: 圆角 217"/>
          <p:cNvSpPr/>
          <p:nvPr/>
        </p:nvSpPr>
        <p:spPr>
          <a:xfrm>
            <a:off x="5105400" y="3886200"/>
            <a:ext cx="6705600" cy="1581150"/>
          </a:xfrm>
          <a:prstGeom prst="roundRect">
            <a:avLst>
              <a:gd name="adj" fmla="val 6486"/>
            </a:avLst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9" name="文本框 218" descr="{&quot;isTemplate&quot;:true,&quot;type&quot;:&quot;text&quot;}"/>
          <p:cNvSpPr txBox="1"/>
          <p:nvPr/>
        </p:nvSpPr>
        <p:spPr>
          <a:xfrm>
            <a:off x="5314950" y="4095750"/>
            <a:ext cx="62865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8D6E00"/>
                </a:solidFill>
                <a:latin typeface="微软雅黑"/>
                <a:ea typeface="微软雅黑"/>
              </a:rPr>
              <a:t>为什么无法靠枚举穷尽</a:t>
            </a:r>
            <a:endParaRPr/>
          </a:p>
        </p:txBody>
      </p:sp>
      <p:sp>
        <p:nvSpPr>
          <p:cNvPr id="220" name="文本框 219" descr="{&quot;isTemplate&quot;:true,&quot;type&quot;:&quot;text&quot;}"/>
          <p:cNvSpPr txBox="1"/>
          <p:nvPr/>
        </p:nvSpPr>
        <p:spPr>
          <a:xfrm>
            <a:off x="5314950" y="4419600"/>
            <a:ext cx="628650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275">
                <a:solidFill>
                  <a:srgbClr val="3A4759"/>
                </a:solidFill>
                <a:latin typeface="微软雅黑"/>
                <a:ea typeface="微软雅黑"/>
              </a:rPr>
              <a:t>每合成一个材料都要消耗设施时间、原材料与专家人力，且有相当比例的失败。串行试错的成本结构决定了无法靠蛮力覆盖这个空间。</a:t>
            </a:r>
            <a:endParaRPr/>
          </a:p>
        </p:txBody>
      </p:sp>
      <p:sp>
        <p:nvSpPr>
          <p:cNvPr id="221" name="文本框 220" descr="{&quot;isTemplate&quot;:true,&quot;type&quot;:&quot;text&quot;}"/>
          <p:cNvSpPr txBox="1"/>
          <p:nvPr/>
        </p:nvSpPr>
        <p:spPr>
          <a:xfrm>
            <a:off x="5314950" y="5124450"/>
            <a:ext cx="62865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en-US" sz="1275" b="1">
                <a:solidFill>
                  <a:srgbClr val="8D6E00"/>
                </a:solidFill>
                <a:latin typeface="微软雅黑"/>
                <a:ea typeface="微软雅黑"/>
              </a:rPr>
              <a:t>→ </a:t>
            </a:r>
            <a:r>
              <a:rPr lang="zh-CN" sz="1275" b="1">
                <a:solidFill>
                  <a:srgbClr val="8D6E00"/>
                </a:solidFill>
                <a:latin typeface="微软雅黑"/>
                <a:ea typeface="微软雅黑"/>
              </a:rPr>
              <a:t>必须发展能在计算机里先筛选、再验证的工具。</a:t>
            </a:r>
            <a:endParaRPr/>
          </a:p>
        </p:txBody>
      </p:sp>
      <p:sp>
        <p:nvSpPr>
          <p:cNvPr id="222" name="矩形: 圆角 221"/>
          <p:cNvSpPr/>
          <p:nvPr/>
        </p:nvSpPr>
        <p:spPr>
          <a:xfrm>
            <a:off x="5105400" y="5581650"/>
            <a:ext cx="6705600" cy="914400"/>
          </a:xfrm>
          <a:prstGeom prst="roundRect">
            <a:avLst>
              <a:gd name="adj" fmla="val 12500"/>
            </a:avLst>
          </a:prstGeom>
          <a:solidFill>
            <a:srgbClr val="FCEDEC"/>
          </a:solidFill>
          <a:ln w="12700">
            <a:solidFill>
              <a:srgbClr val="B326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3" name="文本框 222" descr="{&quot;isTemplate&quot;:true,&quot;type&quot;:&quot;text&quot;}"/>
          <p:cNvSpPr txBox="1"/>
          <p:nvPr/>
        </p:nvSpPr>
        <p:spPr>
          <a:xfrm>
            <a:off x="5295900" y="5695950"/>
            <a:ext cx="632460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B3261E"/>
                </a:solidFill>
                <a:latin typeface="微软雅黑"/>
                <a:ea typeface="微软雅黑"/>
              </a:rPr>
              <a:t>不要写成：</a:t>
            </a:r>
            <a:r>
              <a:rPr lang="zh-CN" sz="1125">
                <a:solidFill>
                  <a:srgbClr val="1A2230"/>
                </a:solidFill>
                <a:latin typeface="微软雅黑"/>
                <a:ea typeface="微软雅黑"/>
              </a:rPr>
              <a:t>「真实可合成的材料总数」或「尚未发现的材料有</a:t>
            </a:r>
            <a:r>
              <a:rPr lang="en-US" sz="1125">
                <a:solidFill>
                  <a:srgbClr val="1A2230"/>
                </a:solidFill>
                <a:latin typeface="微软雅黑"/>
                <a:ea typeface="微软雅黑"/>
              </a:rPr>
              <a:t> 5.8 </a:t>
            </a:r>
            <a:r>
              <a:rPr lang="zh-CN" sz="1125">
                <a:solidFill>
                  <a:srgbClr val="1A2230"/>
                </a:solidFill>
                <a:latin typeface="微软雅黑"/>
                <a:ea typeface="微软雅黑"/>
              </a:rPr>
              <a:t>万亿种」。前者需要热力学与合成可行性；后者需要实验证实。</a:t>
            </a:r>
            <a:endParaRPr/>
          </a:p>
        </p:txBody>
      </p:sp>
      <p:sp>
        <p:nvSpPr>
          <p:cNvPr id="224" name="文本框 223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225" name="文本框 224" descr="{&quot;isTemplate&quot;:true,&quot;type&quot;:&quot;text&quot;}"/>
          <p:cNvSpPr txBox="1"/>
          <p:nvPr/>
        </p:nvSpPr>
        <p:spPr>
          <a:xfrm>
            <a:off x="54673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226" name="文本框 225" descr="{&quot;isTemplate&quot;:true,&quot;type&quot;:&quot;text&quot;}"/>
          <p:cNvSpPr txBox="1"/>
          <p:nvPr/>
        </p:nvSpPr>
        <p:spPr>
          <a:xfrm>
            <a:off x="11410950" y="6619875"/>
            <a:ext cx="4000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16 / 60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矩形 2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9" name="矩形 228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0" name="文本框 229" descr="{&quot;isTemplate&quot;:true,&quot;type&quot;:&quot;text&quot;}"/>
          <p:cNvSpPr txBox="1"/>
          <p:nvPr/>
        </p:nvSpPr>
        <p:spPr>
          <a:xfrm>
            <a:off x="342900" y="171450"/>
            <a:ext cx="3524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在材料科学中的应用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讲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材料信息学导论与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产业</a:t>
            </a:r>
            <a:endParaRPr/>
          </a:p>
        </p:txBody>
      </p:sp>
      <p:sp>
        <p:nvSpPr>
          <p:cNvPr id="231" name="文本框 230" descr="{&quot;isTemplate&quot;:true,&quot;type&quot;:&quot;text&quot;}"/>
          <p:cNvSpPr txBox="1"/>
          <p:nvPr/>
        </p:nvSpPr>
        <p:spPr>
          <a:xfrm>
            <a:off x="9486900" y="171450"/>
            <a:ext cx="12573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01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什么是材料信息学</a:t>
            </a:r>
            <a:endParaRPr/>
          </a:p>
        </p:txBody>
      </p:sp>
      <p:pic>
        <p:nvPicPr>
          <p:cNvPr id="232" name="图片 231"/>
          <p:cNvPicPr>
            <a:picLocks noChangeAspect="1"/>
          </p:cNvPicPr>
          <p:nvPr/>
        </p:nvPicPr>
        <p:blipFill>
          <a:blip r:embed="rId3"/>
          <a:srcRect l="847" r="847"/>
          <a:stretch>
            <a:fillRect/>
          </a:stretch>
        </p:blipFill>
        <p:spPr>
          <a:xfrm>
            <a:off x="10858500" y="123825"/>
            <a:ext cx="990600" cy="247650"/>
          </a:xfrm>
          <a:prstGeom prst="rect">
            <a:avLst/>
          </a:prstGeom>
          <a:ln/>
        </p:spPr>
      </p:pic>
      <p:sp>
        <p:nvSpPr>
          <p:cNvPr id="233" name="文本框 232" descr="{&quot;isTemplate&quot;:true,&quot;type&quot;:&quot;text&quot;}"/>
          <p:cNvSpPr txBox="1"/>
          <p:nvPr/>
        </p:nvSpPr>
        <p:spPr>
          <a:xfrm>
            <a:off x="381000" y="666750"/>
            <a:ext cx="11430000" cy="361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325" b="1">
                <a:solidFill>
                  <a:srgbClr val="0E3F8C"/>
                </a:solidFill>
                <a:latin typeface="钉钉进步体"/>
                <a:ea typeface="钉钉进步体"/>
              </a:rPr>
              <a:t>案例：用既有合金做回溯检验——模型没有「发现」</a:t>
            </a:r>
            <a:r>
              <a:rPr lang="en-US" sz="2325" b="1">
                <a:solidFill>
                  <a:srgbClr val="0E3F8C"/>
                </a:solidFill>
                <a:latin typeface="钉钉进步体"/>
                <a:ea typeface="钉钉进步体"/>
              </a:rPr>
              <a:t>Al 7075</a:t>
            </a:r>
            <a:endParaRPr/>
          </a:p>
        </p:txBody>
      </p:sp>
      <p:sp>
        <p:nvSpPr>
          <p:cNvPr id="234" name="矩形: 圆角 233"/>
          <p:cNvSpPr/>
          <p:nvPr/>
        </p:nvSpPr>
        <p:spPr>
          <a:xfrm>
            <a:off x="381000" y="1104900"/>
            <a:ext cx="571500" cy="47625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5" name="矩形: 圆角 234"/>
          <p:cNvSpPr/>
          <p:nvPr/>
        </p:nvSpPr>
        <p:spPr>
          <a:xfrm>
            <a:off x="381000" y="1285875"/>
            <a:ext cx="3810000" cy="522922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36" name="图片 235"/>
          <p:cNvPicPr>
            <a:picLocks noChangeAspect="1"/>
          </p:cNvPicPr>
          <p:nvPr/>
        </p:nvPicPr>
        <p:blipFill>
          <a:blip r:embed="rId4"/>
          <a:srcRect l="200" r="200"/>
          <a:stretch>
            <a:fillRect/>
          </a:stretch>
        </p:blipFill>
        <p:spPr>
          <a:xfrm>
            <a:off x="952500" y="2419350"/>
            <a:ext cx="2676525" cy="2381250"/>
          </a:xfrm>
          <a:prstGeom prst="rect">
            <a:avLst/>
          </a:prstGeom>
          <a:ln/>
        </p:spPr>
      </p:pic>
      <p:sp>
        <p:nvSpPr>
          <p:cNvPr id="237" name="文本框 236" descr="{&quot;isTemplate&quot;:true,&quot;type&quot;:&quot;text&quot;}"/>
          <p:cNvSpPr txBox="1"/>
          <p:nvPr/>
        </p:nvSpPr>
        <p:spPr>
          <a:xfrm>
            <a:off x="552450" y="4895850"/>
            <a:ext cx="346710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zh-CN" sz="1050">
                <a:solidFill>
                  <a:srgbClr val="6B7889"/>
                </a:solidFill>
                <a:latin typeface="微软雅黑"/>
                <a:ea typeface="微软雅黑"/>
              </a:rPr>
              <a:t>原讲义配图（</a:t>
            </a:r>
            <a:r>
              <a:rPr lang="en-US" sz="1050">
                <a:solidFill>
                  <a:srgbClr val="6B7889"/>
                </a:solidFill>
                <a:latin typeface="微软雅黑"/>
                <a:ea typeface="微软雅黑"/>
              </a:rPr>
              <a:t>Citrine </a:t>
            </a:r>
            <a:r>
              <a:rPr lang="zh-CN" sz="1050">
                <a:solidFill>
                  <a:srgbClr val="6B7889"/>
                </a:solidFill>
                <a:latin typeface="微软雅黑"/>
                <a:ea typeface="微软雅黑"/>
              </a:rPr>
              <a:t>案例页）；</a:t>
            </a:r>
            <a:r>
              <a:rPr lang="en-US" sz="1050">
                <a:solidFill>
                  <a:srgbClr val="6B7889"/>
                </a:solidFill>
                <a:latin typeface="微软雅黑"/>
                <a:ea typeface="微软雅黑"/>
              </a:rPr>
              <a:t>7075 </a:t>
            </a:r>
            <a:r>
              <a:rPr lang="zh-CN" sz="1050">
                <a:solidFill>
                  <a:srgbClr val="6B7889"/>
                </a:solidFill>
                <a:latin typeface="微软雅黑"/>
                <a:ea typeface="微软雅黑"/>
              </a:rPr>
              <a:t>是</a:t>
            </a:r>
            <a:r>
              <a:rPr lang="en-US" sz="1050">
                <a:solidFill>
                  <a:srgbClr val="6B7889"/>
                </a:solidFill>
                <a:latin typeface="微软雅黑"/>
                <a:ea typeface="微软雅黑"/>
              </a:rPr>
              <a:t> 20 </a:t>
            </a:r>
            <a:r>
              <a:rPr lang="zh-CN" sz="1050">
                <a:solidFill>
                  <a:srgbClr val="6B7889"/>
                </a:solidFill>
                <a:latin typeface="微软雅黑"/>
                <a:ea typeface="微软雅黑"/>
              </a:rPr>
              <a:t>世纪</a:t>
            </a:r>
            <a:r>
              <a:rPr lang="en-US" sz="1050">
                <a:solidFill>
                  <a:srgbClr val="6B7889"/>
                </a:solidFill>
                <a:latin typeface="微软雅黑"/>
                <a:ea typeface="微软雅黑"/>
              </a:rPr>
              <a:t> 40 </a:t>
            </a:r>
            <a:r>
              <a:rPr lang="zh-CN" sz="1050">
                <a:solidFill>
                  <a:srgbClr val="6B7889"/>
                </a:solidFill>
                <a:latin typeface="微软雅黑"/>
                <a:ea typeface="微软雅黑"/>
              </a:rPr>
              <a:t>年代已定型的既有牌号，属</a:t>
            </a:r>
            <a:r>
              <a:rPr lang="en-US" sz="1050">
                <a:solidFill>
                  <a:srgbClr val="6B7889"/>
                </a:solidFill>
                <a:latin typeface="微软雅黑"/>
                <a:ea typeface="微软雅黑"/>
              </a:rPr>
              <a:t> 7xxx </a:t>
            </a:r>
            <a:r>
              <a:rPr lang="zh-CN" sz="1050">
                <a:solidFill>
                  <a:srgbClr val="6B7889"/>
                </a:solidFill>
                <a:latin typeface="微软雅黑"/>
                <a:ea typeface="微软雅黑"/>
              </a:rPr>
              <a:t>系</a:t>
            </a:r>
            <a:endParaRPr/>
          </a:p>
        </p:txBody>
      </p:sp>
      <p:sp>
        <p:nvSpPr>
          <p:cNvPr id="238" name="矩形: 圆角 237"/>
          <p:cNvSpPr/>
          <p:nvPr/>
        </p:nvSpPr>
        <p:spPr>
          <a:xfrm>
            <a:off x="4419600" y="1285875"/>
            <a:ext cx="7391400" cy="504825"/>
          </a:xfrm>
          <a:prstGeom prst="roundRect">
            <a:avLst>
              <a:gd name="adj" fmla="val 18868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9" name="文本框 238" descr="{&quot;isTemplate&quot;:true,&quot;type&quot;:&quot;text&quot;}"/>
          <p:cNvSpPr txBox="1"/>
          <p:nvPr/>
        </p:nvSpPr>
        <p:spPr>
          <a:xfrm>
            <a:off x="4610100" y="1447800"/>
            <a:ext cx="5905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微软雅黑"/>
                <a:ea typeface="微软雅黑"/>
              </a:rPr>
              <a:t>数据</a:t>
            </a:r>
            <a:endParaRPr/>
          </a:p>
        </p:txBody>
      </p:sp>
      <p:sp>
        <p:nvSpPr>
          <p:cNvPr id="240" name="文本框 239" descr="{&quot;isTemplate&quot;:true,&quot;type&quot;:&quot;text&quot;}"/>
          <p:cNvSpPr txBox="1"/>
          <p:nvPr/>
        </p:nvSpPr>
        <p:spPr>
          <a:xfrm>
            <a:off x="5314950" y="1400175"/>
            <a:ext cx="63055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收集</a:t>
            </a: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> 7xxx 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系合金的成分、时效制度与强度记录（公开手册与文献），保留原始来源与单位</a:t>
            </a:r>
            <a:endParaRPr/>
          </a:p>
        </p:txBody>
      </p:sp>
      <p:sp>
        <p:nvSpPr>
          <p:cNvPr id="241" name="矩形: 圆角 240"/>
          <p:cNvSpPr/>
          <p:nvPr/>
        </p:nvSpPr>
        <p:spPr>
          <a:xfrm>
            <a:off x="4419600" y="1885950"/>
            <a:ext cx="7391400" cy="504825"/>
          </a:xfrm>
          <a:prstGeom prst="roundRect">
            <a:avLst>
              <a:gd name="adj" fmla="val 18868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2" name="文本框 241" descr="{&quot;isTemplate&quot;:true,&quot;type&quot;:&quot;text&quot;}"/>
          <p:cNvSpPr txBox="1"/>
          <p:nvPr/>
        </p:nvSpPr>
        <p:spPr>
          <a:xfrm>
            <a:off x="4610100" y="2047875"/>
            <a:ext cx="5905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微软雅黑"/>
                <a:ea typeface="微软雅黑"/>
              </a:rPr>
              <a:t>建模</a:t>
            </a:r>
            <a:endParaRPr/>
          </a:p>
        </p:txBody>
      </p:sp>
      <p:sp>
        <p:nvSpPr>
          <p:cNvPr id="243" name="文本框 242" descr="{&quot;isTemplate&quot;:true,&quot;type&quot;:&quot;text&quot;}"/>
          <p:cNvSpPr txBox="1"/>
          <p:nvPr/>
        </p:nvSpPr>
        <p:spPr>
          <a:xfrm>
            <a:off x="5314950" y="2000250"/>
            <a:ext cx="63055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成分</a:t>
            </a: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> → 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强度的回归；按</a:t>
            </a:r>
            <a:r>
              <a:rPr lang="zh-CN" sz="1200" b="1">
                <a:solidFill>
                  <a:srgbClr val="1A2230"/>
                </a:solidFill>
                <a:latin typeface="微软雅黑"/>
                <a:ea typeface="微软雅黑"/>
              </a:rPr>
              <a:t>合金牌号分组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划分训练与测试，避免同牌号跨集</a:t>
            </a:r>
            <a:endParaRPr/>
          </a:p>
        </p:txBody>
      </p:sp>
      <p:sp>
        <p:nvSpPr>
          <p:cNvPr id="244" name="矩形: 圆角 243"/>
          <p:cNvSpPr/>
          <p:nvPr/>
        </p:nvSpPr>
        <p:spPr>
          <a:xfrm>
            <a:off x="4419600" y="2486025"/>
            <a:ext cx="7391400" cy="504825"/>
          </a:xfrm>
          <a:prstGeom prst="roundRect">
            <a:avLst>
              <a:gd name="adj" fmla="val 18868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5" name="文本框 244" descr="{&quot;isTemplate&quot;:true,&quot;type&quot;:&quot;text&quot;}"/>
          <p:cNvSpPr txBox="1"/>
          <p:nvPr/>
        </p:nvSpPr>
        <p:spPr>
          <a:xfrm>
            <a:off x="4610100" y="2647950"/>
            <a:ext cx="5905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微软雅黑"/>
                <a:ea typeface="微软雅黑"/>
              </a:rPr>
              <a:t>回溯</a:t>
            </a:r>
            <a:endParaRPr/>
          </a:p>
        </p:txBody>
      </p:sp>
      <p:sp>
        <p:nvSpPr>
          <p:cNvPr id="246" name="文本框 245" descr="{&quot;isTemplate&quot;:true,&quot;type&quot;:&quot;text&quot;}"/>
          <p:cNvSpPr txBox="1"/>
          <p:nvPr/>
        </p:nvSpPr>
        <p:spPr>
          <a:xfrm>
            <a:off x="5314950" y="2600325"/>
            <a:ext cx="63055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把</a:t>
            </a: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> 7075 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的标签从训练集中移除，再用模型</a:t>
            </a:r>
            <a:r>
              <a:rPr lang="zh-CN" sz="1200" b="1">
                <a:solidFill>
                  <a:srgbClr val="1A2230"/>
                </a:solidFill>
                <a:latin typeface="微软雅黑"/>
                <a:ea typeface="微软雅黑"/>
              </a:rPr>
              <a:t>预测这个既有牌号</a:t>
            </a:r>
            <a:endParaRPr/>
          </a:p>
        </p:txBody>
      </p:sp>
      <p:sp>
        <p:nvSpPr>
          <p:cNvPr id="247" name="矩形: 圆角 246"/>
          <p:cNvSpPr/>
          <p:nvPr/>
        </p:nvSpPr>
        <p:spPr>
          <a:xfrm>
            <a:off x="4419600" y="3086100"/>
            <a:ext cx="7391400" cy="504825"/>
          </a:xfrm>
          <a:prstGeom prst="roundRect">
            <a:avLst>
              <a:gd name="adj" fmla="val 18868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8" name="文本框 247" descr="{&quot;isTemplate&quot;:true,&quot;type&quot;:&quot;text&quot;}"/>
          <p:cNvSpPr txBox="1"/>
          <p:nvPr/>
        </p:nvSpPr>
        <p:spPr>
          <a:xfrm>
            <a:off x="4610100" y="3248025"/>
            <a:ext cx="5905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微软雅黑"/>
                <a:ea typeface="微软雅黑"/>
              </a:rPr>
              <a:t>结果</a:t>
            </a:r>
            <a:endParaRPr/>
          </a:p>
        </p:txBody>
      </p:sp>
      <p:sp>
        <p:nvSpPr>
          <p:cNvPr id="249" name="文本框 248" descr="{&quot;isTemplate&quot;:true,&quot;type&quot;:&quot;text&quot;}"/>
          <p:cNvSpPr txBox="1"/>
          <p:nvPr/>
        </p:nvSpPr>
        <p:spPr>
          <a:xfrm>
            <a:off x="5314950" y="3200400"/>
            <a:ext cx="63055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预测值落在该牌号的实测波动范围内</a:t>
            </a: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> ⇒ 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方法在此体系可用；但这只是回溯检验</a:t>
            </a:r>
            <a:endParaRPr/>
          </a:p>
        </p:txBody>
      </p:sp>
      <p:sp>
        <p:nvSpPr>
          <p:cNvPr id="250" name="矩形: 圆角 249"/>
          <p:cNvSpPr/>
          <p:nvPr/>
        </p:nvSpPr>
        <p:spPr>
          <a:xfrm>
            <a:off x="4419600" y="3686175"/>
            <a:ext cx="7391400" cy="895350"/>
          </a:xfrm>
          <a:prstGeom prst="roundRect">
            <a:avLst>
              <a:gd name="adj" fmla="val 10638"/>
            </a:avLst>
          </a:prstGeom>
          <a:solidFill>
            <a:srgbClr val="E8F1FC"/>
          </a:solidFill>
          <a:ln w="12700">
            <a:solidFill>
              <a:srgbClr val="1E4F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1" name="文本框 250" descr="{&quot;isTemplate&quot;:true,&quot;type&quot;:&quot;text&quot;}"/>
          <p:cNvSpPr txBox="1"/>
          <p:nvPr/>
        </p:nvSpPr>
        <p:spPr>
          <a:xfrm>
            <a:off x="4629150" y="3819525"/>
            <a:ext cx="697230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275" b="1">
                <a:solidFill>
                  <a:srgbClr val="0E3F8C"/>
                </a:solidFill>
                <a:latin typeface="微软雅黑"/>
                <a:ea typeface="微软雅黑"/>
              </a:rPr>
              <a:t>关键区分：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回溯预测成功，验证的是</a:t>
            </a:r>
            <a:r>
              <a:rPr lang="zh-CN" sz="1275" b="1">
                <a:solidFill>
                  <a:srgbClr val="1A2230"/>
                </a:solidFill>
                <a:latin typeface="微软雅黑"/>
                <a:ea typeface="微软雅黑"/>
              </a:rPr>
              <a:t>方法与数据链路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，不是发现能力。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Al 7075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是既有材料，模型不可能「发现」它。</a:t>
            </a:r>
            <a:endParaRPr/>
          </a:p>
        </p:txBody>
      </p:sp>
      <p:sp>
        <p:nvSpPr>
          <p:cNvPr id="252" name="矩形: 圆角 251"/>
          <p:cNvSpPr/>
          <p:nvPr/>
        </p:nvSpPr>
        <p:spPr>
          <a:xfrm>
            <a:off x="4419600" y="4676775"/>
            <a:ext cx="7391400" cy="895350"/>
          </a:xfrm>
          <a:prstGeom prst="roundRect">
            <a:avLst>
              <a:gd name="adj" fmla="val 10638"/>
            </a:avLst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3" name="文本框 252" descr="{&quot;isTemplate&quot;:true,&quot;type&quot;:&quot;text&quot;}"/>
          <p:cNvSpPr txBox="1"/>
          <p:nvPr/>
        </p:nvSpPr>
        <p:spPr>
          <a:xfrm>
            <a:off x="4629150" y="4810125"/>
            <a:ext cx="697230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275" b="1">
                <a:solidFill>
                  <a:srgbClr val="8D6E00"/>
                </a:solidFill>
                <a:latin typeface="微软雅黑"/>
                <a:ea typeface="微软雅黑"/>
              </a:rPr>
              <a:t>什么才算发现：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预测</a:t>
            </a:r>
            <a:r>
              <a:rPr lang="zh-CN" sz="1275" b="1">
                <a:solidFill>
                  <a:srgbClr val="1A2230"/>
                </a:solidFill>
                <a:latin typeface="微软雅黑"/>
                <a:ea typeface="微软雅黑"/>
              </a:rPr>
              <a:t>尚未合成过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的成分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 +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经合成与表征证实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 +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与既有最优对比。本页不引用未经核验的性能提升数字；验证协议见第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 8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讲。</a:t>
            </a:r>
            <a:endParaRPr/>
          </a:p>
        </p:txBody>
      </p:sp>
      <p:sp>
        <p:nvSpPr>
          <p:cNvPr id="254" name="文本框 253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255" name="文本框 254" descr="{&quot;isTemplate&quot;:true,&quot;type&quot;:&quot;text&quot;}"/>
          <p:cNvSpPr txBox="1"/>
          <p:nvPr/>
        </p:nvSpPr>
        <p:spPr>
          <a:xfrm>
            <a:off x="54673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256" name="文本框 255" descr="{&quot;isTemplate&quot;:true,&quot;type&quot;:&quot;text&quot;}"/>
          <p:cNvSpPr txBox="1"/>
          <p:nvPr/>
        </p:nvSpPr>
        <p:spPr>
          <a:xfrm>
            <a:off x="11410950" y="6610350"/>
            <a:ext cx="4000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17 / 60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矩形 25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9" name="矩形 258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0" name="文本框 259" descr="{&quot;isTemplate&quot;:true,&quot;type&quot;:&quot;text&quot;}"/>
          <p:cNvSpPr txBox="1"/>
          <p:nvPr/>
        </p:nvSpPr>
        <p:spPr>
          <a:xfrm>
            <a:off x="342900" y="171450"/>
            <a:ext cx="3524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在材料科学中的应用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讲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材料信息学导论与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产业</a:t>
            </a:r>
            <a:endParaRPr/>
          </a:p>
        </p:txBody>
      </p:sp>
      <p:sp>
        <p:nvSpPr>
          <p:cNvPr id="261" name="文本框 260" descr="{&quot;isTemplate&quot;:true,&quot;type&quot;:&quot;text&quot;}"/>
          <p:cNvSpPr txBox="1"/>
          <p:nvPr/>
        </p:nvSpPr>
        <p:spPr>
          <a:xfrm>
            <a:off x="9486900" y="171450"/>
            <a:ext cx="12573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01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什么是材料信息学</a:t>
            </a:r>
            <a:endParaRPr/>
          </a:p>
        </p:txBody>
      </p:sp>
      <p:pic>
        <p:nvPicPr>
          <p:cNvPr id="262" name="图片 261"/>
          <p:cNvPicPr>
            <a:picLocks noChangeAspect="1"/>
          </p:cNvPicPr>
          <p:nvPr/>
        </p:nvPicPr>
        <p:blipFill>
          <a:blip r:embed="rId2"/>
          <a:srcRect l="847" r="847"/>
          <a:stretch>
            <a:fillRect/>
          </a:stretch>
        </p:blipFill>
        <p:spPr>
          <a:xfrm>
            <a:off x="10858500" y="123825"/>
            <a:ext cx="990600" cy="247650"/>
          </a:xfrm>
          <a:prstGeom prst="rect">
            <a:avLst/>
          </a:prstGeom>
          <a:ln/>
        </p:spPr>
      </p:pic>
      <p:sp>
        <p:nvSpPr>
          <p:cNvPr id="263" name="文本框 262" descr="{&quot;isTemplate&quot;:true,&quot;type&quot;:&quot;text&quot;}"/>
          <p:cNvSpPr txBox="1"/>
          <p:nvPr/>
        </p:nvSpPr>
        <p:spPr>
          <a:xfrm>
            <a:off x="381000" y="666750"/>
            <a:ext cx="114300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钉钉进步体"/>
                <a:ea typeface="钉钉进步体"/>
              </a:rPr>
              <a:t>是短暂风口，还是长期趋势？</a:t>
            </a:r>
            <a:endParaRPr/>
          </a:p>
        </p:txBody>
      </p:sp>
      <p:sp>
        <p:nvSpPr>
          <p:cNvPr id="264" name="矩形: 圆角 263"/>
          <p:cNvSpPr/>
          <p:nvPr/>
        </p:nvSpPr>
        <p:spPr>
          <a:xfrm>
            <a:off x="381000" y="1114425"/>
            <a:ext cx="571500" cy="47625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5" name="矩形: 圆角 264"/>
          <p:cNvSpPr/>
          <p:nvPr/>
        </p:nvSpPr>
        <p:spPr>
          <a:xfrm>
            <a:off x="381000" y="1333500"/>
            <a:ext cx="11430000" cy="1057275"/>
          </a:xfrm>
          <a:prstGeom prst="roundRect">
            <a:avLst>
              <a:gd name="adj" fmla="val 1081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6" name="文本框 265" descr="{&quot;isTemplate&quot;:true,&quot;type&quot;:&quot;text&quot;}"/>
          <p:cNvSpPr txBox="1"/>
          <p:nvPr/>
        </p:nvSpPr>
        <p:spPr>
          <a:xfrm>
            <a:off x="590550" y="1543050"/>
            <a:ext cx="110109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微软雅黑"/>
                <a:ea typeface="微软雅黑"/>
              </a:rPr>
              <a:t>机器学习处在技术</a:t>
            </a:r>
            <a:r>
              <a:rPr lang="en-US" sz="1575" b="1">
                <a:solidFill>
                  <a:srgbClr val="0E3F8C"/>
                </a:solidFill>
                <a:latin typeface="微软雅黑"/>
                <a:ea typeface="微软雅黑"/>
              </a:rPr>
              <a:t> hype cycle </a:t>
            </a:r>
            <a:r>
              <a:rPr lang="zh-CN" sz="1575" b="1">
                <a:solidFill>
                  <a:srgbClr val="0E3F8C"/>
                </a:solidFill>
                <a:latin typeface="微软雅黑"/>
                <a:ea typeface="微软雅黑"/>
              </a:rPr>
              <a:t>的什么位置？</a:t>
            </a:r>
            <a:endParaRPr/>
          </a:p>
        </p:txBody>
      </p:sp>
      <p:sp>
        <p:nvSpPr>
          <p:cNvPr id="267" name="文本框 266" descr="{&quot;isTemplate&quot;:true,&quot;type&quot;:&quot;text&quot;}"/>
          <p:cNvSpPr txBox="1"/>
          <p:nvPr/>
        </p:nvSpPr>
        <p:spPr>
          <a:xfrm>
            <a:off x="590550" y="1866900"/>
            <a:ext cx="110109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275">
                <a:solidFill>
                  <a:srgbClr val="3A4759"/>
                </a:solidFill>
                <a:latin typeface="微软雅黑"/>
                <a:ea typeface="微软雅黑"/>
              </a:rPr>
              <a:t>学术界的「材料信息学」在</a:t>
            </a:r>
            <a:r>
              <a:rPr lang="en-US" sz="1275">
                <a:solidFill>
                  <a:srgbClr val="3A4759"/>
                </a:solidFill>
                <a:latin typeface="微软雅黑"/>
                <a:ea typeface="微软雅黑"/>
              </a:rPr>
              <a:t> 2010 </a:t>
            </a:r>
            <a:r>
              <a:rPr lang="zh-CN" sz="1275">
                <a:solidFill>
                  <a:srgbClr val="3A4759"/>
                </a:solidFill>
                <a:latin typeface="微软雅黑"/>
                <a:ea typeface="微软雅黑"/>
              </a:rPr>
              <a:t>年代中期出现明显热度上升。图中的每一轮峰值，都伴随着一次</a:t>
            </a:r>
            <a:r>
              <a:rPr lang="zh-CN" sz="1275" b="1">
                <a:solidFill>
                  <a:srgbClr val="3A4759"/>
                </a:solidFill>
                <a:latin typeface="微软雅黑"/>
                <a:ea typeface="微软雅黑"/>
              </a:rPr>
              <a:t>过度承诺</a:t>
            </a:r>
            <a:r>
              <a:rPr lang="zh-CN" sz="1275">
                <a:solidFill>
                  <a:srgbClr val="3A4759"/>
                </a:solidFill>
                <a:latin typeface="微软雅黑"/>
                <a:ea typeface="微软雅黑"/>
              </a:rPr>
              <a:t>，随后回落，再被真实应用接住。</a:t>
            </a:r>
            <a:endParaRPr/>
          </a:p>
        </p:txBody>
      </p:sp>
      <p:sp>
        <p:nvSpPr>
          <p:cNvPr id="268" name="矩形: 圆角 267"/>
          <p:cNvSpPr/>
          <p:nvPr/>
        </p:nvSpPr>
        <p:spPr>
          <a:xfrm>
            <a:off x="381000" y="2524125"/>
            <a:ext cx="4000500" cy="3990975"/>
          </a:xfrm>
          <a:prstGeom prst="roundRect">
            <a:avLst>
              <a:gd name="adj" fmla="val 238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69" name="图片 2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275" y="2676525"/>
            <a:ext cx="2647950" cy="2000250"/>
          </a:xfrm>
          <a:prstGeom prst="rect">
            <a:avLst/>
          </a:prstGeom>
          <a:ln/>
        </p:spPr>
      </p:pic>
      <p:sp>
        <p:nvSpPr>
          <p:cNvPr id="270" name="文本框 269" descr="{&quot;isTemplate&quot;:true,&quot;type&quot;:&quot;text&quot;}"/>
          <p:cNvSpPr txBox="1"/>
          <p:nvPr/>
        </p:nvSpPr>
        <p:spPr>
          <a:xfrm>
            <a:off x="638175" y="4733925"/>
            <a:ext cx="34861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1050">
                <a:solidFill>
                  <a:srgbClr val="6B7889"/>
                </a:solidFill>
                <a:latin typeface="微软雅黑"/>
                <a:ea typeface="微软雅黑"/>
              </a:rPr>
              <a:t>2020 </a:t>
            </a:r>
            <a:r>
              <a:rPr lang="zh-CN" sz="1050">
                <a:solidFill>
                  <a:srgbClr val="6B7889"/>
                </a:solidFill>
                <a:latin typeface="微软雅黑"/>
                <a:ea typeface="微软雅黑"/>
              </a:rPr>
              <a:t>年前后：</a:t>
            </a:r>
            <a:r>
              <a:rPr lang="en-US" sz="1050">
                <a:solidFill>
                  <a:srgbClr val="6B7889"/>
                </a:solidFill>
                <a:latin typeface="微软雅黑"/>
                <a:ea typeface="微软雅黑"/>
              </a:rPr>
              <a:t>AlphaFold </a:t>
            </a:r>
            <a:r>
              <a:rPr lang="zh-CN" sz="1050">
                <a:solidFill>
                  <a:srgbClr val="6B7889"/>
                </a:solidFill>
                <a:latin typeface="微软雅黑"/>
                <a:ea typeface="微软雅黑"/>
              </a:rPr>
              <a:t>等深度学习科学应用推动的乐观期</a:t>
            </a:r>
            <a:endParaRPr/>
          </a:p>
        </p:txBody>
      </p:sp>
      <p:sp>
        <p:nvSpPr>
          <p:cNvPr id="271" name="矩形: 圆角 270"/>
          <p:cNvSpPr/>
          <p:nvPr/>
        </p:nvSpPr>
        <p:spPr>
          <a:xfrm>
            <a:off x="4552950" y="2524125"/>
            <a:ext cx="4000500" cy="3990975"/>
          </a:xfrm>
          <a:prstGeom prst="roundRect">
            <a:avLst>
              <a:gd name="adj" fmla="val 238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72" name="图片 27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6800" y="2676525"/>
            <a:ext cx="3362325" cy="2000250"/>
          </a:xfrm>
          <a:prstGeom prst="rect">
            <a:avLst/>
          </a:prstGeom>
          <a:ln/>
        </p:spPr>
      </p:pic>
      <p:sp>
        <p:nvSpPr>
          <p:cNvPr id="273" name="文本框 272" descr="{&quot;isTemplate&quot;:true,&quot;type&quot;:&quot;text&quot;}"/>
          <p:cNvSpPr txBox="1"/>
          <p:nvPr/>
        </p:nvSpPr>
        <p:spPr>
          <a:xfrm>
            <a:off x="4905375" y="4733925"/>
            <a:ext cx="33051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1050">
                <a:solidFill>
                  <a:srgbClr val="6B7889"/>
                </a:solidFill>
                <a:latin typeface="微软雅黑"/>
                <a:ea typeface="微软雅黑"/>
              </a:rPr>
              <a:t>2023 </a:t>
            </a:r>
            <a:r>
              <a:rPr lang="zh-CN" sz="1050">
                <a:solidFill>
                  <a:srgbClr val="6B7889"/>
                </a:solidFill>
                <a:latin typeface="微软雅黑"/>
                <a:ea typeface="微软雅黑"/>
              </a:rPr>
              <a:t>年后：</a:t>
            </a:r>
            <a:r>
              <a:rPr lang="en-US" sz="1050">
                <a:solidFill>
                  <a:srgbClr val="6B7889"/>
                </a:solidFill>
                <a:latin typeface="微软雅黑"/>
                <a:ea typeface="微软雅黑"/>
              </a:rPr>
              <a:t>GNoME</a:t>
            </a:r>
            <a:r>
              <a:rPr lang="zh-CN" sz="1050">
                <a:solidFill>
                  <a:srgbClr val="6B7889"/>
                </a:solidFill>
                <a:latin typeface="微软雅黑"/>
                <a:ea typeface="微软雅黑"/>
              </a:rPr>
              <a:t>、</a:t>
            </a:r>
            <a:r>
              <a:rPr lang="en-US" sz="1050">
                <a:solidFill>
                  <a:srgbClr val="6B7889"/>
                </a:solidFill>
                <a:latin typeface="微软雅黑"/>
                <a:ea typeface="微软雅黑"/>
              </a:rPr>
              <a:t>LLM </a:t>
            </a:r>
            <a:r>
              <a:rPr lang="zh-CN" sz="1050">
                <a:solidFill>
                  <a:srgbClr val="6B7889"/>
                </a:solidFill>
                <a:latin typeface="微软雅黑"/>
                <a:ea typeface="微软雅黑"/>
              </a:rPr>
              <a:t>与自驱动实验室带来的新一波</a:t>
            </a:r>
            <a:endParaRPr/>
          </a:p>
        </p:txBody>
      </p:sp>
      <p:sp>
        <p:nvSpPr>
          <p:cNvPr id="274" name="矩形: 圆角 273"/>
          <p:cNvSpPr/>
          <p:nvPr/>
        </p:nvSpPr>
        <p:spPr>
          <a:xfrm>
            <a:off x="8724900" y="2524125"/>
            <a:ext cx="3086100" cy="1743075"/>
          </a:xfrm>
          <a:prstGeom prst="roundRect">
            <a:avLst>
              <a:gd name="adj" fmla="val 5464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5" name="文本框 274" descr="{&quot;isTemplate&quot;:true,&quot;type&quot;:&quot;text&quot;}"/>
          <p:cNvSpPr txBox="1"/>
          <p:nvPr/>
        </p:nvSpPr>
        <p:spPr>
          <a:xfrm>
            <a:off x="8877300" y="2676525"/>
            <a:ext cx="27813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B5E20"/>
                </a:solidFill>
                <a:latin typeface="微软雅黑"/>
                <a:ea typeface="微软雅黑"/>
              </a:rPr>
              <a:t>长期趋势的理由</a:t>
            </a:r>
            <a:endParaRPr/>
          </a:p>
        </p:txBody>
      </p:sp>
      <p:sp>
        <p:nvSpPr>
          <p:cNvPr id="276" name="文本框 275" descr="{&quot;isTemplate&quot;:true,&quot;type&quot;:&quot;text&quot;}"/>
          <p:cNvSpPr txBox="1"/>
          <p:nvPr/>
        </p:nvSpPr>
        <p:spPr>
          <a:xfrm>
            <a:off x="8877300" y="2943225"/>
            <a:ext cx="2781300" cy="11715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>① 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公共数据库已积累数百万条结构化数据</a:t>
            </a: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> ② 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工具链（</a:t>
            </a: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>pymatgen / ML 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库）已成熟</a:t>
            </a: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> ③ 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已在真实工业场景产生价值（见第</a:t>
            </a: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> 39–48 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页）</a:t>
            </a:r>
            <a:endParaRPr/>
          </a:p>
        </p:txBody>
      </p:sp>
      <p:sp>
        <p:nvSpPr>
          <p:cNvPr id="277" name="矩形: 圆角 276"/>
          <p:cNvSpPr/>
          <p:nvPr/>
        </p:nvSpPr>
        <p:spPr>
          <a:xfrm>
            <a:off x="8724900" y="4381500"/>
            <a:ext cx="3086100" cy="1457325"/>
          </a:xfrm>
          <a:prstGeom prst="roundRect">
            <a:avLst>
              <a:gd name="adj" fmla="val 6536"/>
            </a:avLst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8" name="文本框 277" descr="{&quot;isTemplate&quot;:true,&quot;type&quot;:&quot;text&quot;}"/>
          <p:cNvSpPr txBox="1"/>
          <p:nvPr/>
        </p:nvSpPr>
        <p:spPr>
          <a:xfrm>
            <a:off x="8877300" y="4533900"/>
            <a:ext cx="27813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8D6E00"/>
                </a:solidFill>
                <a:latin typeface="微软雅黑"/>
                <a:ea typeface="微软雅黑"/>
              </a:rPr>
              <a:t>周期性回落的风险</a:t>
            </a:r>
            <a:endParaRPr/>
          </a:p>
        </p:txBody>
      </p:sp>
      <p:sp>
        <p:nvSpPr>
          <p:cNvPr id="279" name="文本框 278" descr="{&quot;isTemplate&quot;:true,&quot;type&quot;:&quot;text&quot;}"/>
          <p:cNvSpPr txBox="1"/>
          <p:nvPr/>
        </p:nvSpPr>
        <p:spPr>
          <a:xfrm>
            <a:off x="8877300" y="4800600"/>
            <a:ext cx="2781300" cy="885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>① 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复现性危机：大量「突破」因评估方式不严谨而失效</a:t>
            </a: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> ② 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外推失效：训练分布外的预测不可靠</a:t>
            </a: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> ③ 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方法论尚未标准化</a:t>
            </a:r>
            <a:endParaRPr/>
          </a:p>
        </p:txBody>
      </p:sp>
      <p:sp>
        <p:nvSpPr>
          <p:cNvPr id="280" name="文本框 279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281" name="文本框 280" descr="{&quot;isTemplate&quot;:true,&quot;type&quot;:&quot;text&quot;}"/>
          <p:cNvSpPr txBox="1"/>
          <p:nvPr/>
        </p:nvSpPr>
        <p:spPr>
          <a:xfrm>
            <a:off x="54673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282" name="文本框 281" descr="{&quot;isTemplate&quot;:true,&quot;type&quot;:&quot;text&quot;}"/>
          <p:cNvSpPr txBox="1"/>
          <p:nvPr/>
        </p:nvSpPr>
        <p:spPr>
          <a:xfrm>
            <a:off x="11410950" y="6610350"/>
            <a:ext cx="4000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18 / 60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矩形 28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5" name="矩形 284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6" name="文本框 285" descr="{&quot;isTemplate&quot;:true,&quot;type&quot;:&quot;text&quot;}"/>
          <p:cNvSpPr txBox="1"/>
          <p:nvPr/>
        </p:nvSpPr>
        <p:spPr>
          <a:xfrm>
            <a:off x="342900" y="171450"/>
            <a:ext cx="3524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在材料科学中的应用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讲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材料信息学导论与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产业</a:t>
            </a:r>
            <a:endParaRPr/>
          </a:p>
        </p:txBody>
      </p:sp>
      <p:sp>
        <p:nvSpPr>
          <p:cNvPr id="287" name="文本框 286" descr="{&quot;isTemplate&quot;:true,&quot;type&quot;:&quot;text&quot;}"/>
          <p:cNvSpPr txBox="1"/>
          <p:nvPr/>
        </p:nvSpPr>
        <p:spPr>
          <a:xfrm>
            <a:off x="8734425" y="171450"/>
            <a:ext cx="20097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01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什么是材料信息学</a:t>
            </a: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补充阅读</a:t>
            </a:r>
            <a:endParaRPr/>
          </a:p>
        </p:txBody>
      </p:sp>
      <p:pic>
        <p:nvPicPr>
          <p:cNvPr id="288" name="图片 287"/>
          <p:cNvPicPr>
            <a:picLocks noChangeAspect="1"/>
          </p:cNvPicPr>
          <p:nvPr/>
        </p:nvPicPr>
        <p:blipFill>
          <a:blip r:embed="rId3"/>
          <a:srcRect l="847" r="847"/>
          <a:stretch>
            <a:fillRect/>
          </a:stretch>
        </p:blipFill>
        <p:spPr>
          <a:xfrm>
            <a:off x="10858500" y="123825"/>
            <a:ext cx="990600" cy="247650"/>
          </a:xfrm>
          <a:prstGeom prst="rect">
            <a:avLst/>
          </a:prstGeom>
          <a:ln/>
        </p:spPr>
      </p:pic>
      <p:sp>
        <p:nvSpPr>
          <p:cNvPr id="289" name="文本框 288" descr="{&quot;isTemplate&quot;:true,&quot;type&quot;:&quot;text&quot;}"/>
          <p:cNvSpPr txBox="1"/>
          <p:nvPr/>
        </p:nvSpPr>
        <p:spPr>
          <a:xfrm>
            <a:off x="381000" y="666750"/>
            <a:ext cx="114300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钉钉进步体"/>
                <a:ea typeface="钉钉进步体"/>
              </a:rPr>
              <a:t>二十年真实数据：这条曲线到底在说什么</a:t>
            </a:r>
            <a:endParaRPr/>
          </a:p>
        </p:txBody>
      </p:sp>
      <p:sp>
        <p:nvSpPr>
          <p:cNvPr id="290" name="矩形: 圆角 289"/>
          <p:cNvSpPr/>
          <p:nvPr/>
        </p:nvSpPr>
        <p:spPr>
          <a:xfrm>
            <a:off x="381000" y="1114425"/>
            <a:ext cx="571500" cy="47625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1" name="矩形: 圆角 290"/>
          <p:cNvSpPr/>
          <p:nvPr/>
        </p:nvSpPr>
        <p:spPr>
          <a:xfrm>
            <a:off x="381000" y="1276350"/>
            <a:ext cx="11430000" cy="942975"/>
          </a:xfrm>
          <a:prstGeom prst="roundRect">
            <a:avLst>
              <a:gd name="adj" fmla="val 1212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2" name="文本框 291" descr="{&quot;isTemplate&quot;:true,&quot;type&quot;:&quot;text&quot;}"/>
          <p:cNvSpPr txBox="1"/>
          <p:nvPr/>
        </p:nvSpPr>
        <p:spPr>
          <a:xfrm>
            <a:off x="609600" y="1447800"/>
            <a:ext cx="109728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/>
                <a:ea typeface="微软雅黑"/>
              </a:rPr>
              <a:t>上图：</a:t>
            </a:r>
            <a:r>
              <a:rPr lang="en-US" sz="1500" b="1">
                <a:solidFill>
                  <a:srgbClr val="0E3F8C"/>
                </a:solidFill>
                <a:latin typeface="微软雅黑"/>
                <a:ea typeface="微软雅黑"/>
              </a:rPr>
              <a:t>Scopus </a:t>
            </a:r>
            <a:r>
              <a:rPr lang="zh-CN" sz="1500" b="1">
                <a:solidFill>
                  <a:srgbClr val="0E3F8C"/>
                </a:solidFill>
                <a:latin typeface="微软雅黑"/>
                <a:ea typeface="微软雅黑"/>
              </a:rPr>
              <a:t>年发表量（对数刻度）　下图：</a:t>
            </a:r>
            <a:r>
              <a:rPr lang="en-US" sz="1500" b="1">
                <a:solidFill>
                  <a:srgbClr val="0E3F8C"/>
                </a:solidFill>
                <a:latin typeface="微软雅黑"/>
                <a:ea typeface="微软雅黑"/>
              </a:rPr>
              <a:t>Google Trends </a:t>
            </a:r>
            <a:r>
              <a:rPr lang="zh-CN" sz="1500" b="1">
                <a:solidFill>
                  <a:srgbClr val="0E3F8C"/>
                </a:solidFill>
                <a:latin typeface="微软雅黑"/>
                <a:ea typeface="微软雅黑"/>
              </a:rPr>
              <a:t>检索热度</a:t>
            </a:r>
            <a:endParaRPr/>
          </a:p>
        </p:txBody>
      </p:sp>
      <p:sp>
        <p:nvSpPr>
          <p:cNvPr id="293" name="文本框 292" descr="{&quot;isTemplate&quot;:true,&quot;type&quot;:&quot;text&quot;}"/>
          <p:cNvSpPr txBox="1"/>
          <p:nvPr/>
        </p:nvSpPr>
        <p:spPr>
          <a:xfrm>
            <a:off x="609600" y="1733550"/>
            <a:ext cx="109728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275">
                <a:solidFill>
                  <a:srgbClr val="3A4759"/>
                </a:solidFill>
                <a:latin typeface="微软雅黑"/>
                <a:ea typeface="微软雅黑"/>
              </a:rPr>
              <a:t>两条独立来源的证据</a:t>
            </a:r>
            <a:r>
              <a:rPr lang="zh-CN" sz="1275" b="1">
                <a:solidFill>
                  <a:srgbClr val="C62828"/>
                </a:solidFill>
                <a:latin typeface="微软雅黑"/>
                <a:ea typeface="微软雅黑"/>
              </a:rPr>
              <a:t>同时上升</a:t>
            </a:r>
            <a:r>
              <a:rPr lang="zh-CN" sz="1275">
                <a:solidFill>
                  <a:srgbClr val="3A4759"/>
                </a:solidFill>
                <a:latin typeface="微软雅黑"/>
                <a:ea typeface="微软雅黑"/>
              </a:rPr>
              <a:t>，说明这不只是学术圈内部的自我循环。</a:t>
            </a:r>
            <a:endParaRPr/>
          </a:p>
        </p:txBody>
      </p:sp>
      <p:sp>
        <p:nvSpPr>
          <p:cNvPr id="294" name="矩形: 圆角 293"/>
          <p:cNvSpPr/>
          <p:nvPr/>
        </p:nvSpPr>
        <p:spPr>
          <a:xfrm>
            <a:off x="381000" y="2333625"/>
            <a:ext cx="7448550" cy="4181475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95" name="图片 29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1275" y="2524125"/>
            <a:ext cx="3048000" cy="3810000"/>
          </a:xfrm>
          <a:prstGeom prst="rect">
            <a:avLst/>
          </a:prstGeom>
          <a:ln/>
        </p:spPr>
      </p:pic>
      <p:sp>
        <p:nvSpPr>
          <p:cNvPr id="296" name="矩形: 圆角 295"/>
          <p:cNvSpPr/>
          <p:nvPr/>
        </p:nvSpPr>
        <p:spPr>
          <a:xfrm>
            <a:off x="8001000" y="2333625"/>
            <a:ext cx="3810000" cy="1552575"/>
          </a:xfrm>
          <a:prstGeom prst="roundRect">
            <a:avLst>
              <a:gd name="adj" fmla="val 6135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7" name="文本框 296" descr="{&quot;isTemplate&quot;:true,&quot;type&quot;:&quot;text&quot;}"/>
          <p:cNvSpPr txBox="1"/>
          <p:nvPr/>
        </p:nvSpPr>
        <p:spPr>
          <a:xfrm>
            <a:off x="8191500" y="2505075"/>
            <a:ext cx="34290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B5E20"/>
                </a:solidFill>
                <a:latin typeface="微软雅黑"/>
                <a:ea typeface="微软雅黑"/>
              </a:rPr>
              <a:t>读图三要点</a:t>
            </a:r>
            <a:endParaRPr/>
          </a:p>
        </p:txBody>
      </p:sp>
      <p:sp>
        <p:nvSpPr>
          <p:cNvPr id="298" name="文本框 297" descr="{&quot;isTemplate&quot;:true,&quot;type&quot;:&quot;text&quot;}"/>
          <p:cNvSpPr txBox="1"/>
          <p:nvPr/>
        </p:nvSpPr>
        <p:spPr>
          <a:xfrm>
            <a:off x="8191500" y="2800350"/>
            <a:ext cx="3429000" cy="914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5000"/>
              </a:lnSpc>
            </a:pP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>① 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「</a:t>
            </a: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>materials AI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」的增速</a:t>
            </a:r>
            <a:r>
              <a:rPr lang="zh-CN" sz="1200" b="1">
                <a:solidFill>
                  <a:srgbClr val="1A2230"/>
                </a:solidFill>
                <a:latin typeface="微软雅黑"/>
                <a:ea typeface="微软雅黑"/>
              </a:rPr>
              <a:t>明显快于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「</a:t>
            </a: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>materials informatics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」</a:t>
            </a: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> ② 2012 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年前后出现拐点，与深度学习兴起同步</a:t>
            </a: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> ③ 2020 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年后增速进一步陡增</a:t>
            </a:r>
            <a:endParaRPr/>
          </a:p>
        </p:txBody>
      </p:sp>
      <p:sp>
        <p:nvSpPr>
          <p:cNvPr id="299" name="矩形: 圆角 298"/>
          <p:cNvSpPr/>
          <p:nvPr/>
        </p:nvSpPr>
        <p:spPr>
          <a:xfrm>
            <a:off x="8001000" y="4000500"/>
            <a:ext cx="3810000" cy="1552575"/>
          </a:xfrm>
          <a:prstGeom prst="roundRect">
            <a:avLst>
              <a:gd name="adj" fmla="val 6135"/>
            </a:avLst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0" name="文本框 299" descr="{&quot;isTemplate&quot;:true,&quot;type&quot;:&quot;text&quot;}"/>
          <p:cNvSpPr txBox="1"/>
          <p:nvPr/>
        </p:nvSpPr>
        <p:spPr>
          <a:xfrm>
            <a:off x="8191500" y="4171950"/>
            <a:ext cx="34290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8D6E00"/>
                </a:solidFill>
                <a:latin typeface="微软雅黑"/>
                <a:ea typeface="微软雅黑"/>
              </a:rPr>
              <a:t>但要小心过度解读</a:t>
            </a:r>
            <a:endParaRPr/>
          </a:p>
        </p:txBody>
      </p:sp>
      <p:sp>
        <p:nvSpPr>
          <p:cNvPr id="301" name="文本框 300" descr="{&quot;isTemplate&quot;:true,&quot;type&quot;:&quot;text&quot;}"/>
          <p:cNvSpPr txBox="1"/>
          <p:nvPr/>
        </p:nvSpPr>
        <p:spPr>
          <a:xfrm>
            <a:off x="8191500" y="4467225"/>
            <a:ext cx="3429000" cy="914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5000"/>
              </a:lnSpc>
            </a:pP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发表量增长</a:t>
            </a: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> ≠ 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实际价值增长。判断一个领域是否成熟，</a:t>
            </a: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要看</a:t>
            </a:r>
            <a:r>
              <a:rPr lang="zh-CN" sz="1200" b="1">
                <a:solidFill>
                  <a:srgbClr val="1A2230"/>
                </a:solidFill>
                <a:latin typeface="微软雅黑"/>
                <a:ea typeface="微软雅黑"/>
              </a:rPr>
              <a:t>有没有进入产业流程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，而不是看论文数量。</a:t>
            </a: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这一点在第</a:t>
            </a: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> 39–48 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页会具体展开。</a:t>
            </a:r>
            <a:endParaRPr/>
          </a:p>
        </p:txBody>
      </p:sp>
      <p:sp>
        <p:nvSpPr>
          <p:cNvPr id="302" name="文本框 301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303" name="文本框 302" descr="{&quot;isTemplate&quot;:true,&quot;type&quot;:&quot;text&quot;}"/>
          <p:cNvSpPr txBox="1"/>
          <p:nvPr/>
        </p:nvSpPr>
        <p:spPr>
          <a:xfrm>
            <a:off x="54673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304" name="文本框 303" descr="{&quot;isTemplate&quot;:true,&quot;type&quot;:&quot;text&quot;}"/>
          <p:cNvSpPr txBox="1"/>
          <p:nvPr/>
        </p:nvSpPr>
        <p:spPr>
          <a:xfrm>
            <a:off x="11410950" y="6610350"/>
            <a:ext cx="4000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19 / 60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矩形 34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5" name="文本框 344" descr="{&quot;isTemplate&quot;:true,&quot;type&quot;:&quot;text&quot;}"/>
          <p:cNvSpPr txBox="1"/>
          <p:nvPr/>
        </p:nvSpPr>
        <p:spPr>
          <a:xfrm>
            <a:off x="5429250" y="1990725"/>
            <a:ext cx="1343025" cy="12573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0" b="1">
                <a:solidFill>
                  <a:srgbClr val="0E3F8C"/>
                </a:solidFill>
                <a:latin typeface="钉钉进步体"/>
                <a:ea typeface="钉钉进步体"/>
              </a:rPr>
              <a:t>02</a:t>
            </a:r>
            <a:endParaRPr/>
          </a:p>
        </p:txBody>
      </p:sp>
      <p:sp>
        <p:nvSpPr>
          <p:cNvPr id="346" name="文本框 345" descr="{&quot;isTemplate&quot;:true,&quot;type&quot;:&quot;text&quot;}"/>
          <p:cNvSpPr txBox="1"/>
          <p:nvPr/>
        </p:nvSpPr>
        <p:spPr>
          <a:xfrm>
            <a:off x="4314825" y="3305175"/>
            <a:ext cx="3571875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B1B33"/>
                </a:solidFill>
                <a:latin typeface="钉钉进步体"/>
                <a:ea typeface="钉钉进步体"/>
              </a:rPr>
              <a:t>机器学习</a:t>
            </a:r>
            <a:r>
              <a:rPr lang="en-US" sz="2700" b="1">
                <a:solidFill>
                  <a:srgbClr val="0B1B33"/>
                </a:solidFill>
                <a:latin typeface="钉钉进步体"/>
                <a:ea typeface="钉钉进步体"/>
              </a:rPr>
              <a:t> ≠ </a:t>
            </a:r>
            <a:r>
              <a:rPr lang="zh-CN" sz="2700" b="1">
                <a:solidFill>
                  <a:srgbClr val="0B1B33"/>
                </a:solidFill>
                <a:latin typeface="钉钉进步体"/>
                <a:ea typeface="钉钉进步体"/>
              </a:rPr>
              <a:t>材料信息学</a:t>
            </a:r>
            <a:endParaRPr/>
          </a:p>
        </p:txBody>
      </p:sp>
      <p:sp>
        <p:nvSpPr>
          <p:cNvPr id="347" name="矩形: 圆角 346"/>
          <p:cNvSpPr/>
          <p:nvPr/>
        </p:nvSpPr>
        <p:spPr>
          <a:xfrm>
            <a:off x="5667375" y="3895725"/>
            <a:ext cx="857250" cy="47625"/>
          </a:xfrm>
          <a:prstGeom prst="roundRect">
            <a:avLst>
              <a:gd name="adj" fmla="val 60000"/>
            </a:avLst>
          </a:prstGeom>
          <a:solidFill>
            <a:srgbClr val="FFC10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8" name="文本框 347" descr="{&quot;isTemplate&quot;:true,&quot;type&quot;:&quot;text&quot;}"/>
          <p:cNvSpPr txBox="1"/>
          <p:nvPr/>
        </p:nvSpPr>
        <p:spPr>
          <a:xfrm>
            <a:off x="3152775" y="4133850"/>
            <a:ext cx="58864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70000"/>
              </a:lnSpc>
            </a:pPr>
            <a:r>
              <a:rPr lang="zh-CN" sz="1500">
                <a:solidFill>
                  <a:srgbClr val="3A4759"/>
                </a:solidFill>
                <a:latin typeface="微软雅黑"/>
                <a:ea typeface="微软雅黑"/>
              </a:rPr>
              <a:t>六个维度上的实质性差异</a:t>
            </a:r>
            <a:r>
              <a:rPr lang="en-US" sz="1500">
                <a:solidFill>
                  <a:srgbClr val="3A4759"/>
                </a:solidFill>
                <a:latin typeface="微软雅黑"/>
                <a:ea typeface="微软雅黑"/>
              </a:rPr>
              <a:t> · </a:t>
            </a:r>
            <a:r>
              <a:rPr lang="zh-CN" sz="1500">
                <a:solidFill>
                  <a:srgbClr val="3A4759"/>
                </a:solidFill>
                <a:latin typeface="微软雅黑"/>
                <a:ea typeface="微软雅黑"/>
              </a:rPr>
              <a:t>这决定了本课程为何不能照搬通用</a:t>
            </a:r>
            <a:r>
              <a:rPr lang="en-US" sz="1500">
                <a:solidFill>
                  <a:srgbClr val="3A4759"/>
                </a:solidFill>
                <a:latin typeface="微软雅黑"/>
                <a:ea typeface="微软雅黑"/>
              </a:rPr>
              <a:t> ML </a:t>
            </a:r>
            <a:r>
              <a:rPr lang="zh-CN" sz="1500">
                <a:solidFill>
                  <a:srgbClr val="3A4759"/>
                </a:solidFill>
                <a:latin typeface="微软雅黑"/>
                <a:ea typeface="微软雅黑"/>
              </a:rPr>
              <a:t>教法</a:t>
            </a:r>
            <a:endParaRPr/>
          </a:p>
        </p:txBody>
      </p:sp>
      <p:sp>
        <p:nvSpPr>
          <p:cNvPr id="349" name="文本框 348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350" name="文本框 349" descr="{&quot;isTemplate&quot;:true,&quot;type&quot;:&quot;text&quot;}"/>
          <p:cNvSpPr txBox="1"/>
          <p:nvPr/>
        </p:nvSpPr>
        <p:spPr>
          <a:xfrm>
            <a:off x="54673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351" name="文本框 350" descr="{&quot;isTemplate&quot;:true,&quot;type&quot;:&quot;text&quot;}"/>
          <p:cNvSpPr txBox="1"/>
          <p:nvPr/>
        </p:nvSpPr>
        <p:spPr>
          <a:xfrm>
            <a:off x="11410950" y="6610350"/>
            <a:ext cx="4000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20 / 60</a:t>
            </a:r>
            <a:endParaRPr/>
          </a:p>
        </p:txBody>
      </p:sp>
      <p:pic>
        <p:nvPicPr>
          <p:cNvPr id="3" name="LogoWBG">
            <a:extLst>
              <a:ext uri="{FF2B5EF4-FFF2-40B4-BE49-F238E27FC236}">
                <a16:creationId xmlns:a16="http://schemas.microsoft.com/office/drawing/2014/main" id="{1D2A96A1-F2CB-4ABB-9FD2-CCF9C22C0A11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1500" y="177800"/>
            <a:ext cx="952500" cy="23507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矩形 35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4" name="矩形 353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5" name="文本框 354" descr="{&quot;isTemplate&quot;:true,&quot;type&quot;:&quot;text&quot;}"/>
          <p:cNvSpPr txBox="1"/>
          <p:nvPr/>
        </p:nvSpPr>
        <p:spPr>
          <a:xfrm>
            <a:off x="342900" y="171450"/>
            <a:ext cx="3524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在材料科学中的应用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第 1 讲 材料信息学导论与AI产业</a:t>
            </a:r>
            <a:endParaRPr/>
          </a:p>
        </p:txBody>
      </p:sp>
      <p:sp>
        <p:nvSpPr>
          <p:cNvPr id="356" name="文本框 355" descr="{&quot;isTemplate&quot;:true,&quot;type&quot;:&quot;text&quot;}"/>
          <p:cNvSpPr txBox="1"/>
          <p:nvPr/>
        </p:nvSpPr>
        <p:spPr>
          <a:xfrm>
            <a:off x="9172575" y="171450"/>
            <a:ext cx="15716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02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机器学习</a:t>
            </a: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 ≠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材料信息学</a:t>
            </a:r>
            <a:endParaRPr/>
          </a:p>
        </p:txBody>
      </p:sp>
      <p:pic>
        <p:nvPicPr>
          <p:cNvPr id="357" name="图片 356"/>
          <p:cNvPicPr>
            <a:picLocks noChangeAspect="1"/>
          </p:cNvPicPr>
          <p:nvPr/>
        </p:nvPicPr>
        <p:blipFill>
          <a:blip r:embed="rId3"/>
          <a:srcRect l="847" r="847"/>
          <a:stretch>
            <a:fillRect/>
          </a:stretch>
        </p:blipFill>
        <p:spPr>
          <a:xfrm>
            <a:off x="10858500" y="123825"/>
            <a:ext cx="990600" cy="247650"/>
          </a:xfrm>
          <a:prstGeom prst="rect">
            <a:avLst/>
          </a:prstGeom>
          <a:ln/>
        </p:spPr>
      </p:pic>
      <p:sp>
        <p:nvSpPr>
          <p:cNvPr id="358" name="文本框 357" descr="{&quot;isTemplate&quot;:true,&quot;type&quot;:&quot;text&quot;}"/>
          <p:cNvSpPr txBox="1"/>
          <p:nvPr/>
        </p:nvSpPr>
        <p:spPr>
          <a:xfrm>
            <a:off x="381000" y="666750"/>
            <a:ext cx="114300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钉钉进步体"/>
                <a:ea typeface="钉钉进步体"/>
              </a:rPr>
              <a:t>同样是机器学习，差别在哪里？</a:t>
            </a:r>
            <a:endParaRPr/>
          </a:p>
        </p:txBody>
      </p:sp>
      <p:sp>
        <p:nvSpPr>
          <p:cNvPr id="359" name="矩形: 圆角 358"/>
          <p:cNvSpPr/>
          <p:nvPr/>
        </p:nvSpPr>
        <p:spPr>
          <a:xfrm>
            <a:off x="381000" y="1114425"/>
            <a:ext cx="571500" cy="47625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0" name="矩形: 圆角 359"/>
          <p:cNvSpPr/>
          <p:nvPr/>
        </p:nvSpPr>
        <p:spPr>
          <a:xfrm>
            <a:off x="381000" y="2047875"/>
            <a:ext cx="11430000" cy="3143250"/>
          </a:xfrm>
          <a:prstGeom prst="roundRect">
            <a:avLst>
              <a:gd name="adj" fmla="val 3636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1" name="文本框 360" descr="{&quot;isTemplate&quot;:true,&quot;type&quot;:&quot;text&quot;}"/>
          <p:cNvSpPr txBox="1"/>
          <p:nvPr/>
        </p:nvSpPr>
        <p:spPr>
          <a:xfrm>
            <a:off x="571500" y="2238375"/>
            <a:ext cx="14287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8B97A8"/>
                </a:solidFill>
                <a:latin typeface="微软雅黑"/>
                <a:ea typeface="微软雅黑"/>
              </a:rPr>
              <a:t>维度</a:t>
            </a:r>
            <a:endParaRPr/>
          </a:p>
        </p:txBody>
      </p:sp>
      <p:sp>
        <p:nvSpPr>
          <p:cNvPr id="362" name="文本框 361" descr="{&quot;isTemplate&quot;:true,&quot;type&quot;:&quot;text&quot;}"/>
          <p:cNvSpPr txBox="1"/>
          <p:nvPr/>
        </p:nvSpPr>
        <p:spPr>
          <a:xfrm>
            <a:off x="2190750" y="2238375"/>
            <a:ext cx="46196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A4759"/>
                </a:solidFill>
                <a:latin typeface="微软雅黑"/>
                <a:ea typeface="微软雅黑"/>
              </a:rPr>
              <a:t>大规模数据任务示例</a:t>
            </a:r>
            <a:endParaRPr/>
          </a:p>
        </p:txBody>
      </p:sp>
      <p:sp>
        <p:nvSpPr>
          <p:cNvPr id="363" name="文本框 362" descr="{&quot;isTemplate&quot;:true,&quot;type&quot;:&quot;text&quot;}"/>
          <p:cNvSpPr txBox="1"/>
          <p:nvPr/>
        </p:nvSpPr>
        <p:spPr>
          <a:xfrm>
            <a:off x="7000875" y="2238375"/>
            <a:ext cx="46196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微软雅黑"/>
                <a:ea typeface="微软雅黑"/>
              </a:rPr>
              <a:t>本课程材料任务</a:t>
            </a:r>
            <a:endParaRPr/>
          </a:p>
        </p:txBody>
      </p:sp>
      <p:sp>
        <p:nvSpPr>
          <p:cNvPr id="364" name="矩形: 圆角 363"/>
          <p:cNvSpPr/>
          <p:nvPr/>
        </p:nvSpPr>
        <p:spPr>
          <a:xfrm>
            <a:off x="571500" y="2581275"/>
            <a:ext cx="11049000" cy="371475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5" name="文本框 364" descr="{&quot;isTemplate&quot;:true,&quot;type&quot;:&quot;text&quot;}"/>
          <p:cNvSpPr txBox="1"/>
          <p:nvPr/>
        </p:nvSpPr>
        <p:spPr>
          <a:xfrm>
            <a:off x="666750" y="2667000"/>
            <a:ext cx="14287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微软雅黑"/>
                <a:ea typeface="微软雅黑"/>
              </a:rPr>
              <a:t>数据规模</a:t>
            </a:r>
            <a:endParaRPr/>
          </a:p>
        </p:txBody>
      </p:sp>
      <p:sp>
        <p:nvSpPr>
          <p:cNvPr id="366" name="文本框 365" descr="{&quot;isTemplate&quot;:true,&quot;type&quot;:&quot;text&quot;}"/>
          <p:cNvSpPr txBox="1"/>
          <p:nvPr/>
        </p:nvSpPr>
        <p:spPr>
          <a:xfrm>
            <a:off x="2286000" y="2676525"/>
            <a:ext cx="45243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6B7889"/>
                </a:solidFill>
                <a:latin typeface="微软雅黑"/>
                <a:ea typeface="微软雅黑"/>
              </a:rPr>
              <a:t>规模大、样本相对充足</a:t>
            </a:r>
            <a:endParaRPr/>
          </a:p>
        </p:txBody>
      </p:sp>
      <p:sp>
        <p:nvSpPr>
          <p:cNvPr id="367" name="文本框 366" descr="{&quot;isTemplate&quot;:true,&quot;type&quot;:&quot;text&quot;}"/>
          <p:cNvSpPr txBox="1"/>
          <p:nvPr/>
        </p:nvSpPr>
        <p:spPr>
          <a:xfrm>
            <a:off x="7000875" y="2676525"/>
            <a:ext cx="45243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0B1B33"/>
                </a:solidFill>
                <a:latin typeface="微软雅黑"/>
                <a:ea typeface="微软雅黑"/>
              </a:rPr>
              <a:t>本课程聚焦 10²—10³（非全部）</a:t>
            </a:r>
            <a:endParaRPr/>
          </a:p>
        </p:txBody>
      </p:sp>
      <p:sp>
        <p:nvSpPr>
          <p:cNvPr id="368" name="矩形: 圆角 367"/>
          <p:cNvSpPr/>
          <p:nvPr/>
        </p:nvSpPr>
        <p:spPr>
          <a:xfrm>
            <a:off x="571500" y="2990850"/>
            <a:ext cx="11049000" cy="371475"/>
          </a:xfrm>
          <a:prstGeom prst="roundRect">
            <a:avLst>
              <a:gd name="adj" fmla="val 15385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9" name="文本框 368" descr="{&quot;isTemplate&quot;:true,&quot;type&quot;:&quot;text&quot;}"/>
          <p:cNvSpPr txBox="1"/>
          <p:nvPr/>
        </p:nvSpPr>
        <p:spPr>
          <a:xfrm>
            <a:off x="666750" y="3076575"/>
            <a:ext cx="14287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微软雅黑"/>
                <a:ea typeface="微软雅黑"/>
              </a:rPr>
              <a:t>关注重点</a:t>
            </a:r>
            <a:endParaRPr/>
          </a:p>
        </p:txBody>
      </p:sp>
      <p:sp>
        <p:nvSpPr>
          <p:cNvPr id="370" name="文本框 369" descr="{&quot;isTemplate&quot;:true,&quot;type&quot;:&quot;text&quot;}"/>
          <p:cNvSpPr txBox="1"/>
          <p:nvPr/>
        </p:nvSpPr>
        <p:spPr>
          <a:xfrm>
            <a:off x="2286000" y="3086100"/>
            <a:ext cx="45243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6B7889"/>
                </a:solidFill>
                <a:latin typeface="微软雅黑"/>
                <a:ea typeface="微软雅黑"/>
              </a:rPr>
              <a:t>分布内精度为主</a:t>
            </a:r>
            <a:endParaRPr/>
          </a:p>
        </p:txBody>
      </p:sp>
      <p:sp>
        <p:nvSpPr>
          <p:cNvPr id="371" name="文本框 370" descr="{&quot;isTemplate&quot;:true,&quot;type&quot;:&quot;text&quot;}"/>
          <p:cNvSpPr txBox="1"/>
          <p:nvPr/>
        </p:nvSpPr>
        <p:spPr>
          <a:xfrm>
            <a:off x="7000875" y="3086100"/>
            <a:ext cx="45243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0B1B33"/>
                </a:solidFill>
                <a:latin typeface="微软雅黑"/>
                <a:ea typeface="微软雅黑"/>
              </a:rPr>
              <a:t>新体系发现更看外推</a:t>
            </a:r>
            <a:endParaRPr/>
          </a:p>
        </p:txBody>
      </p:sp>
      <p:sp>
        <p:nvSpPr>
          <p:cNvPr id="372" name="矩形: 圆角 371"/>
          <p:cNvSpPr/>
          <p:nvPr/>
        </p:nvSpPr>
        <p:spPr>
          <a:xfrm>
            <a:off x="571500" y="3400425"/>
            <a:ext cx="11049000" cy="371475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3" name="文本框 372" descr="{&quot;isTemplate&quot;:true,&quot;type&quot;:&quot;text&quot;}"/>
          <p:cNvSpPr txBox="1"/>
          <p:nvPr/>
        </p:nvSpPr>
        <p:spPr>
          <a:xfrm>
            <a:off x="666750" y="3486150"/>
            <a:ext cx="14287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微软雅黑"/>
                <a:ea typeface="微软雅黑"/>
              </a:rPr>
              <a:t>数据形态</a:t>
            </a:r>
            <a:endParaRPr/>
          </a:p>
        </p:txBody>
      </p:sp>
      <p:sp>
        <p:nvSpPr>
          <p:cNvPr id="374" name="文本框 373" descr="{&quot;isTemplate&quot;:true,&quot;type&quot;:&quot;text&quot;}"/>
          <p:cNvSpPr txBox="1"/>
          <p:nvPr/>
        </p:nvSpPr>
        <p:spPr>
          <a:xfrm>
            <a:off x="2286000" y="3495675"/>
            <a:ext cx="45243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6B7889"/>
                </a:solidFill>
                <a:latin typeface="微软雅黑"/>
                <a:ea typeface="微软雅黑"/>
              </a:rPr>
              <a:t>相对同质（图像</a:t>
            </a:r>
            <a:r>
              <a:rPr lang="en-US" sz="1200">
                <a:solidFill>
                  <a:srgbClr val="6B7889"/>
                </a:solidFill>
                <a:latin typeface="微软雅黑"/>
                <a:ea typeface="微软雅黑"/>
              </a:rPr>
              <a:t>/</a:t>
            </a:r>
            <a:r>
              <a:rPr lang="zh-CN" sz="1200">
                <a:solidFill>
                  <a:srgbClr val="6B7889"/>
                </a:solidFill>
                <a:latin typeface="微软雅黑"/>
                <a:ea typeface="微软雅黑"/>
              </a:rPr>
              <a:t>文本）</a:t>
            </a:r>
            <a:endParaRPr/>
          </a:p>
        </p:txBody>
      </p:sp>
      <p:sp>
        <p:nvSpPr>
          <p:cNvPr id="375" name="文本框 374" descr="{&quot;isTemplate&quot;:true,&quot;type&quot;:&quot;text&quot;}"/>
          <p:cNvSpPr txBox="1"/>
          <p:nvPr/>
        </p:nvSpPr>
        <p:spPr>
          <a:xfrm>
            <a:off x="7000875" y="3495675"/>
            <a:ext cx="45243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1B33"/>
                </a:solidFill>
                <a:latin typeface="微软雅黑"/>
                <a:ea typeface="微软雅黑"/>
              </a:rPr>
              <a:t>高度异质、多模态</a:t>
            </a:r>
            <a:endParaRPr/>
          </a:p>
        </p:txBody>
      </p:sp>
      <p:sp>
        <p:nvSpPr>
          <p:cNvPr id="376" name="矩形: 圆角 375"/>
          <p:cNvSpPr/>
          <p:nvPr/>
        </p:nvSpPr>
        <p:spPr>
          <a:xfrm>
            <a:off x="571500" y="3810000"/>
            <a:ext cx="11049000" cy="371475"/>
          </a:xfrm>
          <a:prstGeom prst="roundRect">
            <a:avLst>
              <a:gd name="adj" fmla="val 15385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7" name="文本框 376" descr="{&quot;isTemplate&quot;:true,&quot;type&quot;:&quot;text&quot;}"/>
          <p:cNvSpPr txBox="1"/>
          <p:nvPr/>
        </p:nvSpPr>
        <p:spPr>
          <a:xfrm>
            <a:off x="666750" y="3895725"/>
            <a:ext cx="14287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微软雅黑"/>
                <a:ea typeface="微软雅黑"/>
              </a:rPr>
              <a:t>不确定性</a:t>
            </a:r>
            <a:endParaRPr/>
          </a:p>
        </p:txBody>
      </p:sp>
      <p:sp>
        <p:nvSpPr>
          <p:cNvPr id="378" name="文本框 377" descr="{&quot;isTemplate&quot;:true,&quot;type&quot;:&quot;text&quot;}"/>
          <p:cNvSpPr txBox="1"/>
          <p:nvPr/>
        </p:nvSpPr>
        <p:spPr>
          <a:xfrm>
            <a:off x="2286000" y="3905250"/>
            <a:ext cx="45243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6B7889"/>
                </a:solidFill>
                <a:latin typeface="微软雅黑"/>
                <a:ea typeface="微软雅黑"/>
              </a:rPr>
              <a:t>视决策风险而定</a:t>
            </a:r>
            <a:endParaRPr/>
          </a:p>
        </p:txBody>
      </p:sp>
      <p:sp>
        <p:nvSpPr>
          <p:cNvPr id="379" name="文本框 378" descr="{&quot;isTemplate&quot;:true,&quot;type&quot;:&quot;text&quot;}"/>
          <p:cNvSpPr txBox="1"/>
          <p:nvPr/>
        </p:nvSpPr>
        <p:spPr>
          <a:xfrm>
            <a:off x="7000875" y="3905250"/>
            <a:ext cx="45243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1B33"/>
                </a:solidFill>
                <a:latin typeface="微软雅黑"/>
                <a:ea typeface="微软雅黑"/>
              </a:rPr>
              <a:t>常需——新数据昂贵</a:t>
            </a:r>
            <a:endParaRPr/>
          </a:p>
        </p:txBody>
      </p:sp>
      <p:sp>
        <p:nvSpPr>
          <p:cNvPr id="380" name="矩形: 圆角 379"/>
          <p:cNvSpPr/>
          <p:nvPr/>
        </p:nvSpPr>
        <p:spPr>
          <a:xfrm>
            <a:off x="571500" y="4219575"/>
            <a:ext cx="11049000" cy="371475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1" name="文本框 380" descr="{&quot;isTemplate&quot;:true,&quot;type&quot;:&quot;text&quot;}"/>
          <p:cNvSpPr txBox="1"/>
          <p:nvPr/>
        </p:nvSpPr>
        <p:spPr>
          <a:xfrm>
            <a:off x="666750" y="4305300"/>
            <a:ext cx="14287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微软雅黑"/>
                <a:ea typeface="微软雅黑"/>
              </a:rPr>
              <a:t>特征</a:t>
            </a:r>
            <a:endParaRPr/>
          </a:p>
        </p:txBody>
      </p:sp>
      <p:sp>
        <p:nvSpPr>
          <p:cNvPr id="382" name="文本框 381" descr="{&quot;isTemplate&quot;:true,&quot;type&quot;:&quot;text&quot;}"/>
          <p:cNvSpPr txBox="1"/>
          <p:nvPr/>
        </p:nvSpPr>
        <p:spPr>
          <a:xfrm>
            <a:off x="2286000" y="4314825"/>
            <a:ext cx="45243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6B7889"/>
                </a:solidFill>
                <a:latin typeface="微软雅黑"/>
                <a:ea typeface="微软雅黑"/>
              </a:rPr>
              <a:t>自动学习表示为主</a:t>
            </a:r>
            <a:endParaRPr/>
          </a:p>
        </p:txBody>
      </p:sp>
      <p:sp>
        <p:nvSpPr>
          <p:cNvPr id="383" name="文本框 382" descr="{&quot;isTemplate&quot;:true,&quot;type&quot;:&quot;text&quot;}"/>
          <p:cNvSpPr txBox="1"/>
          <p:nvPr/>
        </p:nvSpPr>
        <p:spPr>
          <a:xfrm>
            <a:off x="7000875" y="4314825"/>
            <a:ext cx="45243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1B33"/>
                </a:solidFill>
                <a:latin typeface="微软雅黑"/>
                <a:ea typeface="微软雅黑"/>
              </a:rPr>
              <a:t>常需手工／物理描述符</a:t>
            </a:r>
            <a:endParaRPr/>
          </a:p>
        </p:txBody>
      </p:sp>
      <p:sp>
        <p:nvSpPr>
          <p:cNvPr id="384" name="矩形: 圆角 383"/>
          <p:cNvSpPr/>
          <p:nvPr/>
        </p:nvSpPr>
        <p:spPr>
          <a:xfrm>
            <a:off x="571500" y="4629150"/>
            <a:ext cx="11049000" cy="371475"/>
          </a:xfrm>
          <a:prstGeom prst="roundRect">
            <a:avLst>
              <a:gd name="adj" fmla="val 15385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5" name="文本框 384" descr="{&quot;isTemplate&quot;:true,&quot;type&quot;:&quot;text&quot;}"/>
          <p:cNvSpPr txBox="1"/>
          <p:nvPr/>
        </p:nvSpPr>
        <p:spPr>
          <a:xfrm>
            <a:off x="666750" y="4714875"/>
            <a:ext cx="14287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微软雅黑"/>
                <a:ea typeface="微软雅黑"/>
              </a:rPr>
              <a:t>可解释性</a:t>
            </a:r>
            <a:endParaRPr/>
          </a:p>
        </p:txBody>
      </p:sp>
      <p:sp>
        <p:nvSpPr>
          <p:cNvPr id="386" name="文本框 385" descr="{&quot;isTemplate&quot;:true,&quot;type&quot;:&quot;text&quot;}"/>
          <p:cNvSpPr txBox="1"/>
          <p:nvPr/>
        </p:nvSpPr>
        <p:spPr>
          <a:xfrm>
            <a:off x="2286000" y="4724400"/>
            <a:ext cx="45243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6B7889"/>
                </a:solidFill>
                <a:latin typeface="微软雅黑"/>
                <a:ea typeface="微软雅黑"/>
              </a:rPr>
              <a:t>按需</a:t>
            </a:r>
            <a:endParaRPr/>
          </a:p>
        </p:txBody>
      </p:sp>
      <p:sp>
        <p:nvSpPr>
          <p:cNvPr id="387" name="文本框 386" descr="{&quot;isTemplate&quot;:true,&quot;type&quot;:&quot;text&quot;}"/>
          <p:cNvSpPr txBox="1"/>
          <p:nvPr/>
        </p:nvSpPr>
        <p:spPr>
          <a:xfrm>
            <a:off x="7000875" y="4724400"/>
            <a:ext cx="45243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0B1B33"/>
                </a:solidFill>
                <a:latin typeface="微软雅黑"/>
                <a:ea typeface="微软雅黑"/>
              </a:rPr>
              <a:t>结构–工艺–性质关联常需可解释</a:t>
            </a:r>
            <a:endParaRPr/>
          </a:p>
        </p:txBody>
      </p:sp>
      <p:sp>
        <p:nvSpPr>
          <p:cNvPr id="388" name="矩形: 圆角 387"/>
          <p:cNvSpPr/>
          <p:nvPr/>
        </p:nvSpPr>
        <p:spPr>
          <a:xfrm>
            <a:off x="381000" y="5324475"/>
            <a:ext cx="11430000" cy="485775"/>
          </a:xfrm>
          <a:prstGeom prst="roundRect">
            <a:avLst>
              <a:gd name="adj" fmla="val 19608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9" name="文本框 388" descr="{&quot;isTemplate&quot;:true,&quot;type&quot;:&quot;text&quot;}"/>
          <p:cNvSpPr txBox="1"/>
          <p:nvPr/>
        </p:nvSpPr>
        <p:spPr>
          <a:xfrm>
            <a:off x="609600" y="5457825"/>
            <a:ext cx="109728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425">
                <a:solidFill>
                  <a:srgbClr val="FFFFFF"/>
                </a:solidFill>
                <a:latin typeface="微软雅黑"/>
                <a:ea typeface="微软雅黑"/>
              </a:rPr>
              <a:t>本表只作提醒清单：差别由任务、决策风险与数据量决定，不是学科二分；协议须按任务重设</a:t>
            </a:r>
            <a:endParaRPr/>
          </a:p>
        </p:txBody>
      </p:sp>
      <p:sp>
        <p:nvSpPr>
          <p:cNvPr id="390" name="文本框 389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391" name="文本框 390" descr="{&quot;isTemplate&quot;:true,&quot;type&quot;:&quot;text&quot;}"/>
          <p:cNvSpPr txBox="1"/>
          <p:nvPr/>
        </p:nvSpPr>
        <p:spPr>
          <a:xfrm>
            <a:off x="54673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392" name="文本框 391" descr="{&quot;isTemplate&quot;:true,&quot;type&quot;:&quot;text&quot;}"/>
          <p:cNvSpPr txBox="1"/>
          <p:nvPr/>
        </p:nvSpPr>
        <p:spPr>
          <a:xfrm>
            <a:off x="11410950" y="6610350"/>
            <a:ext cx="4000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21 / 60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5" name="矩形 394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6" name="文本框 395" descr="{&quot;isTemplate&quot;:true,&quot;type&quot;:&quot;text&quot;}"/>
          <p:cNvSpPr txBox="1"/>
          <p:nvPr/>
        </p:nvSpPr>
        <p:spPr>
          <a:xfrm>
            <a:off x="342900" y="171450"/>
            <a:ext cx="3524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在材料科学中的应用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讲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材料信息学导论与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产业</a:t>
            </a:r>
            <a:endParaRPr/>
          </a:p>
        </p:txBody>
      </p:sp>
      <p:sp>
        <p:nvSpPr>
          <p:cNvPr id="397" name="文本框 396" descr="{&quot;isTemplate&quot;:true,&quot;type&quot;:&quot;text&quot;}"/>
          <p:cNvSpPr txBox="1"/>
          <p:nvPr/>
        </p:nvSpPr>
        <p:spPr>
          <a:xfrm>
            <a:off x="9172575" y="171450"/>
            <a:ext cx="15716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02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机器学习</a:t>
            </a: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 ≠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材料信息学</a:t>
            </a:r>
            <a:endParaRPr/>
          </a:p>
        </p:txBody>
      </p:sp>
      <p:pic>
        <p:nvPicPr>
          <p:cNvPr id="398" name="图片 397"/>
          <p:cNvPicPr>
            <a:picLocks noChangeAspect="1"/>
          </p:cNvPicPr>
          <p:nvPr/>
        </p:nvPicPr>
        <p:blipFill>
          <a:blip r:embed="rId3"/>
          <a:srcRect l="847" r="847"/>
          <a:stretch>
            <a:fillRect/>
          </a:stretch>
        </p:blipFill>
        <p:spPr>
          <a:xfrm>
            <a:off x="10858500" y="123825"/>
            <a:ext cx="990600" cy="247650"/>
          </a:xfrm>
          <a:prstGeom prst="rect">
            <a:avLst/>
          </a:prstGeom>
          <a:ln/>
        </p:spPr>
      </p:pic>
      <p:sp>
        <p:nvSpPr>
          <p:cNvPr id="399" name="文本框 398" descr="{&quot;isTemplate&quot;:true,&quot;type&quot;:&quot;text&quot;}"/>
          <p:cNvSpPr txBox="1"/>
          <p:nvPr/>
        </p:nvSpPr>
        <p:spPr>
          <a:xfrm>
            <a:off x="381000" y="666750"/>
            <a:ext cx="114300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钉钉进步体"/>
                <a:ea typeface="钉钉进步体"/>
              </a:rPr>
              <a:t>维度①　小数据是常态</a:t>
            </a:r>
            <a:endParaRPr/>
          </a:p>
        </p:txBody>
      </p:sp>
      <p:sp>
        <p:nvSpPr>
          <p:cNvPr id="400" name="矩形: 圆角 399"/>
          <p:cNvSpPr/>
          <p:nvPr/>
        </p:nvSpPr>
        <p:spPr>
          <a:xfrm>
            <a:off x="381000" y="1114425"/>
            <a:ext cx="571500" cy="47625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1" name="矩形: 圆角 400"/>
          <p:cNvSpPr/>
          <p:nvPr/>
        </p:nvSpPr>
        <p:spPr>
          <a:xfrm>
            <a:off x="381000" y="1333500"/>
            <a:ext cx="7372350" cy="723900"/>
          </a:xfrm>
          <a:prstGeom prst="roundRect">
            <a:avLst>
              <a:gd name="adj" fmla="val 15789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2" name="文本框 401" descr="{&quot;isTemplate&quot;:true,&quot;type&quot;:&quot;text&quot;}"/>
          <p:cNvSpPr txBox="1"/>
          <p:nvPr/>
        </p:nvSpPr>
        <p:spPr>
          <a:xfrm>
            <a:off x="647700" y="1543050"/>
            <a:ext cx="68389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950">
                <a:solidFill>
                  <a:srgbClr val="FFFFFF"/>
                </a:solidFill>
                <a:latin typeface="微软雅黑"/>
                <a:ea typeface="微软雅黑"/>
              </a:rPr>
              <a:t>本课程聚焦的材料任务　独立有效样本 10²—10³</a:t>
            </a:r>
            <a:endParaRPr/>
          </a:p>
        </p:txBody>
      </p:sp>
      <p:sp>
        <p:nvSpPr>
          <p:cNvPr id="403" name="矩形: 圆角 402"/>
          <p:cNvSpPr/>
          <p:nvPr/>
        </p:nvSpPr>
        <p:spPr>
          <a:xfrm>
            <a:off x="381000" y="2190750"/>
            <a:ext cx="7372350" cy="2162175"/>
          </a:xfrm>
          <a:prstGeom prst="roundRect">
            <a:avLst>
              <a:gd name="adj" fmla="val 440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4" name="文本框 403" descr="{&quot;isTemplate&quot;:true,&quot;type&quot;:&quot;text&quot;}"/>
          <p:cNvSpPr txBox="1"/>
          <p:nvPr/>
        </p:nvSpPr>
        <p:spPr>
          <a:xfrm>
            <a:off x="571500" y="2381250"/>
            <a:ext cx="69913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/>
                <a:ea typeface="微软雅黑"/>
              </a:rPr>
              <a:t>为什么这么小</a:t>
            </a:r>
            <a:endParaRPr/>
          </a:p>
        </p:txBody>
      </p:sp>
      <p:sp>
        <p:nvSpPr>
          <p:cNvPr id="405" name="文本框 404" descr="{&quot;isTemplate&quot;:true,&quot;type&quot;:&quot;text&quot;}"/>
          <p:cNvSpPr txBox="1"/>
          <p:nvPr/>
        </p:nvSpPr>
        <p:spPr>
          <a:xfrm>
            <a:off x="571500" y="2695575"/>
            <a:ext cx="1333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1E4FA8"/>
                </a:solidFill>
                <a:latin typeface="微软雅黑"/>
                <a:ea typeface="微软雅黑"/>
              </a:rPr>
              <a:t>1.</a:t>
            </a:r>
            <a:endParaRPr/>
          </a:p>
        </p:txBody>
      </p:sp>
      <p:sp>
        <p:nvSpPr>
          <p:cNvPr id="406" name="文本框 405" descr="{&quot;isTemplate&quot;:true,&quot;type&quot;:&quot;text&quot;}"/>
          <p:cNvSpPr txBox="1"/>
          <p:nvPr/>
        </p:nvSpPr>
        <p:spPr>
          <a:xfrm>
            <a:off x="800100" y="2695575"/>
            <a:ext cx="676275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需要合成样品，且相当比例会失败——失败原因多样</a:t>
            </a:r>
            <a:endParaRPr/>
          </a:p>
        </p:txBody>
      </p:sp>
      <p:sp>
        <p:nvSpPr>
          <p:cNvPr id="407" name="文本框 406" descr="{&quot;isTemplate&quot;:true,&quot;type&quot;:&quot;text&quot;}"/>
          <p:cNvSpPr txBox="1"/>
          <p:nvPr/>
        </p:nvSpPr>
        <p:spPr>
          <a:xfrm>
            <a:off x="571500" y="3086100"/>
            <a:ext cx="1333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1E4FA8"/>
                </a:solidFill>
                <a:latin typeface="微软雅黑"/>
                <a:ea typeface="微软雅黑"/>
              </a:rPr>
              <a:t>2.</a:t>
            </a:r>
            <a:endParaRPr/>
          </a:p>
        </p:txBody>
      </p:sp>
      <p:sp>
        <p:nvSpPr>
          <p:cNvPr id="408" name="文本框 407" descr="{&quot;isTemplate&quot;:true,&quot;type&quot;:&quot;text&quot;}"/>
          <p:cNvSpPr txBox="1"/>
          <p:nvPr/>
        </p:nvSpPr>
        <p:spPr>
          <a:xfrm>
            <a:off x="800100" y="3086100"/>
            <a:ext cx="676275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需要表征，而表征需要设备、专家与时间</a:t>
            </a:r>
            <a:endParaRPr/>
          </a:p>
        </p:txBody>
      </p:sp>
      <p:sp>
        <p:nvSpPr>
          <p:cNvPr id="409" name="文本框 408" descr="{&quot;isTemplate&quot;:true,&quot;type&quot;:&quot;text&quot;}"/>
          <p:cNvSpPr txBox="1"/>
          <p:nvPr/>
        </p:nvSpPr>
        <p:spPr>
          <a:xfrm>
            <a:off x="571500" y="3476625"/>
            <a:ext cx="1333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1E4FA8"/>
                </a:solidFill>
                <a:latin typeface="微软雅黑"/>
                <a:ea typeface="微软雅黑"/>
              </a:rPr>
              <a:t>3.</a:t>
            </a:r>
            <a:endParaRPr/>
          </a:p>
        </p:txBody>
      </p:sp>
      <p:sp>
        <p:nvSpPr>
          <p:cNvPr id="410" name="文本框 409" descr="{&quot;isTemplate&quot;:true,&quot;type&quot;:&quot;text&quot;}"/>
          <p:cNvSpPr txBox="1"/>
          <p:nvPr/>
        </p:nvSpPr>
        <p:spPr>
          <a:xfrm>
            <a:off x="800100" y="3476625"/>
            <a:ext cx="676275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材料本身需要采购，成本与库存限制批次</a:t>
            </a:r>
            <a:endParaRPr/>
          </a:p>
        </p:txBody>
      </p:sp>
      <p:sp>
        <p:nvSpPr>
          <p:cNvPr id="411" name="文本框 410" descr="{&quot;isTemplate&quot;:true,&quot;type&quot;:&quot;text&quot;}"/>
          <p:cNvSpPr txBox="1"/>
          <p:nvPr/>
        </p:nvSpPr>
        <p:spPr>
          <a:xfrm>
            <a:off x="571500" y="3867150"/>
            <a:ext cx="1333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1E4FA8"/>
                </a:solidFill>
                <a:latin typeface="微软雅黑"/>
                <a:ea typeface="微软雅黑"/>
              </a:rPr>
              <a:t>4.</a:t>
            </a:r>
            <a:endParaRPr/>
          </a:p>
        </p:txBody>
      </p:sp>
      <p:sp>
        <p:nvSpPr>
          <p:cNvPr id="412" name="文本框 411" descr="{&quot;isTemplate&quot;:true,&quot;type&quot;:&quot;text&quot;}"/>
          <p:cNvSpPr txBox="1"/>
          <p:nvPr/>
        </p:nvSpPr>
        <p:spPr>
          <a:xfrm>
            <a:off x="800100" y="3867150"/>
            <a:ext cx="676275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实验室物理空间与安全规范限制并行度</a:t>
            </a:r>
            <a:endParaRPr/>
          </a:p>
        </p:txBody>
      </p:sp>
      <p:sp>
        <p:nvSpPr>
          <p:cNvPr id="413" name="矩形: 圆角 412"/>
          <p:cNvSpPr/>
          <p:nvPr/>
        </p:nvSpPr>
        <p:spPr>
          <a:xfrm>
            <a:off x="381000" y="4486275"/>
            <a:ext cx="7372350" cy="1304925"/>
          </a:xfrm>
          <a:prstGeom prst="roundRect">
            <a:avLst>
              <a:gd name="adj" fmla="val 7299"/>
            </a:avLst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4" name="文本框 413" descr="{&quot;isTemplate&quot;:true,&quot;type&quot;:&quot;text&quot;}"/>
          <p:cNvSpPr txBox="1"/>
          <p:nvPr/>
        </p:nvSpPr>
        <p:spPr>
          <a:xfrm>
            <a:off x="571500" y="4676775"/>
            <a:ext cx="69913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8D6E00"/>
                </a:solidFill>
                <a:latin typeface="微软雅黑"/>
                <a:ea typeface="微软雅黑"/>
              </a:rPr>
              <a:t>直接后果</a:t>
            </a:r>
            <a:endParaRPr/>
          </a:p>
        </p:txBody>
      </p:sp>
      <p:sp>
        <p:nvSpPr>
          <p:cNvPr id="415" name="文本框 414" descr="{&quot;isTemplate&quot;:true,&quot;type&quot;:&quot;text&quot;}"/>
          <p:cNvSpPr txBox="1"/>
          <p:nvPr/>
        </p:nvSpPr>
        <p:spPr>
          <a:xfrm>
            <a:off x="571500" y="4972050"/>
            <a:ext cx="699135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从头训练复杂网络风险较高；迁移与强先验仍可能适用。小样本下划分可能对种子敏感，协议按应用目标定，必要时报告多种子结果。</a:t>
            </a:r>
            <a:endParaRPr/>
          </a:p>
        </p:txBody>
      </p:sp>
      <p:sp>
        <p:nvSpPr>
          <p:cNvPr id="416" name="矩形: 圆角 415"/>
          <p:cNvSpPr/>
          <p:nvPr/>
        </p:nvSpPr>
        <p:spPr>
          <a:xfrm>
            <a:off x="8001000" y="1333500"/>
            <a:ext cx="3810000" cy="2828925"/>
          </a:xfrm>
          <a:prstGeom prst="roundRect">
            <a:avLst>
              <a:gd name="adj" fmla="val 336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17" name="图片 416"/>
          <p:cNvPicPr>
            <a:picLocks noChangeAspect="1"/>
          </p:cNvPicPr>
          <p:nvPr/>
        </p:nvPicPr>
        <p:blipFill>
          <a:blip r:embed="rId4"/>
          <a:srcRect l="208" r="208"/>
          <a:stretch>
            <a:fillRect/>
          </a:stretch>
        </p:blipFill>
        <p:spPr>
          <a:xfrm>
            <a:off x="8553450" y="1485900"/>
            <a:ext cx="2714625" cy="2286000"/>
          </a:xfrm>
          <a:prstGeom prst="rect">
            <a:avLst/>
          </a:prstGeom>
          <a:ln/>
        </p:spPr>
      </p:pic>
      <p:sp>
        <p:nvSpPr>
          <p:cNvPr id="418" name="文本框 417" descr="{&quot;isTemplate&quot;:true,&quot;type&quot;:&quot;text&quot;}"/>
          <p:cNvSpPr txBox="1"/>
          <p:nvPr/>
        </p:nvSpPr>
        <p:spPr>
          <a:xfrm>
            <a:off x="8524875" y="3848100"/>
            <a:ext cx="27717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1050">
                <a:solidFill>
                  <a:srgbClr val="6B7889"/>
                </a:solidFill>
                <a:latin typeface="微软雅黑"/>
                <a:ea typeface="微软雅黑"/>
              </a:rPr>
              <a:t>Murdock et al. 2020：在其设定下描述符占优</a:t>
            </a:r>
            <a:endParaRPr/>
          </a:p>
        </p:txBody>
      </p:sp>
      <p:sp>
        <p:nvSpPr>
          <p:cNvPr id="419" name="矩形: 圆角 418"/>
          <p:cNvSpPr/>
          <p:nvPr/>
        </p:nvSpPr>
        <p:spPr>
          <a:xfrm>
            <a:off x="8001000" y="4295775"/>
            <a:ext cx="3810000" cy="1219200"/>
          </a:xfrm>
          <a:prstGeom prst="roundRect">
            <a:avLst>
              <a:gd name="adj" fmla="val 7813"/>
            </a:avLst>
          </a:prstGeom>
          <a:solidFill>
            <a:srgbClr val="E8F1FC"/>
          </a:solidFill>
          <a:ln w="12700">
            <a:solidFill>
              <a:srgbClr val="1E4F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0" name="文本框 419" descr="{&quot;isTemplate&quot;:true,&quot;type&quot;:&quot;text&quot;}"/>
          <p:cNvSpPr txBox="1"/>
          <p:nvPr/>
        </p:nvSpPr>
        <p:spPr>
          <a:xfrm>
            <a:off x="8172450" y="4467225"/>
            <a:ext cx="34671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微软雅黑"/>
                <a:ea typeface="微软雅黑"/>
              </a:rPr>
              <a:t>关键结论</a:t>
            </a:r>
            <a:endParaRPr/>
          </a:p>
        </p:txBody>
      </p:sp>
      <p:sp>
        <p:nvSpPr>
          <p:cNvPr id="421" name="文本框 420" descr="{&quot;isTemplate&quot;:true,&quot;type&quot;:&quot;text&quot;}"/>
          <p:cNvSpPr txBox="1"/>
          <p:nvPr/>
        </p:nvSpPr>
        <p:spPr>
          <a:xfrm>
            <a:off x="8172450" y="4752975"/>
            <a:ext cx="34671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样本有限时，人工设计的物理化学描述符常是更稳的起点；优劣须在同一任务、同一划分下比较。</a:t>
            </a:r>
            <a:endParaRPr/>
          </a:p>
        </p:txBody>
      </p:sp>
      <p:sp>
        <p:nvSpPr>
          <p:cNvPr id="422" name="文本框 421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423" name="文本框 422" descr="{&quot;isTemplate&quot;:true,&quot;type&quot;:&quot;text&quot;}"/>
          <p:cNvSpPr txBox="1"/>
          <p:nvPr/>
        </p:nvSpPr>
        <p:spPr>
          <a:xfrm>
            <a:off x="54673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424" name="文本框 423" descr="{&quot;isTemplate&quot;:true,&quot;type&quot;:&quot;text&quot;}"/>
          <p:cNvSpPr txBox="1"/>
          <p:nvPr/>
        </p:nvSpPr>
        <p:spPr>
          <a:xfrm>
            <a:off x="11410950" y="6610350"/>
            <a:ext cx="4000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22 / 60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矩形 4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7" name="矩形 426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8" name="文本框 427" descr="{&quot;isTemplate&quot;:true,&quot;type&quot;:&quot;text&quot;}"/>
          <p:cNvSpPr txBox="1"/>
          <p:nvPr/>
        </p:nvSpPr>
        <p:spPr>
          <a:xfrm>
            <a:off x="342900" y="171450"/>
            <a:ext cx="3524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在材料科学中的应用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讲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材料信息学导论与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产业</a:t>
            </a:r>
            <a:endParaRPr/>
          </a:p>
        </p:txBody>
      </p:sp>
      <p:sp>
        <p:nvSpPr>
          <p:cNvPr id="429" name="文本框 428" descr="{&quot;isTemplate&quot;:true,&quot;type&quot;:&quot;text&quot;}"/>
          <p:cNvSpPr txBox="1"/>
          <p:nvPr/>
        </p:nvSpPr>
        <p:spPr>
          <a:xfrm>
            <a:off x="9172575" y="171450"/>
            <a:ext cx="15716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02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机器学习</a:t>
            </a: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 ≠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材料信息学</a:t>
            </a:r>
            <a:endParaRPr/>
          </a:p>
        </p:txBody>
      </p:sp>
      <p:pic>
        <p:nvPicPr>
          <p:cNvPr id="430" name="图片 429"/>
          <p:cNvPicPr>
            <a:picLocks noChangeAspect="1"/>
          </p:cNvPicPr>
          <p:nvPr/>
        </p:nvPicPr>
        <p:blipFill>
          <a:blip r:embed="rId3"/>
          <a:srcRect l="847" r="847"/>
          <a:stretch>
            <a:fillRect/>
          </a:stretch>
        </p:blipFill>
        <p:spPr>
          <a:xfrm>
            <a:off x="10858500" y="123825"/>
            <a:ext cx="990600" cy="247650"/>
          </a:xfrm>
          <a:prstGeom prst="rect">
            <a:avLst/>
          </a:prstGeom>
          <a:ln/>
        </p:spPr>
      </p:pic>
      <p:sp>
        <p:nvSpPr>
          <p:cNvPr id="431" name="文本框 430" descr="{&quot;isTemplate&quot;:true,&quot;type&quot;:&quot;text&quot;}"/>
          <p:cNvSpPr txBox="1"/>
          <p:nvPr/>
        </p:nvSpPr>
        <p:spPr>
          <a:xfrm>
            <a:off x="381000" y="666750"/>
            <a:ext cx="114300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钉钉进步体"/>
                <a:ea typeface="钉钉进步体"/>
              </a:rPr>
              <a:t>维度②　关注离群点与外推</a:t>
            </a:r>
            <a:endParaRPr/>
          </a:p>
        </p:txBody>
      </p:sp>
      <p:sp>
        <p:nvSpPr>
          <p:cNvPr id="432" name="矩形: 圆角 431"/>
          <p:cNvSpPr/>
          <p:nvPr/>
        </p:nvSpPr>
        <p:spPr>
          <a:xfrm>
            <a:off x="381000" y="1114425"/>
            <a:ext cx="571500" cy="47625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3" name="矩形: 圆角 432"/>
          <p:cNvSpPr/>
          <p:nvPr/>
        </p:nvSpPr>
        <p:spPr>
          <a:xfrm>
            <a:off x="381000" y="1333500"/>
            <a:ext cx="5619750" cy="4010025"/>
          </a:xfrm>
          <a:prstGeom prst="roundRect">
            <a:avLst>
              <a:gd name="adj" fmla="val 285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4" name="文本框 433" descr="{&quot;isTemplate&quot;:true,&quot;type&quot;:&quot;text&quot;}"/>
          <p:cNvSpPr txBox="1"/>
          <p:nvPr/>
        </p:nvSpPr>
        <p:spPr>
          <a:xfrm>
            <a:off x="590550" y="1543050"/>
            <a:ext cx="52006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微软雅黑"/>
                <a:ea typeface="微软雅黑"/>
              </a:rPr>
              <a:t>质量控制类任务的目标</a:t>
            </a:r>
            <a:endParaRPr/>
          </a:p>
        </p:txBody>
      </p:sp>
      <p:sp>
        <p:nvSpPr>
          <p:cNvPr id="435" name="矩形: 圆角 434"/>
          <p:cNvSpPr/>
          <p:nvPr/>
        </p:nvSpPr>
        <p:spPr>
          <a:xfrm>
            <a:off x="590550" y="1924050"/>
            <a:ext cx="5200650" cy="676275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6" name="文本框 435" descr="{&quot;isTemplate&quot;:true,&quot;type&quot;:&quot;text&quot;}"/>
          <p:cNvSpPr txBox="1"/>
          <p:nvPr/>
        </p:nvSpPr>
        <p:spPr>
          <a:xfrm>
            <a:off x="1266825" y="2095500"/>
            <a:ext cx="3857625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50000"/>
              </a:lnSpc>
            </a:pPr>
            <a:r>
              <a:rPr lang="zh-CN" sz="1425">
                <a:solidFill>
                  <a:srgbClr val="1A2230"/>
                </a:solidFill>
                <a:latin typeface="微软雅黑"/>
                <a:ea typeface="微软雅黑"/>
              </a:rPr>
              <a:t>在</a:t>
            </a:r>
            <a:r>
              <a:rPr lang="zh-CN" sz="1425" b="1">
                <a:solidFill>
                  <a:srgbClr val="1A2230"/>
                </a:solidFill>
                <a:latin typeface="微软雅黑"/>
                <a:ea typeface="微软雅黑"/>
              </a:rPr>
              <a:t>与训练集同分布</a:t>
            </a:r>
            <a:r>
              <a:rPr lang="zh-CN" sz="1425">
                <a:solidFill>
                  <a:srgbClr val="1A2230"/>
                </a:solidFill>
                <a:latin typeface="微软雅黑"/>
                <a:ea typeface="微软雅黑"/>
              </a:rPr>
              <a:t>的样本上</a:t>
            </a:r>
            <a:r>
              <a:rPr lang="en-US" sz="1425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425">
                <a:solidFill>
                  <a:srgbClr val="1A2230"/>
                </a:solidFill>
                <a:latin typeface="微软雅黑"/>
                <a:ea typeface="微软雅黑"/>
              </a:rPr>
              <a:t>把平均误差压到最低</a:t>
            </a:r>
            <a:endParaRPr/>
          </a:p>
        </p:txBody>
      </p:sp>
      <p:sp>
        <p:nvSpPr>
          <p:cNvPr id="437" name="文本框 436" descr="{&quot;isTemplate&quot;:true,&quot;type&quot;:&quot;text&quot;}"/>
          <p:cNvSpPr txBox="1"/>
          <p:nvPr/>
        </p:nvSpPr>
        <p:spPr>
          <a:xfrm>
            <a:off x="590550" y="2714625"/>
            <a:ext cx="520065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200">
                <a:solidFill>
                  <a:srgbClr val="3A4759"/>
                </a:solidFill>
                <a:latin typeface="微软雅黑"/>
                <a:ea typeface="微软雅黑"/>
              </a:rPr>
              <a:t>异常观测须核对测量、缺陷与适用范围，不因离群自动删除。</a:t>
            </a:r>
            <a:endParaRPr/>
          </a:p>
        </p:txBody>
      </p:sp>
      <p:sp>
        <p:nvSpPr>
          <p:cNvPr id="438" name="矩形: 圆角 437"/>
          <p:cNvSpPr/>
          <p:nvPr/>
        </p:nvSpPr>
        <p:spPr>
          <a:xfrm>
            <a:off x="6191250" y="1333500"/>
            <a:ext cx="5619750" cy="4010025"/>
          </a:xfrm>
          <a:prstGeom prst="roundRect">
            <a:avLst>
              <a:gd name="adj" fmla="val 2850"/>
            </a:avLst>
          </a:prstGeom>
          <a:solidFill>
            <a:srgbClr val="E8F1FC"/>
          </a:solidFill>
          <a:ln w="12700">
            <a:solidFill>
              <a:srgbClr val="1E4F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9" name="文本框 438" descr="{&quot;isTemplate&quot;:true,&quot;type&quot;:&quot;text&quot;}"/>
          <p:cNvSpPr txBox="1"/>
          <p:nvPr/>
        </p:nvSpPr>
        <p:spPr>
          <a:xfrm>
            <a:off x="6400800" y="1543050"/>
            <a:ext cx="52006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微软雅黑"/>
                <a:ea typeface="微软雅黑"/>
              </a:rPr>
              <a:t>新体系发现类任务的目标</a:t>
            </a:r>
            <a:endParaRPr/>
          </a:p>
        </p:txBody>
      </p:sp>
      <p:sp>
        <p:nvSpPr>
          <p:cNvPr id="440" name="矩形: 圆角 439"/>
          <p:cNvSpPr/>
          <p:nvPr/>
        </p:nvSpPr>
        <p:spPr>
          <a:xfrm>
            <a:off x="6400800" y="1924050"/>
            <a:ext cx="5200650" cy="676275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1" name="文本框 440" descr="{&quot;isTemplate&quot;:true,&quot;type&quot;:&quot;text&quot;}"/>
          <p:cNvSpPr txBox="1"/>
          <p:nvPr/>
        </p:nvSpPr>
        <p:spPr>
          <a:xfrm>
            <a:off x="7077075" y="2095500"/>
            <a:ext cx="3857625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50000"/>
              </a:lnSpc>
            </a:pPr>
            <a:r>
              <a:rPr lang="zh-CN" sz="1425">
                <a:solidFill>
                  <a:srgbClr val="1A2230"/>
                </a:solidFill>
                <a:latin typeface="微软雅黑"/>
                <a:ea typeface="微软雅黑"/>
              </a:rPr>
              <a:t>在</a:t>
            </a:r>
            <a:r>
              <a:rPr lang="zh-CN" sz="1425" b="1">
                <a:solidFill>
                  <a:srgbClr val="C62828"/>
                </a:solidFill>
                <a:latin typeface="微软雅黑"/>
                <a:ea typeface="微软雅黑"/>
              </a:rPr>
              <a:t>训练分布之外</a:t>
            </a:r>
            <a:r>
              <a:rPr lang="zh-CN" sz="1425">
                <a:solidFill>
                  <a:srgbClr val="1A2230"/>
                </a:solidFill>
                <a:latin typeface="微软雅黑"/>
                <a:ea typeface="微软雅黑"/>
              </a:rPr>
              <a:t>的候选上</a:t>
            </a:r>
            <a:r>
              <a:rPr lang="en-US" sz="1425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425">
                <a:solidFill>
                  <a:srgbClr val="1A2230"/>
                </a:solidFill>
                <a:latin typeface="微软雅黑"/>
                <a:ea typeface="微软雅黑"/>
              </a:rPr>
              <a:t>给出可信且诚实的预测</a:t>
            </a:r>
            <a:endParaRPr/>
          </a:p>
        </p:txBody>
      </p:sp>
      <p:sp>
        <p:nvSpPr>
          <p:cNvPr id="442" name="文本框 441" descr="{&quot;isTemplate&quot;:true,&quot;type&quot;:&quot;text&quot;}"/>
          <p:cNvSpPr txBox="1"/>
          <p:nvPr/>
        </p:nvSpPr>
        <p:spPr>
          <a:xfrm>
            <a:off x="6400800" y="2714625"/>
            <a:ext cx="520065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200" b="1">
                <a:solidFill>
                  <a:srgbClr val="3A4759"/>
                </a:solidFill>
                <a:latin typeface="微软雅黑"/>
                <a:ea typeface="微软雅黑"/>
              </a:rPr>
              <a:t>这类任务才更强调外推：候选常落在训练分布之外。</a:t>
            </a:r>
            <a:endParaRPr/>
          </a:p>
        </p:txBody>
      </p:sp>
      <p:sp>
        <p:nvSpPr>
          <p:cNvPr id="443" name="矩形: 圆角 442"/>
          <p:cNvSpPr/>
          <p:nvPr/>
        </p:nvSpPr>
        <p:spPr>
          <a:xfrm>
            <a:off x="381000" y="5476875"/>
            <a:ext cx="11430000" cy="1038225"/>
          </a:xfrm>
          <a:prstGeom prst="roundRect">
            <a:avLst>
              <a:gd name="adj" fmla="val 9174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4" name="文本框 443" descr="{&quot;isTemplate&quot;:true,&quot;type&quot;:&quot;text&quot;}"/>
          <p:cNvSpPr txBox="1"/>
          <p:nvPr/>
        </p:nvSpPr>
        <p:spPr>
          <a:xfrm>
            <a:off x="628650" y="5648325"/>
            <a:ext cx="10934700" cy="6953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425" b="1">
                <a:solidFill>
                  <a:srgbClr val="FFC107"/>
                </a:solidFill>
                <a:latin typeface="微软雅黑"/>
                <a:ea typeface="微软雅黑"/>
              </a:rPr>
              <a:t>两类目标常同时存在：工艺质控看同分布，新体系筛选看外推。验证协议必须与研究目标一致；只在已知区域表现好的模型可用于质控，但不足以支撑「发现」结论（第 8 讲）。</a:t>
            </a:r>
            <a:endParaRPr/>
          </a:p>
        </p:txBody>
      </p:sp>
      <p:sp>
        <p:nvSpPr>
          <p:cNvPr id="445" name="文本框 444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446" name="文本框 445" descr="{&quot;isTemplate&quot;:true,&quot;type&quot;:&quot;text&quot;}"/>
          <p:cNvSpPr txBox="1"/>
          <p:nvPr/>
        </p:nvSpPr>
        <p:spPr>
          <a:xfrm>
            <a:off x="54673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447" name="文本框 446" descr="{&quot;isTemplate&quot;:true,&quot;type&quot;:&quot;text&quot;}"/>
          <p:cNvSpPr txBox="1"/>
          <p:nvPr/>
        </p:nvSpPr>
        <p:spPr>
          <a:xfrm>
            <a:off x="11410950" y="6610350"/>
            <a:ext cx="4000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23 / 60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矩形 44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0" name="矩形 449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1" name="文本框 450" descr="{&quot;isTemplate&quot;:true,&quot;type&quot;:&quot;text&quot;}"/>
          <p:cNvSpPr txBox="1"/>
          <p:nvPr/>
        </p:nvSpPr>
        <p:spPr>
          <a:xfrm>
            <a:off x="342900" y="171450"/>
            <a:ext cx="3524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在材料科学中的应用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讲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材料信息学导论与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产业</a:t>
            </a:r>
            <a:endParaRPr/>
          </a:p>
        </p:txBody>
      </p:sp>
      <p:sp>
        <p:nvSpPr>
          <p:cNvPr id="452" name="文本框 451" descr="{&quot;isTemplate&quot;:true,&quot;type&quot;:&quot;text&quot;}"/>
          <p:cNvSpPr txBox="1"/>
          <p:nvPr/>
        </p:nvSpPr>
        <p:spPr>
          <a:xfrm>
            <a:off x="9172575" y="171450"/>
            <a:ext cx="15716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02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机器学习</a:t>
            </a: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 ≠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材料信息学</a:t>
            </a:r>
            <a:endParaRPr/>
          </a:p>
        </p:txBody>
      </p:sp>
      <p:pic>
        <p:nvPicPr>
          <p:cNvPr id="453" name="图片 452"/>
          <p:cNvPicPr>
            <a:picLocks noChangeAspect="1"/>
          </p:cNvPicPr>
          <p:nvPr/>
        </p:nvPicPr>
        <p:blipFill>
          <a:blip r:embed="rId2"/>
          <a:srcRect l="847" r="847"/>
          <a:stretch>
            <a:fillRect/>
          </a:stretch>
        </p:blipFill>
        <p:spPr>
          <a:xfrm>
            <a:off x="10858500" y="123825"/>
            <a:ext cx="990600" cy="247650"/>
          </a:xfrm>
          <a:prstGeom prst="rect">
            <a:avLst/>
          </a:prstGeom>
          <a:ln/>
        </p:spPr>
      </p:pic>
      <p:sp>
        <p:nvSpPr>
          <p:cNvPr id="454" name="文本框 453" descr="{&quot;isTemplate&quot;:true,&quot;type&quot;:&quot;text&quot;}"/>
          <p:cNvSpPr txBox="1"/>
          <p:nvPr/>
        </p:nvSpPr>
        <p:spPr>
          <a:xfrm>
            <a:off x="381000" y="666750"/>
            <a:ext cx="114300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钉钉进步体"/>
                <a:ea typeface="钉钉进步体"/>
              </a:rPr>
              <a:t>维度③　高度异质的数据</a:t>
            </a:r>
            <a:endParaRPr/>
          </a:p>
        </p:txBody>
      </p:sp>
      <p:sp>
        <p:nvSpPr>
          <p:cNvPr id="455" name="矩形: 圆角 454"/>
          <p:cNvSpPr/>
          <p:nvPr/>
        </p:nvSpPr>
        <p:spPr>
          <a:xfrm>
            <a:off x="381000" y="1114425"/>
            <a:ext cx="571500" cy="47625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6" name="文本框 455" descr="{&quot;isTemplate&quot;:true,&quot;type&quot;:&quot;text&quot;}"/>
          <p:cNvSpPr txBox="1"/>
          <p:nvPr/>
        </p:nvSpPr>
        <p:spPr>
          <a:xfrm>
            <a:off x="381000" y="1333500"/>
            <a:ext cx="11430000" cy="6953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425">
                <a:solidFill>
                  <a:srgbClr val="3A4759"/>
                </a:solidFill>
                <a:latin typeface="微软雅黑"/>
                <a:ea typeface="微软雅黑"/>
              </a:rPr>
              <a:t>材料数据不是单一形态，而是</a:t>
            </a:r>
            <a:r>
              <a:rPr lang="zh-CN" sz="1425" b="1">
                <a:solidFill>
                  <a:srgbClr val="0E3F8C"/>
                </a:solidFill>
                <a:latin typeface="微软雅黑"/>
                <a:ea typeface="微软雅黑"/>
              </a:rPr>
              <a:t>多个模态并存</a:t>
            </a:r>
            <a:r>
              <a:rPr lang="zh-CN" sz="1425">
                <a:solidFill>
                  <a:srgbClr val="3A4759"/>
                </a:solidFill>
                <a:latin typeface="微软雅黑"/>
                <a:ea typeface="微软雅黑"/>
              </a:rPr>
              <a:t>：同一个材料可能同时以化学式、晶体结构、显微图像、</a:t>
            </a:r>
            <a:r>
              <a:rPr lang="en-US" sz="1425">
                <a:solidFill>
                  <a:srgbClr val="3A4759"/>
                </a:solidFill>
                <a:latin typeface="微软雅黑"/>
                <a:ea typeface="微软雅黑"/>
              </a:rPr>
              <a:t>XRD </a:t>
            </a:r>
            <a:r>
              <a:rPr lang="zh-CN" sz="1425">
                <a:solidFill>
                  <a:srgbClr val="3A4759"/>
                </a:solidFill>
                <a:latin typeface="微软雅黑"/>
                <a:ea typeface="微软雅黑"/>
              </a:rPr>
              <a:t>图谱、工艺参数等多种形式被记录，格式、单位、精度各不相同。</a:t>
            </a:r>
            <a:endParaRPr/>
          </a:p>
        </p:txBody>
      </p:sp>
      <p:sp>
        <p:nvSpPr>
          <p:cNvPr id="457" name="矩形: 圆角 456"/>
          <p:cNvSpPr/>
          <p:nvPr/>
        </p:nvSpPr>
        <p:spPr>
          <a:xfrm>
            <a:off x="381000" y="2162175"/>
            <a:ext cx="1781175" cy="3581400"/>
          </a:xfrm>
          <a:prstGeom prst="roundRect">
            <a:avLst>
              <a:gd name="adj" fmla="val 5348"/>
            </a:avLst>
          </a:prstGeom>
          <a:solidFill>
            <a:srgbClr val="E3EC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8" name="文本框 457" descr="{&quot;isTemplate&quot;:true,&quot;type&quot;:&quot;text&quot;}"/>
          <p:cNvSpPr txBox="1"/>
          <p:nvPr/>
        </p:nvSpPr>
        <p:spPr>
          <a:xfrm>
            <a:off x="514350" y="2314575"/>
            <a:ext cx="151447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425" b="1">
                <a:solidFill>
                  <a:srgbClr val="0B1B33"/>
                </a:solidFill>
                <a:latin typeface="微软雅黑"/>
                <a:ea typeface="微软雅黑"/>
              </a:rPr>
              <a:t>成分</a:t>
            </a:r>
            <a:endParaRPr/>
          </a:p>
        </p:txBody>
      </p:sp>
      <p:sp>
        <p:nvSpPr>
          <p:cNvPr id="459" name="文本框 458" descr="{&quot;isTemplate&quot;:true,&quot;type&quot;:&quot;text&quot;}"/>
          <p:cNvSpPr txBox="1"/>
          <p:nvPr/>
        </p:nvSpPr>
        <p:spPr>
          <a:xfrm>
            <a:off x="514350" y="2609850"/>
            <a:ext cx="15144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45000"/>
              </a:lnSpc>
            </a:pP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化学式、元素分数</a:t>
            </a:r>
            <a:endParaRPr/>
          </a:p>
        </p:txBody>
      </p:sp>
      <p:sp>
        <p:nvSpPr>
          <p:cNvPr id="460" name="矩形 459"/>
          <p:cNvSpPr/>
          <p:nvPr/>
        </p:nvSpPr>
        <p:spPr>
          <a:xfrm>
            <a:off x="514350" y="2962275"/>
            <a:ext cx="1514475" cy="95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1" name="文本框 460" descr="{&quot;isTemplate&quot;:true,&quot;type&quot;:&quot;text&quot;}"/>
          <p:cNvSpPr txBox="1"/>
          <p:nvPr/>
        </p:nvSpPr>
        <p:spPr>
          <a:xfrm>
            <a:off x="514350" y="3067050"/>
            <a:ext cx="151447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40000"/>
              </a:lnSpc>
            </a:pPr>
            <a:r>
              <a:rPr lang="en-US" sz="975">
                <a:solidFill>
                  <a:srgbClr val="4A5A6E"/>
                </a:solidFill>
                <a:latin typeface="微软雅黑"/>
                <a:ea typeface="微软雅黑"/>
              </a:rPr>
              <a:t>MpApi </a:t>
            </a:r>
            <a:r>
              <a:rPr lang="zh-CN" sz="975">
                <a:solidFill>
                  <a:srgbClr val="4A5A6E"/>
                </a:solidFill>
                <a:latin typeface="微软雅黑"/>
                <a:ea typeface="微软雅黑"/>
              </a:rPr>
              <a:t>返回的</a:t>
            </a:r>
            <a:r>
              <a:rPr lang="en-US" sz="975">
                <a:solidFill>
                  <a:srgbClr val="4A5A6E"/>
                </a:solidFill>
                <a:latin typeface="微软雅黑"/>
                <a:ea typeface="微软雅黑"/>
              </a:rPr>
              <a:t> composition</a:t>
            </a:r>
            <a:endParaRPr/>
          </a:p>
        </p:txBody>
      </p:sp>
      <p:sp>
        <p:nvSpPr>
          <p:cNvPr id="462" name="矩形: 圆角 461"/>
          <p:cNvSpPr/>
          <p:nvPr/>
        </p:nvSpPr>
        <p:spPr>
          <a:xfrm>
            <a:off x="2314575" y="2162175"/>
            <a:ext cx="1771650" cy="3581400"/>
          </a:xfrm>
          <a:prstGeom prst="roundRect">
            <a:avLst>
              <a:gd name="adj" fmla="val 5376"/>
            </a:avLst>
          </a:prstGeom>
          <a:solidFill>
            <a:srgbClr val="D3E0F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3" name="文本框 462" descr="{&quot;isTemplate&quot;:true,&quot;type&quot;:&quot;text&quot;}"/>
          <p:cNvSpPr txBox="1"/>
          <p:nvPr/>
        </p:nvSpPr>
        <p:spPr>
          <a:xfrm>
            <a:off x="2447925" y="2314575"/>
            <a:ext cx="15049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425" b="1">
                <a:solidFill>
                  <a:srgbClr val="0B1B33"/>
                </a:solidFill>
                <a:latin typeface="微软雅黑"/>
                <a:ea typeface="微软雅黑"/>
              </a:rPr>
              <a:t>结构</a:t>
            </a:r>
            <a:endParaRPr/>
          </a:p>
        </p:txBody>
      </p:sp>
      <p:sp>
        <p:nvSpPr>
          <p:cNvPr id="464" name="文本框 463" descr="{&quot;isTemplate&quot;:true,&quot;type&quot;:&quot;text&quot;}"/>
          <p:cNvSpPr txBox="1"/>
          <p:nvPr/>
        </p:nvSpPr>
        <p:spPr>
          <a:xfrm>
            <a:off x="2447925" y="2609850"/>
            <a:ext cx="15049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45000"/>
              </a:lnSpc>
            </a:pP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晶格参数、原子坐标</a:t>
            </a:r>
            <a:endParaRPr/>
          </a:p>
        </p:txBody>
      </p:sp>
      <p:sp>
        <p:nvSpPr>
          <p:cNvPr id="465" name="矩形 464"/>
          <p:cNvSpPr/>
          <p:nvPr/>
        </p:nvSpPr>
        <p:spPr>
          <a:xfrm>
            <a:off x="2447925" y="2962275"/>
            <a:ext cx="1504950" cy="95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6" name="文本框 465" descr="{&quot;isTemplate&quot;:true,&quot;type&quot;:&quot;text&quot;}"/>
          <p:cNvSpPr txBox="1"/>
          <p:nvPr/>
        </p:nvSpPr>
        <p:spPr>
          <a:xfrm>
            <a:off x="2447925" y="3067050"/>
            <a:ext cx="15049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40000"/>
              </a:lnSpc>
            </a:pPr>
            <a:r>
              <a:rPr lang="en-US" sz="975">
                <a:solidFill>
                  <a:srgbClr val="4A5A6E"/>
                </a:solidFill>
                <a:latin typeface="微软雅黑"/>
                <a:ea typeface="微软雅黑"/>
              </a:rPr>
              <a:t>pymatgen Structure </a:t>
            </a:r>
            <a:r>
              <a:rPr lang="zh-CN" sz="975">
                <a:solidFill>
                  <a:srgbClr val="4A5A6E"/>
                </a:solidFill>
                <a:latin typeface="微软雅黑"/>
                <a:ea typeface="微软雅黑"/>
              </a:rPr>
              <a:t>对象</a:t>
            </a:r>
            <a:endParaRPr/>
          </a:p>
        </p:txBody>
      </p:sp>
      <p:sp>
        <p:nvSpPr>
          <p:cNvPr id="467" name="矩形: 圆角 466"/>
          <p:cNvSpPr/>
          <p:nvPr/>
        </p:nvSpPr>
        <p:spPr>
          <a:xfrm>
            <a:off x="4238625" y="2162175"/>
            <a:ext cx="1781175" cy="3581400"/>
          </a:xfrm>
          <a:prstGeom prst="roundRect">
            <a:avLst>
              <a:gd name="adj" fmla="val 5348"/>
            </a:avLst>
          </a:prstGeom>
          <a:solidFill>
            <a:srgbClr val="C3D5E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8" name="文本框 467" descr="{&quot;isTemplate&quot;:true,&quot;type&quot;:&quot;text&quot;}"/>
          <p:cNvSpPr txBox="1"/>
          <p:nvPr/>
        </p:nvSpPr>
        <p:spPr>
          <a:xfrm>
            <a:off x="4371975" y="2314575"/>
            <a:ext cx="151447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425" b="1">
                <a:solidFill>
                  <a:srgbClr val="0B1B33"/>
                </a:solidFill>
                <a:latin typeface="微软雅黑"/>
                <a:ea typeface="微软雅黑"/>
              </a:rPr>
              <a:t>图像</a:t>
            </a:r>
            <a:endParaRPr/>
          </a:p>
        </p:txBody>
      </p:sp>
      <p:sp>
        <p:nvSpPr>
          <p:cNvPr id="469" name="文本框 468" descr="{&quot;isTemplate&quot;:true,&quot;type&quot;:&quot;text&quot;}"/>
          <p:cNvSpPr txBox="1"/>
          <p:nvPr/>
        </p:nvSpPr>
        <p:spPr>
          <a:xfrm>
            <a:off x="4371975" y="2609850"/>
            <a:ext cx="15144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45000"/>
              </a:lnSpc>
            </a:pP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显微图、扫描电镜</a:t>
            </a:r>
            <a:endParaRPr/>
          </a:p>
        </p:txBody>
      </p:sp>
      <p:sp>
        <p:nvSpPr>
          <p:cNvPr id="470" name="矩形 469"/>
          <p:cNvSpPr/>
          <p:nvPr/>
        </p:nvSpPr>
        <p:spPr>
          <a:xfrm>
            <a:off x="4371975" y="2962275"/>
            <a:ext cx="1514475" cy="95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1" name="文本框 470" descr="{&quot;isTemplate&quot;:true,&quot;type&quot;:&quot;text&quot;}"/>
          <p:cNvSpPr txBox="1"/>
          <p:nvPr/>
        </p:nvSpPr>
        <p:spPr>
          <a:xfrm>
            <a:off x="4371975" y="3067050"/>
            <a:ext cx="151447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40000"/>
              </a:lnSpc>
            </a:pPr>
            <a:r>
              <a:rPr lang="en-US" sz="975">
                <a:solidFill>
                  <a:srgbClr val="4A5A6E"/>
                </a:solidFill>
                <a:latin typeface="微软雅黑"/>
                <a:ea typeface="微软雅黑"/>
              </a:rPr>
              <a:t>tiff/png </a:t>
            </a:r>
            <a:r>
              <a:rPr lang="zh-CN" sz="975">
                <a:solidFill>
                  <a:srgbClr val="4A5A6E"/>
                </a:solidFill>
                <a:latin typeface="微软雅黑"/>
                <a:ea typeface="微软雅黑"/>
              </a:rPr>
              <a:t>像素矩阵</a:t>
            </a:r>
            <a:endParaRPr/>
          </a:p>
        </p:txBody>
      </p:sp>
      <p:sp>
        <p:nvSpPr>
          <p:cNvPr id="472" name="矩形: 圆角 471"/>
          <p:cNvSpPr/>
          <p:nvPr/>
        </p:nvSpPr>
        <p:spPr>
          <a:xfrm>
            <a:off x="6172200" y="2162175"/>
            <a:ext cx="1781175" cy="3581400"/>
          </a:xfrm>
          <a:prstGeom prst="roundRect">
            <a:avLst>
              <a:gd name="adj" fmla="val 5348"/>
            </a:avLst>
          </a:prstGeom>
          <a:solidFill>
            <a:srgbClr val="B3C9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3" name="文本框 472" descr="{&quot;isTemplate&quot;:true,&quot;type&quot;:&quot;text&quot;}"/>
          <p:cNvSpPr txBox="1"/>
          <p:nvPr/>
        </p:nvSpPr>
        <p:spPr>
          <a:xfrm>
            <a:off x="6305550" y="2314575"/>
            <a:ext cx="151447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425" b="1">
                <a:solidFill>
                  <a:srgbClr val="0B1B33"/>
                </a:solidFill>
                <a:latin typeface="微软雅黑"/>
                <a:ea typeface="微软雅黑"/>
              </a:rPr>
              <a:t>谱图</a:t>
            </a:r>
            <a:endParaRPr/>
          </a:p>
        </p:txBody>
      </p:sp>
      <p:sp>
        <p:nvSpPr>
          <p:cNvPr id="474" name="文本框 473" descr="{&quot;isTemplate&quot;:true,&quot;type&quot;:&quot;text&quot;}"/>
          <p:cNvSpPr txBox="1"/>
          <p:nvPr/>
        </p:nvSpPr>
        <p:spPr>
          <a:xfrm>
            <a:off x="6305550" y="2609850"/>
            <a:ext cx="15144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45000"/>
              </a:lnSpc>
            </a:pP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XRD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、</a:t>
            </a: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XPS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、拉曼</a:t>
            </a:r>
            <a:endParaRPr/>
          </a:p>
        </p:txBody>
      </p:sp>
      <p:sp>
        <p:nvSpPr>
          <p:cNvPr id="475" name="矩形 474"/>
          <p:cNvSpPr/>
          <p:nvPr/>
        </p:nvSpPr>
        <p:spPr>
          <a:xfrm>
            <a:off x="6305550" y="2962275"/>
            <a:ext cx="1514475" cy="95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6" name="文本框 475" descr="{&quot;isTemplate&quot;:true,&quot;type&quot;:&quot;text&quot;}"/>
          <p:cNvSpPr txBox="1"/>
          <p:nvPr/>
        </p:nvSpPr>
        <p:spPr>
          <a:xfrm>
            <a:off x="6305550" y="3067050"/>
            <a:ext cx="151447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40000"/>
              </a:lnSpc>
            </a:pPr>
            <a:r>
              <a:rPr lang="zh-CN" sz="975">
                <a:solidFill>
                  <a:srgbClr val="4A5A6E"/>
                </a:solidFill>
                <a:latin typeface="微软雅黑"/>
                <a:ea typeface="微软雅黑"/>
              </a:rPr>
              <a:t>强度–角度曲线</a:t>
            </a:r>
            <a:endParaRPr/>
          </a:p>
        </p:txBody>
      </p:sp>
      <p:sp>
        <p:nvSpPr>
          <p:cNvPr id="477" name="矩形: 圆角 476"/>
          <p:cNvSpPr/>
          <p:nvPr/>
        </p:nvSpPr>
        <p:spPr>
          <a:xfrm>
            <a:off x="8105775" y="2162175"/>
            <a:ext cx="1771650" cy="3581400"/>
          </a:xfrm>
          <a:prstGeom prst="roundRect">
            <a:avLst>
              <a:gd name="adj" fmla="val 5376"/>
            </a:avLst>
          </a:prstGeom>
          <a:solidFill>
            <a:srgbClr val="A3BCE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8" name="文本框 477" descr="{&quot;isTemplate&quot;:true,&quot;type&quot;:&quot;text&quot;}"/>
          <p:cNvSpPr txBox="1"/>
          <p:nvPr/>
        </p:nvSpPr>
        <p:spPr>
          <a:xfrm>
            <a:off x="8239125" y="2314575"/>
            <a:ext cx="15049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425" b="1">
                <a:solidFill>
                  <a:srgbClr val="0B1B33"/>
                </a:solidFill>
                <a:latin typeface="微软雅黑"/>
                <a:ea typeface="微软雅黑"/>
              </a:rPr>
              <a:t>工艺</a:t>
            </a:r>
            <a:endParaRPr/>
          </a:p>
        </p:txBody>
      </p:sp>
      <p:sp>
        <p:nvSpPr>
          <p:cNvPr id="479" name="文本框 478" descr="{&quot;isTemplate&quot;:true,&quot;type&quot;:&quot;text&quot;}"/>
          <p:cNvSpPr txBox="1"/>
          <p:nvPr/>
        </p:nvSpPr>
        <p:spPr>
          <a:xfrm>
            <a:off x="8239125" y="2609850"/>
            <a:ext cx="15049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45000"/>
              </a:lnSpc>
            </a:pP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温度、压力、时间</a:t>
            </a:r>
            <a:endParaRPr/>
          </a:p>
        </p:txBody>
      </p:sp>
      <p:sp>
        <p:nvSpPr>
          <p:cNvPr id="480" name="矩形 479"/>
          <p:cNvSpPr/>
          <p:nvPr/>
        </p:nvSpPr>
        <p:spPr>
          <a:xfrm>
            <a:off x="8239125" y="2962275"/>
            <a:ext cx="1504950" cy="95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1" name="文本框 480" descr="{&quot;isTemplate&quot;:true,&quot;type&quot;:&quot;text&quot;}"/>
          <p:cNvSpPr txBox="1"/>
          <p:nvPr/>
        </p:nvSpPr>
        <p:spPr>
          <a:xfrm>
            <a:off x="8239125" y="3067050"/>
            <a:ext cx="15049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40000"/>
              </a:lnSpc>
            </a:pPr>
            <a:r>
              <a:rPr lang="zh-CN" sz="975">
                <a:solidFill>
                  <a:srgbClr val="4A5A6E"/>
                </a:solidFill>
                <a:latin typeface="微软雅黑"/>
                <a:ea typeface="微软雅黑"/>
              </a:rPr>
              <a:t>工艺记录表</a:t>
            </a:r>
            <a:endParaRPr/>
          </a:p>
        </p:txBody>
      </p:sp>
      <p:sp>
        <p:nvSpPr>
          <p:cNvPr id="482" name="矩形: 圆角 481"/>
          <p:cNvSpPr/>
          <p:nvPr/>
        </p:nvSpPr>
        <p:spPr>
          <a:xfrm>
            <a:off x="10029825" y="2162175"/>
            <a:ext cx="1781175" cy="3581400"/>
          </a:xfrm>
          <a:prstGeom prst="roundRect">
            <a:avLst>
              <a:gd name="adj" fmla="val 5348"/>
            </a:avLst>
          </a:prstGeom>
          <a:solidFill>
            <a:srgbClr val="93AED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3" name="文本框 482" descr="{&quot;isTemplate&quot;:true,&quot;type&quot;:&quot;text&quot;}"/>
          <p:cNvSpPr txBox="1"/>
          <p:nvPr/>
        </p:nvSpPr>
        <p:spPr>
          <a:xfrm>
            <a:off x="10163175" y="2314575"/>
            <a:ext cx="151447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425" b="1">
                <a:solidFill>
                  <a:srgbClr val="0B1B33"/>
                </a:solidFill>
                <a:latin typeface="微软雅黑"/>
                <a:ea typeface="微软雅黑"/>
              </a:rPr>
              <a:t>性质</a:t>
            </a:r>
            <a:endParaRPr/>
          </a:p>
        </p:txBody>
      </p:sp>
      <p:sp>
        <p:nvSpPr>
          <p:cNvPr id="484" name="文本框 483" descr="{&quot;isTemplate&quot;:true,&quot;type&quot;:&quot;text&quot;}"/>
          <p:cNvSpPr txBox="1"/>
          <p:nvPr/>
        </p:nvSpPr>
        <p:spPr>
          <a:xfrm>
            <a:off x="10163175" y="2609850"/>
            <a:ext cx="15144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45000"/>
              </a:lnSpc>
            </a:pP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带隙、强度、韧性</a:t>
            </a:r>
            <a:endParaRPr/>
          </a:p>
        </p:txBody>
      </p:sp>
      <p:sp>
        <p:nvSpPr>
          <p:cNvPr id="485" name="矩形 484"/>
          <p:cNvSpPr/>
          <p:nvPr/>
        </p:nvSpPr>
        <p:spPr>
          <a:xfrm>
            <a:off x="10163175" y="2962275"/>
            <a:ext cx="1514475" cy="95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6" name="文本框 485" descr="{&quot;isTemplate&quot;:true,&quot;type&quot;:&quot;text&quot;}"/>
          <p:cNvSpPr txBox="1"/>
          <p:nvPr/>
        </p:nvSpPr>
        <p:spPr>
          <a:xfrm>
            <a:off x="10163175" y="3067050"/>
            <a:ext cx="151447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40000"/>
              </a:lnSpc>
            </a:pPr>
            <a:r>
              <a:rPr lang="zh-CN" sz="975">
                <a:solidFill>
                  <a:srgbClr val="4A5A6E"/>
                </a:solidFill>
                <a:latin typeface="微软雅黑"/>
                <a:ea typeface="微软雅黑"/>
              </a:rPr>
              <a:t>目标预测量</a:t>
            </a:r>
            <a:endParaRPr/>
          </a:p>
        </p:txBody>
      </p:sp>
      <p:sp>
        <p:nvSpPr>
          <p:cNvPr id="487" name="矩形: 圆角 486"/>
          <p:cNvSpPr/>
          <p:nvPr/>
        </p:nvSpPr>
        <p:spPr>
          <a:xfrm>
            <a:off x="381000" y="5876925"/>
            <a:ext cx="11430000" cy="638175"/>
          </a:xfrm>
          <a:prstGeom prst="roundRect">
            <a:avLst>
              <a:gd name="adj" fmla="val 14925"/>
            </a:avLst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8" name="文本框 487" descr="{&quot;isTemplate&quot;:true,&quot;type&quot;:&quot;text&quot;}"/>
          <p:cNvSpPr txBox="1"/>
          <p:nvPr/>
        </p:nvSpPr>
        <p:spPr>
          <a:xfrm>
            <a:off x="609600" y="6029325"/>
            <a:ext cx="10972800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8D6E00"/>
                </a:solidFill>
                <a:latin typeface="微软雅黑"/>
                <a:ea typeface="微软雅黑"/>
              </a:rPr>
              <a:t>实践含义：</a:t>
            </a: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选错了模态，就等于选错了问题。本课程第</a:t>
            </a:r>
            <a:r>
              <a:rPr lang="en-US" sz="1350">
                <a:solidFill>
                  <a:srgbClr val="1A2230"/>
                </a:solidFill>
                <a:latin typeface="微软雅黑"/>
                <a:ea typeface="微软雅黑"/>
              </a:rPr>
              <a:t> 5 </a:t>
            </a: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讲会讲清六类数据格式各自的适用边界与信息损失。</a:t>
            </a:r>
            <a:endParaRPr/>
          </a:p>
        </p:txBody>
      </p:sp>
      <p:sp>
        <p:nvSpPr>
          <p:cNvPr id="489" name="文本框 488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490" name="文本框 489" descr="{&quot;isTemplate&quot;:true,&quot;type&quot;:&quot;text&quot;}"/>
          <p:cNvSpPr txBox="1"/>
          <p:nvPr/>
        </p:nvSpPr>
        <p:spPr>
          <a:xfrm>
            <a:off x="54673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491" name="文本框 490" descr="{&quot;isTemplate&quot;:true,&quot;type&quot;:&quot;text&quot;}"/>
          <p:cNvSpPr txBox="1"/>
          <p:nvPr/>
        </p:nvSpPr>
        <p:spPr>
          <a:xfrm>
            <a:off x="11410950" y="6610350"/>
            <a:ext cx="4000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24 / 60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矩形 49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4" name="矩形 493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5" name="文本框 494" descr="{&quot;isTemplate&quot;:true,&quot;type&quot;:&quot;text&quot;}"/>
          <p:cNvSpPr txBox="1"/>
          <p:nvPr/>
        </p:nvSpPr>
        <p:spPr>
          <a:xfrm>
            <a:off x="342900" y="171450"/>
            <a:ext cx="3524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在材料科学中的应用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讲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材料信息学导论与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产业</a:t>
            </a:r>
            <a:endParaRPr/>
          </a:p>
        </p:txBody>
      </p:sp>
      <p:sp>
        <p:nvSpPr>
          <p:cNvPr id="496" name="文本框 495" descr="{&quot;isTemplate&quot;:true,&quot;type&quot;:&quot;text&quot;}"/>
          <p:cNvSpPr txBox="1"/>
          <p:nvPr/>
        </p:nvSpPr>
        <p:spPr>
          <a:xfrm>
            <a:off x="9172575" y="171450"/>
            <a:ext cx="15716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02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机器学习</a:t>
            </a: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 ≠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材料信息学</a:t>
            </a:r>
            <a:endParaRPr/>
          </a:p>
        </p:txBody>
      </p:sp>
      <p:pic>
        <p:nvPicPr>
          <p:cNvPr id="497" name="图片 496"/>
          <p:cNvPicPr>
            <a:picLocks noChangeAspect="1"/>
          </p:cNvPicPr>
          <p:nvPr/>
        </p:nvPicPr>
        <p:blipFill>
          <a:blip r:embed="rId2"/>
          <a:srcRect l="847" r="847"/>
          <a:stretch>
            <a:fillRect/>
          </a:stretch>
        </p:blipFill>
        <p:spPr>
          <a:xfrm>
            <a:off x="10858500" y="123825"/>
            <a:ext cx="990600" cy="247650"/>
          </a:xfrm>
          <a:prstGeom prst="rect">
            <a:avLst/>
          </a:prstGeom>
          <a:ln/>
        </p:spPr>
      </p:pic>
      <p:sp>
        <p:nvSpPr>
          <p:cNvPr id="498" name="文本框 497" descr="{&quot;isTemplate&quot;:true,&quot;type&quot;:&quot;text&quot;}"/>
          <p:cNvSpPr txBox="1"/>
          <p:nvPr/>
        </p:nvSpPr>
        <p:spPr>
          <a:xfrm>
            <a:off x="381000" y="666750"/>
            <a:ext cx="114300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钉钉进步体"/>
                <a:ea typeface="钉钉进步体"/>
              </a:rPr>
              <a:t>维度④　不确定性量化是必需的</a:t>
            </a:r>
            <a:endParaRPr/>
          </a:p>
        </p:txBody>
      </p:sp>
      <p:sp>
        <p:nvSpPr>
          <p:cNvPr id="499" name="矩形: 圆角 498"/>
          <p:cNvSpPr/>
          <p:nvPr/>
        </p:nvSpPr>
        <p:spPr>
          <a:xfrm>
            <a:off x="381000" y="1114425"/>
            <a:ext cx="571500" cy="47625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00" name="矩形: 圆角 499"/>
          <p:cNvSpPr/>
          <p:nvPr/>
        </p:nvSpPr>
        <p:spPr>
          <a:xfrm>
            <a:off x="381000" y="1333500"/>
            <a:ext cx="11430000" cy="676275"/>
          </a:xfrm>
          <a:prstGeom prst="roundRect">
            <a:avLst>
              <a:gd name="adj" fmla="val 16901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01" name="文本框 500" descr="{&quot;isTemplate&quot;:true,&quot;type&quot;:&quot;text&quot;}"/>
          <p:cNvSpPr txBox="1"/>
          <p:nvPr/>
        </p:nvSpPr>
        <p:spPr>
          <a:xfrm>
            <a:off x="647700" y="1543050"/>
            <a:ext cx="108966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650">
                <a:solidFill>
                  <a:srgbClr val="FFFFFF"/>
                </a:solidFill>
                <a:latin typeface="微软雅黑"/>
                <a:ea typeface="微软雅黑"/>
              </a:rPr>
              <a:t>当新数据昂贵时，</a:t>
            </a:r>
            <a:r>
              <a:rPr lang="zh-CN" sz="1650" b="1">
                <a:solidFill>
                  <a:srgbClr val="FFC107"/>
                </a:solidFill>
                <a:latin typeface="微软雅黑"/>
                <a:ea typeface="微软雅黑"/>
              </a:rPr>
              <a:t>不确定性的价值</a:t>
            </a:r>
            <a:r>
              <a:rPr lang="en-US" sz="1650" b="1">
                <a:solidFill>
                  <a:srgbClr val="FFC107"/>
                </a:solidFill>
                <a:latin typeface="微软雅黑"/>
                <a:ea typeface="微软雅黑"/>
              </a:rPr>
              <a:t> &gt; </a:t>
            </a:r>
            <a:r>
              <a:rPr lang="zh-CN" sz="1650" b="1">
                <a:solidFill>
                  <a:srgbClr val="FFC107"/>
                </a:solidFill>
                <a:latin typeface="微软雅黑"/>
                <a:ea typeface="微软雅黑"/>
              </a:rPr>
              <a:t>一点点精度提升</a:t>
            </a:r>
            <a:endParaRPr/>
          </a:p>
        </p:txBody>
      </p:sp>
      <p:sp>
        <p:nvSpPr>
          <p:cNvPr id="502" name="文本框 501" descr="{&quot;isTemplate&quot;:true,&quot;type&quot;:&quot;text&quot;}"/>
          <p:cNvSpPr txBox="1"/>
          <p:nvPr/>
        </p:nvSpPr>
        <p:spPr>
          <a:xfrm>
            <a:off x="381000" y="2143125"/>
            <a:ext cx="71628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/>
                <a:ea typeface="微软雅黑"/>
              </a:rPr>
              <a:t>为什么这一点是根本性的</a:t>
            </a:r>
            <a:endParaRPr/>
          </a:p>
        </p:txBody>
      </p:sp>
      <p:sp>
        <p:nvSpPr>
          <p:cNvPr id="503" name="矩形: 圆角 502"/>
          <p:cNvSpPr/>
          <p:nvPr/>
        </p:nvSpPr>
        <p:spPr>
          <a:xfrm>
            <a:off x="381000" y="2495550"/>
            <a:ext cx="7162800" cy="571500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4" name="文本框 503" descr="{&quot;isTemplate&quot;:true,&quot;type&quot;:&quot;text&quot;}"/>
          <p:cNvSpPr txBox="1"/>
          <p:nvPr/>
        </p:nvSpPr>
        <p:spPr>
          <a:xfrm>
            <a:off x="571500" y="2628900"/>
            <a:ext cx="10477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E4FA8"/>
                </a:solidFill>
                <a:latin typeface="微软雅黑"/>
                <a:ea typeface="微软雅黑"/>
              </a:rPr>
              <a:t>1</a:t>
            </a:r>
            <a:endParaRPr/>
          </a:p>
        </p:txBody>
      </p:sp>
      <p:sp>
        <p:nvSpPr>
          <p:cNvPr id="505" name="文本框 504" descr="{&quot;isTemplate&quot;:true,&quot;type&quot;:&quot;text&quot;}"/>
          <p:cNvSpPr txBox="1"/>
          <p:nvPr/>
        </p:nvSpPr>
        <p:spPr>
          <a:xfrm>
            <a:off x="790575" y="2628900"/>
            <a:ext cx="656272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每个新数据点都要付出</a:t>
            </a:r>
            <a:r>
              <a:rPr lang="zh-CN" sz="1275" b="1">
                <a:solidFill>
                  <a:srgbClr val="1A2230"/>
                </a:solidFill>
                <a:latin typeface="微软雅黑"/>
                <a:ea typeface="微软雅黑"/>
              </a:rPr>
              <a:t>合成</a:t>
            </a:r>
            <a:r>
              <a:rPr lang="en-US" sz="1275" b="1">
                <a:solidFill>
                  <a:srgbClr val="1A2230"/>
                </a:solidFill>
                <a:latin typeface="微软雅黑"/>
                <a:ea typeface="微软雅黑"/>
              </a:rPr>
              <a:t> + </a:t>
            </a:r>
            <a:r>
              <a:rPr lang="zh-CN" sz="1275" b="1">
                <a:solidFill>
                  <a:srgbClr val="1A2230"/>
                </a:solidFill>
                <a:latin typeface="微软雅黑"/>
                <a:ea typeface="微软雅黑"/>
              </a:rPr>
              <a:t>表征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的完整成本</a:t>
            </a:r>
            <a:endParaRPr/>
          </a:p>
        </p:txBody>
      </p:sp>
      <p:sp>
        <p:nvSpPr>
          <p:cNvPr id="506" name="矩形: 圆角 505"/>
          <p:cNvSpPr/>
          <p:nvPr/>
        </p:nvSpPr>
        <p:spPr>
          <a:xfrm>
            <a:off x="381000" y="3200400"/>
            <a:ext cx="7162800" cy="571500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7" name="文本框 506" descr="{&quot;isTemplate&quot;:true,&quot;type&quot;:&quot;text&quot;}"/>
          <p:cNvSpPr txBox="1"/>
          <p:nvPr/>
        </p:nvSpPr>
        <p:spPr>
          <a:xfrm>
            <a:off x="571500" y="3333750"/>
            <a:ext cx="10477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E4FA8"/>
                </a:solidFill>
                <a:latin typeface="微软雅黑"/>
                <a:ea typeface="微软雅黑"/>
              </a:rPr>
              <a:t>2</a:t>
            </a:r>
            <a:endParaRPr/>
          </a:p>
        </p:txBody>
      </p:sp>
      <p:sp>
        <p:nvSpPr>
          <p:cNvPr id="508" name="文本框 507" descr="{&quot;isTemplate&quot;:true,&quot;type&quot;:&quot;text&quot;}"/>
          <p:cNvSpPr txBox="1"/>
          <p:nvPr/>
        </p:nvSpPr>
        <p:spPr>
          <a:xfrm>
            <a:off x="790575" y="3333750"/>
            <a:ext cx="656272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无法像通用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 ML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那样「再采十万条」</a:t>
            </a:r>
            <a:endParaRPr/>
          </a:p>
        </p:txBody>
      </p:sp>
      <p:sp>
        <p:nvSpPr>
          <p:cNvPr id="509" name="矩形: 圆角 508"/>
          <p:cNvSpPr/>
          <p:nvPr/>
        </p:nvSpPr>
        <p:spPr>
          <a:xfrm>
            <a:off x="381000" y="3905250"/>
            <a:ext cx="7162800" cy="571500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0" name="文本框 509" descr="{&quot;isTemplate&quot;:true,&quot;type&quot;:&quot;text&quot;}"/>
          <p:cNvSpPr txBox="1"/>
          <p:nvPr/>
        </p:nvSpPr>
        <p:spPr>
          <a:xfrm>
            <a:off x="571500" y="4038600"/>
            <a:ext cx="10477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E4FA8"/>
                </a:solidFill>
                <a:latin typeface="微软雅黑"/>
                <a:ea typeface="微软雅黑"/>
              </a:rPr>
              <a:t>3</a:t>
            </a:r>
            <a:endParaRPr/>
          </a:p>
        </p:txBody>
      </p:sp>
      <p:sp>
        <p:nvSpPr>
          <p:cNvPr id="511" name="文本框 510" descr="{&quot;isTemplate&quot;:true,&quot;type&quot;:&quot;text&quot;}"/>
          <p:cNvSpPr txBox="1"/>
          <p:nvPr/>
        </p:nvSpPr>
        <p:spPr>
          <a:xfrm>
            <a:off x="790575" y="4038600"/>
            <a:ext cx="656272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决策本质是「花有限预算验证哪个候选」</a:t>
            </a:r>
            <a:endParaRPr/>
          </a:p>
        </p:txBody>
      </p:sp>
      <p:sp>
        <p:nvSpPr>
          <p:cNvPr id="512" name="矩形: 圆角 511"/>
          <p:cNvSpPr/>
          <p:nvPr/>
        </p:nvSpPr>
        <p:spPr>
          <a:xfrm>
            <a:off x="381000" y="4610100"/>
            <a:ext cx="7162800" cy="571500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3" name="文本框 512" descr="{&quot;isTemplate&quot;:true,&quot;type&quot;:&quot;text&quot;}"/>
          <p:cNvSpPr txBox="1"/>
          <p:nvPr/>
        </p:nvSpPr>
        <p:spPr>
          <a:xfrm>
            <a:off x="571500" y="4743450"/>
            <a:ext cx="10477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E4FA8"/>
                </a:solidFill>
                <a:latin typeface="微软雅黑"/>
                <a:ea typeface="微软雅黑"/>
              </a:rPr>
              <a:t>4</a:t>
            </a:r>
            <a:endParaRPr/>
          </a:p>
        </p:txBody>
      </p:sp>
      <p:sp>
        <p:nvSpPr>
          <p:cNvPr id="514" name="文本框 513" descr="{&quot;isTemplate&quot;:true,&quot;type&quot;:&quot;text&quot;}"/>
          <p:cNvSpPr txBox="1"/>
          <p:nvPr/>
        </p:nvSpPr>
        <p:spPr>
          <a:xfrm>
            <a:off x="790575" y="4743450"/>
            <a:ext cx="656272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因此需要模型告诉研究者在哪些地方</a:t>
            </a:r>
            <a:r>
              <a:rPr lang="zh-CN" sz="1275" b="1">
                <a:solidFill>
                  <a:srgbClr val="1A2230"/>
                </a:solidFill>
                <a:latin typeface="微软雅黑"/>
                <a:ea typeface="微软雅黑"/>
              </a:rPr>
              <a:t>更不确定</a:t>
            </a:r>
            <a:endParaRPr/>
          </a:p>
        </p:txBody>
      </p:sp>
      <p:sp>
        <p:nvSpPr>
          <p:cNvPr id="515" name="矩形: 圆角 514"/>
          <p:cNvSpPr/>
          <p:nvPr/>
        </p:nvSpPr>
        <p:spPr>
          <a:xfrm>
            <a:off x="7715250" y="2143125"/>
            <a:ext cx="4095750" cy="2847975"/>
          </a:xfrm>
          <a:prstGeom prst="roundRect">
            <a:avLst>
              <a:gd name="adj" fmla="val 3344"/>
            </a:avLst>
          </a:prstGeom>
          <a:solidFill>
            <a:srgbClr val="E8F1FC"/>
          </a:solidFill>
          <a:ln w="12700">
            <a:solidFill>
              <a:srgbClr val="1E4F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6" name="文本框 515" descr="{&quot;isTemplate&quot;:true,&quot;type&quot;:&quot;text&quot;}"/>
          <p:cNvSpPr txBox="1"/>
          <p:nvPr/>
        </p:nvSpPr>
        <p:spPr>
          <a:xfrm>
            <a:off x="7905750" y="2333625"/>
            <a:ext cx="37147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/>
                <a:ea typeface="微软雅黑"/>
              </a:rPr>
              <a:t>两种不确定性</a:t>
            </a:r>
            <a:endParaRPr/>
          </a:p>
        </p:txBody>
      </p:sp>
      <p:sp>
        <p:nvSpPr>
          <p:cNvPr id="517" name="矩形: 圆角 516"/>
          <p:cNvSpPr/>
          <p:nvPr/>
        </p:nvSpPr>
        <p:spPr>
          <a:xfrm>
            <a:off x="7905750" y="2667000"/>
            <a:ext cx="3714750" cy="1019175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8" name="文本框 517" descr="{&quot;isTemplate&quot;:true,&quot;type&quot;:&quot;text&quot;}"/>
          <p:cNvSpPr txBox="1"/>
          <p:nvPr/>
        </p:nvSpPr>
        <p:spPr>
          <a:xfrm>
            <a:off x="8039100" y="2800350"/>
            <a:ext cx="34480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微软雅黑"/>
                <a:ea typeface="微软雅黑"/>
              </a:rPr>
              <a:t>偶然不确定性（噪声）</a:t>
            </a:r>
            <a:endParaRPr/>
          </a:p>
        </p:txBody>
      </p:sp>
      <p:sp>
        <p:nvSpPr>
          <p:cNvPr id="519" name="文本框 518" descr="{&quot;isTemplate&quot;:true,&quot;type&quot;:&quot;text&quot;}"/>
          <p:cNvSpPr txBox="1"/>
          <p:nvPr/>
        </p:nvSpPr>
        <p:spPr>
          <a:xfrm>
            <a:off x="8039100" y="3038475"/>
            <a:ext cx="344805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15000"/>
              </a:lnSpc>
            </a:pPr>
            <a:r>
              <a:rPr sz="1050" b="0">
                <a:solidFill>
                  <a:srgbClr val="2C3947"/>
                </a:solidFill>
                <a:latin typeface="微软雅黑"/>
              </a:rPr>
              <a:t>固定测量机制的噪声不会仅靠增加训练数据消失；改进测量可降低噪声，重复测量可降低均值估计误差。</a:t>
            </a:r>
            <a:endParaRPr/>
          </a:p>
        </p:txBody>
      </p:sp>
      <p:sp>
        <p:nvSpPr>
          <p:cNvPr id="520" name="矩形: 圆角 519"/>
          <p:cNvSpPr/>
          <p:nvPr/>
        </p:nvSpPr>
        <p:spPr>
          <a:xfrm>
            <a:off x="7905750" y="3781425"/>
            <a:ext cx="3714750" cy="1019175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1" name="文本框 520" descr="{&quot;isTemplate&quot;:true,&quot;type&quot;:&quot;text&quot;}"/>
          <p:cNvSpPr txBox="1"/>
          <p:nvPr/>
        </p:nvSpPr>
        <p:spPr>
          <a:xfrm>
            <a:off x="8039100" y="3914775"/>
            <a:ext cx="34480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微软雅黑"/>
                <a:ea typeface="微软雅黑"/>
              </a:rPr>
              <a:t>认知不确定性（模型）</a:t>
            </a:r>
            <a:endParaRPr/>
          </a:p>
        </p:txBody>
      </p:sp>
      <p:sp>
        <p:nvSpPr>
          <p:cNvPr id="522" name="文本框 521" descr="{&quot;isTemplate&quot;:true,&quot;type&quot;:&quot;text&quot;}"/>
          <p:cNvSpPr txBox="1"/>
          <p:nvPr/>
        </p:nvSpPr>
        <p:spPr>
          <a:xfrm>
            <a:off x="8039100" y="4152900"/>
            <a:ext cx="344805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125">
                <a:solidFill>
                  <a:srgbClr val="3A4759"/>
                </a:solidFill>
                <a:latin typeface="微软雅黑"/>
                <a:ea typeface="微软雅黑"/>
              </a:rPr>
              <a:t>数据稀疏或模型未见过的情况。增加相关数据可以降低。</a:t>
            </a:r>
            <a:endParaRPr/>
          </a:p>
        </p:txBody>
      </p:sp>
      <p:sp>
        <p:nvSpPr>
          <p:cNvPr id="523" name="矩形: 圆角 522"/>
          <p:cNvSpPr/>
          <p:nvPr/>
        </p:nvSpPr>
        <p:spPr>
          <a:xfrm>
            <a:off x="7715250" y="5124450"/>
            <a:ext cx="4095750" cy="1190625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4" name="文本框 523" descr="{&quot;isTemplate&quot;:true,&quot;type&quot;:&quot;text&quot;}"/>
          <p:cNvSpPr txBox="1"/>
          <p:nvPr/>
        </p:nvSpPr>
        <p:spPr>
          <a:xfrm>
            <a:off x="7886700" y="5295900"/>
            <a:ext cx="37528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8D6E00"/>
                </a:solidFill>
                <a:latin typeface="微软雅黑"/>
                <a:ea typeface="微软雅黑"/>
              </a:rPr>
              <a:t>课程落点</a:t>
            </a:r>
            <a:endParaRPr/>
          </a:p>
        </p:txBody>
      </p:sp>
      <p:sp>
        <p:nvSpPr>
          <p:cNvPr id="525" name="文本框 524" descr="{&quot;isTemplate&quot;:true,&quot;type&quot;:&quot;text&quot;}"/>
          <p:cNvSpPr txBox="1"/>
          <p:nvPr/>
        </p:nvSpPr>
        <p:spPr>
          <a:xfrm>
            <a:off x="7886700" y="5553075"/>
            <a:ext cx="375285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第</a:t>
            </a: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> 13 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讲的高斯过程为量化这两类不确定性提供工具；第</a:t>
            </a: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> 14 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讲把它用于贝叶斯优化。</a:t>
            </a:r>
            <a:endParaRPr/>
          </a:p>
        </p:txBody>
      </p:sp>
      <p:sp>
        <p:nvSpPr>
          <p:cNvPr id="526" name="文本框 525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527" name="文本框 526" descr="{&quot;isTemplate&quot;:true,&quot;type&quot;:&quot;text&quot;}"/>
          <p:cNvSpPr txBox="1"/>
          <p:nvPr/>
        </p:nvSpPr>
        <p:spPr>
          <a:xfrm>
            <a:off x="54673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528" name="文本框 527" descr="{&quot;isTemplate&quot;:true,&quot;type&quot;:&quot;text&quot;}"/>
          <p:cNvSpPr txBox="1"/>
          <p:nvPr/>
        </p:nvSpPr>
        <p:spPr>
          <a:xfrm>
            <a:off x="11410950" y="6610350"/>
            <a:ext cx="4000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25 / 60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矩形 5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1" name="矩形 530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2" name="文本框 531" descr="{&quot;isTemplate&quot;:true,&quot;type&quot;:&quot;text&quot;}"/>
          <p:cNvSpPr txBox="1"/>
          <p:nvPr/>
        </p:nvSpPr>
        <p:spPr>
          <a:xfrm>
            <a:off x="342900" y="171450"/>
            <a:ext cx="3524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在材料科学中的应用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讲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材料信息学导论与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产业</a:t>
            </a:r>
            <a:endParaRPr/>
          </a:p>
        </p:txBody>
      </p:sp>
      <p:sp>
        <p:nvSpPr>
          <p:cNvPr id="533" name="文本框 532" descr="{&quot;isTemplate&quot;:true,&quot;type&quot;:&quot;text&quot;}"/>
          <p:cNvSpPr txBox="1"/>
          <p:nvPr/>
        </p:nvSpPr>
        <p:spPr>
          <a:xfrm>
            <a:off x="9172575" y="171450"/>
            <a:ext cx="15716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02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机器学习</a:t>
            </a: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 ≠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材料信息学</a:t>
            </a:r>
            <a:endParaRPr/>
          </a:p>
        </p:txBody>
      </p:sp>
      <p:pic>
        <p:nvPicPr>
          <p:cNvPr id="534" name="图片 533"/>
          <p:cNvPicPr>
            <a:picLocks noChangeAspect="1"/>
          </p:cNvPicPr>
          <p:nvPr/>
        </p:nvPicPr>
        <p:blipFill>
          <a:blip r:embed="rId2"/>
          <a:srcRect l="847" r="847"/>
          <a:stretch>
            <a:fillRect/>
          </a:stretch>
        </p:blipFill>
        <p:spPr>
          <a:xfrm>
            <a:off x="10858500" y="123825"/>
            <a:ext cx="990600" cy="247650"/>
          </a:xfrm>
          <a:prstGeom prst="rect">
            <a:avLst/>
          </a:prstGeom>
          <a:ln/>
        </p:spPr>
      </p:pic>
      <p:sp>
        <p:nvSpPr>
          <p:cNvPr id="535" name="文本框 534" descr="{&quot;isTemplate&quot;:true,&quot;type&quot;:&quot;text&quot;}"/>
          <p:cNvSpPr txBox="1"/>
          <p:nvPr/>
        </p:nvSpPr>
        <p:spPr>
          <a:xfrm>
            <a:off x="381000" y="666750"/>
            <a:ext cx="114300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钉钉进步体"/>
                <a:ea typeface="钉钉进步体"/>
              </a:rPr>
              <a:t>维度⑤　特征工程仍然关键</a:t>
            </a:r>
            <a:endParaRPr/>
          </a:p>
        </p:txBody>
      </p:sp>
      <p:sp>
        <p:nvSpPr>
          <p:cNvPr id="536" name="矩形: 圆角 535"/>
          <p:cNvSpPr/>
          <p:nvPr/>
        </p:nvSpPr>
        <p:spPr>
          <a:xfrm>
            <a:off x="381000" y="1114425"/>
            <a:ext cx="571500" cy="47625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7" name="矩形: 圆角 536"/>
          <p:cNvSpPr/>
          <p:nvPr/>
        </p:nvSpPr>
        <p:spPr>
          <a:xfrm>
            <a:off x="381000" y="1333500"/>
            <a:ext cx="5619750" cy="4010025"/>
          </a:xfrm>
          <a:prstGeom prst="roundRect">
            <a:avLst>
              <a:gd name="adj" fmla="val 2850"/>
            </a:avLst>
          </a:prstGeom>
          <a:solidFill>
            <a:srgbClr val="F5F3F0"/>
          </a:solidFill>
          <a:ln w="12700">
            <a:solidFill>
              <a:srgbClr val="D8D0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8" name="文本框 537" descr="{&quot;isTemplate&quot;:true,&quot;type&quot;:&quot;text&quot;}"/>
          <p:cNvSpPr txBox="1"/>
          <p:nvPr/>
        </p:nvSpPr>
        <p:spPr>
          <a:xfrm>
            <a:off x="590550" y="1543050"/>
            <a:ext cx="52006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5D4E3A"/>
                </a:solidFill>
                <a:latin typeface="微软雅黑"/>
                <a:ea typeface="微软雅黑"/>
              </a:rPr>
              <a:t>通用</a:t>
            </a:r>
            <a:r>
              <a:rPr lang="en-US" sz="1575" b="1">
                <a:solidFill>
                  <a:srgbClr val="5D4E3A"/>
                </a:solidFill>
                <a:latin typeface="微软雅黑"/>
                <a:ea typeface="微软雅黑"/>
              </a:rPr>
              <a:t> ML </a:t>
            </a:r>
            <a:r>
              <a:rPr lang="zh-CN" sz="1575" b="1">
                <a:solidFill>
                  <a:srgbClr val="5D4E3A"/>
                </a:solidFill>
                <a:latin typeface="微软雅黑"/>
                <a:ea typeface="微软雅黑"/>
              </a:rPr>
              <a:t>的历史路径</a:t>
            </a:r>
            <a:endParaRPr/>
          </a:p>
        </p:txBody>
      </p:sp>
      <p:sp>
        <p:nvSpPr>
          <p:cNvPr id="539" name="矩形: 圆角 538"/>
          <p:cNvSpPr/>
          <p:nvPr/>
        </p:nvSpPr>
        <p:spPr>
          <a:xfrm>
            <a:off x="590550" y="1943100"/>
            <a:ext cx="838200" cy="381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D8D0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0" name="文本框 539" descr="{&quot;isTemplate&quot;:true,&quot;type&quot;:&quot;text&quot;}"/>
          <p:cNvSpPr txBox="1"/>
          <p:nvPr/>
        </p:nvSpPr>
        <p:spPr>
          <a:xfrm>
            <a:off x="704850" y="2038350"/>
            <a:ext cx="6096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200">
                <a:solidFill>
                  <a:srgbClr val="3A2F22"/>
                </a:solidFill>
                <a:latin typeface="微软雅黑"/>
                <a:ea typeface="微软雅黑"/>
              </a:rPr>
              <a:t>手工特征</a:t>
            </a:r>
            <a:endParaRPr/>
          </a:p>
        </p:txBody>
      </p:sp>
      <p:sp>
        <p:nvSpPr>
          <p:cNvPr id="541" name="矩形: 圆角 540"/>
          <p:cNvSpPr/>
          <p:nvPr/>
        </p:nvSpPr>
        <p:spPr>
          <a:xfrm>
            <a:off x="1504950" y="1943100"/>
            <a:ext cx="685800" cy="381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D8D0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2" name="文本框 541" descr="{&quot;isTemplate&quot;:true,&quot;type&quot;:&quot;text&quot;}"/>
          <p:cNvSpPr txBox="1"/>
          <p:nvPr/>
        </p:nvSpPr>
        <p:spPr>
          <a:xfrm>
            <a:off x="1619250" y="2038350"/>
            <a:ext cx="4572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200">
                <a:solidFill>
                  <a:srgbClr val="3A2F22"/>
                </a:solidFill>
                <a:latin typeface="微软雅黑"/>
                <a:ea typeface="微软雅黑"/>
              </a:rPr>
              <a:t>树模型</a:t>
            </a:r>
            <a:endParaRPr/>
          </a:p>
        </p:txBody>
      </p:sp>
      <p:sp>
        <p:nvSpPr>
          <p:cNvPr id="543" name="矩形: 圆角 542"/>
          <p:cNvSpPr/>
          <p:nvPr/>
        </p:nvSpPr>
        <p:spPr>
          <a:xfrm>
            <a:off x="2266950" y="1943100"/>
            <a:ext cx="533400" cy="381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D8D0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4" name="文本框 543" descr="{&quot;isTemplate&quot;:true,&quot;type&quot;:&quot;text&quot;}"/>
          <p:cNvSpPr txBox="1"/>
          <p:nvPr/>
        </p:nvSpPr>
        <p:spPr>
          <a:xfrm>
            <a:off x="2381250" y="2038350"/>
            <a:ext cx="3048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200">
                <a:solidFill>
                  <a:srgbClr val="3A2F22"/>
                </a:solidFill>
                <a:latin typeface="微软雅黑"/>
                <a:ea typeface="微软雅黑"/>
              </a:rPr>
              <a:t>集成</a:t>
            </a:r>
            <a:endParaRPr/>
          </a:p>
        </p:txBody>
      </p:sp>
      <p:sp>
        <p:nvSpPr>
          <p:cNvPr id="545" name="矩形: 圆角 544"/>
          <p:cNvSpPr/>
          <p:nvPr/>
        </p:nvSpPr>
        <p:spPr>
          <a:xfrm>
            <a:off x="2876550" y="1943100"/>
            <a:ext cx="838200" cy="38100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D8D0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6" name="文本框 545" descr="{&quot;isTemplate&quot;:true,&quot;type&quot;:&quot;text&quot;}"/>
          <p:cNvSpPr txBox="1"/>
          <p:nvPr/>
        </p:nvSpPr>
        <p:spPr>
          <a:xfrm>
            <a:off x="2990850" y="2038350"/>
            <a:ext cx="6096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200">
                <a:solidFill>
                  <a:srgbClr val="3A2F22"/>
                </a:solidFill>
                <a:latin typeface="微软雅黑"/>
                <a:ea typeface="微软雅黑"/>
              </a:rPr>
              <a:t>深度学习</a:t>
            </a:r>
            <a:endParaRPr/>
          </a:p>
        </p:txBody>
      </p:sp>
      <p:sp>
        <p:nvSpPr>
          <p:cNvPr id="547" name="文本框 546" descr="{&quot;isTemplate&quot;:true,&quot;type&quot;:&quot;text&quot;}"/>
          <p:cNvSpPr txBox="1"/>
          <p:nvPr/>
        </p:nvSpPr>
        <p:spPr>
          <a:xfrm>
            <a:off x="590550" y="2457450"/>
            <a:ext cx="5200650" cy="6477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</a:pPr>
            <a:r>
              <a:rPr sz="1275" b="0">
                <a:solidFill>
                  <a:srgbClr val="2C3947"/>
                </a:solidFill>
                <a:latin typeface="微软雅黑"/>
              </a:rPr>
              <a:t>数据充足时端到端学习常更省事；但手工、学习与预训练表示谁更好，取决于任务与数据量，须在同一协议下比较。</a:t>
            </a:r>
            <a:endParaRPr/>
          </a:p>
        </p:txBody>
      </p:sp>
      <p:sp>
        <p:nvSpPr>
          <p:cNvPr id="548" name="矩形: 圆角 547"/>
          <p:cNvSpPr/>
          <p:nvPr/>
        </p:nvSpPr>
        <p:spPr>
          <a:xfrm>
            <a:off x="6191250" y="1333500"/>
            <a:ext cx="5619750" cy="4010025"/>
          </a:xfrm>
          <a:prstGeom prst="roundRect">
            <a:avLst>
              <a:gd name="adj" fmla="val 2850"/>
            </a:avLst>
          </a:prstGeom>
          <a:solidFill>
            <a:srgbClr val="E8F1FC"/>
          </a:solidFill>
          <a:ln w="12700">
            <a:solidFill>
              <a:srgbClr val="1E4F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9" name="文本框 548" descr="{&quot;isTemplate&quot;:true,&quot;type&quot;:&quot;text&quot;}"/>
          <p:cNvSpPr txBox="1"/>
          <p:nvPr/>
        </p:nvSpPr>
        <p:spPr>
          <a:xfrm>
            <a:off x="6400800" y="1543050"/>
            <a:ext cx="52006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微软雅黑"/>
                <a:ea typeface="微软雅黑"/>
              </a:rPr>
              <a:t>材料信息学的现实</a:t>
            </a:r>
            <a:endParaRPr/>
          </a:p>
        </p:txBody>
      </p:sp>
      <p:sp>
        <p:nvSpPr>
          <p:cNvPr id="550" name="矩形: 圆角 549"/>
          <p:cNvSpPr/>
          <p:nvPr/>
        </p:nvSpPr>
        <p:spPr>
          <a:xfrm>
            <a:off x="6400800" y="1943100"/>
            <a:ext cx="5200650" cy="790575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1" name="文本框 550" descr="{&quot;isTemplate&quot;:true,&quot;type&quot;:&quot;text&quot;}"/>
          <p:cNvSpPr txBox="1"/>
          <p:nvPr/>
        </p:nvSpPr>
        <p:spPr>
          <a:xfrm>
            <a:off x="6572250" y="2114550"/>
            <a:ext cx="48577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425">
                <a:solidFill>
                  <a:srgbClr val="1A2230"/>
                </a:solidFill>
                <a:latin typeface="微软雅黑"/>
                <a:ea typeface="微软雅黑"/>
              </a:rPr>
              <a:t>当</a:t>
            </a:r>
            <a:r>
              <a:rPr lang="en-US" sz="1425">
                <a:solidFill>
                  <a:srgbClr val="1A2230"/>
                </a:solidFill>
                <a:latin typeface="微软雅黑"/>
                <a:ea typeface="微软雅黑"/>
              </a:rPr>
              <a:t> n &lt; 10³ </a:t>
            </a:r>
            <a:r>
              <a:rPr lang="zh-CN" sz="1425">
                <a:solidFill>
                  <a:srgbClr val="1A2230"/>
                </a:solidFill>
                <a:latin typeface="微软雅黑"/>
                <a:ea typeface="微软雅黑"/>
              </a:rPr>
              <a:t>时，</a:t>
            </a:r>
            <a:r>
              <a:rPr lang="zh-CN" sz="1425" b="1">
                <a:solidFill>
                  <a:srgbClr val="0E3F8C"/>
                </a:solidFill>
                <a:latin typeface="微软雅黑"/>
                <a:ea typeface="微软雅黑"/>
              </a:rPr>
              <a:t>特征工程仍有价值</a:t>
            </a:r>
            <a:endParaRPr/>
          </a:p>
        </p:txBody>
      </p:sp>
      <p:sp>
        <p:nvSpPr>
          <p:cNvPr id="552" name="文本框 551" descr="{&quot;isTemplate&quot;:true,&quot;type&quot;:&quot;text&quot;}"/>
          <p:cNvSpPr txBox="1"/>
          <p:nvPr/>
        </p:nvSpPr>
        <p:spPr>
          <a:xfrm>
            <a:off x="6572250" y="2390775"/>
            <a:ext cx="48577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6B7889"/>
                </a:solidFill>
                <a:latin typeface="微软雅黑"/>
                <a:ea typeface="微软雅黑"/>
              </a:rPr>
              <a:t>—— Anton Oliynyk</a:t>
            </a:r>
            <a:endParaRPr/>
          </a:p>
        </p:txBody>
      </p:sp>
      <p:sp>
        <p:nvSpPr>
          <p:cNvPr id="553" name="文本框 552" descr="{&quot;isTemplate&quot;:true,&quot;type&quot;:&quot;text&quot;}"/>
          <p:cNvSpPr txBox="1"/>
          <p:nvPr/>
        </p:nvSpPr>
        <p:spPr>
          <a:xfrm>
            <a:off x="6400800" y="2867025"/>
            <a:ext cx="5200650" cy="6477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</a:pPr>
            <a:r>
              <a:rPr sz="1275" b="0">
                <a:solidFill>
                  <a:srgbClr val="2C3947"/>
                </a:solidFill>
                <a:latin typeface="微软雅黑"/>
              </a:rPr>
              <a:t>数据量不足以让网络自行找到好表示时，把物理化学知识编码进特征可缩小假设空间；是否改善泛化，须在同一划分、同一预算下验证。</a:t>
            </a:r>
            <a:endParaRPr/>
          </a:p>
        </p:txBody>
      </p:sp>
      <p:sp>
        <p:nvSpPr>
          <p:cNvPr id="554" name="矩形: 圆角 553"/>
          <p:cNvSpPr/>
          <p:nvPr/>
        </p:nvSpPr>
        <p:spPr>
          <a:xfrm>
            <a:off x="381000" y="5476875"/>
            <a:ext cx="11430000" cy="1038225"/>
          </a:xfrm>
          <a:prstGeom prst="roundRect">
            <a:avLst>
              <a:gd name="adj" fmla="val 9174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5" name="文本框 554" descr="{&quot;isTemplate&quot;:true,&quot;type&quot;:&quot;text&quot;}"/>
          <p:cNvSpPr txBox="1"/>
          <p:nvPr/>
        </p:nvSpPr>
        <p:spPr>
          <a:xfrm>
            <a:off x="628650" y="5648325"/>
            <a:ext cx="10934700" cy="6953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425" b="1">
                <a:solidFill>
                  <a:srgbClr val="FFC107"/>
                </a:solidFill>
                <a:latin typeface="微软雅黑"/>
                <a:ea typeface="微软雅黑"/>
              </a:rPr>
              <a:t>本课程的重心：</a:t>
            </a:r>
            <a:r>
              <a:rPr lang="zh-CN" sz="1425">
                <a:solidFill>
                  <a:srgbClr val="FFFFFF"/>
                </a:solidFill>
                <a:latin typeface="微软雅黑"/>
                <a:ea typeface="微软雅黑"/>
              </a:rPr>
              <a:t>第</a:t>
            </a:r>
            <a:r>
              <a:rPr lang="en-US" sz="1425">
                <a:solidFill>
                  <a:srgbClr val="FFFFFF"/>
                </a:solidFill>
                <a:latin typeface="微软雅黑"/>
                <a:ea typeface="微软雅黑"/>
              </a:rPr>
              <a:t> 4 </a:t>
            </a:r>
            <a:r>
              <a:rPr lang="zh-CN" sz="1425">
                <a:solidFill>
                  <a:srgbClr val="FFFFFF"/>
                </a:solidFill>
                <a:latin typeface="微软雅黑"/>
                <a:ea typeface="微软雅黑"/>
              </a:rPr>
              <a:t>讲（成分特征化，</a:t>
            </a:r>
            <a:r>
              <a:rPr lang="en-US" sz="1425">
                <a:solidFill>
                  <a:srgbClr val="FFFFFF"/>
                </a:solidFill>
                <a:latin typeface="微软雅黑"/>
                <a:ea typeface="微软雅黑"/>
              </a:rPr>
              <a:t>CBFV / oliynyk / mat2vec</a:t>
            </a:r>
            <a:r>
              <a:rPr lang="zh-CN" sz="1425">
                <a:solidFill>
                  <a:srgbClr val="FFFFFF"/>
                </a:solidFill>
                <a:latin typeface="微软雅黑"/>
                <a:ea typeface="微软雅黑"/>
              </a:rPr>
              <a:t>）与第</a:t>
            </a:r>
            <a:r>
              <a:rPr lang="en-US" sz="1425">
                <a:solidFill>
                  <a:srgbClr val="FFFFFF"/>
                </a:solidFill>
                <a:latin typeface="微软雅黑"/>
                <a:ea typeface="微软雅黑"/>
              </a:rPr>
              <a:t> 5 </a:t>
            </a:r>
            <a:r>
              <a:rPr lang="zh-CN" sz="1425">
                <a:solidFill>
                  <a:srgbClr val="FFFFFF"/>
                </a:solidFill>
                <a:latin typeface="微软雅黑"/>
                <a:ea typeface="微软雅黑"/>
              </a:rPr>
              <a:t>讲（结构·图表示·分子）合计</a:t>
            </a:r>
            <a:r>
              <a:rPr lang="en-US" sz="1425">
                <a:solidFill>
                  <a:srgbClr val="FFFFFF"/>
                </a:solidFill>
                <a:latin typeface="微软雅黑"/>
                <a:ea typeface="微软雅黑"/>
              </a:rPr>
              <a:t> 4 </a:t>
            </a:r>
            <a:r>
              <a:rPr lang="zh-CN" sz="1425">
                <a:solidFill>
                  <a:srgbClr val="FFFFFF"/>
                </a:solidFill>
                <a:latin typeface="微软雅黑"/>
                <a:ea typeface="微软雅黑"/>
              </a:rPr>
              <a:t>学时，正是这一维度的直接回应。</a:t>
            </a:r>
            <a:endParaRPr/>
          </a:p>
        </p:txBody>
      </p:sp>
      <p:sp>
        <p:nvSpPr>
          <p:cNvPr id="556" name="文本框 555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557" name="文本框 556" descr="{&quot;isTemplate&quot;:true,&quot;type&quot;:&quot;text&quot;}"/>
          <p:cNvSpPr txBox="1"/>
          <p:nvPr/>
        </p:nvSpPr>
        <p:spPr>
          <a:xfrm>
            <a:off x="54673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558" name="文本框 557" descr="{&quot;isTemplate&quot;:true,&quot;type&quot;:&quot;text&quot;}"/>
          <p:cNvSpPr txBox="1"/>
          <p:nvPr/>
        </p:nvSpPr>
        <p:spPr>
          <a:xfrm>
            <a:off x="11410950" y="6610350"/>
            <a:ext cx="4000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26 / 60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矩形 55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1" name="矩形 560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2" name="文本框 561" descr="{&quot;isTemplate&quot;:true,&quot;type&quot;:&quot;text&quot;}"/>
          <p:cNvSpPr txBox="1"/>
          <p:nvPr/>
        </p:nvSpPr>
        <p:spPr>
          <a:xfrm>
            <a:off x="342900" y="171450"/>
            <a:ext cx="3524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在材料科学中的应用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讲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材料信息学导论与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产业</a:t>
            </a:r>
            <a:endParaRPr/>
          </a:p>
        </p:txBody>
      </p:sp>
      <p:sp>
        <p:nvSpPr>
          <p:cNvPr id="563" name="文本框 562" descr="{&quot;isTemplate&quot;:true,&quot;type&quot;:&quot;text&quot;}"/>
          <p:cNvSpPr txBox="1"/>
          <p:nvPr/>
        </p:nvSpPr>
        <p:spPr>
          <a:xfrm>
            <a:off x="9172575" y="171450"/>
            <a:ext cx="15716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02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机器学习</a:t>
            </a: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 ≠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材料信息学</a:t>
            </a:r>
            <a:endParaRPr/>
          </a:p>
        </p:txBody>
      </p:sp>
      <p:pic>
        <p:nvPicPr>
          <p:cNvPr id="564" name="图片 563"/>
          <p:cNvPicPr>
            <a:picLocks noChangeAspect="1"/>
          </p:cNvPicPr>
          <p:nvPr/>
        </p:nvPicPr>
        <p:blipFill>
          <a:blip r:embed="rId2"/>
          <a:srcRect l="847" r="847"/>
          <a:stretch>
            <a:fillRect/>
          </a:stretch>
        </p:blipFill>
        <p:spPr>
          <a:xfrm>
            <a:off x="10858500" y="123825"/>
            <a:ext cx="990600" cy="247650"/>
          </a:xfrm>
          <a:prstGeom prst="rect">
            <a:avLst/>
          </a:prstGeom>
          <a:ln/>
        </p:spPr>
      </p:pic>
      <p:sp>
        <p:nvSpPr>
          <p:cNvPr id="565" name="文本框 564" descr="{&quot;isTemplate&quot;:true,&quot;type&quot;:&quot;text&quot;}"/>
          <p:cNvSpPr txBox="1"/>
          <p:nvPr/>
        </p:nvSpPr>
        <p:spPr>
          <a:xfrm>
            <a:off x="381000" y="666750"/>
            <a:ext cx="114300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钉钉进步体"/>
                <a:ea typeface="钉钉进步体"/>
              </a:rPr>
              <a:t>维度⑥　可解释性是需求，不是加分项</a:t>
            </a:r>
            <a:endParaRPr/>
          </a:p>
        </p:txBody>
      </p:sp>
      <p:sp>
        <p:nvSpPr>
          <p:cNvPr id="566" name="矩形: 圆角 565"/>
          <p:cNvSpPr/>
          <p:nvPr/>
        </p:nvSpPr>
        <p:spPr>
          <a:xfrm>
            <a:off x="381000" y="1114425"/>
            <a:ext cx="571500" cy="47625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7" name="矩形: 圆角 566"/>
          <p:cNvSpPr/>
          <p:nvPr/>
        </p:nvSpPr>
        <p:spPr>
          <a:xfrm>
            <a:off x="381000" y="1333500"/>
            <a:ext cx="11430000" cy="2295525"/>
          </a:xfrm>
          <a:prstGeom prst="roundRect">
            <a:avLst>
              <a:gd name="adj" fmla="val 497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8" name="文本框 567" descr="{&quot;isTemplate&quot;:true,&quot;type&quot;:&quot;text&quot;}"/>
          <p:cNvSpPr txBox="1"/>
          <p:nvPr/>
        </p:nvSpPr>
        <p:spPr>
          <a:xfrm>
            <a:off x="590550" y="1543050"/>
            <a:ext cx="110109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微软雅黑"/>
                <a:ea typeface="微软雅黑"/>
              </a:rPr>
              <a:t>为什么材料研究必须能解释模型</a:t>
            </a:r>
            <a:endParaRPr/>
          </a:p>
        </p:txBody>
      </p:sp>
      <p:sp>
        <p:nvSpPr>
          <p:cNvPr id="569" name="矩形: 圆角 568"/>
          <p:cNvSpPr/>
          <p:nvPr/>
        </p:nvSpPr>
        <p:spPr>
          <a:xfrm>
            <a:off x="590550" y="1924050"/>
            <a:ext cx="2628900" cy="1495425"/>
          </a:xfrm>
          <a:prstGeom prst="roundRect">
            <a:avLst>
              <a:gd name="adj" fmla="val 636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70" name="文本框 569" descr="{&quot;isTemplate&quot;:true,&quot;type&quot;:&quot;text&quot;}"/>
          <p:cNvSpPr txBox="1"/>
          <p:nvPr/>
        </p:nvSpPr>
        <p:spPr>
          <a:xfrm>
            <a:off x="742950" y="2076450"/>
            <a:ext cx="23241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微软雅黑"/>
                <a:ea typeface="微软雅黑"/>
              </a:rPr>
              <a:t>① </a:t>
            </a:r>
            <a:r>
              <a:rPr lang="zh-CN" sz="1350" b="1">
                <a:solidFill>
                  <a:srgbClr val="0E3F8C"/>
                </a:solidFill>
                <a:latin typeface="微软雅黑"/>
                <a:ea typeface="微软雅黑"/>
              </a:rPr>
              <a:t>结论要能写进论文</a:t>
            </a:r>
            <a:endParaRPr/>
          </a:p>
        </p:txBody>
      </p:sp>
      <p:sp>
        <p:nvSpPr>
          <p:cNvPr id="571" name="文本框 570" descr="{&quot;isTemplate&quot;:true,&quot;type&quot;:&quot;text&quot;}"/>
          <p:cNvSpPr txBox="1"/>
          <p:nvPr/>
        </p:nvSpPr>
        <p:spPr>
          <a:xfrm>
            <a:off x="742950" y="2381250"/>
            <a:ext cx="2324100" cy="885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2C3947"/>
                </a:solidFill>
                <a:latin typeface="微软雅黑"/>
              </a:rPr>
              <a:t>「预测带隙 1.2 eV」要成为有效结论，须有可追溯的数据来源、与应用目标匹配的验证与适用边界；机制解释另需独立证据。</a:t>
            </a:r>
            <a:endParaRPr/>
          </a:p>
        </p:txBody>
      </p:sp>
      <p:sp>
        <p:nvSpPr>
          <p:cNvPr id="572" name="矩形: 圆角 571"/>
          <p:cNvSpPr/>
          <p:nvPr/>
        </p:nvSpPr>
        <p:spPr>
          <a:xfrm>
            <a:off x="3390900" y="1924050"/>
            <a:ext cx="2619375" cy="1495425"/>
          </a:xfrm>
          <a:prstGeom prst="roundRect">
            <a:avLst>
              <a:gd name="adj" fmla="val 636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73" name="文本框 572" descr="{&quot;isTemplate&quot;:true,&quot;type&quot;:&quot;text&quot;}"/>
          <p:cNvSpPr txBox="1"/>
          <p:nvPr/>
        </p:nvSpPr>
        <p:spPr>
          <a:xfrm>
            <a:off x="3543300" y="2076450"/>
            <a:ext cx="231457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微软雅黑"/>
                <a:ea typeface="微软雅黑"/>
              </a:rPr>
              <a:t>② </a:t>
            </a:r>
            <a:r>
              <a:rPr lang="zh-CN" sz="1350" b="1">
                <a:solidFill>
                  <a:srgbClr val="0E3F8C"/>
                </a:solidFill>
                <a:latin typeface="微软雅黑"/>
                <a:ea typeface="微软雅黑"/>
              </a:rPr>
              <a:t>错了要知道错在哪</a:t>
            </a:r>
            <a:endParaRPr/>
          </a:p>
        </p:txBody>
      </p:sp>
      <p:sp>
        <p:nvSpPr>
          <p:cNvPr id="574" name="文本框 573" descr="{&quot;isTemplate&quot;:true,&quot;type&quot;:&quot;text&quot;}"/>
          <p:cNvSpPr txBox="1"/>
          <p:nvPr/>
        </p:nvSpPr>
        <p:spPr>
          <a:xfrm>
            <a:off x="3543300" y="2381250"/>
            <a:ext cx="231457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200">
                <a:solidFill>
                  <a:srgbClr val="2C3947"/>
                </a:solidFill>
                <a:latin typeface="微软雅黑"/>
                <a:ea typeface="微软雅黑"/>
              </a:rPr>
              <a:t>外推失效时，需要定位是特征问题、数据问题还是模型容量问题</a:t>
            </a:r>
            <a:endParaRPr/>
          </a:p>
        </p:txBody>
      </p:sp>
      <p:sp>
        <p:nvSpPr>
          <p:cNvPr id="575" name="矩形: 圆角 574"/>
          <p:cNvSpPr/>
          <p:nvPr/>
        </p:nvSpPr>
        <p:spPr>
          <a:xfrm>
            <a:off x="6181725" y="1924050"/>
            <a:ext cx="2628900" cy="1495425"/>
          </a:xfrm>
          <a:prstGeom prst="roundRect">
            <a:avLst>
              <a:gd name="adj" fmla="val 636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76" name="文本框 575" descr="{&quot;isTemplate&quot;:true,&quot;type&quot;:&quot;text&quot;}"/>
          <p:cNvSpPr txBox="1"/>
          <p:nvPr/>
        </p:nvSpPr>
        <p:spPr>
          <a:xfrm>
            <a:off x="6334125" y="2076450"/>
            <a:ext cx="23241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微软雅黑"/>
                <a:ea typeface="微软雅黑"/>
              </a:rPr>
              <a:t>③ </a:t>
            </a:r>
            <a:r>
              <a:rPr lang="zh-CN" sz="1350" b="1">
                <a:solidFill>
                  <a:srgbClr val="0E3F8C"/>
                </a:solidFill>
                <a:latin typeface="微软雅黑"/>
                <a:ea typeface="微软雅黑"/>
              </a:rPr>
              <a:t>物理约束要能被嵌入</a:t>
            </a:r>
            <a:endParaRPr/>
          </a:p>
        </p:txBody>
      </p:sp>
      <p:sp>
        <p:nvSpPr>
          <p:cNvPr id="577" name="文本框 576" descr="{&quot;isTemplate&quot;:true,&quot;type&quot;:&quot;text&quot;}"/>
          <p:cNvSpPr txBox="1"/>
          <p:nvPr/>
        </p:nvSpPr>
        <p:spPr>
          <a:xfrm>
            <a:off x="6334125" y="2381250"/>
            <a:ext cx="2324100" cy="885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200">
                <a:solidFill>
                  <a:srgbClr val="2C3947"/>
                </a:solidFill>
                <a:latin typeface="微软雅黑"/>
                <a:ea typeface="微软雅黑"/>
              </a:rPr>
              <a:t>只有理解结构–性能关联，才能把已知规律写进损失函数（如</a:t>
            </a:r>
            <a:r>
              <a:rPr lang="en-US" sz="1200">
                <a:solidFill>
                  <a:srgbClr val="2C3947"/>
                </a:solidFill>
                <a:latin typeface="微软雅黑"/>
                <a:ea typeface="微软雅黑"/>
              </a:rPr>
              <a:t> PINN</a:t>
            </a:r>
            <a:r>
              <a:rPr lang="zh-CN" sz="1200">
                <a:solidFill>
                  <a:srgbClr val="2C3947"/>
                </a:solidFill>
                <a:latin typeface="微软雅黑"/>
                <a:ea typeface="微软雅黑"/>
              </a:rPr>
              <a:t>）</a:t>
            </a:r>
            <a:endParaRPr/>
          </a:p>
        </p:txBody>
      </p:sp>
      <p:sp>
        <p:nvSpPr>
          <p:cNvPr id="578" name="矩形: 圆角 577"/>
          <p:cNvSpPr/>
          <p:nvPr/>
        </p:nvSpPr>
        <p:spPr>
          <a:xfrm>
            <a:off x="8982075" y="1924050"/>
            <a:ext cx="2619375" cy="1495425"/>
          </a:xfrm>
          <a:prstGeom prst="roundRect">
            <a:avLst>
              <a:gd name="adj" fmla="val 636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79" name="文本框 578" descr="{&quot;isTemplate&quot;:true,&quot;type&quot;:&quot;text&quot;}"/>
          <p:cNvSpPr txBox="1"/>
          <p:nvPr/>
        </p:nvSpPr>
        <p:spPr>
          <a:xfrm>
            <a:off x="9134475" y="2076450"/>
            <a:ext cx="231457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微软雅黑"/>
                <a:ea typeface="微软雅黑"/>
              </a:rPr>
              <a:t>④ </a:t>
            </a:r>
            <a:r>
              <a:rPr lang="zh-CN" sz="1350" b="1">
                <a:solidFill>
                  <a:srgbClr val="0E3F8C"/>
                </a:solidFill>
                <a:latin typeface="微软雅黑"/>
                <a:ea typeface="微软雅黑"/>
              </a:rPr>
              <a:t>审稿人会问</a:t>
            </a:r>
            <a:endParaRPr/>
          </a:p>
        </p:txBody>
      </p:sp>
      <p:sp>
        <p:nvSpPr>
          <p:cNvPr id="580" name="文本框 579" descr="{&quot;isTemplate&quot;:true,&quot;type&quot;:&quot;text&quot;}"/>
          <p:cNvSpPr txBox="1"/>
          <p:nvPr/>
        </p:nvSpPr>
        <p:spPr>
          <a:xfrm>
            <a:off x="9134475" y="2381250"/>
            <a:ext cx="231457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200">
                <a:solidFill>
                  <a:srgbClr val="2C3947"/>
                </a:solidFill>
                <a:latin typeface="微软雅黑"/>
                <a:ea typeface="微软雅黑"/>
              </a:rPr>
              <a:t>材料领域审稿人普遍要求机制的讨论，纯黑箱预测很难通过评审</a:t>
            </a:r>
            <a:endParaRPr/>
          </a:p>
        </p:txBody>
      </p:sp>
      <p:sp>
        <p:nvSpPr>
          <p:cNvPr id="581" name="矩形: 圆角 580"/>
          <p:cNvSpPr/>
          <p:nvPr/>
        </p:nvSpPr>
        <p:spPr>
          <a:xfrm>
            <a:off x="381000" y="3762375"/>
            <a:ext cx="5619750" cy="2752725"/>
          </a:xfrm>
          <a:prstGeom prst="roundRect">
            <a:avLst>
              <a:gd name="adj" fmla="val 4152"/>
            </a:avLst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2" name="文本框 581" descr="{&quot;isTemplate&quot;:true,&quot;type&quot;:&quot;text&quot;}"/>
          <p:cNvSpPr txBox="1"/>
          <p:nvPr/>
        </p:nvSpPr>
        <p:spPr>
          <a:xfrm>
            <a:off x="590550" y="3971925"/>
            <a:ext cx="52006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8D6E00"/>
                </a:solidFill>
                <a:latin typeface="微软雅黑"/>
                <a:ea typeface="微软雅黑"/>
              </a:rPr>
              <a:t>典型陷阱</a:t>
            </a:r>
            <a:endParaRPr/>
          </a:p>
        </p:txBody>
      </p:sp>
      <p:sp>
        <p:nvSpPr>
          <p:cNvPr id="583" name="文本框 582" descr="{&quot;isTemplate&quot;:true,&quot;type&quot;:&quot;text&quot;}"/>
          <p:cNvSpPr txBox="1"/>
          <p:nvPr/>
        </p:nvSpPr>
        <p:spPr>
          <a:xfrm>
            <a:off x="590550" y="4295775"/>
            <a:ext cx="5200650" cy="3524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zh-CN" sz="1350" b="1">
                <a:solidFill>
                  <a:srgbClr val="1A2230"/>
                </a:solidFill>
                <a:latin typeface="微软雅黑"/>
                <a:ea typeface="微软雅黑"/>
              </a:rPr>
              <a:t>特征重要性高≠</a:t>
            </a:r>
            <a:r>
              <a:rPr lang="en-US" sz="1350" b="1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350" b="1">
                <a:solidFill>
                  <a:srgbClr val="1A2230"/>
                </a:solidFill>
                <a:latin typeface="微软雅黑"/>
                <a:ea typeface="微软雅黑"/>
              </a:rPr>
              <a:t>物理机制清晰。</a:t>
            </a:r>
            <a:endParaRPr/>
          </a:p>
        </p:txBody>
      </p:sp>
      <p:sp>
        <p:nvSpPr>
          <p:cNvPr id="584" name="文本框 583" descr="{&quot;isTemplate&quot;:true,&quot;type&quot;:&quot;text&quot;}"/>
          <p:cNvSpPr txBox="1"/>
          <p:nvPr/>
        </p:nvSpPr>
        <p:spPr>
          <a:xfrm>
            <a:off x="590550" y="4743450"/>
            <a:ext cx="5200650" cy="6477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5000"/>
              </a:lnSpc>
            </a:pPr>
            <a:r>
              <a:rPr lang="zh-CN" sz="1275">
                <a:solidFill>
                  <a:srgbClr val="3A4759"/>
                </a:solidFill>
                <a:latin typeface="微软雅黑"/>
                <a:ea typeface="微软雅黑"/>
              </a:rPr>
              <a:t>模型可能依赖某个与性质高度相关但无因果意义的特征（如含某种元素），这在训练分布内有效，一旦外推到不含该元素的体系就彻底失效。</a:t>
            </a:r>
            <a:endParaRPr/>
          </a:p>
        </p:txBody>
      </p:sp>
      <p:sp>
        <p:nvSpPr>
          <p:cNvPr id="585" name="矩形: 圆角 584"/>
          <p:cNvSpPr/>
          <p:nvPr/>
        </p:nvSpPr>
        <p:spPr>
          <a:xfrm>
            <a:off x="6191250" y="3762375"/>
            <a:ext cx="5619750" cy="2752725"/>
          </a:xfrm>
          <a:prstGeom prst="roundRect">
            <a:avLst>
              <a:gd name="adj" fmla="val 4152"/>
            </a:avLst>
          </a:prstGeom>
          <a:solidFill>
            <a:srgbClr val="E8F1FC"/>
          </a:solidFill>
          <a:ln w="12700">
            <a:solidFill>
              <a:srgbClr val="1E4F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6" name="文本框 585" descr="{&quot;isTemplate&quot;:true,&quot;type&quot;:&quot;text&quot;}"/>
          <p:cNvSpPr txBox="1"/>
          <p:nvPr/>
        </p:nvSpPr>
        <p:spPr>
          <a:xfrm>
            <a:off x="6400800" y="3971925"/>
            <a:ext cx="52006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/>
                <a:ea typeface="微软雅黑"/>
              </a:rPr>
              <a:t>本课程的处理方式</a:t>
            </a:r>
            <a:endParaRPr/>
          </a:p>
        </p:txBody>
      </p:sp>
      <p:sp>
        <p:nvSpPr>
          <p:cNvPr id="587" name="文本框 586" descr="{&quot;isTemplate&quot;:true,&quot;type&quot;:&quot;text&quot;}"/>
          <p:cNvSpPr txBox="1"/>
          <p:nvPr/>
        </p:nvSpPr>
        <p:spPr>
          <a:xfrm>
            <a:off x="6400800" y="4295775"/>
            <a:ext cx="5200650" cy="704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0000"/>
              </a:lnSpc>
            </a:pP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第</a:t>
            </a:r>
            <a:r>
              <a:rPr lang="en-US" sz="1350">
                <a:solidFill>
                  <a:srgbClr val="1A2230"/>
                </a:solidFill>
                <a:latin typeface="微软雅黑"/>
                <a:ea typeface="微软雅黑"/>
              </a:rPr>
              <a:t> 9 </a:t>
            </a: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讲讲</a:t>
            </a:r>
            <a:r>
              <a:rPr lang="en-US" sz="1350" b="1">
                <a:solidFill>
                  <a:srgbClr val="0E3F8C"/>
                </a:solidFill>
                <a:latin typeface="微软雅黑"/>
                <a:ea typeface="微软雅黑"/>
              </a:rPr>
              <a:t> SHAP </a:t>
            </a:r>
            <a:r>
              <a:rPr lang="zh-CN" sz="1350" b="1">
                <a:solidFill>
                  <a:srgbClr val="0E3F8C"/>
                </a:solidFill>
                <a:latin typeface="微软雅黑"/>
                <a:ea typeface="微软雅黑"/>
              </a:rPr>
              <a:t>与</a:t>
            </a:r>
            <a:r>
              <a:rPr lang="en-US" sz="1350" b="1">
                <a:solidFill>
                  <a:srgbClr val="0E3F8C"/>
                </a:solidFill>
                <a:latin typeface="微软雅黑"/>
                <a:ea typeface="微软雅黑"/>
              </a:rPr>
              <a:t> PDP</a:t>
            </a: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，并明确区分「统计可解释」与「物理可解释」。</a:t>
            </a:r>
            <a:endParaRPr/>
          </a:p>
        </p:txBody>
      </p:sp>
      <p:sp>
        <p:nvSpPr>
          <p:cNvPr id="588" name="文本框 587" descr="{&quot;isTemplate&quot;:true,&quot;type&quot;:&quot;text&quot;}"/>
          <p:cNvSpPr txBox="1"/>
          <p:nvPr/>
        </p:nvSpPr>
        <p:spPr>
          <a:xfrm>
            <a:off x="6400800" y="5095875"/>
            <a:ext cx="5200650" cy="6477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2C3947"/>
                </a:solidFill>
                <a:latin typeface="微软雅黑"/>
              </a:rPr>
              <a:t>第 15 讲的 PINN 把物理残差加入损失，但有限采样、优化与权重设置不保证严格满足物理，也不自动可解释；须用独立测点与参考解检验。</a:t>
            </a:r>
            <a:endParaRPr/>
          </a:p>
        </p:txBody>
      </p:sp>
      <p:sp>
        <p:nvSpPr>
          <p:cNvPr id="589" name="文本框 588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590" name="文本框 589" descr="{&quot;isTemplate&quot;:true,&quot;type&quot;:&quot;text&quot;}"/>
          <p:cNvSpPr txBox="1"/>
          <p:nvPr/>
        </p:nvSpPr>
        <p:spPr>
          <a:xfrm>
            <a:off x="54673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591" name="文本框 590" descr="{&quot;isTemplate&quot;:true,&quot;type&quot;:&quot;text&quot;}"/>
          <p:cNvSpPr txBox="1"/>
          <p:nvPr/>
        </p:nvSpPr>
        <p:spPr>
          <a:xfrm>
            <a:off x="11410950" y="6610350"/>
            <a:ext cx="4000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27 / 60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矩形 59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94" name="矩形 593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95" name="文本框 594" descr="{&quot;isTemplate&quot;:true,&quot;type&quot;:&quot;text&quot;}"/>
          <p:cNvSpPr txBox="1"/>
          <p:nvPr/>
        </p:nvSpPr>
        <p:spPr>
          <a:xfrm>
            <a:off x="342900" y="171450"/>
            <a:ext cx="3524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在材料科学中的应用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讲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材料信息学导论与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产业</a:t>
            </a:r>
            <a:endParaRPr/>
          </a:p>
        </p:txBody>
      </p:sp>
      <p:sp>
        <p:nvSpPr>
          <p:cNvPr id="596" name="文本框 595" descr="{&quot;isTemplate&quot;:true,&quot;type&quot;:&quot;text&quot;}"/>
          <p:cNvSpPr txBox="1"/>
          <p:nvPr/>
        </p:nvSpPr>
        <p:spPr>
          <a:xfrm>
            <a:off x="9172575" y="171450"/>
            <a:ext cx="15716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02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机器学习</a:t>
            </a: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 ≠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材料信息学</a:t>
            </a:r>
            <a:endParaRPr/>
          </a:p>
        </p:txBody>
      </p:sp>
      <p:pic>
        <p:nvPicPr>
          <p:cNvPr id="597" name="图片 596"/>
          <p:cNvPicPr>
            <a:picLocks noChangeAspect="1"/>
          </p:cNvPicPr>
          <p:nvPr/>
        </p:nvPicPr>
        <p:blipFill>
          <a:blip r:embed="rId2"/>
          <a:srcRect l="847" r="847"/>
          <a:stretch>
            <a:fillRect/>
          </a:stretch>
        </p:blipFill>
        <p:spPr>
          <a:xfrm>
            <a:off x="10858500" y="123825"/>
            <a:ext cx="990600" cy="247650"/>
          </a:xfrm>
          <a:prstGeom prst="rect">
            <a:avLst/>
          </a:prstGeom>
          <a:ln/>
        </p:spPr>
      </p:pic>
      <p:sp>
        <p:nvSpPr>
          <p:cNvPr id="598" name="文本框 597" descr="{&quot;isTemplate&quot;:true,&quot;type&quot;:&quot;text&quot;}"/>
          <p:cNvSpPr txBox="1"/>
          <p:nvPr/>
        </p:nvSpPr>
        <p:spPr>
          <a:xfrm>
            <a:off x="381000" y="666750"/>
            <a:ext cx="114300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钉钉进步体"/>
                <a:ea typeface="钉钉进步体"/>
              </a:rPr>
              <a:t>六个维度汇总：一张表记住本课立场</a:t>
            </a:r>
            <a:endParaRPr/>
          </a:p>
        </p:txBody>
      </p:sp>
      <p:sp>
        <p:nvSpPr>
          <p:cNvPr id="599" name="矩形: 圆角 598"/>
          <p:cNvSpPr/>
          <p:nvPr/>
        </p:nvSpPr>
        <p:spPr>
          <a:xfrm>
            <a:off x="381000" y="1114425"/>
            <a:ext cx="571500" cy="47625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00" name="矩形: 圆角 599"/>
          <p:cNvSpPr/>
          <p:nvPr/>
        </p:nvSpPr>
        <p:spPr>
          <a:xfrm>
            <a:off x="381000" y="2047875"/>
            <a:ext cx="11430000" cy="300990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1" name="文本框 600" descr="{&quot;isTemplate&quot;:true,&quot;type&quot;:&quot;text&quot;}"/>
          <p:cNvSpPr txBox="1"/>
          <p:nvPr/>
        </p:nvSpPr>
        <p:spPr>
          <a:xfrm>
            <a:off x="552450" y="2219325"/>
            <a:ext cx="11430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/>
                <a:ea typeface="微软雅黑"/>
              </a:rPr>
              <a:t>维度</a:t>
            </a:r>
            <a:endParaRPr/>
          </a:p>
        </p:txBody>
      </p:sp>
      <p:sp>
        <p:nvSpPr>
          <p:cNvPr id="602" name="文本框 601" descr="{&quot;isTemplate&quot;:true,&quot;type&quot;:&quot;text&quot;}"/>
          <p:cNvSpPr txBox="1"/>
          <p:nvPr/>
        </p:nvSpPr>
        <p:spPr>
          <a:xfrm>
            <a:off x="1847850" y="2219325"/>
            <a:ext cx="73533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微软雅黑"/>
                <a:ea typeface="微软雅黑"/>
              </a:rPr>
              <a:t>材料场景的要求</a:t>
            </a:r>
            <a:endParaRPr/>
          </a:p>
        </p:txBody>
      </p:sp>
      <p:sp>
        <p:nvSpPr>
          <p:cNvPr id="603" name="文本框 602" descr="{&quot;isTemplate&quot;:true,&quot;type&quot;:&quot;text&quot;}"/>
          <p:cNvSpPr txBox="1"/>
          <p:nvPr/>
        </p:nvSpPr>
        <p:spPr>
          <a:xfrm>
            <a:off x="9353550" y="2219325"/>
            <a:ext cx="22860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微软雅黑"/>
                <a:ea typeface="微软雅黑"/>
              </a:rPr>
              <a:t>对应讲次</a:t>
            </a:r>
            <a:endParaRPr/>
          </a:p>
        </p:txBody>
      </p:sp>
      <p:sp>
        <p:nvSpPr>
          <p:cNvPr id="604" name="矩形: 圆角 603"/>
          <p:cNvSpPr/>
          <p:nvPr/>
        </p:nvSpPr>
        <p:spPr>
          <a:xfrm>
            <a:off x="552450" y="2514600"/>
            <a:ext cx="11087100" cy="371475"/>
          </a:xfrm>
          <a:prstGeom prst="roundRect">
            <a:avLst>
              <a:gd name="adj" fmla="val 15385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05" name="文本框 604" descr="{&quot;isTemplate&quot;:true,&quot;type&quot;:&quot;text&quot;}"/>
          <p:cNvSpPr txBox="1"/>
          <p:nvPr/>
        </p:nvSpPr>
        <p:spPr>
          <a:xfrm>
            <a:off x="666750" y="2600325"/>
            <a:ext cx="11430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微软雅黑"/>
                <a:ea typeface="微软雅黑"/>
              </a:rPr>
              <a:t>小数据</a:t>
            </a:r>
            <a:endParaRPr/>
          </a:p>
        </p:txBody>
      </p:sp>
      <p:sp>
        <p:nvSpPr>
          <p:cNvPr id="606" name="文本框 605" descr="{&quot;isTemplate&quot;:true,&quot;type&quot;:&quot;text&quot;}"/>
          <p:cNvSpPr txBox="1"/>
          <p:nvPr/>
        </p:nvSpPr>
        <p:spPr>
          <a:xfrm>
            <a:off x="1962150" y="2609850"/>
            <a:ext cx="71247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3A4759"/>
                </a:solidFill>
                <a:latin typeface="微软雅黑"/>
                <a:ea typeface="微软雅黑"/>
              </a:rPr>
              <a:t>特征工程</a:t>
            </a:r>
            <a:r>
              <a:rPr lang="en-US" sz="1200">
                <a:solidFill>
                  <a:srgbClr val="3A4759"/>
                </a:solidFill>
                <a:latin typeface="微软雅黑"/>
                <a:ea typeface="微软雅黑"/>
              </a:rPr>
              <a:t> + </a:t>
            </a:r>
            <a:r>
              <a:rPr lang="zh-CN" sz="1200">
                <a:solidFill>
                  <a:srgbClr val="3A4759"/>
                </a:solidFill>
                <a:latin typeface="微软雅黑"/>
                <a:ea typeface="微软雅黑"/>
              </a:rPr>
              <a:t>正则化</a:t>
            </a:r>
            <a:r>
              <a:rPr lang="en-US" sz="1200">
                <a:solidFill>
                  <a:srgbClr val="3A4759"/>
                </a:solidFill>
                <a:latin typeface="微软雅黑"/>
                <a:ea typeface="微软雅黑"/>
              </a:rPr>
              <a:t> + </a:t>
            </a:r>
            <a:r>
              <a:rPr lang="zh-CN" sz="1200">
                <a:solidFill>
                  <a:srgbClr val="3A4759"/>
                </a:solidFill>
                <a:latin typeface="微软雅黑"/>
                <a:ea typeface="微软雅黑"/>
              </a:rPr>
              <a:t>迁移学习</a:t>
            </a:r>
            <a:endParaRPr/>
          </a:p>
        </p:txBody>
      </p:sp>
      <p:sp>
        <p:nvSpPr>
          <p:cNvPr id="607" name="文本框 606" descr="{&quot;isTemplate&quot;:true,&quot;type&quot;:&quot;text&quot;}"/>
          <p:cNvSpPr txBox="1"/>
          <p:nvPr/>
        </p:nvSpPr>
        <p:spPr>
          <a:xfrm>
            <a:off x="9239250" y="2609850"/>
            <a:ext cx="22860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微软雅黑"/>
                <a:ea typeface="微软雅黑"/>
              </a:rPr>
              <a:t>第</a:t>
            </a:r>
            <a:r>
              <a:rPr lang="en-US" sz="1200" b="1">
                <a:solidFill>
                  <a:srgbClr val="1E4FA8"/>
                </a:solidFill>
                <a:latin typeface="微软雅黑"/>
                <a:ea typeface="微软雅黑"/>
              </a:rPr>
              <a:t> 4–5</a:t>
            </a:r>
            <a:r>
              <a:rPr lang="zh-CN" sz="1200" b="1">
                <a:solidFill>
                  <a:srgbClr val="1E4FA8"/>
                </a:solidFill>
                <a:latin typeface="微软雅黑"/>
                <a:ea typeface="微软雅黑"/>
              </a:rPr>
              <a:t>、</a:t>
            </a:r>
            <a:r>
              <a:rPr lang="en-US" sz="1200" b="1">
                <a:solidFill>
                  <a:srgbClr val="1E4FA8"/>
                </a:solidFill>
                <a:latin typeface="微软雅黑"/>
                <a:ea typeface="微软雅黑"/>
              </a:rPr>
              <a:t>6</a:t>
            </a:r>
            <a:r>
              <a:rPr lang="zh-CN" sz="1200" b="1">
                <a:solidFill>
                  <a:srgbClr val="1E4FA8"/>
                </a:solidFill>
                <a:latin typeface="微软雅黑"/>
                <a:ea typeface="微软雅黑"/>
              </a:rPr>
              <a:t>、</a:t>
            </a:r>
            <a:r>
              <a:rPr lang="en-US" sz="1200" b="1">
                <a:solidFill>
                  <a:srgbClr val="1E4FA8"/>
                </a:solidFill>
                <a:latin typeface="微软雅黑"/>
                <a:ea typeface="微软雅黑"/>
              </a:rPr>
              <a:t>12 </a:t>
            </a:r>
            <a:r>
              <a:rPr lang="zh-CN" sz="1200" b="1">
                <a:solidFill>
                  <a:srgbClr val="1E4FA8"/>
                </a:solidFill>
                <a:latin typeface="微软雅黑"/>
                <a:ea typeface="微软雅黑"/>
              </a:rPr>
              <a:t>讲</a:t>
            </a:r>
            <a:endParaRPr/>
          </a:p>
        </p:txBody>
      </p:sp>
      <p:sp>
        <p:nvSpPr>
          <p:cNvPr id="608" name="矩形: 圆角 607"/>
          <p:cNvSpPr/>
          <p:nvPr/>
        </p:nvSpPr>
        <p:spPr>
          <a:xfrm>
            <a:off x="552450" y="2914650"/>
            <a:ext cx="11087100" cy="371475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09" name="文本框 608" descr="{&quot;isTemplate&quot;:true,&quot;type&quot;:&quot;text&quot;}"/>
          <p:cNvSpPr txBox="1"/>
          <p:nvPr/>
        </p:nvSpPr>
        <p:spPr>
          <a:xfrm>
            <a:off x="666750" y="3000375"/>
            <a:ext cx="11430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微软雅黑"/>
                <a:ea typeface="微软雅黑"/>
              </a:rPr>
              <a:t>重外推</a:t>
            </a:r>
            <a:endParaRPr/>
          </a:p>
        </p:txBody>
      </p:sp>
      <p:sp>
        <p:nvSpPr>
          <p:cNvPr id="610" name="文本框 609" descr="{&quot;isTemplate&quot;:true,&quot;type&quot;:&quot;text&quot;}"/>
          <p:cNvSpPr txBox="1"/>
          <p:nvPr/>
        </p:nvSpPr>
        <p:spPr>
          <a:xfrm>
            <a:off x="1962150" y="3009900"/>
            <a:ext cx="71247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3A4759"/>
                </a:solidFill>
                <a:latin typeface="微软雅黑"/>
                <a:ea typeface="微软雅黑"/>
              </a:rPr>
              <a:t>LOCO-CV + </a:t>
            </a:r>
            <a:r>
              <a:rPr lang="zh-CN" sz="1200">
                <a:solidFill>
                  <a:srgbClr val="3A4759"/>
                </a:solidFill>
                <a:latin typeface="微软雅黑"/>
                <a:ea typeface="微软雅黑"/>
              </a:rPr>
              <a:t>外推风险评估</a:t>
            </a:r>
            <a:endParaRPr/>
          </a:p>
        </p:txBody>
      </p:sp>
      <p:sp>
        <p:nvSpPr>
          <p:cNvPr id="611" name="文本框 610" descr="{&quot;isTemplate&quot;:true,&quot;type&quot;:&quot;text&quot;}"/>
          <p:cNvSpPr txBox="1"/>
          <p:nvPr/>
        </p:nvSpPr>
        <p:spPr>
          <a:xfrm>
            <a:off x="9239250" y="3009900"/>
            <a:ext cx="22860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微软雅黑"/>
                <a:ea typeface="微软雅黑"/>
              </a:rPr>
              <a:t>第</a:t>
            </a:r>
            <a:r>
              <a:rPr lang="en-US" sz="1200" b="1">
                <a:solidFill>
                  <a:srgbClr val="1E4FA8"/>
                </a:solidFill>
                <a:latin typeface="微软雅黑"/>
                <a:ea typeface="微软雅黑"/>
              </a:rPr>
              <a:t> 8–9 </a:t>
            </a:r>
            <a:r>
              <a:rPr lang="zh-CN" sz="1200" b="1">
                <a:solidFill>
                  <a:srgbClr val="1E4FA8"/>
                </a:solidFill>
                <a:latin typeface="微软雅黑"/>
                <a:ea typeface="微软雅黑"/>
              </a:rPr>
              <a:t>讲</a:t>
            </a:r>
            <a:endParaRPr/>
          </a:p>
        </p:txBody>
      </p:sp>
      <p:sp>
        <p:nvSpPr>
          <p:cNvPr id="612" name="矩形: 圆角 611"/>
          <p:cNvSpPr/>
          <p:nvPr/>
        </p:nvSpPr>
        <p:spPr>
          <a:xfrm>
            <a:off x="552450" y="3314700"/>
            <a:ext cx="11087100" cy="371475"/>
          </a:xfrm>
          <a:prstGeom prst="roundRect">
            <a:avLst>
              <a:gd name="adj" fmla="val 15385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13" name="文本框 612" descr="{&quot;isTemplate&quot;:true,&quot;type&quot;:&quot;text&quot;}"/>
          <p:cNvSpPr txBox="1"/>
          <p:nvPr/>
        </p:nvSpPr>
        <p:spPr>
          <a:xfrm>
            <a:off x="666750" y="3400425"/>
            <a:ext cx="11430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微软雅黑"/>
                <a:ea typeface="微软雅黑"/>
              </a:rPr>
              <a:t>异质多模态</a:t>
            </a:r>
            <a:endParaRPr/>
          </a:p>
        </p:txBody>
      </p:sp>
      <p:sp>
        <p:nvSpPr>
          <p:cNvPr id="614" name="文本框 613" descr="{&quot;isTemplate&quot;:true,&quot;type&quot;:&quot;text&quot;}"/>
          <p:cNvSpPr txBox="1"/>
          <p:nvPr/>
        </p:nvSpPr>
        <p:spPr>
          <a:xfrm>
            <a:off x="1962150" y="3409950"/>
            <a:ext cx="71247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3A4759"/>
                </a:solidFill>
                <a:latin typeface="微软雅黑"/>
                <a:ea typeface="微软雅黑"/>
              </a:rPr>
              <a:t>结构化表示与模态选择</a:t>
            </a:r>
            <a:endParaRPr/>
          </a:p>
        </p:txBody>
      </p:sp>
      <p:sp>
        <p:nvSpPr>
          <p:cNvPr id="615" name="文本框 614" descr="{&quot;isTemplate&quot;:true,&quot;type&quot;:&quot;text&quot;}"/>
          <p:cNvSpPr txBox="1"/>
          <p:nvPr/>
        </p:nvSpPr>
        <p:spPr>
          <a:xfrm>
            <a:off x="9239250" y="3409950"/>
            <a:ext cx="22860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微软雅黑"/>
                <a:ea typeface="微软雅黑"/>
              </a:rPr>
              <a:t>第</a:t>
            </a:r>
            <a:r>
              <a:rPr lang="en-US" sz="1200" b="1">
                <a:solidFill>
                  <a:srgbClr val="1E4FA8"/>
                </a:solidFill>
                <a:latin typeface="微软雅黑"/>
                <a:ea typeface="微软雅黑"/>
              </a:rPr>
              <a:t> 5</a:t>
            </a:r>
            <a:r>
              <a:rPr lang="zh-CN" sz="1200" b="1">
                <a:solidFill>
                  <a:srgbClr val="1E4FA8"/>
                </a:solidFill>
                <a:latin typeface="微软雅黑"/>
                <a:ea typeface="微软雅黑"/>
              </a:rPr>
              <a:t>讲</a:t>
            </a:r>
            <a:endParaRPr/>
          </a:p>
        </p:txBody>
      </p:sp>
      <p:sp>
        <p:nvSpPr>
          <p:cNvPr id="616" name="矩形: 圆角 615"/>
          <p:cNvSpPr/>
          <p:nvPr/>
        </p:nvSpPr>
        <p:spPr>
          <a:xfrm>
            <a:off x="552450" y="3714750"/>
            <a:ext cx="11087100" cy="371475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17" name="文本框 616" descr="{&quot;isTemplate&quot;:true,&quot;type&quot;:&quot;text&quot;}"/>
          <p:cNvSpPr txBox="1"/>
          <p:nvPr/>
        </p:nvSpPr>
        <p:spPr>
          <a:xfrm>
            <a:off x="666750" y="3800475"/>
            <a:ext cx="11430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微软雅黑"/>
                <a:ea typeface="微软雅黑"/>
              </a:rPr>
              <a:t>重不确定性</a:t>
            </a:r>
            <a:endParaRPr/>
          </a:p>
        </p:txBody>
      </p:sp>
      <p:sp>
        <p:nvSpPr>
          <p:cNvPr id="618" name="文本框 617" descr="{&quot;isTemplate&quot;:true,&quot;type&quot;:&quot;text&quot;}"/>
          <p:cNvSpPr txBox="1"/>
          <p:nvPr/>
        </p:nvSpPr>
        <p:spPr>
          <a:xfrm>
            <a:off x="1962150" y="3810000"/>
            <a:ext cx="71247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3A4759"/>
                </a:solidFill>
                <a:latin typeface="微软雅黑"/>
                <a:ea typeface="微软雅黑"/>
              </a:rPr>
              <a:t>高斯过程与贝叶斯优化</a:t>
            </a:r>
            <a:endParaRPr/>
          </a:p>
        </p:txBody>
      </p:sp>
      <p:sp>
        <p:nvSpPr>
          <p:cNvPr id="619" name="文本框 618" descr="{&quot;isTemplate&quot;:true,&quot;type&quot;:&quot;text&quot;}"/>
          <p:cNvSpPr txBox="1"/>
          <p:nvPr/>
        </p:nvSpPr>
        <p:spPr>
          <a:xfrm>
            <a:off x="9239250" y="3810000"/>
            <a:ext cx="22860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微软雅黑"/>
                <a:ea typeface="微软雅黑"/>
              </a:rPr>
              <a:t>第</a:t>
            </a:r>
            <a:r>
              <a:rPr lang="en-US" sz="1200" b="1">
                <a:solidFill>
                  <a:srgbClr val="1E4FA8"/>
                </a:solidFill>
                <a:latin typeface="微软雅黑"/>
                <a:ea typeface="微软雅黑"/>
              </a:rPr>
              <a:t> 13–14 </a:t>
            </a:r>
            <a:r>
              <a:rPr lang="zh-CN" sz="1200" b="1">
                <a:solidFill>
                  <a:srgbClr val="1E4FA8"/>
                </a:solidFill>
                <a:latin typeface="微软雅黑"/>
                <a:ea typeface="微软雅黑"/>
              </a:rPr>
              <a:t>讲</a:t>
            </a:r>
            <a:endParaRPr/>
          </a:p>
        </p:txBody>
      </p:sp>
      <p:sp>
        <p:nvSpPr>
          <p:cNvPr id="620" name="矩形: 圆角 619"/>
          <p:cNvSpPr/>
          <p:nvPr/>
        </p:nvSpPr>
        <p:spPr>
          <a:xfrm>
            <a:off x="552450" y="4114800"/>
            <a:ext cx="11087100" cy="371475"/>
          </a:xfrm>
          <a:prstGeom prst="roundRect">
            <a:avLst>
              <a:gd name="adj" fmla="val 15385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21" name="文本框 620" descr="{&quot;isTemplate&quot;:true,&quot;type&quot;:&quot;text&quot;}"/>
          <p:cNvSpPr txBox="1"/>
          <p:nvPr/>
        </p:nvSpPr>
        <p:spPr>
          <a:xfrm>
            <a:off x="666750" y="4200525"/>
            <a:ext cx="11430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微软雅黑"/>
                <a:ea typeface="微软雅黑"/>
              </a:rPr>
              <a:t>重特征</a:t>
            </a:r>
            <a:endParaRPr/>
          </a:p>
        </p:txBody>
      </p:sp>
      <p:sp>
        <p:nvSpPr>
          <p:cNvPr id="622" name="文本框 621" descr="{&quot;isTemplate&quot;:true,&quot;type&quot;:&quot;text&quot;}"/>
          <p:cNvSpPr txBox="1"/>
          <p:nvPr/>
        </p:nvSpPr>
        <p:spPr>
          <a:xfrm>
            <a:off x="1962150" y="4210050"/>
            <a:ext cx="71247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3A4759"/>
                </a:solidFill>
                <a:latin typeface="微软雅黑"/>
                <a:ea typeface="微软雅黑"/>
              </a:rPr>
              <a:t>CBFV / </a:t>
            </a:r>
            <a:r>
              <a:rPr lang="zh-CN" sz="1200">
                <a:solidFill>
                  <a:srgbClr val="3A4759"/>
                </a:solidFill>
                <a:latin typeface="微软雅黑"/>
                <a:ea typeface="微软雅黑"/>
              </a:rPr>
              <a:t>图表示</a:t>
            </a:r>
            <a:r>
              <a:rPr lang="en-US" sz="1200">
                <a:solidFill>
                  <a:srgbClr val="3A4759"/>
                </a:solidFill>
                <a:latin typeface="微软雅黑"/>
                <a:ea typeface="微软雅黑"/>
              </a:rPr>
              <a:t> / </a:t>
            </a:r>
            <a:r>
              <a:rPr lang="zh-CN" sz="1200">
                <a:solidFill>
                  <a:srgbClr val="3A4759"/>
                </a:solidFill>
                <a:latin typeface="微软雅黑"/>
                <a:ea typeface="微软雅黑"/>
              </a:rPr>
              <a:t>指纹</a:t>
            </a:r>
            <a:endParaRPr/>
          </a:p>
        </p:txBody>
      </p:sp>
      <p:sp>
        <p:nvSpPr>
          <p:cNvPr id="623" name="文本框 622" descr="{&quot;isTemplate&quot;:true,&quot;type&quot;:&quot;text&quot;}"/>
          <p:cNvSpPr txBox="1"/>
          <p:nvPr/>
        </p:nvSpPr>
        <p:spPr>
          <a:xfrm>
            <a:off x="9239250" y="4210050"/>
            <a:ext cx="22860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微软雅黑"/>
                <a:ea typeface="微软雅黑"/>
              </a:rPr>
              <a:t>第</a:t>
            </a:r>
            <a:r>
              <a:rPr lang="en-US" sz="1200" b="1">
                <a:solidFill>
                  <a:srgbClr val="1E4FA8"/>
                </a:solidFill>
                <a:latin typeface="微软雅黑"/>
                <a:ea typeface="微软雅黑"/>
              </a:rPr>
              <a:t> 4–5 </a:t>
            </a:r>
            <a:r>
              <a:rPr lang="zh-CN" sz="1200" b="1">
                <a:solidFill>
                  <a:srgbClr val="1E4FA8"/>
                </a:solidFill>
                <a:latin typeface="微软雅黑"/>
                <a:ea typeface="微软雅黑"/>
              </a:rPr>
              <a:t>讲</a:t>
            </a:r>
            <a:endParaRPr/>
          </a:p>
        </p:txBody>
      </p:sp>
      <p:sp>
        <p:nvSpPr>
          <p:cNvPr id="624" name="矩形: 圆角 623"/>
          <p:cNvSpPr/>
          <p:nvPr/>
        </p:nvSpPr>
        <p:spPr>
          <a:xfrm>
            <a:off x="552450" y="4514850"/>
            <a:ext cx="11087100" cy="371475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25" name="文本框 624" descr="{&quot;isTemplate&quot;:true,&quot;type&quot;:&quot;text&quot;}"/>
          <p:cNvSpPr txBox="1"/>
          <p:nvPr/>
        </p:nvSpPr>
        <p:spPr>
          <a:xfrm>
            <a:off x="666750" y="4600575"/>
            <a:ext cx="11430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微软雅黑"/>
                <a:ea typeface="微软雅黑"/>
              </a:rPr>
              <a:t>重可解释</a:t>
            </a:r>
            <a:endParaRPr/>
          </a:p>
        </p:txBody>
      </p:sp>
      <p:sp>
        <p:nvSpPr>
          <p:cNvPr id="626" name="文本框 625" descr="{&quot;isTemplate&quot;:true,&quot;type&quot;:&quot;text&quot;}"/>
          <p:cNvSpPr txBox="1"/>
          <p:nvPr/>
        </p:nvSpPr>
        <p:spPr>
          <a:xfrm>
            <a:off x="1962150" y="4610100"/>
            <a:ext cx="71247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3A4759"/>
                </a:solidFill>
                <a:latin typeface="微软雅黑"/>
                <a:ea typeface="微软雅黑"/>
              </a:rPr>
              <a:t>SHAP/PDP + </a:t>
            </a:r>
            <a:r>
              <a:rPr lang="zh-CN" sz="1200">
                <a:solidFill>
                  <a:srgbClr val="3A4759"/>
                </a:solidFill>
                <a:latin typeface="微软雅黑"/>
                <a:ea typeface="微软雅黑"/>
              </a:rPr>
              <a:t>物理约束</a:t>
            </a:r>
            <a:endParaRPr/>
          </a:p>
        </p:txBody>
      </p:sp>
      <p:sp>
        <p:nvSpPr>
          <p:cNvPr id="627" name="文本框 626" descr="{&quot;isTemplate&quot;:true,&quot;type&quot;:&quot;text&quot;}"/>
          <p:cNvSpPr txBox="1"/>
          <p:nvPr/>
        </p:nvSpPr>
        <p:spPr>
          <a:xfrm>
            <a:off x="9239250" y="4610100"/>
            <a:ext cx="22860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微软雅黑"/>
                <a:ea typeface="微软雅黑"/>
              </a:rPr>
              <a:t>第</a:t>
            </a:r>
            <a:r>
              <a:rPr lang="en-US" sz="1200" b="1">
                <a:solidFill>
                  <a:srgbClr val="1E4FA8"/>
                </a:solidFill>
                <a:latin typeface="微软雅黑"/>
                <a:ea typeface="微软雅黑"/>
              </a:rPr>
              <a:t> 9</a:t>
            </a:r>
            <a:r>
              <a:rPr lang="zh-CN" sz="1200" b="1">
                <a:solidFill>
                  <a:srgbClr val="1E4FA8"/>
                </a:solidFill>
                <a:latin typeface="微软雅黑"/>
                <a:ea typeface="微软雅黑"/>
              </a:rPr>
              <a:t>、</a:t>
            </a:r>
            <a:r>
              <a:rPr lang="en-US" sz="1200" b="1">
                <a:solidFill>
                  <a:srgbClr val="1E4FA8"/>
                </a:solidFill>
                <a:latin typeface="微软雅黑"/>
                <a:ea typeface="微软雅黑"/>
              </a:rPr>
              <a:t>15 </a:t>
            </a:r>
            <a:r>
              <a:rPr lang="zh-CN" sz="1200" b="1">
                <a:solidFill>
                  <a:srgbClr val="1E4FA8"/>
                </a:solidFill>
                <a:latin typeface="微软雅黑"/>
                <a:ea typeface="微软雅黑"/>
              </a:rPr>
              <a:t>讲</a:t>
            </a:r>
            <a:endParaRPr/>
          </a:p>
        </p:txBody>
      </p:sp>
      <p:sp>
        <p:nvSpPr>
          <p:cNvPr id="628" name="矩形: 圆角 627"/>
          <p:cNvSpPr/>
          <p:nvPr/>
        </p:nvSpPr>
        <p:spPr>
          <a:xfrm>
            <a:off x="381000" y="5172075"/>
            <a:ext cx="11430000" cy="638175"/>
          </a:xfrm>
          <a:prstGeom prst="roundRect">
            <a:avLst>
              <a:gd name="adj" fmla="val 14925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29" name="文本框 628" descr="{&quot;isTemplate&quot;:true,&quot;type&quot;:&quot;text&quot;}"/>
          <p:cNvSpPr txBox="1"/>
          <p:nvPr/>
        </p:nvSpPr>
        <p:spPr>
          <a:xfrm>
            <a:off x="628650" y="5324475"/>
            <a:ext cx="10934700" cy="333375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ctr">
              <a:lnSpc>
                <a:spcPct val="115000"/>
              </a:lnSpc>
            </a:pPr>
            <a:r>
              <a:rPr sz="1425" b="0">
                <a:solidFill>
                  <a:srgbClr val="FFFFFF"/>
                </a:solidFill>
                <a:latin typeface="微软雅黑"/>
              </a:rPr>
              <a:t>这张表是本课的课程地图：六维是</a:t>
            </a:r>
            <a:r>
              <a:rPr sz="1425" b="1">
                <a:solidFill>
                  <a:srgbClr val="FFC107"/>
                </a:solidFill>
                <a:latin typeface="微软雅黑"/>
              </a:rPr>
              <a:t>本课的任务条件</a:t>
            </a:r>
            <a:r>
              <a:rPr sz="1425" b="0">
                <a:solidFill>
                  <a:srgbClr val="FFFFFF"/>
                </a:solidFill>
                <a:latin typeface="微软雅黑"/>
              </a:rPr>
              <a:t>，不是材料领域与通用 ML 的绝对二分。</a:t>
            </a:r>
            <a:endParaRPr/>
          </a:p>
        </p:txBody>
      </p:sp>
      <p:sp>
        <p:nvSpPr>
          <p:cNvPr id="630" name="文本框 629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631" name="文本框 630" descr="{&quot;isTemplate&quot;:true,&quot;type&quot;:&quot;text&quot;}"/>
          <p:cNvSpPr txBox="1"/>
          <p:nvPr/>
        </p:nvSpPr>
        <p:spPr>
          <a:xfrm>
            <a:off x="54673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632" name="文本框 631" descr="{&quot;isTemplate&quot;:true,&quot;type&quot;:&quot;text&quot;}"/>
          <p:cNvSpPr txBox="1"/>
          <p:nvPr/>
        </p:nvSpPr>
        <p:spPr>
          <a:xfrm>
            <a:off x="11410950" y="6610350"/>
            <a:ext cx="4000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28 / 60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矩形 6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35" name="矩形 634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36" name="文本框 635" descr="{&quot;isTemplate&quot;:true,&quot;type&quot;:&quot;text&quot;}"/>
          <p:cNvSpPr txBox="1"/>
          <p:nvPr/>
        </p:nvSpPr>
        <p:spPr>
          <a:xfrm>
            <a:off x="342900" y="171450"/>
            <a:ext cx="3524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在材料科学中的应用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讲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材料信息学导论与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产业</a:t>
            </a:r>
            <a:endParaRPr/>
          </a:p>
        </p:txBody>
      </p:sp>
      <p:sp>
        <p:nvSpPr>
          <p:cNvPr id="637" name="文本框 636" descr="{&quot;isTemplate&quot;:true,&quot;type&quot;:&quot;text&quot;}"/>
          <p:cNvSpPr txBox="1"/>
          <p:nvPr/>
        </p:nvSpPr>
        <p:spPr>
          <a:xfrm>
            <a:off x="9172575" y="171450"/>
            <a:ext cx="15716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02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机器学习</a:t>
            </a: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 ≠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材料信息学</a:t>
            </a:r>
            <a:endParaRPr/>
          </a:p>
        </p:txBody>
      </p:sp>
      <p:pic>
        <p:nvPicPr>
          <p:cNvPr id="638" name="图片 637"/>
          <p:cNvPicPr>
            <a:picLocks noChangeAspect="1"/>
          </p:cNvPicPr>
          <p:nvPr/>
        </p:nvPicPr>
        <p:blipFill>
          <a:blip r:embed="rId2"/>
          <a:srcRect l="847" r="847"/>
          <a:stretch>
            <a:fillRect/>
          </a:stretch>
        </p:blipFill>
        <p:spPr>
          <a:xfrm>
            <a:off x="10858500" y="123825"/>
            <a:ext cx="990600" cy="247650"/>
          </a:xfrm>
          <a:prstGeom prst="rect">
            <a:avLst/>
          </a:prstGeom>
          <a:ln/>
        </p:spPr>
      </p:pic>
      <p:sp>
        <p:nvSpPr>
          <p:cNvPr id="639" name="文本框 638" descr="{&quot;isTemplate&quot;:true,&quot;type&quot;:&quot;text&quot;}"/>
          <p:cNvSpPr txBox="1"/>
          <p:nvPr/>
        </p:nvSpPr>
        <p:spPr>
          <a:xfrm>
            <a:off x="381000" y="666750"/>
            <a:ext cx="114300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钉钉进步体"/>
                <a:ea typeface="钉钉进步体"/>
              </a:rPr>
              <a:t>材料案例：光电材料中的小数据困境</a:t>
            </a:r>
            <a:endParaRPr/>
          </a:p>
        </p:txBody>
      </p:sp>
      <p:sp>
        <p:nvSpPr>
          <p:cNvPr id="640" name="矩形: 圆角 639"/>
          <p:cNvSpPr/>
          <p:nvPr/>
        </p:nvSpPr>
        <p:spPr>
          <a:xfrm>
            <a:off x="381000" y="1114425"/>
            <a:ext cx="571500" cy="47625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41" name="矩形: 圆角 640"/>
          <p:cNvSpPr/>
          <p:nvPr/>
        </p:nvSpPr>
        <p:spPr>
          <a:xfrm>
            <a:off x="381000" y="1333500"/>
            <a:ext cx="11430000" cy="742950"/>
          </a:xfrm>
          <a:prstGeom prst="roundRect">
            <a:avLst>
              <a:gd name="adj" fmla="val 15385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42" name="文本框 641" descr="{&quot;isTemplate&quot;:true,&quot;type&quot;:&quot;text&quot;}"/>
          <p:cNvSpPr txBox="1"/>
          <p:nvPr/>
        </p:nvSpPr>
        <p:spPr>
          <a:xfrm>
            <a:off x="647700" y="1524000"/>
            <a:ext cx="10896600" cy="361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75">
                <a:solidFill>
                  <a:srgbClr val="FFFFFF"/>
                </a:solidFill>
                <a:latin typeface="微软雅黑"/>
                <a:ea typeface="微软雅黑"/>
              </a:rPr>
              <a:t>培养方案方向四「</a:t>
            </a:r>
            <a:r>
              <a:rPr lang="zh-CN" sz="1575" b="1">
                <a:solidFill>
                  <a:srgbClr val="FFC107"/>
                </a:solidFill>
                <a:latin typeface="微软雅黑"/>
                <a:ea typeface="微软雅黑"/>
              </a:rPr>
              <a:t>光电材料与工程</a:t>
            </a:r>
            <a:r>
              <a:rPr lang="zh-CN" sz="1575">
                <a:solidFill>
                  <a:srgbClr val="FFFFFF"/>
                </a:solidFill>
                <a:latin typeface="微软雅黑"/>
                <a:ea typeface="微软雅黑"/>
              </a:rPr>
              <a:t>」的典型问题：</a:t>
            </a:r>
            <a:r>
              <a:rPr lang="en-US" sz="1575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575">
                <a:solidFill>
                  <a:srgbClr val="FFFFFF"/>
                </a:solidFill>
                <a:latin typeface="微软雅黑"/>
                <a:ea typeface="微软雅黑"/>
              </a:rPr>
              <a:t>钙钛矿、硫化物、氮化物体系的</a:t>
            </a:r>
            <a:r>
              <a:rPr lang="zh-CN" sz="1575" b="1">
                <a:solidFill>
                  <a:srgbClr val="FFFFFF"/>
                </a:solidFill>
                <a:latin typeface="微软雅黑"/>
                <a:ea typeface="微软雅黑"/>
              </a:rPr>
              <a:t>带隙–效率–稳定性</a:t>
            </a:r>
            <a:r>
              <a:rPr lang="zh-CN" sz="1575">
                <a:solidFill>
                  <a:srgbClr val="FFFFFF"/>
                </a:solidFill>
                <a:latin typeface="微软雅黑"/>
                <a:ea typeface="微软雅黑"/>
              </a:rPr>
              <a:t>如何同时优化？</a:t>
            </a:r>
            <a:endParaRPr/>
          </a:p>
        </p:txBody>
      </p:sp>
      <p:sp>
        <p:nvSpPr>
          <p:cNvPr id="643" name="矩形: 圆角 642"/>
          <p:cNvSpPr/>
          <p:nvPr/>
        </p:nvSpPr>
        <p:spPr>
          <a:xfrm>
            <a:off x="381000" y="2209800"/>
            <a:ext cx="2743200" cy="3200400"/>
          </a:xfrm>
          <a:prstGeom prst="roundRect">
            <a:avLst>
              <a:gd name="adj" fmla="val 3472"/>
            </a:avLst>
          </a:prstGeom>
          <a:solidFill>
            <a:srgbClr val="FCE4E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44" name="文本框 643" descr="{&quot;isTemplate&quot;:true,&quot;type&quot;:&quot;text&quot;}"/>
          <p:cNvSpPr txBox="1"/>
          <p:nvPr/>
        </p:nvSpPr>
        <p:spPr>
          <a:xfrm>
            <a:off x="533400" y="2381250"/>
            <a:ext cx="24384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B1B33"/>
                </a:solidFill>
                <a:latin typeface="微软雅黑"/>
                <a:ea typeface="微软雅黑"/>
              </a:rPr>
              <a:t>数据规模困境</a:t>
            </a:r>
            <a:endParaRPr/>
          </a:p>
        </p:txBody>
      </p:sp>
      <p:sp>
        <p:nvSpPr>
          <p:cNvPr id="645" name="文本框 644" descr="{&quot;isTemplate&quot;:true,&quot;type&quot;:&quot;text&quot;}"/>
          <p:cNvSpPr txBox="1"/>
          <p:nvPr/>
        </p:nvSpPr>
        <p:spPr>
          <a:xfrm>
            <a:off x="533400" y="2686050"/>
            <a:ext cx="2438400" cy="885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200">
                <a:solidFill>
                  <a:srgbClr val="2C3947"/>
                </a:solidFill>
                <a:latin typeface="微软雅黑"/>
                <a:ea typeface="微软雅黑"/>
              </a:rPr>
              <a:t>一个新型钙钛矿体系通常只有几十到几百条可用记录，且不同实验室的制备条件难以统一</a:t>
            </a:r>
            <a:endParaRPr/>
          </a:p>
        </p:txBody>
      </p:sp>
      <p:sp>
        <p:nvSpPr>
          <p:cNvPr id="646" name="矩形: 圆角 645"/>
          <p:cNvSpPr/>
          <p:nvPr/>
        </p:nvSpPr>
        <p:spPr>
          <a:xfrm>
            <a:off x="3276600" y="2209800"/>
            <a:ext cx="2743200" cy="3200400"/>
          </a:xfrm>
          <a:prstGeom prst="roundRect">
            <a:avLst>
              <a:gd name="adj" fmla="val 3472"/>
            </a:avLst>
          </a:prstGeom>
          <a:solidFill>
            <a:srgbClr val="FFF4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47" name="文本框 646" descr="{&quot;isTemplate&quot;:true,&quot;type&quot;:&quot;text&quot;}"/>
          <p:cNvSpPr txBox="1"/>
          <p:nvPr/>
        </p:nvSpPr>
        <p:spPr>
          <a:xfrm>
            <a:off x="3429000" y="2381250"/>
            <a:ext cx="24384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B1B33"/>
                </a:solidFill>
                <a:latin typeface="微软雅黑"/>
                <a:ea typeface="微软雅黑"/>
              </a:rPr>
              <a:t>多目标冲突</a:t>
            </a:r>
            <a:endParaRPr/>
          </a:p>
        </p:txBody>
      </p:sp>
      <p:sp>
        <p:nvSpPr>
          <p:cNvPr id="648" name="文本框 647" descr="{&quot;isTemplate&quot;:true,&quot;type&quot;:&quot;text&quot;}"/>
          <p:cNvSpPr txBox="1"/>
          <p:nvPr/>
        </p:nvSpPr>
        <p:spPr>
          <a:xfrm>
            <a:off x="3429000" y="2686050"/>
            <a:ext cx="24384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200">
                <a:solidFill>
                  <a:srgbClr val="2C3947"/>
                </a:solidFill>
                <a:latin typeface="微软雅黑"/>
                <a:ea typeface="微软雅黑"/>
              </a:rPr>
              <a:t>带隙合适利于吸收，但往往与载流子迁移率、稳定性相互制约</a:t>
            </a:r>
            <a:endParaRPr/>
          </a:p>
        </p:txBody>
      </p:sp>
      <p:sp>
        <p:nvSpPr>
          <p:cNvPr id="649" name="矩形: 圆角 648"/>
          <p:cNvSpPr/>
          <p:nvPr/>
        </p:nvSpPr>
        <p:spPr>
          <a:xfrm>
            <a:off x="6172200" y="2209800"/>
            <a:ext cx="2743200" cy="3200400"/>
          </a:xfrm>
          <a:prstGeom prst="roundRect">
            <a:avLst>
              <a:gd name="adj" fmla="val 3472"/>
            </a:avLst>
          </a:prstGeom>
          <a:solidFill>
            <a:srgbClr val="E8F1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50" name="文本框 649" descr="{&quot;isTemplate&quot;:true,&quot;type&quot;:&quot;text&quot;}"/>
          <p:cNvSpPr txBox="1"/>
          <p:nvPr/>
        </p:nvSpPr>
        <p:spPr>
          <a:xfrm>
            <a:off x="6324600" y="2381250"/>
            <a:ext cx="2438400" cy="209550"/>
          </a:xfrm>
          <a:prstGeom prst="rect">
            <a:avLst/>
          </a:prstGeom>
        </p:spPr>
        <p:txBody>
          <a:bodyPr wrap="squar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B1B33"/>
                </a:solidFill>
                <a:latin typeface="微软雅黑"/>
                <a:ea typeface="微软雅黑"/>
              </a:rPr>
              <a:t>外推与内插</a:t>
            </a:r>
            <a:endParaRPr/>
          </a:p>
        </p:txBody>
      </p:sp>
      <p:sp>
        <p:nvSpPr>
          <p:cNvPr id="651" name="文本框 650" descr="{&quot;isTemplate&quot;:true,&quot;type&quot;:&quot;text&quot;}"/>
          <p:cNvSpPr txBox="1"/>
          <p:nvPr/>
        </p:nvSpPr>
        <p:spPr>
          <a:xfrm>
            <a:off x="6324600" y="2686050"/>
            <a:ext cx="24384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2C3947"/>
                </a:solidFill>
                <a:latin typeface="微软雅黑"/>
              </a:rPr>
              <a:t>新体系筛选要外推，既有体系的工艺优化多是内插；应用目标决定划分方式，不能把「发现」等同于成分外推。</a:t>
            </a:r>
            <a:endParaRPr/>
          </a:p>
        </p:txBody>
      </p:sp>
      <p:sp>
        <p:nvSpPr>
          <p:cNvPr id="652" name="矩形: 圆角 651"/>
          <p:cNvSpPr/>
          <p:nvPr/>
        </p:nvSpPr>
        <p:spPr>
          <a:xfrm>
            <a:off x="9067800" y="2209800"/>
            <a:ext cx="2743200" cy="3200400"/>
          </a:xfrm>
          <a:prstGeom prst="roundRect">
            <a:avLst>
              <a:gd name="adj" fmla="val 3472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53" name="文本框 652" descr="{&quot;isTemplate&quot;:true,&quot;type&quot;:&quot;text&quot;}"/>
          <p:cNvSpPr txBox="1"/>
          <p:nvPr/>
        </p:nvSpPr>
        <p:spPr>
          <a:xfrm>
            <a:off x="9220200" y="2381250"/>
            <a:ext cx="24384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B1B33"/>
                </a:solidFill>
                <a:latin typeface="微软雅黑"/>
                <a:ea typeface="微软雅黑"/>
              </a:rPr>
              <a:t>表征成本高</a:t>
            </a:r>
            <a:endParaRPr/>
          </a:p>
        </p:txBody>
      </p:sp>
      <p:sp>
        <p:nvSpPr>
          <p:cNvPr id="654" name="文本框 653" descr="{&quot;isTemplate&quot;:true,&quot;type&quot;:&quot;text&quot;}"/>
          <p:cNvSpPr txBox="1"/>
          <p:nvPr/>
        </p:nvSpPr>
        <p:spPr>
          <a:xfrm>
            <a:off x="9220200" y="2686050"/>
            <a:ext cx="24384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en-US" sz="1200">
                <a:solidFill>
                  <a:srgbClr val="2C3947"/>
                </a:solidFill>
                <a:latin typeface="微软雅黑"/>
                <a:ea typeface="微软雅黑"/>
              </a:rPr>
              <a:t>PL</a:t>
            </a:r>
            <a:r>
              <a:rPr lang="zh-CN" sz="1200">
                <a:solidFill>
                  <a:srgbClr val="2C3947"/>
                </a:solidFill>
                <a:latin typeface="微软雅黑"/>
                <a:ea typeface="微软雅黑"/>
              </a:rPr>
              <a:t>、</a:t>
            </a:r>
            <a:r>
              <a:rPr lang="en-US" sz="1200">
                <a:solidFill>
                  <a:srgbClr val="2C3947"/>
                </a:solidFill>
                <a:latin typeface="微软雅黑"/>
                <a:ea typeface="微软雅黑"/>
              </a:rPr>
              <a:t>EQE</a:t>
            </a:r>
            <a:r>
              <a:rPr lang="zh-CN" sz="1200">
                <a:solidFill>
                  <a:srgbClr val="2C3947"/>
                </a:solidFill>
                <a:latin typeface="微软雅黑"/>
                <a:ea typeface="微软雅黑"/>
              </a:rPr>
              <a:t>、长期稳定性测试耗时昂贵，无法像图像任务那样大量采样</a:t>
            </a:r>
            <a:endParaRPr/>
          </a:p>
        </p:txBody>
      </p:sp>
      <p:sp>
        <p:nvSpPr>
          <p:cNvPr id="655" name="矩形: 圆角 654"/>
          <p:cNvSpPr/>
          <p:nvPr/>
        </p:nvSpPr>
        <p:spPr>
          <a:xfrm>
            <a:off x="381000" y="5543550"/>
            <a:ext cx="11430000" cy="971550"/>
          </a:xfrm>
          <a:prstGeom prst="roundRect">
            <a:avLst>
              <a:gd name="adj" fmla="val 9804"/>
            </a:avLst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6" name="文本框 655" descr="{&quot;isTemplate&quot;:true,&quot;type&quot;:&quot;text&quot;}"/>
          <p:cNvSpPr txBox="1"/>
          <p:nvPr/>
        </p:nvSpPr>
        <p:spPr>
          <a:xfrm>
            <a:off x="609600" y="5695950"/>
            <a:ext cx="10972800" cy="666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8D6E00"/>
                </a:solidFill>
                <a:latin typeface="微软雅黑"/>
                <a:ea typeface="微软雅黑"/>
              </a:rPr>
              <a:t>这正是本课程存在的理由：</a:t>
            </a: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学生带着自己的光电材料课题进来，会立刻遇到这里的每一个困境。课程后半程的迁移学习与贝叶斯优化，正是为这些问题准备的工具。</a:t>
            </a:r>
            <a:endParaRPr/>
          </a:p>
        </p:txBody>
      </p:sp>
      <p:sp>
        <p:nvSpPr>
          <p:cNvPr id="657" name="文本框 656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658" name="文本框 657" descr="{&quot;isTemplate&quot;:true,&quot;type&quot;:&quot;text&quot;}"/>
          <p:cNvSpPr txBox="1"/>
          <p:nvPr/>
        </p:nvSpPr>
        <p:spPr>
          <a:xfrm>
            <a:off x="54673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659" name="文本框 658" descr="{&quot;isTemplate&quot;:true,&quot;type&quot;:&quot;text&quot;}"/>
          <p:cNvSpPr txBox="1"/>
          <p:nvPr/>
        </p:nvSpPr>
        <p:spPr>
          <a:xfrm>
            <a:off x="11410950" y="6610350"/>
            <a:ext cx="4000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29 / 60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矩形 7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21" name="矩形 720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22" name="文本框 721" descr="{&quot;isTemplate&quot;:true,&quot;type&quot;:&quot;text&quot;}"/>
          <p:cNvSpPr txBox="1"/>
          <p:nvPr/>
        </p:nvSpPr>
        <p:spPr>
          <a:xfrm>
            <a:off x="342900" y="171450"/>
            <a:ext cx="3524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在材料科学中的应用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讲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材料信息学导论与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产业</a:t>
            </a:r>
            <a:endParaRPr/>
          </a:p>
        </p:txBody>
      </p:sp>
      <p:sp>
        <p:nvSpPr>
          <p:cNvPr id="723" name="文本框 722" descr="{&quot;isTemplate&quot;:true,&quot;type&quot;:&quot;text&quot;}"/>
          <p:cNvSpPr txBox="1"/>
          <p:nvPr/>
        </p:nvSpPr>
        <p:spPr>
          <a:xfrm>
            <a:off x="8420100" y="171450"/>
            <a:ext cx="23241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02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机器学习</a:t>
            </a: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 ≠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材料信息学</a:t>
            </a: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补充阅读</a:t>
            </a:r>
            <a:endParaRPr/>
          </a:p>
        </p:txBody>
      </p:sp>
      <p:pic>
        <p:nvPicPr>
          <p:cNvPr id="724" name="图片 723"/>
          <p:cNvPicPr>
            <a:picLocks noChangeAspect="1"/>
          </p:cNvPicPr>
          <p:nvPr/>
        </p:nvPicPr>
        <p:blipFill>
          <a:blip r:embed="rId3"/>
          <a:srcRect l="847" r="847"/>
          <a:stretch>
            <a:fillRect/>
          </a:stretch>
        </p:blipFill>
        <p:spPr>
          <a:xfrm>
            <a:off x="10858500" y="123825"/>
            <a:ext cx="990600" cy="247650"/>
          </a:xfrm>
          <a:prstGeom prst="rect">
            <a:avLst/>
          </a:prstGeom>
          <a:ln/>
        </p:spPr>
      </p:pic>
      <p:sp>
        <p:nvSpPr>
          <p:cNvPr id="725" name="文本框 724" descr="{&quot;isTemplate&quot;:true,&quot;type&quot;:&quot;text&quot;}"/>
          <p:cNvSpPr txBox="1"/>
          <p:nvPr/>
        </p:nvSpPr>
        <p:spPr>
          <a:xfrm>
            <a:off x="381000" y="666750"/>
            <a:ext cx="114300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钉钉进步体"/>
                <a:ea typeface="钉钉进步体"/>
              </a:rPr>
              <a:t>准确性—可解释性权衡</a:t>
            </a:r>
            <a:endParaRPr/>
          </a:p>
        </p:txBody>
      </p:sp>
      <p:sp>
        <p:nvSpPr>
          <p:cNvPr id="726" name="矩形: 圆角 725"/>
          <p:cNvSpPr/>
          <p:nvPr/>
        </p:nvSpPr>
        <p:spPr>
          <a:xfrm>
            <a:off x="381000" y="1114425"/>
            <a:ext cx="571500" cy="47625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27" name="矩形: 圆角 726"/>
          <p:cNvSpPr/>
          <p:nvPr/>
        </p:nvSpPr>
        <p:spPr>
          <a:xfrm>
            <a:off x="381000" y="1333500"/>
            <a:ext cx="11430000" cy="4076700"/>
          </a:xfrm>
          <a:prstGeom prst="roundRect">
            <a:avLst>
              <a:gd name="adj" fmla="val 2804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8" name="文本框 727" descr="{&quot;isTemplate&quot;:true,&quot;type&quot;:&quot;text&quot;}"/>
          <p:cNvSpPr txBox="1"/>
          <p:nvPr/>
        </p:nvSpPr>
        <p:spPr>
          <a:xfrm>
            <a:off x="609600" y="1609725"/>
            <a:ext cx="109728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微软雅黑"/>
                <a:ea typeface="微软雅黑"/>
              </a:rPr>
              <a:t>方法在「精度–可解释性」平面上的大致位置</a:t>
            </a:r>
            <a:endParaRPr/>
          </a:p>
        </p:txBody>
      </p:sp>
      <p:sp>
        <p:nvSpPr>
          <p:cNvPr id="729" name="文本框 728" descr="{&quot;isTemplate&quot;:true,&quot;type&quot;:&quot;text&quot;}"/>
          <p:cNvSpPr txBox="1"/>
          <p:nvPr/>
        </p:nvSpPr>
        <p:spPr>
          <a:xfrm>
            <a:off x="609600" y="2333625"/>
            <a:ext cx="5715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微软雅黑"/>
                <a:ea typeface="微软雅黑"/>
              </a:rPr>
              <a:t>高</a:t>
            </a:r>
            <a:endParaRPr/>
          </a:p>
        </p:txBody>
      </p:sp>
      <p:sp>
        <p:nvSpPr>
          <p:cNvPr id="730" name="文本框 729" descr="{&quot;isTemplate&quot;:true,&quot;type&quot;:&quot;text&quot;}"/>
          <p:cNvSpPr txBox="1"/>
          <p:nvPr/>
        </p:nvSpPr>
        <p:spPr>
          <a:xfrm>
            <a:off x="609600" y="3019425"/>
            <a:ext cx="571500" cy="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731" name="文本框 730" descr="{&quot;isTemplate&quot;:true,&quot;type&quot;:&quot;text&quot;}"/>
          <p:cNvSpPr txBox="1"/>
          <p:nvPr/>
        </p:nvSpPr>
        <p:spPr>
          <a:xfrm>
            <a:off x="609600" y="3514725"/>
            <a:ext cx="5715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微软雅黑"/>
                <a:ea typeface="微软雅黑"/>
              </a:rPr>
              <a:t>中</a:t>
            </a:r>
            <a:endParaRPr/>
          </a:p>
        </p:txBody>
      </p:sp>
      <p:sp>
        <p:nvSpPr>
          <p:cNvPr id="732" name="文本框 731" descr="{&quot;isTemplate&quot;:true,&quot;type&quot;:&quot;text&quot;}"/>
          <p:cNvSpPr txBox="1"/>
          <p:nvPr/>
        </p:nvSpPr>
        <p:spPr>
          <a:xfrm>
            <a:off x="609600" y="4200525"/>
            <a:ext cx="571500" cy="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733" name="文本框 732" descr="{&quot;isTemplate&quot;:true,&quot;type&quot;:&quot;text&quot;}"/>
          <p:cNvSpPr txBox="1"/>
          <p:nvPr/>
        </p:nvSpPr>
        <p:spPr>
          <a:xfrm>
            <a:off x="609600" y="4695825"/>
            <a:ext cx="5715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微软雅黑"/>
                <a:ea typeface="微软雅黑"/>
              </a:rPr>
              <a:t>低</a:t>
            </a:r>
            <a:endParaRPr/>
          </a:p>
        </p:txBody>
      </p:sp>
      <p:sp>
        <p:nvSpPr>
          <p:cNvPr id="734" name="矩形 733"/>
          <p:cNvSpPr/>
          <p:nvPr/>
        </p:nvSpPr>
        <p:spPr>
          <a:xfrm>
            <a:off x="1181100" y="2085975"/>
            <a:ext cx="9163050" cy="9525"/>
          </a:xfrm>
          <a:prstGeom prst="rect">
            <a:avLst/>
          </a:prstGeom>
          <a:solidFill>
            <a:srgbClr val="B8C4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35" name="矩形: 圆角 734"/>
          <p:cNvSpPr/>
          <p:nvPr/>
        </p:nvSpPr>
        <p:spPr>
          <a:xfrm>
            <a:off x="1866900" y="2181225"/>
            <a:ext cx="1304925" cy="285750"/>
          </a:xfrm>
          <a:prstGeom prst="roundRect">
            <a:avLst>
              <a:gd name="adj" fmla="val 20000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36" name="文本框 735" descr="{&quot;isTemplate&quot;:true,&quot;type&quot;:&quot;text&quot;}"/>
          <p:cNvSpPr txBox="1"/>
          <p:nvPr/>
        </p:nvSpPr>
        <p:spPr>
          <a:xfrm>
            <a:off x="1981200" y="2238375"/>
            <a:ext cx="10763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/>
                </a:solidFill>
                <a:latin typeface="微软雅黑"/>
                <a:ea typeface="微软雅黑"/>
              </a:rPr>
              <a:t>梯度提升</a:t>
            </a:r>
            <a:r>
              <a:rPr lang="en-US" sz="1125">
                <a:solidFill>
                  <a:srgbClr val="FFFFFF"/>
                </a:solidFill>
                <a:latin typeface="微软雅黑"/>
                <a:ea typeface="微软雅黑"/>
              </a:rPr>
              <a:t> / GBDT</a:t>
            </a:r>
            <a:endParaRPr/>
          </a:p>
        </p:txBody>
      </p:sp>
      <p:sp>
        <p:nvSpPr>
          <p:cNvPr id="737" name="矩形: 圆角 736"/>
          <p:cNvSpPr/>
          <p:nvPr/>
        </p:nvSpPr>
        <p:spPr>
          <a:xfrm>
            <a:off x="1809750" y="2638425"/>
            <a:ext cx="800100" cy="285750"/>
          </a:xfrm>
          <a:prstGeom prst="roundRect">
            <a:avLst>
              <a:gd name="adj" fmla="val 20000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38" name="文本框 737" descr="{&quot;isTemplate&quot;:true,&quot;type&quot;:&quot;text&quot;}"/>
          <p:cNvSpPr txBox="1"/>
          <p:nvPr/>
        </p:nvSpPr>
        <p:spPr>
          <a:xfrm>
            <a:off x="1924050" y="2695575"/>
            <a:ext cx="571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/>
                </a:solidFill>
                <a:latin typeface="微软雅黑"/>
                <a:ea typeface="微软雅黑"/>
              </a:rPr>
              <a:t>随机森林</a:t>
            </a:r>
            <a:endParaRPr/>
          </a:p>
        </p:txBody>
      </p:sp>
      <p:sp>
        <p:nvSpPr>
          <p:cNvPr id="739" name="矩形: 圆角 738"/>
          <p:cNvSpPr/>
          <p:nvPr/>
        </p:nvSpPr>
        <p:spPr>
          <a:xfrm>
            <a:off x="1657350" y="3095625"/>
            <a:ext cx="942975" cy="285750"/>
          </a:xfrm>
          <a:prstGeom prst="roundRect">
            <a:avLst>
              <a:gd name="adj" fmla="val 20000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40" name="文本框 739" descr="{&quot;isTemplate&quot;:true,&quot;type&quot;:&quot;text&quot;}"/>
          <p:cNvSpPr txBox="1"/>
          <p:nvPr/>
        </p:nvSpPr>
        <p:spPr>
          <a:xfrm>
            <a:off x="1771650" y="3152775"/>
            <a:ext cx="7143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/>
                </a:solidFill>
                <a:latin typeface="微软雅黑"/>
                <a:ea typeface="微软雅黑"/>
              </a:rPr>
              <a:t>支持向量机</a:t>
            </a:r>
            <a:endParaRPr/>
          </a:p>
        </p:txBody>
      </p:sp>
      <p:sp>
        <p:nvSpPr>
          <p:cNvPr id="741" name="矩形: 圆角 740"/>
          <p:cNvSpPr/>
          <p:nvPr/>
        </p:nvSpPr>
        <p:spPr>
          <a:xfrm>
            <a:off x="1581150" y="3562350"/>
            <a:ext cx="1219200" cy="285750"/>
          </a:xfrm>
          <a:prstGeom prst="roundRect">
            <a:avLst>
              <a:gd name="adj" fmla="val 20000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42" name="文本框 741" descr="{&quot;isTemplate&quot;:true,&quot;type&quot;:&quot;text&quot;}"/>
          <p:cNvSpPr txBox="1"/>
          <p:nvPr/>
        </p:nvSpPr>
        <p:spPr>
          <a:xfrm>
            <a:off x="1695450" y="3619500"/>
            <a:ext cx="9906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/>
                </a:solidFill>
                <a:latin typeface="微软雅黑"/>
                <a:ea typeface="微软雅黑"/>
              </a:rPr>
              <a:t>GP /</a:t>
            </a:r>
            <a:r>
              <a:rPr lang="zh-CN" sz="1125">
                <a:solidFill>
                  <a:srgbClr val="FFFFFF"/>
                </a:solidFill>
                <a:latin typeface="微软雅黑"/>
                <a:ea typeface="微软雅黑"/>
              </a:rPr>
              <a:t>贝叶斯模型</a:t>
            </a:r>
            <a:endParaRPr/>
          </a:p>
        </p:txBody>
      </p:sp>
      <p:sp>
        <p:nvSpPr>
          <p:cNvPr id="743" name="矩形: 圆角 742"/>
          <p:cNvSpPr/>
          <p:nvPr/>
        </p:nvSpPr>
        <p:spPr>
          <a:xfrm>
            <a:off x="1466850" y="4019550"/>
            <a:ext cx="1333500" cy="285750"/>
          </a:xfrm>
          <a:prstGeom prst="roundRect">
            <a:avLst>
              <a:gd name="adj" fmla="val 20000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44" name="文本框 743" descr="{&quot;isTemplate&quot;:true,&quot;type&quot;:&quot;text&quot;}"/>
          <p:cNvSpPr txBox="1"/>
          <p:nvPr/>
        </p:nvSpPr>
        <p:spPr>
          <a:xfrm>
            <a:off x="1581150" y="4076700"/>
            <a:ext cx="11049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/>
                </a:solidFill>
                <a:latin typeface="微软雅黑"/>
                <a:ea typeface="微软雅黑"/>
              </a:rPr>
              <a:t>第一性原理计算</a:t>
            </a:r>
            <a:r>
              <a:rPr lang="en-US" sz="1125">
                <a:solidFill>
                  <a:srgbClr val="FFFFFF"/>
                </a:solidFill>
                <a:latin typeface="微软雅黑"/>
                <a:ea typeface="微软雅黑"/>
              </a:rPr>
              <a:t>",</a:t>
            </a:r>
            <a:endParaRPr/>
          </a:p>
        </p:txBody>
      </p:sp>
      <p:sp>
        <p:nvSpPr>
          <p:cNvPr id="745" name="矩形: 圆角 744"/>
          <p:cNvSpPr/>
          <p:nvPr/>
        </p:nvSpPr>
        <p:spPr>
          <a:xfrm>
            <a:off x="1390650" y="4476750"/>
            <a:ext cx="904875" cy="285750"/>
          </a:xfrm>
          <a:prstGeom prst="roundRect">
            <a:avLst>
              <a:gd name="adj" fmla="val 20000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46" name="文本框 745" descr="{&quot;isTemplate&quot;:true,&quot;type&quot;:&quot;text&quot;}"/>
          <p:cNvSpPr txBox="1"/>
          <p:nvPr/>
        </p:nvSpPr>
        <p:spPr>
          <a:xfrm>
            <a:off x="1504950" y="4533900"/>
            <a:ext cx="6762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/>
                </a:solidFill>
                <a:latin typeface="微软雅黑"/>
                <a:ea typeface="微软雅黑"/>
              </a:rPr>
              <a:t>线性回归</a:t>
            </a:r>
            <a:r>
              <a:rPr lang="en-US" sz="1125">
                <a:solidFill>
                  <a:srgbClr val="FFFFFF"/>
                </a:solidFill>
                <a:latin typeface="微软雅黑"/>
                <a:ea typeface="微软雅黑"/>
              </a:rPr>
              <a:t>",</a:t>
            </a:r>
            <a:endParaRPr/>
          </a:p>
        </p:txBody>
      </p:sp>
      <p:sp>
        <p:nvSpPr>
          <p:cNvPr id="747" name="矩形 746"/>
          <p:cNvSpPr/>
          <p:nvPr/>
        </p:nvSpPr>
        <p:spPr>
          <a:xfrm>
            <a:off x="1181100" y="4848225"/>
            <a:ext cx="9163050" cy="19050"/>
          </a:xfrm>
          <a:prstGeom prst="rect">
            <a:avLst/>
          </a:prstGeom>
          <a:solidFill>
            <a:srgbClr val="8B97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48" name="文本框 747" descr="{&quot;isTemplate&quot;:true,&quot;type&quot;:&quot;text&quot;}"/>
          <p:cNvSpPr txBox="1"/>
          <p:nvPr/>
        </p:nvSpPr>
        <p:spPr>
          <a:xfrm>
            <a:off x="1181100" y="4943475"/>
            <a:ext cx="152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微软雅黑"/>
                <a:ea typeface="微软雅黑"/>
              </a:rPr>
              <a:t>低</a:t>
            </a:r>
            <a:endParaRPr/>
          </a:p>
        </p:txBody>
      </p:sp>
      <p:sp>
        <p:nvSpPr>
          <p:cNvPr id="749" name="文本框 748" descr="{&quot;isTemplate&quot;:true,&quot;type&quot;:&quot;text&quot;}"/>
          <p:cNvSpPr txBox="1"/>
          <p:nvPr/>
        </p:nvSpPr>
        <p:spPr>
          <a:xfrm>
            <a:off x="5362575" y="4943475"/>
            <a:ext cx="8096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微软雅黑"/>
                <a:ea typeface="微软雅黑"/>
              </a:rPr>
              <a:t>预测精度</a:t>
            </a:r>
            <a:r>
              <a:rPr lang="en-US" sz="1200">
                <a:solidFill>
                  <a:srgbClr val="8B97A8"/>
                </a:solidFill>
                <a:latin typeface="微软雅黑"/>
                <a:ea typeface="微软雅黑"/>
              </a:rPr>
              <a:t> →</a:t>
            </a:r>
            <a:endParaRPr/>
          </a:p>
        </p:txBody>
      </p:sp>
      <p:sp>
        <p:nvSpPr>
          <p:cNvPr id="750" name="文本框 749" descr="{&quot;isTemplate&quot;:true,&quot;type&quot;:&quot;text&quot;}"/>
          <p:cNvSpPr txBox="1"/>
          <p:nvPr/>
        </p:nvSpPr>
        <p:spPr>
          <a:xfrm>
            <a:off x="10191750" y="4943475"/>
            <a:ext cx="152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微软雅黑"/>
                <a:ea typeface="微软雅黑"/>
              </a:rPr>
              <a:t>高</a:t>
            </a:r>
            <a:endParaRPr/>
          </a:p>
        </p:txBody>
      </p:sp>
      <p:sp>
        <p:nvSpPr>
          <p:cNvPr id="751" name="文本框 750" descr="{&quot;isTemplate&quot;:true,&quot;type&quot;:&quot;text&quot;}"/>
          <p:cNvSpPr txBox="1"/>
          <p:nvPr/>
        </p:nvSpPr>
        <p:spPr>
          <a:xfrm>
            <a:off x="10344150" y="4657725"/>
            <a:ext cx="12382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微软雅黑"/>
                <a:ea typeface="微软雅黑"/>
              </a:rPr>
              <a:t>← </a:t>
            </a:r>
            <a:r>
              <a:rPr lang="zh-CN" sz="1200" b="1">
                <a:solidFill>
                  <a:srgbClr val="0E3F8C"/>
                </a:solidFill>
                <a:latin typeface="微软雅黑"/>
                <a:ea typeface="微软雅黑"/>
              </a:rPr>
              <a:t>可解释性</a:t>
            </a:r>
            <a:endParaRPr/>
          </a:p>
        </p:txBody>
      </p:sp>
      <p:sp>
        <p:nvSpPr>
          <p:cNvPr id="752" name="矩形: 圆角 751"/>
          <p:cNvSpPr/>
          <p:nvPr/>
        </p:nvSpPr>
        <p:spPr>
          <a:xfrm>
            <a:off x="381000" y="5543550"/>
            <a:ext cx="11430000" cy="971550"/>
          </a:xfrm>
          <a:prstGeom prst="roundRect">
            <a:avLst>
              <a:gd name="adj" fmla="val 9804"/>
            </a:avLst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3" name="文本框 752" descr="{&quot;isTemplate&quot;:true,&quot;type&quot;:&quot;text&quot;}"/>
          <p:cNvSpPr txBox="1"/>
          <p:nvPr/>
        </p:nvSpPr>
        <p:spPr>
          <a:xfrm>
            <a:off x="609600" y="5695950"/>
            <a:ext cx="10972800" cy="666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8D6E00"/>
                </a:solidFill>
                <a:latin typeface="微软雅黑"/>
                <a:ea typeface="微软雅黑"/>
              </a:rPr>
              <a:t>现实立场：</a:t>
            </a: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材料科学既需要预测精度，也需要能讲清的机制。因此</a:t>
            </a:r>
            <a:r>
              <a:rPr lang="zh-CN" sz="1350" b="1">
                <a:solidFill>
                  <a:srgbClr val="1A2230"/>
                </a:solidFill>
                <a:latin typeface="微软雅黑"/>
                <a:ea typeface="微软雅黑"/>
              </a:rPr>
              <a:t>本课程教你「按需取舍」</a:t>
            </a: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，而非迷信某一类方法——小数据场景下，树模型常是精度与可解释性的最佳折中。</a:t>
            </a:r>
            <a:endParaRPr/>
          </a:p>
        </p:txBody>
      </p:sp>
      <p:sp>
        <p:nvSpPr>
          <p:cNvPr id="754" name="文本框 753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755" name="文本框 754" descr="{&quot;isTemplate&quot;:true,&quot;type&quot;:&quot;text&quot;}"/>
          <p:cNvSpPr txBox="1"/>
          <p:nvPr/>
        </p:nvSpPr>
        <p:spPr>
          <a:xfrm>
            <a:off x="54673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756" name="文本框 755" descr="{&quot;isTemplate&quot;:true,&quot;type&quot;:&quot;text&quot;}"/>
          <p:cNvSpPr txBox="1"/>
          <p:nvPr/>
        </p:nvSpPr>
        <p:spPr>
          <a:xfrm>
            <a:off x="11410950" y="6610350"/>
            <a:ext cx="4000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30 / 60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矩形 75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59" name="矩形 758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60" name="文本框 759" descr="{&quot;isTemplate&quot;:true,&quot;type&quot;:&quot;text&quot;}"/>
          <p:cNvSpPr txBox="1"/>
          <p:nvPr/>
        </p:nvSpPr>
        <p:spPr>
          <a:xfrm>
            <a:off x="342900" y="171450"/>
            <a:ext cx="3524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在材料科学中的应用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讲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材料信息学导论与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产业</a:t>
            </a:r>
            <a:endParaRPr/>
          </a:p>
        </p:txBody>
      </p:sp>
      <p:sp>
        <p:nvSpPr>
          <p:cNvPr id="761" name="文本框 760" descr="{&quot;isTemplate&quot;:true,&quot;type&quot;:&quot;text&quot;}"/>
          <p:cNvSpPr txBox="1"/>
          <p:nvPr/>
        </p:nvSpPr>
        <p:spPr>
          <a:xfrm>
            <a:off x="9172575" y="171450"/>
            <a:ext cx="15716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02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机器学习</a:t>
            </a: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 ≠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材料信息学</a:t>
            </a:r>
            <a:endParaRPr/>
          </a:p>
        </p:txBody>
      </p:sp>
      <p:pic>
        <p:nvPicPr>
          <p:cNvPr id="762" name="图片 761"/>
          <p:cNvPicPr>
            <a:picLocks noChangeAspect="1"/>
          </p:cNvPicPr>
          <p:nvPr/>
        </p:nvPicPr>
        <p:blipFill>
          <a:blip r:embed="rId2"/>
          <a:srcRect l="847" r="847"/>
          <a:stretch>
            <a:fillRect/>
          </a:stretch>
        </p:blipFill>
        <p:spPr>
          <a:xfrm>
            <a:off x="10858500" y="123825"/>
            <a:ext cx="990600" cy="247650"/>
          </a:xfrm>
          <a:prstGeom prst="rect">
            <a:avLst/>
          </a:prstGeom>
          <a:ln/>
        </p:spPr>
      </p:pic>
      <p:sp>
        <p:nvSpPr>
          <p:cNvPr id="763" name="文本框 762" descr="{&quot;isTemplate&quot;:true,&quot;type&quot;:&quot;text&quot;}"/>
          <p:cNvSpPr txBox="1"/>
          <p:nvPr/>
        </p:nvSpPr>
        <p:spPr>
          <a:xfrm>
            <a:off x="381000" y="666750"/>
            <a:ext cx="114300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钉钉进步体"/>
                <a:ea typeface="钉钉进步体"/>
              </a:rPr>
              <a:t>本课程主线：数据</a:t>
            </a:r>
            <a:r>
              <a:rPr lang="en-US" sz="2400" b="1">
                <a:solidFill>
                  <a:srgbClr val="0E3F8C"/>
                </a:solidFill>
                <a:latin typeface="钉钉进步体"/>
                <a:ea typeface="钉钉进步体"/>
              </a:rPr>
              <a:t> → </a:t>
            </a:r>
            <a:r>
              <a:rPr lang="zh-CN" sz="2400" b="1">
                <a:solidFill>
                  <a:srgbClr val="0E3F8C"/>
                </a:solidFill>
                <a:latin typeface="钉钉进步体"/>
                <a:ea typeface="钉钉进步体"/>
              </a:rPr>
              <a:t>表示</a:t>
            </a:r>
            <a:r>
              <a:rPr lang="en-US" sz="2400" b="1">
                <a:solidFill>
                  <a:srgbClr val="0E3F8C"/>
                </a:solidFill>
                <a:latin typeface="钉钉进步体"/>
                <a:ea typeface="钉钉进步体"/>
              </a:rPr>
              <a:t> → </a:t>
            </a:r>
            <a:r>
              <a:rPr lang="zh-CN" sz="2400" b="1">
                <a:solidFill>
                  <a:srgbClr val="0E3F8C"/>
                </a:solidFill>
                <a:latin typeface="钉钉进步体"/>
                <a:ea typeface="钉钉进步体"/>
              </a:rPr>
              <a:t>建模</a:t>
            </a:r>
            <a:r>
              <a:rPr lang="en-US" sz="2400" b="1">
                <a:solidFill>
                  <a:srgbClr val="0E3F8C"/>
                </a:solidFill>
                <a:latin typeface="钉钉进步体"/>
                <a:ea typeface="钉钉进步体"/>
              </a:rPr>
              <a:t> → </a:t>
            </a:r>
            <a:r>
              <a:rPr lang="zh-CN" sz="2400" b="1">
                <a:solidFill>
                  <a:srgbClr val="0E3F8C"/>
                </a:solidFill>
                <a:latin typeface="钉钉进步体"/>
                <a:ea typeface="钉钉进步体"/>
              </a:rPr>
              <a:t>评估</a:t>
            </a:r>
            <a:r>
              <a:rPr lang="en-US" sz="2400" b="1">
                <a:solidFill>
                  <a:srgbClr val="0E3F8C"/>
                </a:solidFill>
                <a:latin typeface="钉钉进步体"/>
                <a:ea typeface="钉钉进步体"/>
              </a:rPr>
              <a:t> → </a:t>
            </a:r>
            <a:r>
              <a:rPr lang="zh-CN" sz="2400" b="1">
                <a:solidFill>
                  <a:srgbClr val="0E3F8C"/>
                </a:solidFill>
                <a:latin typeface="钉钉进步体"/>
                <a:ea typeface="钉钉进步体"/>
              </a:rPr>
              <a:t>优化</a:t>
            </a:r>
            <a:endParaRPr/>
          </a:p>
        </p:txBody>
      </p:sp>
      <p:sp>
        <p:nvSpPr>
          <p:cNvPr id="764" name="矩形: 圆角 763"/>
          <p:cNvSpPr/>
          <p:nvPr/>
        </p:nvSpPr>
        <p:spPr>
          <a:xfrm>
            <a:off x="381000" y="1114425"/>
            <a:ext cx="571500" cy="47625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65" name="矩形: 圆角 764"/>
          <p:cNvSpPr/>
          <p:nvPr/>
        </p:nvSpPr>
        <p:spPr>
          <a:xfrm>
            <a:off x="381000" y="1333500"/>
            <a:ext cx="11430000" cy="1962150"/>
          </a:xfrm>
          <a:prstGeom prst="roundRect">
            <a:avLst>
              <a:gd name="adj" fmla="val 582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6" name="文本框 765" descr="{&quot;isTemplate&quot;:true,&quot;type&quot;:&quot;text&quot;}"/>
          <p:cNvSpPr txBox="1"/>
          <p:nvPr/>
        </p:nvSpPr>
        <p:spPr>
          <a:xfrm>
            <a:off x="609600" y="1562100"/>
            <a:ext cx="109728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微软雅黑"/>
                <a:ea typeface="微软雅黑"/>
              </a:rPr>
              <a:t>贯穿全课程的六步链条</a:t>
            </a:r>
            <a:endParaRPr/>
          </a:p>
        </p:txBody>
      </p:sp>
      <p:sp>
        <p:nvSpPr>
          <p:cNvPr id="767" name="矩形: 圆角 766"/>
          <p:cNvSpPr/>
          <p:nvPr/>
        </p:nvSpPr>
        <p:spPr>
          <a:xfrm>
            <a:off x="609600" y="2019300"/>
            <a:ext cx="1781175" cy="828675"/>
          </a:xfrm>
          <a:prstGeom prst="roundRect">
            <a:avLst>
              <a:gd name="adj" fmla="val 11494"/>
            </a:avLst>
          </a:prstGeom>
          <a:solidFill>
            <a:srgbClr val="E3ECF8"/>
          </a:solidFill>
          <a:ln w="12700">
            <a:solidFill>
              <a:srgbClr val="B8CF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8" name="文本框 767" descr="{&quot;isTemplate&quot;:true,&quot;type&quot;:&quot;text&quot;}"/>
          <p:cNvSpPr txBox="1"/>
          <p:nvPr/>
        </p:nvSpPr>
        <p:spPr>
          <a:xfrm>
            <a:off x="1295400" y="2190750"/>
            <a:ext cx="4191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微软雅黑"/>
                <a:ea typeface="微软雅黑"/>
              </a:rPr>
              <a:t>数据</a:t>
            </a:r>
            <a:endParaRPr/>
          </a:p>
        </p:txBody>
      </p:sp>
      <p:sp>
        <p:nvSpPr>
          <p:cNvPr id="769" name="文本框 768" descr="{&quot;isTemplate&quot;:true,&quot;type&quot;:&quot;text&quot;}"/>
          <p:cNvSpPr txBox="1"/>
          <p:nvPr/>
        </p:nvSpPr>
        <p:spPr>
          <a:xfrm>
            <a:off x="1190625" y="2505075"/>
            <a:ext cx="6286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125">
                <a:solidFill>
                  <a:srgbClr val="3A4759"/>
                </a:solidFill>
                <a:latin typeface="微软雅黑"/>
                <a:ea typeface="微软雅黑"/>
              </a:rPr>
              <a:t>获取·清洗</a:t>
            </a:r>
            <a:endParaRPr/>
          </a:p>
        </p:txBody>
      </p:sp>
      <p:sp>
        <p:nvSpPr>
          <p:cNvPr id="770" name="文本框 769" descr="{&quot;isTemplate&quot;:true,&quot;type&quot;:&quot;text&quot;}"/>
          <p:cNvSpPr txBox="1"/>
          <p:nvPr/>
        </p:nvSpPr>
        <p:spPr>
          <a:xfrm>
            <a:off x="1219200" y="2905125"/>
            <a:ext cx="5715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1–3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讲</a:t>
            </a:r>
            <a:endParaRPr/>
          </a:p>
        </p:txBody>
      </p:sp>
      <p:sp>
        <p:nvSpPr>
          <p:cNvPr id="771" name="矩形: 圆角 770"/>
          <p:cNvSpPr/>
          <p:nvPr/>
        </p:nvSpPr>
        <p:spPr>
          <a:xfrm>
            <a:off x="2447925" y="2019300"/>
            <a:ext cx="1781175" cy="828675"/>
          </a:xfrm>
          <a:prstGeom prst="roundRect">
            <a:avLst>
              <a:gd name="adj" fmla="val 11494"/>
            </a:avLst>
          </a:prstGeom>
          <a:solidFill>
            <a:srgbClr val="E3ECF8"/>
          </a:solidFill>
          <a:ln w="12700">
            <a:solidFill>
              <a:srgbClr val="B8CF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2" name="文本框 771" descr="{&quot;isTemplate&quot;:true,&quot;type&quot;:&quot;text&quot;}"/>
          <p:cNvSpPr txBox="1"/>
          <p:nvPr/>
        </p:nvSpPr>
        <p:spPr>
          <a:xfrm>
            <a:off x="3133725" y="2190750"/>
            <a:ext cx="4191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微软雅黑"/>
                <a:ea typeface="微软雅黑"/>
              </a:rPr>
              <a:t>表示</a:t>
            </a:r>
            <a:endParaRPr/>
          </a:p>
        </p:txBody>
      </p:sp>
      <p:sp>
        <p:nvSpPr>
          <p:cNvPr id="773" name="文本框 772" descr="{&quot;isTemplate&quot;:true,&quot;type&quot;:&quot;text&quot;}"/>
          <p:cNvSpPr txBox="1"/>
          <p:nvPr/>
        </p:nvSpPr>
        <p:spPr>
          <a:xfrm>
            <a:off x="3124200" y="2505075"/>
            <a:ext cx="4286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125">
                <a:solidFill>
                  <a:srgbClr val="3A4759"/>
                </a:solidFill>
                <a:latin typeface="微软雅黑"/>
                <a:ea typeface="微软雅黑"/>
              </a:rPr>
              <a:t>特征化</a:t>
            </a:r>
            <a:endParaRPr/>
          </a:p>
        </p:txBody>
      </p:sp>
      <p:sp>
        <p:nvSpPr>
          <p:cNvPr id="774" name="文本框 773" descr="{&quot;isTemplate&quot;:true,&quot;type&quot;:&quot;text&quot;}"/>
          <p:cNvSpPr txBox="1"/>
          <p:nvPr/>
        </p:nvSpPr>
        <p:spPr>
          <a:xfrm>
            <a:off x="3057525" y="2905125"/>
            <a:ext cx="5715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4–5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讲</a:t>
            </a:r>
            <a:endParaRPr/>
          </a:p>
        </p:txBody>
      </p:sp>
      <p:sp>
        <p:nvSpPr>
          <p:cNvPr id="775" name="矩形: 圆角 774"/>
          <p:cNvSpPr/>
          <p:nvPr/>
        </p:nvSpPr>
        <p:spPr>
          <a:xfrm>
            <a:off x="4286250" y="2019300"/>
            <a:ext cx="1781175" cy="828675"/>
          </a:xfrm>
          <a:prstGeom prst="roundRect">
            <a:avLst>
              <a:gd name="adj" fmla="val 11494"/>
            </a:avLst>
          </a:prstGeom>
          <a:solidFill>
            <a:srgbClr val="E3ECF8"/>
          </a:solidFill>
          <a:ln w="12700">
            <a:solidFill>
              <a:srgbClr val="B8CF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6" name="文本框 775" descr="{&quot;isTemplate&quot;:true,&quot;type&quot;:&quot;text&quot;}"/>
          <p:cNvSpPr txBox="1"/>
          <p:nvPr/>
        </p:nvSpPr>
        <p:spPr>
          <a:xfrm>
            <a:off x="4972050" y="2190750"/>
            <a:ext cx="4191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微软雅黑"/>
                <a:ea typeface="微软雅黑"/>
              </a:rPr>
              <a:t>建模</a:t>
            </a:r>
            <a:endParaRPr/>
          </a:p>
        </p:txBody>
      </p:sp>
      <p:sp>
        <p:nvSpPr>
          <p:cNvPr id="777" name="文本框 776" descr="{&quot;isTemplate&quot;:true,&quot;type&quot;:&quot;text&quot;}"/>
          <p:cNvSpPr txBox="1"/>
          <p:nvPr/>
        </p:nvSpPr>
        <p:spPr>
          <a:xfrm>
            <a:off x="4819650" y="2505075"/>
            <a:ext cx="7143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125">
                <a:solidFill>
                  <a:srgbClr val="3A4759"/>
                </a:solidFill>
                <a:latin typeface="微软雅黑"/>
                <a:ea typeface="微软雅黑"/>
              </a:rPr>
              <a:t>经典→深度</a:t>
            </a:r>
            <a:endParaRPr/>
          </a:p>
        </p:txBody>
      </p:sp>
      <p:sp>
        <p:nvSpPr>
          <p:cNvPr id="778" name="文本框 777" descr="{&quot;isTemplate&quot;:true,&quot;type&quot;:&quot;text&quot;}"/>
          <p:cNvSpPr txBox="1"/>
          <p:nvPr/>
        </p:nvSpPr>
        <p:spPr>
          <a:xfrm>
            <a:off x="4857750" y="2905125"/>
            <a:ext cx="6477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6–12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讲</a:t>
            </a:r>
            <a:endParaRPr/>
          </a:p>
        </p:txBody>
      </p:sp>
      <p:sp>
        <p:nvSpPr>
          <p:cNvPr id="779" name="矩形: 圆角 778"/>
          <p:cNvSpPr/>
          <p:nvPr/>
        </p:nvSpPr>
        <p:spPr>
          <a:xfrm>
            <a:off x="6124575" y="2019300"/>
            <a:ext cx="1781175" cy="828675"/>
          </a:xfrm>
          <a:prstGeom prst="roundRect">
            <a:avLst>
              <a:gd name="adj" fmla="val 11494"/>
            </a:avLst>
          </a:prstGeom>
          <a:solidFill>
            <a:srgbClr val="DCE7F7"/>
          </a:solidFill>
          <a:ln w="12700">
            <a:solidFill>
              <a:srgbClr val="B8CF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0" name="文本框 779" descr="{&quot;isTemplate&quot;:true,&quot;type&quot;:&quot;text&quot;}"/>
          <p:cNvSpPr txBox="1"/>
          <p:nvPr/>
        </p:nvSpPr>
        <p:spPr>
          <a:xfrm>
            <a:off x="6810375" y="2190750"/>
            <a:ext cx="4191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微软雅黑"/>
                <a:ea typeface="微软雅黑"/>
              </a:rPr>
              <a:t>评估</a:t>
            </a:r>
            <a:endParaRPr/>
          </a:p>
        </p:txBody>
      </p:sp>
      <p:sp>
        <p:nvSpPr>
          <p:cNvPr id="781" name="文本框 780" descr="{&quot;isTemplate&quot;:true,&quot;type&quot;:&quot;text&quot;}"/>
          <p:cNvSpPr txBox="1"/>
          <p:nvPr/>
        </p:nvSpPr>
        <p:spPr>
          <a:xfrm>
            <a:off x="6705600" y="2505075"/>
            <a:ext cx="6286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125">
                <a:solidFill>
                  <a:srgbClr val="3A4759"/>
                </a:solidFill>
                <a:latin typeface="微软雅黑"/>
                <a:ea typeface="微软雅黑"/>
              </a:rPr>
              <a:t>指标·外推</a:t>
            </a:r>
            <a:endParaRPr/>
          </a:p>
        </p:txBody>
      </p:sp>
      <p:sp>
        <p:nvSpPr>
          <p:cNvPr id="782" name="文本框 781" descr="{&quot;isTemplate&quot;:true,&quot;type&quot;:&quot;text&quot;}"/>
          <p:cNvSpPr txBox="1"/>
          <p:nvPr/>
        </p:nvSpPr>
        <p:spPr>
          <a:xfrm>
            <a:off x="6734175" y="2905125"/>
            <a:ext cx="5715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8–9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讲</a:t>
            </a:r>
            <a:endParaRPr/>
          </a:p>
        </p:txBody>
      </p:sp>
      <p:sp>
        <p:nvSpPr>
          <p:cNvPr id="783" name="矩形: 圆角 782"/>
          <p:cNvSpPr/>
          <p:nvPr/>
        </p:nvSpPr>
        <p:spPr>
          <a:xfrm>
            <a:off x="7962900" y="2019300"/>
            <a:ext cx="1781175" cy="828675"/>
          </a:xfrm>
          <a:prstGeom prst="roundRect">
            <a:avLst>
              <a:gd name="adj" fmla="val 11494"/>
            </a:avLst>
          </a:prstGeom>
          <a:solidFill>
            <a:srgbClr val="DCE7F7"/>
          </a:solidFill>
          <a:ln w="12700">
            <a:solidFill>
              <a:srgbClr val="B8CF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4" name="文本框 783" descr="{&quot;isTemplate&quot;:true,&quot;type&quot;:&quot;text&quot;}"/>
          <p:cNvSpPr txBox="1"/>
          <p:nvPr/>
        </p:nvSpPr>
        <p:spPr>
          <a:xfrm>
            <a:off x="8648700" y="2190750"/>
            <a:ext cx="4191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微软雅黑"/>
                <a:ea typeface="微软雅黑"/>
              </a:rPr>
              <a:t>优化</a:t>
            </a:r>
            <a:endParaRPr/>
          </a:p>
        </p:txBody>
      </p:sp>
      <p:sp>
        <p:nvSpPr>
          <p:cNvPr id="785" name="文本框 784" descr="{&quot;isTemplate&quot;:true,&quot;type&quot;:&quot;text&quot;}"/>
          <p:cNvSpPr txBox="1"/>
          <p:nvPr/>
        </p:nvSpPr>
        <p:spPr>
          <a:xfrm>
            <a:off x="8467725" y="2505075"/>
            <a:ext cx="7715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125">
                <a:solidFill>
                  <a:srgbClr val="3A4759"/>
                </a:solidFill>
                <a:latin typeface="微软雅黑"/>
                <a:ea typeface="微软雅黑"/>
              </a:rPr>
              <a:t>迁移·贝叶斯</a:t>
            </a:r>
            <a:endParaRPr/>
          </a:p>
        </p:txBody>
      </p:sp>
      <p:sp>
        <p:nvSpPr>
          <p:cNvPr id="786" name="文本框 785" descr="{&quot;isTemplate&quot;:true,&quot;type&quot;:&quot;text&quot;}"/>
          <p:cNvSpPr txBox="1"/>
          <p:nvPr/>
        </p:nvSpPr>
        <p:spPr>
          <a:xfrm>
            <a:off x="8496300" y="2905125"/>
            <a:ext cx="714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13–14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讲</a:t>
            </a:r>
            <a:endParaRPr/>
          </a:p>
        </p:txBody>
      </p:sp>
      <p:sp>
        <p:nvSpPr>
          <p:cNvPr id="787" name="矩形: 圆角 786"/>
          <p:cNvSpPr/>
          <p:nvPr/>
        </p:nvSpPr>
        <p:spPr>
          <a:xfrm>
            <a:off x="9801225" y="2019300"/>
            <a:ext cx="1781175" cy="828675"/>
          </a:xfrm>
          <a:prstGeom prst="roundRect">
            <a:avLst>
              <a:gd name="adj" fmla="val 11494"/>
            </a:avLst>
          </a:prstGeom>
          <a:solidFill>
            <a:srgbClr val="C3D5EE"/>
          </a:solidFill>
          <a:ln w="12700">
            <a:solidFill>
              <a:srgbClr val="B8CF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8" name="文本框 787" descr="{&quot;isTemplate&quot;:true,&quot;type&quot;:&quot;text&quot;}"/>
          <p:cNvSpPr txBox="1"/>
          <p:nvPr/>
        </p:nvSpPr>
        <p:spPr>
          <a:xfrm>
            <a:off x="10487025" y="2190750"/>
            <a:ext cx="4191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微软雅黑"/>
                <a:ea typeface="微软雅黑"/>
              </a:rPr>
              <a:t>发现</a:t>
            </a:r>
            <a:endParaRPr/>
          </a:p>
        </p:txBody>
      </p:sp>
      <p:sp>
        <p:nvSpPr>
          <p:cNvPr id="789" name="文本框 788" descr="{&quot;isTemplate&quot;:true,&quot;type&quot;:&quot;text&quot;}"/>
          <p:cNvSpPr txBox="1"/>
          <p:nvPr/>
        </p:nvSpPr>
        <p:spPr>
          <a:xfrm>
            <a:off x="10363200" y="2505075"/>
            <a:ext cx="6667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1125">
                <a:solidFill>
                  <a:srgbClr val="3A4759"/>
                </a:solidFill>
                <a:latin typeface="微软雅黑"/>
                <a:ea typeface="微软雅黑"/>
              </a:rPr>
              <a:t>PINN·</a:t>
            </a:r>
            <a:r>
              <a:rPr lang="zh-CN" sz="1125">
                <a:solidFill>
                  <a:srgbClr val="3A4759"/>
                </a:solidFill>
                <a:latin typeface="微软雅黑"/>
                <a:ea typeface="微软雅黑"/>
              </a:rPr>
              <a:t>前沿</a:t>
            </a:r>
            <a:endParaRPr/>
          </a:p>
        </p:txBody>
      </p:sp>
      <p:sp>
        <p:nvSpPr>
          <p:cNvPr id="790" name="文本框 789" descr="{&quot;isTemplate&quot;:true,&quot;type&quot;:&quot;text&quot;}"/>
          <p:cNvSpPr txBox="1"/>
          <p:nvPr/>
        </p:nvSpPr>
        <p:spPr>
          <a:xfrm>
            <a:off x="10439400" y="2905125"/>
            <a:ext cx="5048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8B97A8"/>
                </a:solidFill>
                <a:latin typeface="微软雅黑"/>
                <a:ea typeface="微软雅黑"/>
              </a:rPr>
              <a:t> 15 </a:t>
            </a:r>
            <a:r>
              <a:rPr lang="zh-CN" sz="1050">
                <a:solidFill>
                  <a:srgbClr val="8B97A8"/>
                </a:solidFill>
                <a:latin typeface="微软雅黑"/>
                <a:ea typeface="微软雅黑"/>
              </a:rPr>
              <a:t>讲</a:t>
            </a:r>
            <a:endParaRPr/>
          </a:p>
        </p:txBody>
      </p:sp>
      <p:sp>
        <p:nvSpPr>
          <p:cNvPr id="791" name="矩形: 圆角 790"/>
          <p:cNvSpPr/>
          <p:nvPr/>
        </p:nvSpPr>
        <p:spPr>
          <a:xfrm>
            <a:off x="381000" y="3429000"/>
            <a:ext cx="5619750" cy="3086100"/>
          </a:xfrm>
          <a:prstGeom prst="roundRect">
            <a:avLst>
              <a:gd name="adj" fmla="val 3704"/>
            </a:avLst>
          </a:prstGeom>
          <a:solidFill>
            <a:srgbClr val="E8F1FC"/>
          </a:solidFill>
          <a:ln w="12700">
            <a:solidFill>
              <a:srgbClr val="1E4F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92" name="文本框 791" descr="{&quot;isTemplate&quot;:true,&quot;type&quot;:&quot;text&quot;}"/>
          <p:cNvSpPr txBox="1"/>
          <p:nvPr/>
        </p:nvSpPr>
        <p:spPr>
          <a:xfrm>
            <a:off x="590550" y="3638550"/>
            <a:ext cx="52006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/>
                <a:ea typeface="微软雅黑"/>
              </a:rPr>
              <a:t>为什么是这个顺序</a:t>
            </a:r>
            <a:endParaRPr/>
          </a:p>
        </p:txBody>
      </p:sp>
      <p:sp>
        <p:nvSpPr>
          <p:cNvPr id="793" name="文本框 792" descr="{&quot;isTemplate&quot;:true,&quot;type&quot;:&quot;text&quot;}"/>
          <p:cNvSpPr txBox="1"/>
          <p:nvPr/>
        </p:nvSpPr>
        <p:spPr>
          <a:xfrm>
            <a:off x="590550" y="3962400"/>
            <a:ext cx="5200650" cy="1000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顺序本身就是方法论：</a:t>
            </a:r>
            <a:r>
              <a:rPr lang="zh-CN" sz="1275" b="1">
                <a:solidFill>
                  <a:srgbClr val="1A2230"/>
                </a:solidFill>
                <a:latin typeface="微软雅黑"/>
                <a:ea typeface="微软雅黑"/>
              </a:rPr>
              <a:t>数据质量决定上限，特征决定能否触及上限，评估决定你以为自己到了哪里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。跳过前面任何一步直接上深度模型，都是在错误的基础上做优化。</a:t>
            </a:r>
            <a:endParaRPr/>
          </a:p>
        </p:txBody>
      </p:sp>
      <p:sp>
        <p:nvSpPr>
          <p:cNvPr id="794" name="矩形: 圆角 793"/>
          <p:cNvSpPr/>
          <p:nvPr/>
        </p:nvSpPr>
        <p:spPr>
          <a:xfrm>
            <a:off x="6191250" y="3429000"/>
            <a:ext cx="5619750" cy="3086100"/>
          </a:xfrm>
          <a:prstGeom prst="roundRect">
            <a:avLst>
              <a:gd name="adj" fmla="val 3704"/>
            </a:avLst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95" name="文本框 794" descr="{&quot;isTemplate&quot;:true,&quot;type&quot;:&quot;text&quot;}"/>
          <p:cNvSpPr txBox="1"/>
          <p:nvPr/>
        </p:nvSpPr>
        <p:spPr>
          <a:xfrm>
            <a:off x="6400800" y="3638550"/>
            <a:ext cx="52006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8D6E00"/>
                </a:solidFill>
                <a:latin typeface="微软雅黑"/>
                <a:ea typeface="微软雅黑"/>
              </a:rPr>
              <a:t>与原课程的对应</a:t>
            </a:r>
            <a:endParaRPr/>
          </a:p>
        </p:txBody>
      </p:sp>
      <p:sp>
        <p:nvSpPr>
          <p:cNvPr id="796" name="文本框 795" descr="{&quot;isTemplate&quot;:true,&quot;type&quot;:&quot;text&quot;}"/>
          <p:cNvSpPr txBox="1"/>
          <p:nvPr/>
        </p:nvSpPr>
        <p:spPr>
          <a:xfrm>
            <a:off x="6400800" y="3962400"/>
            <a:ext cx="5200650" cy="1000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</a:pPr>
            <a:r>
              <a:rPr sz="1275" b="0">
                <a:solidFill>
                  <a:srgbClr val="2C3947"/>
                </a:solidFill>
                <a:latin typeface="微软雅黑"/>
              </a:rPr>
              <a:t>原课程选用资源见《覆盖矩阵》：已按本课 16 讲重组；不再用旧讲义的份数、页数或论文篇数当作覆盖证据。</a:t>
            </a:r>
            <a:endParaRPr/>
          </a:p>
        </p:txBody>
      </p:sp>
      <p:sp>
        <p:nvSpPr>
          <p:cNvPr id="797" name="文本框 796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798" name="文本框 797" descr="{&quot;isTemplate&quot;:true,&quot;type&quot;:&quot;text&quot;}"/>
          <p:cNvSpPr txBox="1"/>
          <p:nvPr/>
        </p:nvSpPr>
        <p:spPr>
          <a:xfrm>
            <a:off x="54673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799" name="文本框 798" descr="{&quot;isTemplate&quot;:true,&quot;type&quot;:&quot;text&quot;}"/>
          <p:cNvSpPr txBox="1"/>
          <p:nvPr/>
        </p:nvSpPr>
        <p:spPr>
          <a:xfrm>
            <a:off x="11410950" y="6610350"/>
            <a:ext cx="4000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31 / 60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矩形 8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02" name="文本框 801" descr="{&quot;isTemplate&quot;:true,&quot;type&quot;:&quot;text&quot;}"/>
          <p:cNvSpPr txBox="1"/>
          <p:nvPr/>
        </p:nvSpPr>
        <p:spPr>
          <a:xfrm>
            <a:off x="5429250" y="1990725"/>
            <a:ext cx="1343025" cy="12573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0" b="1">
                <a:solidFill>
                  <a:srgbClr val="0E3F8C"/>
                </a:solidFill>
                <a:latin typeface="钉钉进步体"/>
                <a:ea typeface="钉钉进步体"/>
              </a:rPr>
              <a:t>03</a:t>
            </a:r>
            <a:endParaRPr/>
          </a:p>
        </p:txBody>
      </p:sp>
      <p:sp>
        <p:nvSpPr>
          <p:cNvPr id="803" name="文本框 802" descr="{&quot;isTemplate&quot;:true,&quot;type&quot;:&quot;text&quot;}"/>
          <p:cNvSpPr txBox="1"/>
          <p:nvPr/>
        </p:nvSpPr>
        <p:spPr>
          <a:xfrm>
            <a:off x="4552950" y="3305175"/>
            <a:ext cx="3086100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B1B33"/>
                </a:solidFill>
                <a:latin typeface="钉钉进步体"/>
                <a:ea typeface="钉钉进步体"/>
              </a:rPr>
              <a:t>材料是如何被发现的</a:t>
            </a:r>
            <a:endParaRPr/>
          </a:p>
        </p:txBody>
      </p:sp>
      <p:sp>
        <p:nvSpPr>
          <p:cNvPr id="804" name="矩形: 圆角 803"/>
          <p:cNvSpPr/>
          <p:nvPr/>
        </p:nvSpPr>
        <p:spPr>
          <a:xfrm>
            <a:off x="5667375" y="3895725"/>
            <a:ext cx="857250" cy="47625"/>
          </a:xfrm>
          <a:prstGeom prst="roundRect">
            <a:avLst>
              <a:gd name="adj" fmla="val 60000"/>
            </a:avLst>
          </a:prstGeom>
          <a:solidFill>
            <a:srgbClr val="FFC10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05" name="文本框 804" descr="{&quot;isTemplate&quot;:true,&quot;type&quot;:&quot;text&quot;}"/>
          <p:cNvSpPr txBox="1"/>
          <p:nvPr/>
        </p:nvSpPr>
        <p:spPr>
          <a:xfrm>
            <a:off x="3543300" y="4133850"/>
            <a:ext cx="51054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70000"/>
              </a:lnSpc>
            </a:pPr>
            <a:r>
              <a:rPr lang="en-US" sz="1500">
                <a:solidFill>
                  <a:srgbClr val="3A4759"/>
                </a:solidFill>
                <a:latin typeface="微软雅黑"/>
                <a:ea typeface="微软雅黑"/>
              </a:rPr>
              <a:t>Stookey </a:t>
            </a:r>
            <a:r>
              <a:rPr lang="zh-CN" sz="1500">
                <a:solidFill>
                  <a:srgbClr val="3A4759"/>
                </a:solidFill>
                <a:latin typeface="微软雅黑"/>
                <a:ea typeface="微软雅黑"/>
              </a:rPr>
              <a:t>的碎玻璃</a:t>
            </a:r>
            <a:r>
              <a:rPr lang="en-US" sz="1500">
                <a:solidFill>
                  <a:srgbClr val="3A4759"/>
                </a:solidFill>
                <a:latin typeface="微软雅黑"/>
                <a:ea typeface="微软雅黑"/>
              </a:rPr>
              <a:t> · </a:t>
            </a:r>
            <a:r>
              <a:rPr lang="zh-CN" sz="1500">
                <a:solidFill>
                  <a:srgbClr val="3A4759"/>
                </a:solidFill>
                <a:latin typeface="微软雅黑"/>
                <a:ea typeface="微软雅黑"/>
              </a:rPr>
              <a:t>灵感的偶然性</a:t>
            </a:r>
            <a:r>
              <a:rPr lang="en-US" sz="1500">
                <a:solidFill>
                  <a:srgbClr val="3A4759"/>
                </a:solidFill>
                <a:latin typeface="微软雅黑"/>
                <a:ea typeface="微软雅黑"/>
              </a:rPr>
              <a:t> · </a:t>
            </a:r>
            <a:r>
              <a:rPr lang="zh-CN" sz="1500">
                <a:solidFill>
                  <a:srgbClr val="3A4759"/>
                </a:solidFill>
                <a:latin typeface="微软雅黑"/>
                <a:ea typeface="微软雅黑"/>
              </a:rPr>
              <a:t>从化学空白区到自主发现</a:t>
            </a:r>
            <a:endParaRPr/>
          </a:p>
        </p:txBody>
      </p:sp>
      <p:sp>
        <p:nvSpPr>
          <p:cNvPr id="806" name="文本框 805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807" name="文本框 806" descr="{&quot;isTemplate&quot;:true,&quot;type&quot;:&quot;text&quot;}"/>
          <p:cNvSpPr txBox="1"/>
          <p:nvPr/>
        </p:nvSpPr>
        <p:spPr>
          <a:xfrm>
            <a:off x="54673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808" name="文本框 807" descr="{&quot;isTemplate&quot;:true,&quot;type&quot;:&quot;text&quot;}"/>
          <p:cNvSpPr txBox="1"/>
          <p:nvPr/>
        </p:nvSpPr>
        <p:spPr>
          <a:xfrm>
            <a:off x="11410950" y="6610350"/>
            <a:ext cx="4000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32 / 60</a:t>
            </a:r>
            <a:endParaRPr/>
          </a:p>
        </p:txBody>
      </p:sp>
      <p:pic>
        <p:nvPicPr>
          <p:cNvPr id="3" name="LogoWBG">
            <a:extLst>
              <a:ext uri="{FF2B5EF4-FFF2-40B4-BE49-F238E27FC236}">
                <a16:creationId xmlns:a16="http://schemas.microsoft.com/office/drawing/2014/main" id="{85453A1C-ECC1-466F-BA7E-6631FA8CD698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1500" y="177800"/>
            <a:ext cx="952500" cy="235077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矩形 80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11" name="矩形 810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12" name="文本框 811" descr="{&quot;isTemplate&quot;:true,&quot;type&quot;:&quot;text&quot;}"/>
          <p:cNvSpPr txBox="1"/>
          <p:nvPr/>
        </p:nvSpPr>
        <p:spPr>
          <a:xfrm>
            <a:off x="342900" y="171450"/>
            <a:ext cx="3524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在材料科学中的应用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讲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材料信息学导论与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产业</a:t>
            </a:r>
            <a:endParaRPr/>
          </a:p>
        </p:txBody>
      </p:sp>
      <p:sp>
        <p:nvSpPr>
          <p:cNvPr id="813" name="文本框 812" descr="{&quot;isTemplate&quot;:true,&quot;type&quot;:&quot;text&quot;}"/>
          <p:cNvSpPr txBox="1"/>
          <p:nvPr/>
        </p:nvSpPr>
        <p:spPr>
          <a:xfrm>
            <a:off x="9353550" y="171450"/>
            <a:ext cx="13906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03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材料是如何被发现的</a:t>
            </a:r>
            <a:endParaRPr/>
          </a:p>
        </p:txBody>
      </p:sp>
      <p:pic>
        <p:nvPicPr>
          <p:cNvPr id="814" name="图片 813"/>
          <p:cNvPicPr>
            <a:picLocks noChangeAspect="1"/>
          </p:cNvPicPr>
          <p:nvPr/>
        </p:nvPicPr>
        <p:blipFill>
          <a:blip r:embed="rId2"/>
          <a:srcRect l="847" r="847"/>
          <a:stretch>
            <a:fillRect/>
          </a:stretch>
        </p:blipFill>
        <p:spPr>
          <a:xfrm>
            <a:off x="10858500" y="123825"/>
            <a:ext cx="990600" cy="247650"/>
          </a:xfrm>
          <a:prstGeom prst="rect">
            <a:avLst/>
          </a:prstGeom>
          <a:ln/>
        </p:spPr>
      </p:pic>
      <p:sp>
        <p:nvSpPr>
          <p:cNvPr id="815" name="文本框 814" descr="{&quot;isTemplate&quot;:true,&quot;type&quot;:&quot;text&quot;}"/>
          <p:cNvSpPr txBox="1"/>
          <p:nvPr/>
        </p:nvSpPr>
        <p:spPr>
          <a:xfrm>
            <a:off x="381000" y="666750"/>
            <a:ext cx="11430000" cy="371475"/>
          </a:xfrm>
          <a:prstGeom prst="rect">
            <a:avLst/>
          </a:prstGeom>
        </p:spPr>
        <p:txBody>
          <a:bodyPr wrap="square" lIns="0" tIns="0" rIns="0" bIns="0"/>
          <a:lstStyle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钉钉进步体"/>
                <a:ea typeface="钉钉进步体"/>
              </a:rPr>
              <a:t>偶然的发现：Stookey 与玻璃陶瓷</a:t>
            </a:r>
            <a:endParaRPr/>
          </a:p>
        </p:txBody>
      </p:sp>
      <p:sp>
        <p:nvSpPr>
          <p:cNvPr id="816" name="矩形: 圆角 815"/>
          <p:cNvSpPr/>
          <p:nvPr/>
        </p:nvSpPr>
        <p:spPr>
          <a:xfrm>
            <a:off x="381000" y="1114425"/>
            <a:ext cx="571500" cy="47625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17" name="矩形: 圆角 816"/>
          <p:cNvSpPr/>
          <p:nvPr/>
        </p:nvSpPr>
        <p:spPr>
          <a:xfrm>
            <a:off x="381000" y="2733675"/>
            <a:ext cx="3619500" cy="23812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0" name="矩形: 圆角 819"/>
          <p:cNvSpPr/>
          <p:nvPr/>
        </p:nvSpPr>
        <p:spPr>
          <a:xfrm>
            <a:off x="4229100" y="1876425"/>
            <a:ext cx="7581900" cy="1466850"/>
          </a:xfrm>
          <a:prstGeom prst="roundRect">
            <a:avLst>
              <a:gd name="adj" fmla="val 779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1" name="文本框 820" descr="{&quot;isTemplate&quot;:true,&quot;type&quot;:&quot;text&quot;}"/>
          <p:cNvSpPr txBox="1"/>
          <p:nvPr/>
        </p:nvSpPr>
        <p:spPr>
          <a:xfrm>
            <a:off x="4438650" y="2085975"/>
            <a:ext cx="7162800" cy="762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</a:pPr>
            <a:r>
              <a:rPr sz="1425" b="0">
                <a:solidFill>
                  <a:srgbClr val="2C3947"/>
                </a:solidFill>
                <a:latin typeface="微软雅黑"/>
              </a:rPr>
              <a:t>据 Corning 官方创新史：炉温失控过热，Stookey 发现这块感光玻璃并未变形，而是整体析晶、呈乳白色，落地也没有碎。</a:t>
            </a:r>
            <a:endParaRPr/>
          </a:p>
        </p:txBody>
      </p:sp>
      <p:sp>
        <p:nvSpPr>
          <p:cNvPr id="822" name="文本框 821" descr="{&quot;isTemplate&quot;:true,&quot;type&quot;:&quot;text&quot;}"/>
          <p:cNvSpPr txBox="1"/>
          <p:nvPr/>
        </p:nvSpPr>
        <p:spPr>
          <a:xfrm>
            <a:off x="4438650" y="2943225"/>
            <a:ext cx="7162800" cy="190500"/>
          </a:xfrm>
          <a:prstGeom prst="rect">
            <a:avLst/>
          </a:prstGeom>
        </p:spPr>
        <p:txBody>
          <a:bodyPr wrap="square" lIns="0" tIns="0" rIns="0" bIns="0"/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8B97A8"/>
                </a:solidFill>
                <a:latin typeface="微软雅黑"/>
              </a:rPr>
              <a:t>—— 据 Corning 官方创新史（20 世纪 50 年代条目）的转述，非逐字直引</a:t>
            </a:r>
            <a:endParaRPr/>
          </a:p>
        </p:txBody>
      </p:sp>
      <p:sp>
        <p:nvSpPr>
          <p:cNvPr id="823" name="矩形: 圆角 822"/>
          <p:cNvSpPr/>
          <p:nvPr/>
        </p:nvSpPr>
        <p:spPr>
          <a:xfrm>
            <a:off x="4229100" y="3476625"/>
            <a:ext cx="7581900" cy="1362075"/>
          </a:xfrm>
          <a:prstGeom prst="roundRect">
            <a:avLst>
              <a:gd name="adj" fmla="val 8392"/>
            </a:avLst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4" name="文本框 823" descr="{&quot;isTemplate&quot;:true,&quot;type&quot;:&quot;text&quot;}"/>
          <p:cNvSpPr txBox="1"/>
          <p:nvPr/>
        </p:nvSpPr>
        <p:spPr>
          <a:xfrm>
            <a:off x="4438650" y="3686175"/>
            <a:ext cx="7162800" cy="219075"/>
          </a:xfrm>
          <a:prstGeom prst="rect">
            <a:avLst/>
          </a:prstGeom>
        </p:spPr>
        <p:txBody>
          <a:bodyPr wrap="squar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8D6E00"/>
                </a:solidFill>
                <a:latin typeface="微软雅黑"/>
                <a:ea typeface="微软雅黑"/>
              </a:rPr>
              <a:t>由此得到的材料：玻璃陶瓷（不是化学强化玻璃）</a:t>
            </a:r>
            <a:endParaRPr/>
          </a:p>
        </p:txBody>
      </p:sp>
      <p:sp>
        <p:nvSpPr>
          <p:cNvPr id="825" name="文本框 824" descr="{&quot;isTemplate&quot;:true,&quot;type&quot;:&quot;text&quot;}"/>
          <p:cNvSpPr txBox="1"/>
          <p:nvPr/>
        </p:nvSpPr>
        <p:spPr>
          <a:xfrm>
            <a:off x="4438650" y="3981450"/>
            <a:ext cx="7162800" cy="800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</a:pPr>
            <a:r>
              <a:rPr sz="1150" b="0">
                <a:solidFill>
                  <a:srgbClr val="2C3947"/>
                </a:solidFill>
                <a:latin typeface="微软雅黑"/>
              </a:rPr>
              <a:t>感光成核 + 受控晶化，得到微晶弥散的玻璃陶瓷（glass-ceramics）；Fotoform / Fotoceram 与 CorningWare 都源于这类材料。</a:t>
            </a:r>
            <a:endParaRPr/>
          </a:p>
          <a:p>
            <a:pPr>
              <a:lnSpc>
                <a:spcPct val="120000"/>
              </a:lnSpc>
              <a:spcBef>
                <a:spcPts val="500"/>
              </a:spcBef>
            </a:pPr>
            <a:r>
              <a:rPr sz="1150" b="0">
                <a:solidFill>
                  <a:srgbClr val="2C3947"/>
                </a:solidFill>
                <a:latin typeface="微软雅黑"/>
              </a:rPr>
              <a:t>边界：离子交换化学强化（手机盖板玻璃那条路线）是另一项独立技术，不能安到这次发现上。</a:t>
            </a:r>
          </a:p>
        </p:txBody>
      </p:sp>
      <p:sp>
        <p:nvSpPr>
          <p:cNvPr id="826" name="矩形: 圆角 825"/>
          <p:cNvSpPr/>
          <p:nvPr/>
        </p:nvSpPr>
        <p:spPr>
          <a:xfrm>
            <a:off x="4229100" y="4972050"/>
            <a:ext cx="7581900" cy="1009650"/>
          </a:xfrm>
          <a:prstGeom prst="roundRect">
            <a:avLst>
              <a:gd name="adj" fmla="val 9434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27" name="文本框 826" descr="{&quot;isTemplate&quot;:true,&quot;type&quot;:&quot;text&quot;}"/>
          <p:cNvSpPr txBox="1"/>
          <p:nvPr/>
        </p:nvSpPr>
        <p:spPr>
          <a:xfrm>
            <a:off x="4457700" y="5143500"/>
            <a:ext cx="7124700" cy="666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</a:pPr>
            <a:r>
              <a:rPr sz="1350" b="1">
                <a:solidFill>
                  <a:srgbClr val="FFC107"/>
                </a:solidFill>
                <a:latin typeface="微软雅黑"/>
              </a:rPr>
              <a:t>这个故事的启示：</a:t>
            </a:r>
            <a:r>
              <a:rPr sz="1350" b="0">
                <a:solidFill>
                  <a:srgbClr val="FFFFFF"/>
                </a:solidFill>
                <a:latin typeface="微软雅黑"/>
              </a:rPr>
              <a:t>发现常来自「不完美的失败」——炉温失控本该报废，却暴露了新现象。</a:t>
            </a:r>
            <a:endParaRPr/>
          </a:p>
        </p:txBody>
      </p:sp>
      <p:sp>
        <p:nvSpPr>
          <p:cNvPr id="828" name="文本框 827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829" name="文本框 828" descr="{&quot;isTemplate&quot;:true,&quot;type&quot;:&quot;text&quot;}"/>
          <p:cNvSpPr txBox="1"/>
          <p:nvPr/>
        </p:nvSpPr>
        <p:spPr>
          <a:xfrm>
            <a:off x="54673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830" name="文本框 829" descr="{&quot;isTemplate&quot;:true,&quot;type&quot;:&quot;text&quot;}"/>
          <p:cNvSpPr txBox="1"/>
          <p:nvPr/>
        </p:nvSpPr>
        <p:spPr>
          <a:xfrm>
            <a:off x="11410950" y="6610350"/>
            <a:ext cx="4000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33 / 60</a:t>
            </a:r>
            <a:endParaRPr/>
          </a:p>
        </p:txBody>
      </p:sp>
      <p:sp>
        <p:nvSpPr>
          <p:cNvPr id="831" name="TextBox 830"/>
          <p:cNvSpPr txBox="1"/>
          <p:nvPr/>
        </p:nvSpPr>
        <p:spPr>
          <a:xfrm>
            <a:off x="533400" y="2857500"/>
            <a:ext cx="33147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E3F8C"/>
                </a:solidFill>
                <a:latin typeface="微软雅黑"/>
              </a:rPr>
              <a:t>三步观察（1952）</a:t>
            </a:r>
          </a:p>
        </p:txBody>
      </p:sp>
      <p:sp>
        <p:nvSpPr>
          <p:cNvPr id="832" name="Oval 831"/>
          <p:cNvSpPr/>
          <p:nvPr/>
        </p:nvSpPr>
        <p:spPr>
          <a:xfrm>
            <a:off x="533400" y="3200400"/>
            <a:ext cx="209550" cy="209550"/>
          </a:xfrm>
          <a:prstGeom prst="ellipse">
            <a:avLst/>
          </a:prstGeom>
          <a:solidFill>
            <a:srgbClr val="0E3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3" name="TextBox 832"/>
          <p:cNvSpPr txBox="1"/>
          <p:nvPr/>
        </p:nvSpPr>
        <p:spPr>
          <a:xfrm>
            <a:off x="533400" y="3219450"/>
            <a:ext cx="2095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834" name="TextBox 833"/>
          <p:cNvSpPr txBox="1"/>
          <p:nvPr/>
        </p:nvSpPr>
        <p:spPr>
          <a:xfrm>
            <a:off x="819150" y="3181350"/>
            <a:ext cx="2971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E3F8C"/>
                </a:solidFill>
                <a:latin typeface="微软雅黑"/>
              </a:rPr>
              <a:t>炉温异常</a:t>
            </a:r>
          </a:p>
        </p:txBody>
      </p:sp>
      <p:sp>
        <p:nvSpPr>
          <p:cNvPr id="835" name="TextBox 834"/>
          <p:cNvSpPr txBox="1"/>
          <p:nvPr/>
        </p:nvSpPr>
        <p:spPr>
          <a:xfrm>
            <a:off x="819150" y="3371850"/>
            <a:ext cx="2971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C3947"/>
                </a:solidFill>
                <a:latin typeface="微软雅黑"/>
              </a:rPr>
              <a:t>原定加热过程中炉温异常升高。</a:t>
            </a:r>
          </a:p>
        </p:txBody>
      </p:sp>
      <p:sp>
        <p:nvSpPr>
          <p:cNvPr id="836" name="Oval 835"/>
          <p:cNvSpPr/>
          <p:nvPr/>
        </p:nvSpPr>
        <p:spPr>
          <a:xfrm>
            <a:off x="533400" y="3733800"/>
            <a:ext cx="209550" cy="209550"/>
          </a:xfrm>
          <a:prstGeom prst="ellipse">
            <a:avLst/>
          </a:prstGeom>
          <a:solidFill>
            <a:srgbClr val="0E3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7" name="TextBox 836"/>
          <p:cNvSpPr txBox="1"/>
          <p:nvPr/>
        </p:nvSpPr>
        <p:spPr>
          <a:xfrm>
            <a:off x="533400" y="3752850"/>
            <a:ext cx="2095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838" name="TextBox 837"/>
          <p:cNvSpPr txBox="1"/>
          <p:nvPr/>
        </p:nvSpPr>
        <p:spPr>
          <a:xfrm>
            <a:off x="819150" y="3714750"/>
            <a:ext cx="2971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E3F8C"/>
                </a:solidFill>
                <a:latin typeface="微软雅黑"/>
              </a:rPr>
              <a:t>观察析晶</a:t>
            </a:r>
          </a:p>
        </p:txBody>
      </p:sp>
      <p:sp>
        <p:nvSpPr>
          <p:cNvPr id="839" name="TextBox 838"/>
          <p:cNvSpPr txBox="1"/>
          <p:nvPr/>
        </p:nvSpPr>
        <p:spPr>
          <a:xfrm>
            <a:off x="819150" y="3905250"/>
            <a:ext cx="2971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C3947"/>
                </a:solidFill>
                <a:latin typeface="微软雅黑"/>
              </a:rPr>
              <a:t>感光玻璃没有变形，整体析晶、呈乳白色。</a:t>
            </a:r>
          </a:p>
        </p:txBody>
      </p:sp>
      <p:sp>
        <p:nvSpPr>
          <p:cNvPr id="840" name="Oval 839"/>
          <p:cNvSpPr/>
          <p:nvPr/>
        </p:nvSpPr>
        <p:spPr>
          <a:xfrm>
            <a:off x="533400" y="4267200"/>
            <a:ext cx="209550" cy="209550"/>
          </a:xfrm>
          <a:prstGeom prst="ellipse">
            <a:avLst/>
          </a:prstGeom>
          <a:solidFill>
            <a:srgbClr val="0E3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1" name="TextBox 840"/>
          <p:cNvSpPr txBox="1"/>
          <p:nvPr/>
        </p:nvSpPr>
        <p:spPr>
          <a:xfrm>
            <a:off x="533400" y="4286250"/>
            <a:ext cx="2095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842" name="TextBox 841"/>
          <p:cNvSpPr txBox="1"/>
          <p:nvPr/>
        </p:nvSpPr>
        <p:spPr>
          <a:xfrm>
            <a:off x="819150" y="4248150"/>
            <a:ext cx="29718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0E3F8C"/>
                </a:solidFill>
                <a:latin typeface="微软雅黑"/>
              </a:rPr>
              <a:t>检验性能</a:t>
            </a:r>
          </a:p>
        </p:txBody>
      </p:sp>
      <p:sp>
        <p:nvSpPr>
          <p:cNvPr id="843" name="TextBox 842"/>
          <p:cNvSpPr txBox="1"/>
          <p:nvPr/>
        </p:nvSpPr>
        <p:spPr>
          <a:xfrm>
            <a:off x="819150" y="4438650"/>
            <a:ext cx="2971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C3947"/>
                </a:solidFill>
                <a:latin typeface="微软雅黑"/>
              </a:rPr>
              <a:t>落地不碎、耐热冲击，得到玻璃陶瓷。</a:t>
            </a:r>
          </a:p>
        </p:txBody>
      </p:sp>
      <p:sp>
        <p:nvSpPr>
          <p:cNvPr id="844" name="TextBox 843"/>
          <p:cNvSpPr txBox="1"/>
          <p:nvPr/>
        </p:nvSpPr>
        <p:spPr>
          <a:xfrm>
            <a:off x="533400" y="4838700"/>
            <a:ext cx="33147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B97A8"/>
                </a:solidFill>
                <a:latin typeface="微软雅黑"/>
              </a:rPr>
              <a:t>S. Donald Stookey（1915–2014）</a:t>
            </a:r>
          </a:p>
        </p:txBody>
      </p:sp>
      <p:sp>
        <p:nvSpPr>
          <p:cNvPr id="845" name="TextBox 844"/>
          <p:cNvSpPr txBox="1"/>
          <p:nvPr/>
        </p:nvSpPr>
        <p:spPr>
          <a:xfrm>
            <a:off x="4229100" y="6076950"/>
            <a:ext cx="75819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3A4759"/>
                </a:solidFill>
                <a:latin typeface="微软雅黑"/>
              </a:rPr>
              <a:t>来源：Corning《The History of Corning Innovation》1952 年条目；《Glass Heroes》。部分机构记 1953，本页统一写「20 世纪 50 年代」。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矩形 83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33" name="矩形 832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34" name="文本框 833" descr="{&quot;isTemplate&quot;:true,&quot;type&quot;:&quot;text&quot;}"/>
          <p:cNvSpPr txBox="1"/>
          <p:nvPr/>
        </p:nvSpPr>
        <p:spPr>
          <a:xfrm>
            <a:off x="342900" y="171450"/>
            <a:ext cx="3524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在材料科学中的应用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讲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材料信息学导论与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产业</a:t>
            </a:r>
            <a:endParaRPr/>
          </a:p>
        </p:txBody>
      </p:sp>
      <p:sp>
        <p:nvSpPr>
          <p:cNvPr id="835" name="文本框 834" descr="{&quot;isTemplate&quot;:true,&quot;type&quot;:&quot;text&quot;}"/>
          <p:cNvSpPr txBox="1"/>
          <p:nvPr/>
        </p:nvSpPr>
        <p:spPr>
          <a:xfrm>
            <a:off x="9353550" y="171450"/>
            <a:ext cx="13906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03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材料是如何被发现的</a:t>
            </a:r>
            <a:endParaRPr/>
          </a:p>
        </p:txBody>
      </p:sp>
      <p:pic>
        <p:nvPicPr>
          <p:cNvPr id="836" name="图片 835"/>
          <p:cNvPicPr>
            <a:picLocks noChangeAspect="1"/>
          </p:cNvPicPr>
          <p:nvPr/>
        </p:nvPicPr>
        <p:blipFill>
          <a:blip r:embed="rId2"/>
          <a:srcRect l="847" r="847"/>
          <a:stretch>
            <a:fillRect/>
          </a:stretch>
        </p:blipFill>
        <p:spPr>
          <a:xfrm>
            <a:off x="10858500" y="123825"/>
            <a:ext cx="990600" cy="247650"/>
          </a:xfrm>
          <a:prstGeom prst="rect">
            <a:avLst/>
          </a:prstGeom>
          <a:ln/>
        </p:spPr>
      </p:pic>
      <p:sp>
        <p:nvSpPr>
          <p:cNvPr id="837" name="文本框 836" descr="{&quot;isTemplate&quot;:true,&quot;type&quot;:&quot;text&quot;}"/>
          <p:cNvSpPr txBox="1"/>
          <p:nvPr/>
        </p:nvSpPr>
        <p:spPr>
          <a:xfrm>
            <a:off x="381000" y="666750"/>
            <a:ext cx="114300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钉钉进步体"/>
                <a:ea typeface="钉钉进步体"/>
              </a:rPr>
              <a:t>偶然发现：三件改变了生活的材料</a:t>
            </a:r>
            <a:endParaRPr/>
          </a:p>
        </p:txBody>
      </p:sp>
      <p:sp>
        <p:nvSpPr>
          <p:cNvPr id="838" name="矩形: 圆角 837"/>
          <p:cNvSpPr/>
          <p:nvPr/>
        </p:nvSpPr>
        <p:spPr>
          <a:xfrm>
            <a:off x="381000" y="1114425"/>
            <a:ext cx="571500" cy="47625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39" name="矩形: 圆角 838"/>
          <p:cNvSpPr/>
          <p:nvPr/>
        </p:nvSpPr>
        <p:spPr>
          <a:xfrm>
            <a:off x="381000" y="1276350"/>
            <a:ext cx="11430000" cy="942975"/>
          </a:xfrm>
          <a:prstGeom prst="roundRect">
            <a:avLst>
              <a:gd name="adj" fmla="val 12121"/>
            </a:avLst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0" name="文本框 839" descr="{&quot;isTemplate&quot;:true,&quot;type&quot;:&quot;text&quot;}"/>
          <p:cNvSpPr txBox="1"/>
          <p:nvPr/>
        </p:nvSpPr>
        <p:spPr>
          <a:xfrm>
            <a:off x="609600" y="1428750"/>
            <a:ext cx="10972800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材料史上相当一部分重要材料来自</a:t>
            </a:r>
            <a:r>
              <a:rPr lang="zh-CN" sz="1350" b="1">
                <a:solidFill>
                  <a:srgbClr val="8D6E00"/>
                </a:solidFill>
                <a:latin typeface="微软雅黑"/>
                <a:ea typeface="微软雅黑"/>
              </a:rPr>
              <a:t>意外</a:t>
            </a: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：</a:t>
            </a:r>
            <a:r>
              <a:rPr lang="en-US" sz="135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失败的实验、染色的容器、裤子上粘住的毛刺。但这恰恰说明</a:t>
            </a:r>
            <a:r>
              <a:rPr lang="zh-CN" sz="1350" b="1">
                <a:solidFill>
                  <a:srgbClr val="1A2230"/>
                </a:solidFill>
                <a:latin typeface="微软雅黑"/>
                <a:ea typeface="微软雅黑"/>
              </a:rPr>
              <a:t>「靠偶然」的效率有多低</a:t>
            </a:r>
            <a:r>
              <a:rPr lang="en-US" sz="1350">
                <a:solidFill>
                  <a:srgbClr val="1A2230"/>
                </a:solidFill>
                <a:latin typeface="微软雅黑"/>
                <a:ea typeface="微软雅黑"/>
              </a:rPr>
              <a:t> —— </a:t>
            </a: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我们无法主动安排偶然。</a:t>
            </a:r>
            <a:endParaRPr/>
          </a:p>
        </p:txBody>
      </p:sp>
      <p:sp>
        <p:nvSpPr>
          <p:cNvPr id="841" name="矩形: 圆角 840"/>
          <p:cNvSpPr/>
          <p:nvPr/>
        </p:nvSpPr>
        <p:spPr>
          <a:xfrm>
            <a:off x="381000" y="2333625"/>
            <a:ext cx="3705225" cy="3590925"/>
          </a:xfrm>
          <a:prstGeom prst="roundRect">
            <a:avLst>
              <a:gd name="adj" fmla="val 2653"/>
            </a:avLst>
          </a:prstGeom>
          <a:solidFill>
            <a:srgbClr val="FFFFFF"/>
          </a:solidFill>
          <a:ln w="12700">
            <a:solidFill>
              <a:srgbClr val="C9D8E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42" name="图片 8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2466975"/>
            <a:ext cx="2857500" cy="1790700"/>
          </a:xfrm>
          <a:prstGeom prst="rect">
            <a:avLst/>
          </a:prstGeom>
          <a:ln/>
        </p:spPr>
      </p:pic>
      <p:sp>
        <p:nvSpPr>
          <p:cNvPr id="843" name="文本框 842" descr="{&quot;isTemplate&quot;:true,&quot;type&quot;:&quot;text&quot;}"/>
          <p:cNvSpPr txBox="1"/>
          <p:nvPr/>
        </p:nvSpPr>
        <p:spPr>
          <a:xfrm>
            <a:off x="1676400" y="4352925"/>
            <a:ext cx="11239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微软雅黑"/>
                <a:ea typeface="微软雅黑"/>
              </a:rPr>
              <a:t>糖精（</a:t>
            </a:r>
            <a:r>
              <a:rPr lang="en-US" sz="1350" b="1">
                <a:solidFill>
                  <a:srgbClr val="0E3F8C"/>
                </a:solidFill>
                <a:latin typeface="微软雅黑"/>
                <a:ea typeface="微软雅黑"/>
              </a:rPr>
              <a:t>1879</a:t>
            </a:r>
            <a:r>
              <a:rPr lang="zh-CN" sz="1350" b="1">
                <a:solidFill>
                  <a:srgbClr val="0E3F8C"/>
                </a:solidFill>
                <a:latin typeface="微软雅黑"/>
                <a:ea typeface="微软雅黑"/>
              </a:rPr>
              <a:t>）</a:t>
            </a:r>
            <a:endParaRPr/>
          </a:p>
        </p:txBody>
      </p:sp>
      <p:sp>
        <p:nvSpPr>
          <p:cNvPr id="844" name="文本框 843" descr="{&quot;isTemplate&quot;:true,&quot;type&quot;:&quot;text&quot;}"/>
          <p:cNvSpPr txBox="1"/>
          <p:nvPr/>
        </p:nvSpPr>
        <p:spPr>
          <a:xfrm>
            <a:off x="781050" y="4619625"/>
            <a:ext cx="2905125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55000"/>
              </a:lnSpc>
            </a:pPr>
            <a:r>
              <a:rPr lang="zh-CN" sz="1125">
                <a:solidFill>
                  <a:srgbClr val="3A4759"/>
                </a:solidFill>
                <a:latin typeface="微软雅黑"/>
                <a:ea typeface="微软雅黑"/>
              </a:rPr>
              <a:t>实验室里忘了洗手，</a:t>
            </a:r>
            <a:r>
              <a:rPr lang="en-US" sz="1125">
                <a:solidFill>
                  <a:srgbClr val="3A4759"/>
                </a:solidFill>
                <a:latin typeface="微软雅黑"/>
                <a:ea typeface="微软雅黑"/>
              </a:rPr>
              <a:t> </a:t>
            </a:r>
            <a:r>
              <a:rPr lang="zh-CN" sz="1125">
                <a:solidFill>
                  <a:srgbClr val="3A4759"/>
                </a:solidFill>
                <a:latin typeface="微软雅黑"/>
                <a:ea typeface="微软雅黑"/>
              </a:rPr>
              <a:t>尝到了烧杯残留物的甜味</a:t>
            </a:r>
            <a:endParaRPr/>
          </a:p>
        </p:txBody>
      </p:sp>
      <p:sp>
        <p:nvSpPr>
          <p:cNvPr id="845" name="矩形: 圆角 844"/>
          <p:cNvSpPr/>
          <p:nvPr/>
        </p:nvSpPr>
        <p:spPr>
          <a:xfrm>
            <a:off x="4238625" y="2333625"/>
            <a:ext cx="3714750" cy="3590925"/>
          </a:xfrm>
          <a:prstGeom prst="roundRect">
            <a:avLst>
              <a:gd name="adj" fmla="val 2653"/>
            </a:avLst>
          </a:prstGeom>
          <a:solidFill>
            <a:srgbClr val="FFFFFF"/>
          </a:solidFill>
          <a:ln w="12700">
            <a:solidFill>
              <a:srgbClr val="C9D8E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46" name="图片 845"/>
          <p:cNvPicPr>
            <a:picLocks noChangeAspect="1"/>
          </p:cNvPicPr>
          <p:nvPr/>
        </p:nvPicPr>
        <p:blipFill>
          <a:blip r:embed="rId4"/>
          <a:srcRect t="84" b="84"/>
          <a:stretch>
            <a:fillRect/>
          </a:stretch>
        </p:blipFill>
        <p:spPr>
          <a:xfrm>
            <a:off x="4733925" y="2466975"/>
            <a:ext cx="2724150" cy="1809750"/>
          </a:xfrm>
          <a:prstGeom prst="rect">
            <a:avLst/>
          </a:prstGeom>
          <a:ln/>
        </p:spPr>
      </p:pic>
      <p:sp>
        <p:nvSpPr>
          <p:cNvPr id="847" name="文本框 846" descr="{&quot;isTemplate&quot;:true,&quot;type&quot;:&quot;text&quot;}"/>
          <p:cNvSpPr txBox="1"/>
          <p:nvPr/>
        </p:nvSpPr>
        <p:spPr>
          <a:xfrm>
            <a:off x="5362575" y="4371975"/>
            <a:ext cx="14668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微软雅黑"/>
                <a:ea typeface="微软雅黑"/>
              </a:rPr>
              <a:t>尼龙搭扣（</a:t>
            </a:r>
            <a:r>
              <a:rPr lang="en-US" sz="1350" b="1">
                <a:solidFill>
                  <a:srgbClr val="0E3F8C"/>
                </a:solidFill>
                <a:latin typeface="微软雅黑"/>
                <a:ea typeface="微软雅黑"/>
              </a:rPr>
              <a:t>1941</a:t>
            </a:r>
            <a:r>
              <a:rPr lang="zh-CN" sz="1350" b="1">
                <a:solidFill>
                  <a:srgbClr val="0E3F8C"/>
                </a:solidFill>
                <a:latin typeface="微软雅黑"/>
                <a:ea typeface="微软雅黑"/>
              </a:rPr>
              <a:t>）</a:t>
            </a:r>
            <a:endParaRPr/>
          </a:p>
        </p:txBody>
      </p:sp>
      <p:sp>
        <p:nvSpPr>
          <p:cNvPr id="848" name="文本框 847" descr="{&quot;isTemplate&quot;:true,&quot;type&quot;:&quot;text&quot;}"/>
          <p:cNvSpPr txBox="1"/>
          <p:nvPr/>
        </p:nvSpPr>
        <p:spPr>
          <a:xfrm>
            <a:off x="4371975" y="4638675"/>
            <a:ext cx="344805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ctr">
              <a:lnSpc>
                <a:spcPct val="155000"/>
              </a:lnSpc>
            </a:pPr>
            <a:r>
              <a:rPr lang="zh-CN" sz="1125">
                <a:solidFill>
                  <a:srgbClr val="3A4759"/>
                </a:solidFill>
                <a:latin typeface="微软雅黑"/>
                <a:ea typeface="微软雅黑"/>
              </a:rPr>
              <a:t>遛狗时发现毛刺粘在毛料上，</a:t>
            </a:r>
            <a:r>
              <a:rPr lang="en-US" sz="1125">
                <a:solidFill>
                  <a:srgbClr val="3A4759"/>
                </a:solidFill>
                <a:latin typeface="微软雅黑"/>
                <a:ea typeface="微软雅黑"/>
              </a:rPr>
              <a:t> </a:t>
            </a:r>
            <a:r>
              <a:rPr lang="zh-CN" sz="1125">
                <a:solidFill>
                  <a:srgbClr val="3A4759"/>
                </a:solidFill>
                <a:latin typeface="微软雅黑"/>
                <a:ea typeface="微软雅黑"/>
              </a:rPr>
              <a:t>在显微镜下看清了倒钩结构</a:t>
            </a:r>
            <a:endParaRPr/>
          </a:p>
        </p:txBody>
      </p:sp>
      <p:sp>
        <p:nvSpPr>
          <p:cNvPr id="849" name="矩形: 圆角 848"/>
          <p:cNvSpPr/>
          <p:nvPr/>
        </p:nvSpPr>
        <p:spPr>
          <a:xfrm>
            <a:off x="8105775" y="2333625"/>
            <a:ext cx="3705225" cy="3590925"/>
          </a:xfrm>
          <a:prstGeom prst="roundRect">
            <a:avLst>
              <a:gd name="adj" fmla="val 2653"/>
            </a:avLst>
          </a:prstGeom>
          <a:solidFill>
            <a:srgbClr val="FFFFFF"/>
          </a:solidFill>
          <a:ln w="12700">
            <a:solidFill>
              <a:srgbClr val="C9D8E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50" name="图片 84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8750" y="2466975"/>
            <a:ext cx="1828800" cy="1809750"/>
          </a:xfrm>
          <a:prstGeom prst="rect">
            <a:avLst/>
          </a:prstGeom>
          <a:ln/>
        </p:spPr>
      </p:pic>
      <p:sp>
        <p:nvSpPr>
          <p:cNvPr id="851" name="文本框 850" descr="{&quot;isTemplate&quot;:true,&quot;type&quot;:&quot;text&quot;}"/>
          <p:cNvSpPr txBox="1"/>
          <p:nvPr/>
        </p:nvSpPr>
        <p:spPr>
          <a:xfrm>
            <a:off x="9229725" y="4371975"/>
            <a:ext cx="14668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微软雅黑"/>
                <a:ea typeface="微软雅黑"/>
              </a:rPr>
              <a:t>微晶玻璃（</a:t>
            </a:r>
            <a:r>
              <a:rPr lang="en-US" sz="1350" b="1">
                <a:solidFill>
                  <a:srgbClr val="0E3F8C"/>
                </a:solidFill>
                <a:latin typeface="微软雅黑"/>
                <a:ea typeface="微软雅黑"/>
              </a:rPr>
              <a:t>1952</a:t>
            </a:r>
            <a:r>
              <a:rPr lang="zh-CN" sz="1350" b="1">
                <a:solidFill>
                  <a:srgbClr val="0E3F8C"/>
                </a:solidFill>
                <a:latin typeface="微软雅黑"/>
                <a:ea typeface="微软雅黑"/>
              </a:rPr>
              <a:t>）</a:t>
            </a:r>
            <a:endParaRPr/>
          </a:p>
        </p:txBody>
      </p:sp>
      <p:sp>
        <p:nvSpPr>
          <p:cNvPr id="852" name="文本框 851" descr="{&quot;isTemplate&quot;:true,&quot;type&quot;:&quot;text&quot;}"/>
          <p:cNvSpPr txBox="1"/>
          <p:nvPr/>
        </p:nvSpPr>
        <p:spPr>
          <a:xfrm>
            <a:off x="8505825" y="4638675"/>
            <a:ext cx="2905125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55000"/>
              </a:lnSpc>
            </a:pPr>
            <a:r>
              <a:rPr lang="zh-CN" sz="1125">
                <a:solidFill>
                  <a:srgbClr val="3A4759"/>
                </a:solidFill>
                <a:latin typeface="微软雅黑"/>
                <a:ea typeface="微软雅黑"/>
              </a:rPr>
              <a:t>炉子温控「坏了」，</a:t>
            </a:r>
            <a:r>
              <a:rPr lang="en-US" sz="1125">
                <a:solidFill>
                  <a:srgbClr val="3A4759"/>
                </a:solidFill>
                <a:latin typeface="微软雅黑"/>
                <a:ea typeface="微软雅黑"/>
              </a:rPr>
              <a:t> </a:t>
            </a:r>
            <a:r>
              <a:rPr lang="zh-CN" sz="1125">
                <a:solidFill>
                  <a:srgbClr val="3A4759"/>
                </a:solidFill>
                <a:latin typeface="微软雅黑"/>
                <a:ea typeface="微软雅黑"/>
              </a:rPr>
              <a:t>玻璃没有熔化反而结晶了</a:t>
            </a:r>
            <a:endParaRPr/>
          </a:p>
        </p:txBody>
      </p:sp>
      <p:sp>
        <p:nvSpPr>
          <p:cNvPr id="853" name="矩形: 圆角 852"/>
          <p:cNvSpPr/>
          <p:nvPr/>
        </p:nvSpPr>
        <p:spPr>
          <a:xfrm>
            <a:off x="381000" y="6038850"/>
            <a:ext cx="11430000" cy="476250"/>
          </a:xfrm>
          <a:prstGeom prst="roundRect">
            <a:avLst>
              <a:gd name="adj" fmla="val 20000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54" name="文本框 853" descr="{&quot;isTemplate&quot;:true,&quot;type&quot;:&quot;text&quot;}"/>
          <p:cNvSpPr txBox="1"/>
          <p:nvPr/>
        </p:nvSpPr>
        <p:spPr>
          <a:xfrm>
            <a:off x="609600" y="6172200"/>
            <a:ext cx="109728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问题不在于「偶然有没有用」，而在于</a:t>
            </a:r>
            <a:r>
              <a:rPr lang="zh-CN" sz="1350" b="1">
                <a:solidFill>
                  <a:srgbClr val="FFC107"/>
                </a:solidFill>
                <a:latin typeface="微软雅黑"/>
                <a:ea typeface="微软雅黑"/>
              </a:rPr>
              <a:t>能不能把偶然变成可搜索的过程</a:t>
            </a:r>
            <a:endParaRPr/>
          </a:p>
        </p:txBody>
      </p:sp>
      <p:sp>
        <p:nvSpPr>
          <p:cNvPr id="855" name="文本框 854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856" name="文本框 855" descr="{&quot;isTemplate&quot;:true,&quot;type&quot;:&quot;text&quot;}"/>
          <p:cNvSpPr txBox="1"/>
          <p:nvPr/>
        </p:nvSpPr>
        <p:spPr>
          <a:xfrm>
            <a:off x="54673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857" name="文本框 856" descr="{&quot;isTemplate&quot;:true,&quot;type&quot;:&quot;text&quot;}"/>
          <p:cNvSpPr txBox="1"/>
          <p:nvPr/>
        </p:nvSpPr>
        <p:spPr>
          <a:xfrm>
            <a:off x="11410950" y="6610350"/>
            <a:ext cx="4000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34 / 60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矩形 85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60" name="矩形 859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61" name="文本框 860" descr="{&quot;isTemplate&quot;:true,&quot;type&quot;:&quot;text&quot;}"/>
          <p:cNvSpPr txBox="1"/>
          <p:nvPr/>
        </p:nvSpPr>
        <p:spPr>
          <a:xfrm>
            <a:off x="342900" y="171450"/>
            <a:ext cx="3524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在材料科学中的应用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讲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材料信息学导论与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产业</a:t>
            </a:r>
            <a:endParaRPr/>
          </a:p>
        </p:txBody>
      </p:sp>
      <p:sp>
        <p:nvSpPr>
          <p:cNvPr id="862" name="文本框 861" descr="{&quot;isTemplate&quot;:true,&quot;type&quot;:&quot;text&quot;}"/>
          <p:cNvSpPr txBox="1"/>
          <p:nvPr/>
        </p:nvSpPr>
        <p:spPr>
          <a:xfrm>
            <a:off x="9353550" y="171450"/>
            <a:ext cx="13906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03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材料是如何被发现的</a:t>
            </a:r>
            <a:endParaRPr/>
          </a:p>
        </p:txBody>
      </p:sp>
      <p:pic>
        <p:nvPicPr>
          <p:cNvPr id="863" name="图片 862"/>
          <p:cNvPicPr>
            <a:picLocks noChangeAspect="1"/>
          </p:cNvPicPr>
          <p:nvPr/>
        </p:nvPicPr>
        <p:blipFill>
          <a:blip r:embed="rId2"/>
          <a:srcRect l="847" r="847"/>
          <a:stretch>
            <a:fillRect/>
          </a:stretch>
        </p:blipFill>
        <p:spPr>
          <a:xfrm>
            <a:off x="10858500" y="123825"/>
            <a:ext cx="990600" cy="247650"/>
          </a:xfrm>
          <a:prstGeom prst="rect">
            <a:avLst/>
          </a:prstGeom>
          <a:ln/>
        </p:spPr>
      </p:pic>
      <p:sp>
        <p:nvSpPr>
          <p:cNvPr id="864" name="文本框 863" descr="{&quot;isTemplate&quot;:true,&quot;type&quot;:&quot;text&quot;}"/>
          <p:cNvSpPr txBox="1"/>
          <p:nvPr/>
        </p:nvSpPr>
        <p:spPr>
          <a:xfrm>
            <a:off x="381000" y="666750"/>
            <a:ext cx="114300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钉钉进步体"/>
                <a:ea typeface="钉钉进步体"/>
              </a:rPr>
              <a:t>发现从哪里来？五种常见来源</a:t>
            </a:r>
            <a:endParaRPr/>
          </a:p>
        </p:txBody>
      </p:sp>
      <p:sp>
        <p:nvSpPr>
          <p:cNvPr id="865" name="矩形: 圆角 864"/>
          <p:cNvSpPr/>
          <p:nvPr/>
        </p:nvSpPr>
        <p:spPr>
          <a:xfrm>
            <a:off x="381000" y="1114425"/>
            <a:ext cx="571500" cy="47625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66" name="矩形: 圆角 865"/>
          <p:cNvSpPr/>
          <p:nvPr/>
        </p:nvSpPr>
        <p:spPr>
          <a:xfrm>
            <a:off x="381000" y="1333500"/>
            <a:ext cx="11430000" cy="847725"/>
          </a:xfrm>
          <a:prstGeom prst="roundRect">
            <a:avLst>
              <a:gd name="adj" fmla="val 11236"/>
            </a:avLst>
          </a:prstGeom>
          <a:solidFill>
            <a:srgbClr val="E3EC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67" name="矩形: 圆角 866"/>
          <p:cNvSpPr/>
          <p:nvPr/>
        </p:nvSpPr>
        <p:spPr>
          <a:xfrm>
            <a:off x="609600" y="158115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68" name="文本框 867" descr="{&quot;isTemplate&quot;:true,&quot;type&quot;:&quot;text&quot;}"/>
          <p:cNvSpPr txBox="1"/>
          <p:nvPr/>
        </p:nvSpPr>
        <p:spPr>
          <a:xfrm>
            <a:off x="790575" y="1762125"/>
            <a:ext cx="0" cy="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869" name="文本框 868" descr="{&quot;isTemplate&quot;:true,&quot;type&quot;:&quot;text&quot;}"/>
          <p:cNvSpPr txBox="1"/>
          <p:nvPr/>
        </p:nvSpPr>
        <p:spPr>
          <a:xfrm>
            <a:off x="1143000" y="1485900"/>
            <a:ext cx="104394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1B33"/>
                </a:solidFill>
                <a:latin typeface="微软雅黑"/>
                <a:ea typeface="微软雅黑"/>
              </a:rPr>
              <a:t>1%</a:t>
            </a:r>
            <a:r>
              <a:rPr lang="zh-CN" sz="1500" b="1">
                <a:solidFill>
                  <a:srgbClr val="0B1B33"/>
                </a:solidFill>
                <a:latin typeface="微软雅黑"/>
                <a:ea typeface="微软雅黑"/>
              </a:rPr>
              <a:t>灵感</a:t>
            </a:r>
            <a:r>
              <a:rPr lang="en-US" sz="1500" b="1">
                <a:solidFill>
                  <a:srgbClr val="0B1B33"/>
                </a:solidFill>
                <a:latin typeface="微软雅黑"/>
                <a:ea typeface="微软雅黑"/>
              </a:rPr>
              <a:t> + 99%</a:t>
            </a:r>
            <a:r>
              <a:rPr lang="zh-CN" sz="1500" b="1">
                <a:solidFill>
                  <a:srgbClr val="0B1B33"/>
                </a:solidFill>
                <a:latin typeface="微软雅黑"/>
                <a:ea typeface="微软雅黑"/>
              </a:rPr>
              <a:t>汗水</a:t>
            </a:r>
            <a:endParaRPr/>
          </a:p>
        </p:txBody>
      </p:sp>
      <p:sp>
        <p:nvSpPr>
          <p:cNvPr id="870" name="文本框 869" descr="{&quot;isTemplate&quot;:true,&quot;type&quot;:&quot;text&quot;}"/>
          <p:cNvSpPr txBox="1"/>
          <p:nvPr/>
        </p:nvSpPr>
        <p:spPr>
          <a:xfrm>
            <a:off x="1143000" y="1752600"/>
            <a:ext cx="104394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00">
                <a:solidFill>
                  <a:srgbClr val="2C3947"/>
                </a:solidFill>
                <a:latin typeface="微软雅黑"/>
                <a:ea typeface="微软雅黑"/>
              </a:rPr>
              <a:t>多数发现是长期系统工作的产物，而非灵光一现</a:t>
            </a:r>
            <a:endParaRPr/>
          </a:p>
        </p:txBody>
      </p:sp>
      <p:sp>
        <p:nvSpPr>
          <p:cNvPr id="871" name="矩形: 圆角 870"/>
          <p:cNvSpPr/>
          <p:nvPr/>
        </p:nvSpPr>
        <p:spPr>
          <a:xfrm>
            <a:off x="381000" y="2295525"/>
            <a:ext cx="11430000" cy="847725"/>
          </a:xfrm>
          <a:prstGeom prst="roundRect">
            <a:avLst>
              <a:gd name="adj" fmla="val 11236"/>
            </a:avLst>
          </a:prstGeom>
          <a:solidFill>
            <a:srgbClr val="D3E0F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72" name="矩形: 圆角 871"/>
          <p:cNvSpPr/>
          <p:nvPr/>
        </p:nvSpPr>
        <p:spPr>
          <a:xfrm>
            <a:off x="609600" y="2543175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73" name="文本框 872" descr="{&quot;isTemplate&quot;:true,&quot;type&quot;:&quot;text&quot;}"/>
          <p:cNvSpPr txBox="1"/>
          <p:nvPr/>
        </p:nvSpPr>
        <p:spPr>
          <a:xfrm>
            <a:off x="790575" y="2724150"/>
            <a:ext cx="0" cy="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874" name="文本框 873" descr="{&quot;isTemplate&quot;:true,&quot;type&quot;:&quot;text&quot;}"/>
          <p:cNvSpPr txBox="1"/>
          <p:nvPr/>
        </p:nvSpPr>
        <p:spPr>
          <a:xfrm>
            <a:off x="1143000" y="2447925"/>
            <a:ext cx="104394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B1B33"/>
                </a:solidFill>
                <a:latin typeface="微软雅黑"/>
                <a:ea typeface="微软雅黑"/>
              </a:rPr>
              <a:t>在对的时间、对的地点</a:t>
            </a:r>
            <a:endParaRPr/>
          </a:p>
        </p:txBody>
      </p:sp>
      <p:sp>
        <p:nvSpPr>
          <p:cNvPr id="875" name="文本框 874" descr="{&quot;isTemplate&quot;:true,&quot;type&quot;:&quot;text&quot;}"/>
          <p:cNvSpPr txBox="1"/>
          <p:nvPr/>
        </p:nvSpPr>
        <p:spPr>
          <a:xfrm>
            <a:off x="1143000" y="2714625"/>
            <a:ext cx="104394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00">
                <a:solidFill>
                  <a:srgbClr val="2C3947"/>
                </a:solidFill>
                <a:latin typeface="微软雅黑"/>
                <a:ea typeface="微软雅黑"/>
              </a:rPr>
              <a:t>某项新技术先出现，才使某类材料成为可能（如光谱技术催生新型发光材料）</a:t>
            </a:r>
            <a:endParaRPr/>
          </a:p>
        </p:txBody>
      </p:sp>
      <p:sp>
        <p:nvSpPr>
          <p:cNvPr id="876" name="矩形: 圆角 875"/>
          <p:cNvSpPr/>
          <p:nvPr/>
        </p:nvSpPr>
        <p:spPr>
          <a:xfrm>
            <a:off x="381000" y="3257550"/>
            <a:ext cx="11430000" cy="847725"/>
          </a:xfrm>
          <a:prstGeom prst="roundRect">
            <a:avLst>
              <a:gd name="adj" fmla="val 11236"/>
            </a:avLst>
          </a:prstGeom>
          <a:solidFill>
            <a:srgbClr val="C3D5E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77" name="矩形: 圆角 876"/>
          <p:cNvSpPr/>
          <p:nvPr/>
        </p:nvSpPr>
        <p:spPr>
          <a:xfrm>
            <a:off x="609600" y="350520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78" name="文本框 877" descr="{&quot;isTemplate&quot;:true,&quot;type&quot;:&quot;text&quot;}"/>
          <p:cNvSpPr txBox="1"/>
          <p:nvPr/>
        </p:nvSpPr>
        <p:spPr>
          <a:xfrm>
            <a:off x="790575" y="3686175"/>
            <a:ext cx="0" cy="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879" name="文本框 878" descr="{&quot;isTemplate&quot;:true,&quot;type&quot;:&quot;text&quot;}"/>
          <p:cNvSpPr txBox="1"/>
          <p:nvPr/>
        </p:nvSpPr>
        <p:spPr>
          <a:xfrm>
            <a:off x="1143000" y="3409950"/>
            <a:ext cx="104394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B1B33"/>
                </a:solidFill>
                <a:latin typeface="微软雅黑"/>
                <a:ea typeface="微软雅黑"/>
              </a:rPr>
              <a:t>从自然界获得灵感</a:t>
            </a:r>
            <a:endParaRPr/>
          </a:p>
        </p:txBody>
      </p:sp>
      <p:sp>
        <p:nvSpPr>
          <p:cNvPr id="880" name="文本框 879" descr="{&quot;isTemplate&quot;:true,&quot;type&quot;:&quot;text&quot;}"/>
          <p:cNvSpPr txBox="1"/>
          <p:nvPr/>
        </p:nvSpPr>
        <p:spPr>
          <a:xfrm>
            <a:off x="1143000" y="3676650"/>
            <a:ext cx="104394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00">
                <a:solidFill>
                  <a:srgbClr val="2C3947"/>
                </a:solidFill>
                <a:latin typeface="微软雅黑"/>
                <a:ea typeface="微软雅黑"/>
              </a:rPr>
              <a:t>贝壳的珍珠层结构启发高韧性陶瓷；蜘蛛丝启发高强纤维</a:t>
            </a:r>
            <a:endParaRPr/>
          </a:p>
        </p:txBody>
      </p:sp>
      <p:sp>
        <p:nvSpPr>
          <p:cNvPr id="881" name="矩形: 圆角 880"/>
          <p:cNvSpPr/>
          <p:nvPr/>
        </p:nvSpPr>
        <p:spPr>
          <a:xfrm>
            <a:off x="381000" y="4219575"/>
            <a:ext cx="11430000" cy="847725"/>
          </a:xfrm>
          <a:prstGeom prst="roundRect">
            <a:avLst>
              <a:gd name="adj" fmla="val 11236"/>
            </a:avLst>
          </a:prstGeom>
          <a:solidFill>
            <a:srgbClr val="B3C9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82" name="矩形: 圆角 881"/>
          <p:cNvSpPr/>
          <p:nvPr/>
        </p:nvSpPr>
        <p:spPr>
          <a:xfrm>
            <a:off x="609600" y="4467225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83" name="文本框 882" descr="{&quot;isTemplate&quot;:true,&quot;type&quot;:&quot;text&quot;}"/>
          <p:cNvSpPr txBox="1"/>
          <p:nvPr/>
        </p:nvSpPr>
        <p:spPr>
          <a:xfrm>
            <a:off x="790575" y="4648200"/>
            <a:ext cx="0" cy="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884" name="文本框 883" descr="{&quot;isTemplate&quot;:true,&quot;type&quot;:&quot;text&quot;}"/>
          <p:cNvSpPr txBox="1"/>
          <p:nvPr/>
        </p:nvSpPr>
        <p:spPr>
          <a:xfrm>
            <a:off x="1143000" y="4371975"/>
            <a:ext cx="104394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B1B33"/>
                </a:solidFill>
                <a:latin typeface="微软雅黑"/>
                <a:ea typeface="微软雅黑"/>
              </a:rPr>
              <a:t>细节洞察</a:t>
            </a:r>
            <a:endParaRPr/>
          </a:p>
        </p:txBody>
      </p:sp>
      <p:sp>
        <p:nvSpPr>
          <p:cNvPr id="885" name="文本框 884" descr="{&quot;isTemplate&quot;:true,&quot;type&quot;:&quot;text&quot;}"/>
          <p:cNvSpPr txBox="1"/>
          <p:nvPr/>
        </p:nvSpPr>
        <p:spPr>
          <a:xfrm>
            <a:off x="1143000" y="4638675"/>
            <a:ext cx="104394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00">
                <a:solidFill>
                  <a:srgbClr val="2C3947"/>
                </a:solidFill>
                <a:latin typeface="微软雅黑"/>
                <a:ea typeface="微软雅黑"/>
              </a:rPr>
              <a:t>显微镜下的一个异常相、一次测量的偏差，可能指向新机制</a:t>
            </a:r>
            <a:endParaRPr/>
          </a:p>
        </p:txBody>
      </p:sp>
      <p:sp>
        <p:nvSpPr>
          <p:cNvPr id="886" name="矩形: 圆角 885"/>
          <p:cNvSpPr/>
          <p:nvPr/>
        </p:nvSpPr>
        <p:spPr>
          <a:xfrm>
            <a:off x="381000" y="5181600"/>
            <a:ext cx="11430000" cy="847725"/>
          </a:xfrm>
          <a:prstGeom prst="roundRect">
            <a:avLst>
              <a:gd name="adj" fmla="val 11236"/>
            </a:avLst>
          </a:prstGeom>
          <a:solidFill>
            <a:srgbClr val="A3BCE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87" name="矩形: 圆角 886"/>
          <p:cNvSpPr/>
          <p:nvPr/>
        </p:nvSpPr>
        <p:spPr>
          <a:xfrm>
            <a:off x="609600" y="542925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88" name="文本框 887" descr="{&quot;isTemplate&quot;:true,&quot;type&quot;:&quot;text&quot;}"/>
          <p:cNvSpPr txBox="1"/>
          <p:nvPr/>
        </p:nvSpPr>
        <p:spPr>
          <a:xfrm>
            <a:off x="790575" y="5610225"/>
            <a:ext cx="0" cy="0"/>
          </a:xfrm>
          <a:prstGeom prst="rect">
            <a:avLst/>
          </a:prstGeom>
        </p:spPr>
        <p:txBody>
          <a:bodyPr wrap="none" lIns="0" tIns="0" rIns="0" bIns="0"/>
          <a:lstStyle/>
          <a:p>
            <a:endParaRPr/>
          </a:p>
        </p:txBody>
      </p:sp>
      <p:sp>
        <p:nvSpPr>
          <p:cNvPr id="889" name="文本框 888" descr="{&quot;isTemplate&quot;:true,&quot;type&quot;:&quot;text&quot;}"/>
          <p:cNvSpPr txBox="1"/>
          <p:nvPr/>
        </p:nvSpPr>
        <p:spPr>
          <a:xfrm>
            <a:off x="1143000" y="5334000"/>
            <a:ext cx="104394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B1B33"/>
                </a:solidFill>
                <a:latin typeface="微软雅黑"/>
                <a:ea typeface="微软雅黑"/>
              </a:rPr>
              <a:t>错误与意外</a:t>
            </a:r>
            <a:endParaRPr/>
          </a:p>
        </p:txBody>
      </p:sp>
      <p:sp>
        <p:nvSpPr>
          <p:cNvPr id="890" name="文本框 889" descr="{&quot;isTemplate&quot;:true,&quot;type&quot;:&quot;text&quot;}"/>
          <p:cNvSpPr txBox="1"/>
          <p:nvPr/>
        </p:nvSpPr>
        <p:spPr>
          <a:xfrm>
            <a:off x="1143000" y="5600700"/>
            <a:ext cx="104394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1200">
                <a:solidFill>
                  <a:srgbClr val="2C3947"/>
                </a:solidFill>
                <a:latin typeface="微软雅黑"/>
                <a:ea typeface="微软雅黑"/>
              </a:rPr>
              <a:t>Stookey </a:t>
            </a:r>
            <a:r>
              <a:rPr lang="zh-CN" sz="1200">
                <a:solidFill>
                  <a:srgbClr val="2C3947"/>
                </a:solidFill>
                <a:latin typeface="微软雅黑"/>
                <a:ea typeface="微软雅黑"/>
              </a:rPr>
              <a:t>的碎玻璃；一个「失败」的实验揭示了意料之外的规律</a:t>
            </a:r>
            <a:endParaRPr/>
          </a:p>
        </p:txBody>
      </p:sp>
      <p:sp>
        <p:nvSpPr>
          <p:cNvPr id="891" name="文本框 890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892" name="文本框 891" descr="{&quot;isTemplate&quot;:true,&quot;type&quot;:&quot;text&quot;}"/>
          <p:cNvSpPr txBox="1"/>
          <p:nvPr/>
        </p:nvSpPr>
        <p:spPr>
          <a:xfrm>
            <a:off x="54673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893" name="文本框 892" descr="{&quot;isTemplate&quot;:true,&quot;type&quot;:&quot;text&quot;}"/>
          <p:cNvSpPr txBox="1"/>
          <p:nvPr/>
        </p:nvSpPr>
        <p:spPr>
          <a:xfrm>
            <a:off x="11410950" y="6610350"/>
            <a:ext cx="4000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35 / 60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矩形 89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96" name="矩形 895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97" name="文本框 896" descr="{&quot;isTemplate&quot;:true,&quot;type&quot;:&quot;text&quot;}"/>
          <p:cNvSpPr txBox="1"/>
          <p:nvPr/>
        </p:nvSpPr>
        <p:spPr>
          <a:xfrm>
            <a:off x="342900" y="171450"/>
            <a:ext cx="3524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在材料科学中的应用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讲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材料信息学导论与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产业</a:t>
            </a:r>
            <a:endParaRPr/>
          </a:p>
        </p:txBody>
      </p:sp>
      <p:sp>
        <p:nvSpPr>
          <p:cNvPr id="898" name="文本框 897" descr="{&quot;isTemplate&quot;:true,&quot;type&quot;:&quot;text&quot;}"/>
          <p:cNvSpPr txBox="1"/>
          <p:nvPr/>
        </p:nvSpPr>
        <p:spPr>
          <a:xfrm>
            <a:off x="9353550" y="171450"/>
            <a:ext cx="13906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03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材料是如何被发现的</a:t>
            </a:r>
            <a:endParaRPr/>
          </a:p>
        </p:txBody>
      </p:sp>
      <p:pic>
        <p:nvPicPr>
          <p:cNvPr id="899" name="图片 898"/>
          <p:cNvPicPr>
            <a:picLocks noChangeAspect="1"/>
          </p:cNvPicPr>
          <p:nvPr/>
        </p:nvPicPr>
        <p:blipFill>
          <a:blip r:embed="rId2"/>
          <a:srcRect l="847" r="847"/>
          <a:stretch>
            <a:fillRect/>
          </a:stretch>
        </p:blipFill>
        <p:spPr>
          <a:xfrm>
            <a:off x="10858500" y="123825"/>
            <a:ext cx="990600" cy="247650"/>
          </a:xfrm>
          <a:prstGeom prst="rect">
            <a:avLst/>
          </a:prstGeom>
          <a:ln/>
        </p:spPr>
      </p:pic>
      <p:sp>
        <p:nvSpPr>
          <p:cNvPr id="900" name="文本框 899" descr="{&quot;isTemplate&quot;:true,&quot;type&quot;:&quot;text&quot;}"/>
          <p:cNvSpPr txBox="1"/>
          <p:nvPr/>
        </p:nvSpPr>
        <p:spPr>
          <a:xfrm>
            <a:off x="381000" y="666750"/>
            <a:ext cx="114300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钉钉进步体"/>
                <a:ea typeface="钉钉进步体"/>
              </a:rPr>
              <a:t>方法一、二：经验试错与理论计算</a:t>
            </a:r>
            <a:endParaRPr/>
          </a:p>
        </p:txBody>
      </p:sp>
      <p:sp>
        <p:nvSpPr>
          <p:cNvPr id="901" name="矩形: 圆角 900"/>
          <p:cNvSpPr/>
          <p:nvPr/>
        </p:nvSpPr>
        <p:spPr>
          <a:xfrm>
            <a:off x="381000" y="1114425"/>
            <a:ext cx="571500" cy="47625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02" name="矩形: 圆角 901"/>
          <p:cNvSpPr/>
          <p:nvPr/>
        </p:nvSpPr>
        <p:spPr>
          <a:xfrm>
            <a:off x="381000" y="1333500"/>
            <a:ext cx="5600700" cy="5181600"/>
          </a:xfrm>
          <a:prstGeom prst="roundRect">
            <a:avLst>
              <a:gd name="adj" fmla="val 2206"/>
            </a:avLst>
          </a:prstGeom>
          <a:solidFill>
            <a:srgbClr val="F5F3F0"/>
          </a:solidFill>
          <a:ln w="12700">
            <a:solidFill>
              <a:srgbClr val="D8D0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3" name="文本框 902" descr="{&quot;isTemplate&quot;:true,&quot;type&quot;:&quot;text&quot;}"/>
          <p:cNvSpPr txBox="1"/>
          <p:nvPr/>
        </p:nvSpPr>
        <p:spPr>
          <a:xfrm>
            <a:off x="590550" y="1543050"/>
            <a:ext cx="51816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5D4E3A"/>
                </a:solidFill>
                <a:latin typeface="微软雅黑"/>
                <a:ea typeface="微软雅黑"/>
              </a:rPr>
              <a:t>方法一：经验试错</a:t>
            </a:r>
            <a:endParaRPr/>
          </a:p>
        </p:txBody>
      </p:sp>
      <p:sp>
        <p:nvSpPr>
          <p:cNvPr id="904" name="文本框 903" descr="{&quot;isTemplate&quot;:true,&quot;type&quot;:&quot;text&quot;}"/>
          <p:cNvSpPr txBox="1"/>
          <p:nvPr/>
        </p:nvSpPr>
        <p:spPr>
          <a:xfrm>
            <a:off x="590550" y="1895475"/>
            <a:ext cx="5181600" cy="666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0000"/>
              </a:lnSpc>
            </a:pPr>
            <a:r>
              <a:rPr lang="zh-CN" sz="1275">
                <a:solidFill>
                  <a:srgbClr val="3A4759"/>
                </a:solidFill>
                <a:latin typeface="微软雅黑"/>
                <a:ea typeface="微软雅黑"/>
              </a:rPr>
              <a:t>材料研究最基础的两类手段。选定体系</a:t>
            </a:r>
            <a:r>
              <a:rPr lang="en-US" sz="1275">
                <a:solidFill>
                  <a:srgbClr val="3A4759"/>
                </a:solidFill>
                <a:latin typeface="微软雅黑"/>
                <a:ea typeface="微软雅黑"/>
              </a:rPr>
              <a:t> → </a:t>
            </a:r>
            <a:r>
              <a:rPr lang="zh-CN" sz="1275">
                <a:solidFill>
                  <a:srgbClr val="3A4759"/>
                </a:solidFill>
                <a:latin typeface="微软雅黑"/>
                <a:ea typeface="微软雅黑"/>
              </a:rPr>
              <a:t>系统改变组分</a:t>
            </a:r>
            <a:r>
              <a:rPr lang="en-US" sz="1275">
                <a:solidFill>
                  <a:srgbClr val="3A4759"/>
                </a:solidFill>
                <a:latin typeface="微软雅黑"/>
                <a:ea typeface="微软雅黑"/>
              </a:rPr>
              <a:t>/</a:t>
            </a:r>
            <a:r>
              <a:rPr lang="zh-CN" sz="1275">
                <a:solidFill>
                  <a:srgbClr val="3A4759"/>
                </a:solidFill>
                <a:latin typeface="微软雅黑"/>
                <a:ea typeface="微软雅黑"/>
              </a:rPr>
              <a:t>工艺</a:t>
            </a:r>
            <a:r>
              <a:rPr lang="en-US" sz="1275">
                <a:solidFill>
                  <a:srgbClr val="3A4759"/>
                </a:solidFill>
                <a:latin typeface="微软雅黑"/>
                <a:ea typeface="微软雅黑"/>
              </a:rPr>
              <a:t> → </a:t>
            </a:r>
            <a:r>
              <a:rPr lang="zh-CN" sz="1275">
                <a:solidFill>
                  <a:srgbClr val="3A4759"/>
                </a:solidFill>
                <a:latin typeface="微软雅黑"/>
                <a:ea typeface="微软雅黑"/>
              </a:rPr>
              <a:t>测量</a:t>
            </a:r>
            <a:r>
              <a:rPr lang="en-US" sz="1275">
                <a:solidFill>
                  <a:srgbClr val="3A4759"/>
                </a:solidFill>
                <a:latin typeface="微软雅黑"/>
                <a:ea typeface="微软雅黑"/>
              </a:rPr>
              <a:t> → </a:t>
            </a:r>
            <a:r>
              <a:rPr lang="zh-CN" sz="1275">
                <a:solidFill>
                  <a:srgbClr val="3A4759"/>
                </a:solidFill>
                <a:latin typeface="微软雅黑"/>
                <a:ea typeface="微软雅黑"/>
              </a:rPr>
              <a:t>记录经验规律。</a:t>
            </a:r>
            <a:endParaRPr/>
          </a:p>
        </p:txBody>
      </p:sp>
      <p:sp>
        <p:nvSpPr>
          <p:cNvPr id="905" name="矩形: 圆角 904"/>
          <p:cNvSpPr/>
          <p:nvPr/>
        </p:nvSpPr>
        <p:spPr>
          <a:xfrm>
            <a:off x="590550" y="2695575"/>
            <a:ext cx="518160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06" name="文本框 905" descr="{&quot;isTemplate&quot;:true,&quot;type&quot;:&quot;text&quot;}"/>
          <p:cNvSpPr txBox="1"/>
          <p:nvPr/>
        </p:nvSpPr>
        <p:spPr>
          <a:xfrm>
            <a:off x="742950" y="2847975"/>
            <a:ext cx="48768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5D4E3A"/>
                </a:solidFill>
                <a:latin typeface="微软雅黑"/>
                <a:ea typeface="微软雅黑"/>
              </a:rPr>
              <a:t>优势</a:t>
            </a:r>
            <a:endParaRPr/>
          </a:p>
        </p:txBody>
      </p:sp>
      <p:sp>
        <p:nvSpPr>
          <p:cNvPr id="907" name="文本框 906" descr="{&quot;isTemplate&quot;:true,&quot;type&quot;:&quot;text&quot;}"/>
          <p:cNvSpPr txBox="1"/>
          <p:nvPr/>
        </p:nvSpPr>
        <p:spPr>
          <a:xfrm>
            <a:off x="742950" y="3076575"/>
            <a:ext cx="487680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不依赖理论，能发现完全未预期的现象</a:t>
            </a:r>
            <a:endParaRPr/>
          </a:p>
        </p:txBody>
      </p:sp>
      <p:sp>
        <p:nvSpPr>
          <p:cNvPr id="908" name="矩形: 圆角 907"/>
          <p:cNvSpPr/>
          <p:nvPr/>
        </p:nvSpPr>
        <p:spPr>
          <a:xfrm>
            <a:off x="590550" y="3609975"/>
            <a:ext cx="51816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09" name="文本框 908" descr="{&quot;isTemplate&quot;:true,&quot;type&quot;:&quot;text&quot;}"/>
          <p:cNvSpPr txBox="1"/>
          <p:nvPr/>
        </p:nvSpPr>
        <p:spPr>
          <a:xfrm>
            <a:off x="742950" y="3762375"/>
            <a:ext cx="48768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62828"/>
                </a:solidFill>
                <a:latin typeface="微软雅黑"/>
                <a:ea typeface="微软雅黑"/>
              </a:rPr>
              <a:t>瓶颈</a:t>
            </a:r>
            <a:endParaRPr/>
          </a:p>
        </p:txBody>
      </p:sp>
      <p:sp>
        <p:nvSpPr>
          <p:cNvPr id="910" name="文本框 909" descr="{&quot;isTemplate&quot;:true,&quot;type&quot;:&quot;text&quot;}"/>
          <p:cNvSpPr txBox="1"/>
          <p:nvPr/>
        </p:nvSpPr>
        <p:spPr>
          <a:xfrm>
            <a:off x="742950" y="3990975"/>
            <a:ext cx="4876800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200" b="1">
                <a:solidFill>
                  <a:srgbClr val="1A2230"/>
                </a:solidFill>
                <a:latin typeface="微软雅黑"/>
                <a:ea typeface="微软雅黑"/>
              </a:rPr>
              <a:t>速度与成本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。覆盖</a:t>
            </a: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> 5.8×10¹² 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量级的成分组合无望；改进多为渐进式，难有数量级突破。</a:t>
            </a:r>
            <a:endParaRPr/>
          </a:p>
        </p:txBody>
      </p:sp>
      <p:sp>
        <p:nvSpPr>
          <p:cNvPr id="911" name="矩形: 圆角 910"/>
          <p:cNvSpPr/>
          <p:nvPr/>
        </p:nvSpPr>
        <p:spPr>
          <a:xfrm>
            <a:off x="6210300" y="1333500"/>
            <a:ext cx="5600700" cy="5181600"/>
          </a:xfrm>
          <a:prstGeom prst="roundRect">
            <a:avLst>
              <a:gd name="adj" fmla="val 2206"/>
            </a:avLst>
          </a:prstGeom>
          <a:solidFill>
            <a:srgbClr val="E8F1FC"/>
          </a:solidFill>
          <a:ln w="12700">
            <a:solidFill>
              <a:srgbClr val="1E4F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12" name="文本框 911" descr="{&quot;isTemplate&quot;:true,&quot;type&quot;:&quot;text&quot;}"/>
          <p:cNvSpPr txBox="1"/>
          <p:nvPr/>
        </p:nvSpPr>
        <p:spPr>
          <a:xfrm>
            <a:off x="6419850" y="1543050"/>
            <a:ext cx="51816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微软雅黑"/>
                <a:ea typeface="微软雅黑"/>
              </a:rPr>
              <a:t>方法二：理论计算</a:t>
            </a:r>
            <a:r>
              <a:rPr lang="en-US" sz="1650" b="1">
                <a:solidFill>
                  <a:srgbClr val="0E3F8C"/>
                </a:solidFill>
                <a:latin typeface="微软雅黑"/>
                <a:ea typeface="微软雅黑"/>
              </a:rPr>
              <a:t> / </a:t>
            </a:r>
            <a:r>
              <a:rPr lang="zh-CN" sz="1650" b="1">
                <a:solidFill>
                  <a:srgbClr val="0E3F8C"/>
                </a:solidFill>
                <a:latin typeface="微软雅黑"/>
                <a:ea typeface="微软雅黑"/>
              </a:rPr>
              <a:t>第一性原理</a:t>
            </a:r>
            <a:endParaRPr/>
          </a:p>
        </p:txBody>
      </p:sp>
      <p:sp>
        <p:nvSpPr>
          <p:cNvPr id="913" name="文本框 912" descr="{&quot;isTemplate&quot;:true,&quot;type&quot;:&quot;text&quot;}"/>
          <p:cNvSpPr txBox="1"/>
          <p:nvPr/>
        </p:nvSpPr>
        <p:spPr>
          <a:xfrm>
            <a:off x="6419850" y="1895475"/>
            <a:ext cx="5181600" cy="666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0000"/>
              </a:lnSpc>
            </a:pPr>
            <a:r>
              <a:rPr lang="en-US" sz="1275">
                <a:solidFill>
                  <a:srgbClr val="3A4759"/>
                </a:solidFill>
                <a:latin typeface="微软雅黑"/>
                <a:ea typeface="微软雅黑"/>
              </a:rPr>
              <a:t>DFT </a:t>
            </a:r>
            <a:r>
              <a:rPr lang="zh-CN" sz="1275">
                <a:solidFill>
                  <a:srgbClr val="3A4759"/>
                </a:solidFill>
                <a:latin typeface="微软雅黑"/>
                <a:ea typeface="微软雅黑"/>
              </a:rPr>
              <a:t>等方法从量子力学出发直接计算性质，无需实验样品。已成为材料筛选的标准工具。</a:t>
            </a:r>
            <a:endParaRPr/>
          </a:p>
        </p:txBody>
      </p:sp>
      <p:sp>
        <p:nvSpPr>
          <p:cNvPr id="914" name="矩形: 圆角 913"/>
          <p:cNvSpPr/>
          <p:nvPr/>
        </p:nvSpPr>
        <p:spPr>
          <a:xfrm>
            <a:off x="6419850" y="2695575"/>
            <a:ext cx="518160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15" name="文本框 914" descr="{&quot;isTemplate&quot;:true,&quot;type&quot;:&quot;text&quot;}"/>
          <p:cNvSpPr txBox="1"/>
          <p:nvPr/>
        </p:nvSpPr>
        <p:spPr>
          <a:xfrm>
            <a:off x="6572250" y="2847975"/>
            <a:ext cx="48768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B5E20"/>
                </a:solidFill>
                <a:latin typeface="微软雅黑"/>
                <a:ea typeface="微软雅黑"/>
              </a:rPr>
              <a:t>优势</a:t>
            </a:r>
            <a:endParaRPr/>
          </a:p>
        </p:txBody>
      </p:sp>
      <p:sp>
        <p:nvSpPr>
          <p:cNvPr id="916" name="文本框 915" descr="{&quot;isTemplate&quot;:true,&quot;type&quot;:&quot;text&quot;}"/>
          <p:cNvSpPr txBox="1"/>
          <p:nvPr/>
        </p:nvSpPr>
        <p:spPr>
          <a:xfrm>
            <a:off x="6572250" y="3076575"/>
            <a:ext cx="487680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给出</a:t>
            </a:r>
            <a:r>
              <a:rPr lang="zh-CN" sz="1200" b="1">
                <a:solidFill>
                  <a:srgbClr val="1A2230"/>
                </a:solidFill>
                <a:latin typeface="微软雅黑"/>
                <a:ea typeface="微软雅黑"/>
              </a:rPr>
              <a:t>可解释的机制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；可预测尚无法制备的体系（如高压相）</a:t>
            </a:r>
            <a:endParaRPr/>
          </a:p>
        </p:txBody>
      </p:sp>
      <p:sp>
        <p:nvSpPr>
          <p:cNvPr id="917" name="矩形: 圆角 916"/>
          <p:cNvSpPr/>
          <p:nvPr/>
        </p:nvSpPr>
        <p:spPr>
          <a:xfrm>
            <a:off x="6419850" y="3609975"/>
            <a:ext cx="518160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18" name="文本框 917" descr="{&quot;isTemplate&quot;:true,&quot;type&quot;:&quot;text&quot;}"/>
          <p:cNvSpPr txBox="1"/>
          <p:nvPr/>
        </p:nvSpPr>
        <p:spPr>
          <a:xfrm>
            <a:off x="6572250" y="3762375"/>
            <a:ext cx="48768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62828"/>
                </a:solidFill>
                <a:latin typeface="微软雅黑"/>
                <a:ea typeface="微软雅黑"/>
              </a:rPr>
              <a:t>瓶颈</a:t>
            </a:r>
            <a:endParaRPr/>
          </a:p>
        </p:txBody>
      </p:sp>
      <p:sp>
        <p:nvSpPr>
          <p:cNvPr id="919" name="文本框 918" descr="{&quot;isTemplate&quot;:true,&quot;type&quot;:&quot;text&quot;}"/>
          <p:cNvSpPr txBox="1"/>
          <p:nvPr/>
        </p:nvSpPr>
        <p:spPr>
          <a:xfrm>
            <a:off x="6572250" y="3990975"/>
            <a:ext cx="4876800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精度受限（泛函选择、热力学稳定性只是间接指标）；</a:t>
            </a:r>
            <a:r>
              <a:rPr lang="zh-CN" sz="1200" b="1">
                <a:solidFill>
                  <a:srgbClr val="1A2230"/>
                </a:solidFill>
                <a:latin typeface="微软雅黑"/>
                <a:ea typeface="微软雅黑"/>
              </a:rPr>
              <a:t>算力昂贵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，全空间扫描不现实</a:t>
            </a:r>
            <a:endParaRPr/>
          </a:p>
        </p:txBody>
      </p:sp>
      <p:sp>
        <p:nvSpPr>
          <p:cNvPr id="920" name="文本框 919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921" name="文本框 920" descr="{&quot;isTemplate&quot;:true,&quot;type&quot;:&quot;text&quot;}"/>
          <p:cNvSpPr txBox="1"/>
          <p:nvPr/>
        </p:nvSpPr>
        <p:spPr>
          <a:xfrm>
            <a:off x="54673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922" name="文本框 921" descr="{&quot;isTemplate&quot;:true,&quot;type&quot;:&quot;text&quot;}"/>
          <p:cNvSpPr txBox="1"/>
          <p:nvPr/>
        </p:nvSpPr>
        <p:spPr>
          <a:xfrm>
            <a:off x="11410950" y="6610350"/>
            <a:ext cx="4000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36 / 60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矩形 9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25" name="矩形 924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26" name="文本框 925" descr="{&quot;isTemplate&quot;:true,&quot;type&quot;:&quot;text&quot;}"/>
          <p:cNvSpPr txBox="1"/>
          <p:nvPr/>
        </p:nvSpPr>
        <p:spPr>
          <a:xfrm>
            <a:off x="342900" y="171450"/>
            <a:ext cx="3524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在材料科学中的应用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讲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材料信息学导论与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产业</a:t>
            </a:r>
            <a:endParaRPr/>
          </a:p>
        </p:txBody>
      </p:sp>
      <p:sp>
        <p:nvSpPr>
          <p:cNvPr id="927" name="文本框 926" descr="{&quot;isTemplate&quot;:true,&quot;type&quot;:&quot;text&quot;}"/>
          <p:cNvSpPr txBox="1"/>
          <p:nvPr/>
        </p:nvSpPr>
        <p:spPr>
          <a:xfrm>
            <a:off x="9353550" y="171450"/>
            <a:ext cx="13906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03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材料是如何被发现的</a:t>
            </a:r>
            <a:endParaRPr/>
          </a:p>
        </p:txBody>
      </p:sp>
      <p:pic>
        <p:nvPicPr>
          <p:cNvPr id="928" name="图片 927"/>
          <p:cNvPicPr>
            <a:picLocks noChangeAspect="1"/>
          </p:cNvPicPr>
          <p:nvPr/>
        </p:nvPicPr>
        <p:blipFill>
          <a:blip r:embed="rId2"/>
          <a:srcRect l="847" r="847"/>
          <a:stretch>
            <a:fillRect/>
          </a:stretch>
        </p:blipFill>
        <p:spPr>
          <a:xfrm>
            <a:off x="10858500" y="123825"/>
            <a:ext cx="990600" cy="247650"/>
          </a:xfrm>
          <a:prstGeom prst="rect">
            <a:avLst/>
          </a:prstGeom>
          <a:ln/>
        </p:spPr>
      </p:pic>
      <p:sp>
        <p:nvSpPr>
          <p:cNvPr id="929" name="文本框 928" descr="{&quot;isTemplate&quot;:true,&quot;type&quot;:&quot;text&quot;}"/>
          <p:cNvSpPr txBox="1"/>
          <p:nvPr/>
        </p:nvSpPr>
        <p:spPr>
          <a:xfrm>
            <a:off x="381000" y="666750"/>
            <a:ext cx="114300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钉钉进步体"/>
                <a:ea typeface="钉钉进步体"/>
              </a:rPr>
              <a:t>方法三：数据驱动</a:t>
            </a:r>
            <a:endParaRPr/>
          </a:p>
        </p:txBody>
      </p:sp>
      <p:sp>
        <p:nvSpPr>
          <p:cNvPr id="930" name="矩形: 圆角 929"/>
          <p:cNvSpPr/>
          <p:nvPr/>
        </p:nvSpPr>
        <p:spPr>
          <a:xfrm>
            <a:off x="381000" y="1114425"/>
            <a:ext cx="571500" cy="47625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31" name="矩形: 圆角 930"/>
          <p:cNvSpPr/>
          <p:nvPr/>
        </p:nvSpPr>
        <p:spPr>
          <a:xfrm>
            <a:off x="381000" y="1333500"/>
            <a:ext cx="11430000" cy="742950"/>
          </a:xfrm>
          <a:prstGeom prst="roundRect">
            <a:avLst>
              <a:gd name="adj" fmla="val 15385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32" name="文本框 931" descr="{&quot;isTemplate&quot;:true,&quot;type&quot;:&quot;text&quot;}"/>
          <p:cNvSpPr txBox="1"/>
          <p:nvPr/>
        </p:nvSpPr>
        <p:spPr>
          <a:xfrm>
            <a:off x="647700" y="1524000"/>
            <a:ext cx="10896600" cy="361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75">
                <a:solidFill>
                  <a:srgbClr val="FFFFFF"/>
                </a:solidFill>
                <a:latin typeface="微软雅黑"/>
                <a:ea typeface="微软雅黑"/>
              </a:rPr>
              <a:t>方法三的核心：</a:t>
            </a:r>
            <a:r>
              <a:rPr lang="zh-CN" sz="1575" b="1">
                <a:solidFill>
                  <a:srgbClr val="FFC107"/>
                </a:solidFill>
                <a:latin typeface="微软雅黑"/>
                <a:ea typeface="微软雅黑"/>
              </a:rPr>
              <a:t>把积累的全部计算与实验数据视为一个「虚拟实验室」</a:t>
            </a:r>
            <a:r>
              <a:rPr lang="zh-CN" sz="1575">
                <a:solidFill>
                  <a:srgbClr val="FFFFFF"/>
                </a:solidFill>
                <a:latin typeface="微软雅黑"/>
                <a:ea typeface="微软雅黑"/>
              </a:rPr>
              <a:t>，从中直接学习结构–性质映射</a:t>
            </a:r>
            <a:endParaRPr/>
          </a:p>
        </p:txBody>
      </p:sp>
      <p:sp>
        <p:nvSpPr>
          <p:cNvPr id="933" name="矩形: 圆角 932"/>
          <p:cNvSpPr/>
          <p:nvPr/>
        </p:nvSpPr>
        <p:spPr>
          <a:xfrm>
            <a:off x="381000" y="2209800"/>
            <a:ext cx="7239000" cy="4305300"/>
          </a:xfrm>
          <a:prstGeom prst="roundRect">
            <a:avLst>
              <a:gd name="adj" fmla="val 265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4" name="文本框 933" descr="{&quot;isTemplate&quot;:true,&quot;type&quot;:&quot;text&quot;}"/>
          <p:cNvSpPr txBox="1"/>
          <p:nvPr/>
        </p:nvSpPr>
        <p:spPr>
          <a:xfrm>
            <a:off x="590550" y="2419350"/>
            <a:ext cx="68199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/>
                <a:ea typeface="微软雅黑"/>
              </a:rPr>
              <a:t>带来的改变</a:t>
            </a:r>
            <a:endParaRPr/>
          </a:p>
        </p:txBody>
      </p:sp>
      <p:sp>
        <p:nvSpPr>
          <p:cNvPr id="935" name="矩形: 圆角 934"/>
          <p:cNvSpPr/>
          <p:nvPr/>
        </p:nvSpPr>
        <p:spPr>
          <a:xfrm>
            <a:off x="590550" y="28384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36" name="文本框 935" descr="{&quot;isTemplate&quot;:true,&quot;type&quot;:&quot;text&quot;}"/>
          <p:cNvSpPr txBox="1"/>
          <p:nvPr/>
        </p:nvSpPr>
        <p:spPr>
          <a:xfrm>
            <a:off x="762000" y="2762250"/>
            <a:ext cx="66484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评估从「合成后测得」前移到「计算前预测」</a:t>
            </a:r>
            <a:endParaRPr/>
          </a:p>
        </p:txBody>
      </p:sp>
      <p:sp>
        <p:nvSpPr>
          <p:cNvPr id="937" name="矩形: 圆角 936"/>
          <p:cNvSpPr/>
          <p:nvPr/>
        </p:nvSpPr>
        <p:spPr>
          <a:xfrm>
            <a:off x="590550" y="32575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38" name="文本框 937" descr="{&quot;isTemplate&quot;:true,&quot;type&quot;:&quot;text&quot;}"/>
          <p:cNvSpPr txBox="1"/>
          <p:nvPr/>
        </p:nvSpPr>
        <p:spPr>
          <a:xfrm>
            <a:off x="762000" y="3181350"/>
            <a:ext cx="66484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可以扫描远超人力的候选数量</a:t>
            </a:r>
            <a:endParaRPr/>
          </a:p>
        </p:txBody>
      </p:sp>
      <p:sp>
        <p:nvSpPr>
          <p:cNvPr id="939" name="矩形: 圆角 938"/>
          <p:cNvSpPr/>
          <p:nvPr/>
        </p:nvSpPr>
        <p:spPr>
          <a:xfrm>
            <a:off x="590550" y="36766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40" name="文本框 939" descr="{&quot;isTemplate&quot;:true,&quot;type&quot;:&quot;text&quot;}"/>
          <p:cNvSpPr txBox="1"/>
          <p:nvPr/>
        </p:nvSpPr>
        <p:spPr>
          <a:xfrm>
            <a:off x="762000" y="3600450"/>
            <a:ext cx="66484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不同来源的数据（实验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 / DFT /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文献）被统一利用</a:t>
            </a:r>
            <a:endParaRPr/>
          </a:p>
        </p:txBody>
      </p:sp>
      <p:sp>
        <p:nvSpPr>
          <p:cNvPr id="941" name="矩形: 圆角 940"/>
          <p:cNvSpPr/>
          <p:nvPr/>
        </p:nvSpPr>
        <p:spPr>
          <a:xfrm>
            <a:off x="590550" y="40957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42" name="文本框 941" descr="{&quot;isTemplate&quot;:true,&quot;type&quot;:&quot;text&quot;}"/>
          <p:cNvSpPr txBox="1"/>
          <p:nvPr/>
        </p:nvSpPr>
        <p:spPr>
          <a:xfrm>
            <a:off x="762000" y="4019550"/>
            <a:ext cx="66484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把「设计」从直觉驱动转为</a:t>
            </a:r>
            <a:r>
              <a:rPr lang="zh-CN" sz="1275" b="1">
                <a:solidFill>
                  <a:srgbClr val="1A2230"/>
                </a:solidFill>
                <a:latin typeface="微软雅黑"/>
                <a:ea typeface="微软雅黑"/>
              </a:rPr>
              <a:t>可量化的目标优化</a:t>
            </a:r>
            <a:endParaRPr/>
          </a:p>
        </p:txBody>
      </p:sp>
      <p:sp>
        <p:nvSpPr>
          <p:cNvPr id="943" name="矩形: 圆角 942"/>
          <p:cNvSpPr/>
          <p:nvPr/>
        </p:nvSpPr>
        <p:spPr>
          <a:xfrm>
            <a:off x="7810500" y="2209800"/>
            <a:ext cx="4000500" cy="1771650"/>
          </a:xfrm>
          <a:prstGeom prst="roundRect">
            <a:avLst>
              <a:gd name="adj" fmla="val 6452"/>
            </a:avLst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4" name="文本框 943" descr="{&quot;isTemplate&quot;:true,&quot;type&quot;:&quot;text&quot;}"/>
          <p:cNvSpPr txBox="1"/>
          <p:nvPr/>
        </p:nvSpPr>
        <p:spPr>
          <a:xfrm>
            <a:off x="8001000" y="2400300"/>
            <a:ext cx="36195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8D6E00"/>
                </a:solidFill>
                <a:latin typeface="微软雅黑"/>
                <a:ea typeface="微软雅黑"/>
              </a:rPr>
              <a:t>仍然存在的问题</a:t>
            </a:r>
            <a:endParaRPr/>
          </a:p>
        </p:txBody>
      </p:sp>
      <p:sp>
        <p:nvSpPr>
          <p:cNvPr id="945" name="矩形: 圆角 944"/>
          <p:cNvSpPr/>
          <p:nvPr/>
        </p:nvSpPr>
        <p:spPr>
          <a:xfrm>
            <a:off x="8001000" y="27908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46" name="文本框 945" descr="{&quot;isTemplate&quot;:true,&quot;type&quot;:&quot;text&quot;}"/>
          <p:cNvSpPr txBox="1"/>
          <p:nvPr/>
        </p:nvSpPr>
        <p:spPr>
          <a:xfrm>
            <a:off x="8172450" y="2714625"/>
            <a:ext cx="344805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数据量小且标注噪声大</a:t>
            </a:r>
            <a:endParaRPr/>
          </a:p>
        </p:txBody>
      </p:sp>
      <p:sp>
        <p:nvSpPr>
          <p:cNvPr id="947" name="矩形: 圆角 946"/>
          <p:cNvSpPr/>
          <p:nvPr/>
        </p:nvSpPr>
        <p:spPr>
          <a:xfrm>
            <a:off x="8001000" y="31813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48" name="文本框 947" descr="{&quot;isTemplate&quot;:true,&quot;type&quot;:&quot;text&quot;}"/>
          <p:cNvSpPr txBox="1"/>
          <p:nvPr/>
        </p:nvSpPr>
        <p:spPr>
          <a:xfrm>
            <a:off x="8172450" y="3105150"/>
            <a:ext cx="344805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外推预测不可靠</a:t>
            </a:r>
            <a:endParaRPr/>
          </a:p>
        </p:txBody>
      </p:sp>
      <p:sp>
        <p:nvSpPr>
          <p:cNvPr id="949" name="矩形: 圆角 948"/>
          <p:cNvSpPr/>
          <p:nvPr/>
        </p:nvSpPr>
        <p:spPr>
          <a:xfrm>
            <a:off x="8001000" y="35718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50" name="文本框 949" descr="{&quot;isTemplate&quot;:true,&quot;type&quot;:&quot;text&quot;}"/>
          <p:cNvSpPr txBox="1"/>
          <p:nvPr/>
        </p:nvSpPr>
        <p:spPr>
          <a:xfrm>
            <a:off x="8172450" y="3495675"/>
            <a:ext cx="344805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结果的物理机制常不清晰</a:t>
            </a:r>
            <a:endParaRPr/>
          </a:p>
        </p:txBody>
      </p:sp>
      <p:sp>
        <p:nvSpPr>
          <p:cNvPr id="951" name="矩形: 圆角 950"/>
          <p:cNvSpPr/>
          <p:nvPr/>
        </p:nvSpPr>
        <p:spPr>
          <a:xfrm>
            <a:off x="7810500" y="4114800"/>
            <a:ext cx="4000500" cy="1304925"/>
          </a:xfrm>
          <a:prstGeom prst="roundRect">
            <a:avLst>
              <a:gd name="adj" fmla="val 8759"/>
            </a:avLst>
          </a:prstGeom>
          <a:solidFill>
            <a:srgbClr val="E8F1FC"/>
          </a:solidFill>
          <a:ln w="12700">
            <a:solidFill>
              <a:srgbClr val="1E4F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2" name="文本框 951" descr="{&quot;isTemplate&quot;:true,&quot;type&quot;:&quot;text&quot;}"/>
          <p:cNvSpPr txBox="1"/>
          <p:nvPr/>
        </p:nvSpPr>
        <p:spPr>
          <a:xfrm>
            <a:off x="8001000" y="4305300"/>
            <a:ext cx="36195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/>
                <a:ea typeface="微软雅黑"/>
              </a:rPr>
              <a:t>这些问题如何解决？</a:t>
            </a:r>
            <a:endParaRPr/>
          </a:p>
        </p:txBody>
      </p:sp>
      <p:sp>
        <p:nvSpPr>
          <p:cNvPr id="953" name="文本框 952" descr="{&quot;isTemplate&quot;:true,&quot;type&quot;:&quot;text&quot;}"/>
          <p:cNvSpPr txBox="1"/>
          <p:nvPr/>
        </p:nvSpPr>
        <p:spPr>
          <a:xfrm>
            <a:off x="8001000" y="4600575"/>
            <a:ext cx="361950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→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与方法四协同：</a:t>
            </a:r>
            <a:r>
              <a:rPr lang="zh-CN" sz="1275" b="1">
                <a:solidFill>
                  <a:srgbClr val="0E3F8C"/>
                </a:solidFill>
                <a:latin typeface="微软雅黑"/>
                <a:ea typeface="微软雅黑"/>
              </a:rPr>
              <a:t>自主发现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，用主动学习驱动实验闭环；但评估仍依赖方法一、二。</a:t>
            </a:r>
            <a:endParaRPr/>
          </a:p>
        </p:txBody>
      </p:sp>
      <p:sp>
        <p:nvSpPr>
          <p:cNvPr id="954" name="文本框 953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955" name="文本框 954" descr="{&quot;isTemplate&quot;:true,&quot;type&quot;:&quot;text&quot;}"/>
          <p:cNvSpPr txBox="1"/>
          <p:nvPr/>
        </p:nvSpPr>
        <p:spPr>
          <a:xfrm>
            <a:off x="54673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956" name="文本框 955" descr="{&quot;isTemplate&quot;:true,&quot;type&quot;:&quot;text&quot;}"/>
          <p:cNvSpPr txBox="1"/>
          <p:nvPr/>
        </p:nvSpPr>
        <p:spPr>
          <a:xfrm>
            <a:off x="11410950" y="6610350"/>
            <a:ext cx="4000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37 / 60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矩形 95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59" name="矩形 958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60" name="文本框 959" descr="{&quot;isTemplate&quot;:true,&quot;type&quot;:&quot;text&quot;}"/>
          <p:cNvSpPr txBox="1"/>
          <p:nvPr/>
        </p:nvSpPr>
        <p:spPr>
          <a:xfrm>
            <a:off x="342900" y="171450"/>
            <a:ext cx="3524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在材料科学中的应用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讲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材料信息学导论与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产业</a:t>
            </a:r>
            <a:endParaRPr/>
          </a:p>
        </p:txBody>
      </p:sp>
      <p:sp>
        <p:nvSpPr>
          <p:cNvPr id="961" name="文本框 960" descr="{&quot;isTemplate&quot;:true,&quot;type&quot;:&quot;text&quot;}"/>
          <p:cNvSpPr txBox="1"/>
          <p:nvPr/>
        </p:nvSpPr>
        <p:spPr>
          <a:xfrm>
            <a:off x="9353550" y="171450"/>
            <a:ext cx="13906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03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材料是如何被发现的</a:t>
            </a:r>
            <a:endParaRPr/>
          </a:p>
        </p:txBody>
      </p:sp>
      <p:pic>
        <p:nvPicPr>
          <p:cNvPr id="962" name="图片 961"/>
          <p:cNvPicPr>
            <a:picLocks noChangeAspect="1"/>
          </p:cNvPicPr>
          <p:nvPr/>
        </p:nvPicPr>
        <p:blipFill>
          <a:blip r:embed="rId2"/>
          <a:srcRect l="847" r="847"/>
          <a:stretch>
            <a:fillRect/>
          </a:stretch>
        </p:blipFill>
        <p:spPr>
          <a:xfrm>
            <a:off x="10858500" y="123825"/>
            <a:ext cx="990600" cy="247650"/>
          </a:xfrm>
          <a:prstGeom prst="rect">
            <a:avLst/>
          </a:prstGeom>
          <a:ln/>
        </p:spPr>
      </p:pic>
      <p:sp>
        <p:nvSpPr>
          <p:cNvPr id="963" name="文本框 962" descr="{&quot;isTemplate&quot;:true,&quot;type&quot;:&quot;text&quot;}"/>
          <p:cNvSpPr txBox="1"/>
          <p:nvPr/>
        </p:nvSpPr>
        <p:spPr>
          <a:xfrm>
            <a:off x="381000" y="666750"/>
            <a:ext cx="114300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钉钉进步体"/>
                <a:ea typeface="钉钉进步体"/>
              </a:rPr>
              <a:t>方法四：自主发现与实验闭环</a:t>
            </a:r>
            <a:endParaRPr/>
          </a:p>
        </p:txBody>
      </p:sp>
      <p:sp>
        <p:nvSpPr>
          <p:cNvPr id="964" name="矩形: 圆角 963"/>
          <p:cNvSpPr/>
          <p:nvPr/>
        </p:nvSpPr>
        <p:spPr>
          <a:xfrm>
            <a:off x="381000" y="1114425"/>
            <a:ext cx="571500" cy="47625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65" name="矩形: 圆角 964"/>
          <p:cNvSpPr/>
          <p:nvPr/>
        </p:nvSpPr>
        <p:spPr>
          <a:xfrm>
            <a:off x="381000" y="1257300"/>
            <a:ext cx="11430000" cy="704850"/>
          </a:xfrm>
          <a:prstGeom prst="roundRect">
            <a:avLst>
              <a:gd name="adj" fmla="val 18919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66" name="文本框 965" descr="{&quot;isTemplate&quot;:true,&quot;type&quot;:&quot;text&quot;}"/>
          <p:cNvSpPr txBox="1"/>
          <p:nvPr/>
        </p:nvSpPr>
        <p:spPr>
          <a:xfrm>
            <a:off x="3362325" y="1466850"/>
            <a:ext cx="5476875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875">
                <a:solidFill>
                  <a:srgbClr val="FFFFFF"/>
                </a:solidFill>
                <a:latin typeface="微软雅黑"/>
                <a:ea typeface="微软雅黑"/>
              </a:rPr>
              <a:t>自主发现：机器不只预测，而是</a:t>
            </a:r>
            <a:r>
              <a:rPr lang="zh-CN" sz="1875" b="1">
                <a:solidFill>
                  <a:srgbClr val="FFC107"/>
                </a:solidFill>
                <a:latin typeface="微软雅黑"/>
                <a:ea typeface="微软雅黑"/>
              </a:rPr>
              <a:t>决定下一步该做什么</a:t>
            </a:r>
            <a:endParaRPr/>
          </a:p>
        </p:txBody>
      </p:sp>
      <p:sp>
        <p:nvSpPr>
          <p:cNvPr id="967" name="矩形: 圆角 966"/>
          <p:cNvSpPr/>
          <p:nvPr/>
        </p:nvSpPr>
        <p:spPr>
          <a:xfrm>
            <a:off x="381000" y="2171700"/>
            <a:ext cx="2228850" cy="704850"/>
          </a:xfrm>
          <a:prstGeom prst="roundRect">
            <a:avLst>
              <a:gd name="adj" fmla="val 13514"/>
            </a:avLst>
          </a:prstGeom>
          <a:solidFill>
            <a:srgbClr val="E3ECF8"/>
          </a:solidFill>
          <a:ln w="12700">
            <a:solidFill>
              <a:srgbClr val="B8CF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8" name="文本框 967" descr="{&quot;isTemplate&quot;:true,&quot;type&quot;:&quot;text&quot;}"/>
          <p:cNvSpPr txBox="1"/>
          <p:nvPr/>
        </p:nvSpPr>
        <p:spPr>
          <a:xfrm>
            <a:off x="1171575" y="2324100"/>
            <a:ext cx="6477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275" b="1">
                <a:solidFill>
                  <a:srgbClr val="0B1B33"/>
                </a:solidFill>
                <a:latin typeface="微软雅黑"/>
                <a:ea typeface="微软雅黑"/>
              </a:rPr>
              <a:t>历史数据</a:t>
            </a:r>
            <a:endParaRPr/>
          </a:p>
        </p:txBody>
      </p:sp>
      <p:sp>
        <p:nvSpPr>
          <p:cNvPr id="969" name="文本框 968" descr="{&quot;isTemplate&quot;:true,&quot;type&quot;:&quot;text&quot;}"/>
          <p:cNvSpPr txBox="1"/>
          <p:nvPr/>
        </p:nvSpPr>
        <p:spPr>
          <a:xfrm>
            <a:off x="1190625" y="2562225"/>
            <a:ext cx="6096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4A5A6E"/>
                </a:solidFill>
                <a:latin typeface="微软雅黑"/>
                <a:ea typeface="微软雅黑"/>
              </a:rPr>
              <a:t>实验</a:t>
            </a:r>
            <a:r>
              <a:rPr lang="en-US" sz="1050">
                <a:solidFill>
                  <a:srgbClr val="4A5A6E"/>
                </a:solidFill>
                <a:latin typeface="微软雅黑"/>
                <a:ea typeface="微软雅黑"/>
              </a:rPr>
              <a:t>+DFT</a:t>
            </a:r>
            <a:endParaRPr/>
          </a:p>
        </p:txBody>
      </p:sp>
      <p:sp>
        <p:nvSpPr>
          <p:cNvPr id="970" name="矩形: 圆角 969"/>
          <p:cNvSpPr/>
          <p:nvPr/>
        </p:nvSpPr>
        <p:spPr>
          <a:xfrm>
            <a:off x="2686050" y="2171700"/>
            <a:ext cx="2219325" cy="704850"/>
          </a:xfrm>
          <a:prstGeom prst="roundRect">
            <a:avLst>
              <a:gd name="adj" fmla="val 13514"/>
            </a:avLst>
          </a:prstGeom>
          <a:solidFill>
            <a:srgbClr val="E3ECF8"/>
          </a:solidFill>
          <a:ln w="12700">
            <a:solidFill>
              <a:srgbClr val="B8CF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1" name="文本框 970" descr="{&quot;isTemplate&quot;:true,&quot;type&quot;:&quot;text&quot;}"/>
          <p:cNvSpPr txBox="1"/>
          <p:nvPr/>
        </p:nvSpPr>
        <p:spPr>
          <a:xfrm>
            <a:off x="3476625" y="2324100"/>
            <a:ext cx="6477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275" b="1">
                <a:solidFill>
                  <a:srgbClr val="0B1B33"/>
                </a:solidFill>
                <a:latin typeface="微软雅黑"/>
                <a:ea typeface="微软雅黑"/>
              </a:rPr>
              <a:t>代理模型</a:t>
            </a:r>
            <a:endParaRPr/>
          </a:p>
        </p:txBody>
      </p:sp>
      <p:sp>
        <p:nvSpPr>
          <p:cNvPr id="972" name="文本框 971" descr="{&quot;isTemplate&quot;:true,&quot;type&quot;:&quot;text&quot;}"/>
          <p:cNvSpPr txBox="1"/>
          <p:nvPr/>
        </p:nvSpPr>
        <p:spPr>
          <a:xfrm>
            <a:off x="3714750" y="2562225"/>
            <a:ext cx="1714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1050">
                <a:solidFill>
                  <a:srgbClr val="4A5A6E"/>
                </a:solidFill>
                <a:latin typeface="微软雅黑"/>
                <a:ea typeface="微软雅黑"/>
              </a:rPr>
              <a:t>GP</a:t>
            </a:r>
            <a:endParaRPr/>
          </a:p>
        </p:txBody>
      </p:sp>
      <p:sp>
        <p:nvSpPr>
          <p:cNvPr id="973" name="矩形: 圆角 972"/>
          <p:cNvSpPr/>
          <p:nvPr/>
        </p:nvSpPr>
        <p:spPr>
          <a:xfrm>
            <a:off x="4981575" y="2171700"/>
            <a:ext cx="2228850" cy="704850"/>
          </a:xfrm>
          <a:prstGeom prst="roundRect">
            <a:avLst>
              <a:gd name="adj" fmla="val 13514"/>
            </a:avLst>
          </a:prstGeom>
          <a:solidFill>
            <a:srgbClr val="E3ECF8"/>
          </a:solidFill>
          <a:ln w="12700">
            <a:solidFill>
              <a:srgbClr val="B8CF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4" name="文本框 973" descr="{&quot;isTemplate&quot;:true,&quot;type&quot;:&quot;text&quot;}"/>
          <p:cNvSpPr txBox="1"/>
          <p:nvPr/>
        </p:nvSpPr>
        <p:spPr>
          <a:xfrm>
            <a:off x="5772150" y="2324100"/>
            <a:ext cx="6477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275" b="1">
                <a:solidFill>
                  <a:srgbClr val="0B1B33"/>
                </a:solidFill>
                <a:latin typeface="微软雅黑"/>
                <a:ea typeface="微软雅黑"/>
              </a:rPr>
              <a:t>采集函数</a:t>
            </a:r>
            <a:endParaRPr/>
          </a:p>
        </p:txBody>
      </p:sp>
      <p:sp>
        <p:nvSpPr>
          <p:cNvPr id="975" name="文本框 974" descr="{&quot;isTemplate&quot;:true,&quot;type&quot;:&quot;text&quot;}"/>
          <p:cNvSpPr txBox="1"/>
          <p:nvPr/>
        </p:nvSpPr>
        <p:spPr>
          <a:xfrm>
            <a:off x="5829300" y="2562225"/>
            <a:ext cx="5334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4A5A6E"/>
                </a:solidFill>
                <a:latin typeface="微软雅黑"/>
                <a:ea typeface="微软雅黑"/>
              </a:rPr>
              <a:t>选下一个</a:t>
            </a:r>
            <a:endParaRPr/>
          </a:p>
        </p:txBody>
      </p:sp>
      <p:sp>
        <p:nvSpPr>
          <p:cNvPr id="976" name="矩形: 圆角 975"/>
          <p:cNvSpPr/>
          <p:nvPr/>
        </p:nvSpPr>
        <p:spPr>
          <a:xfrm>
            <a:off x="7286625" y="2171700"/>
            <a:ext cx="2219325" cy="704850"/>
          </a:xfrm>
          <a:prstGeom prst="roundRect">
            <a:avLst>
              <a:gd name="adj" fmla="val 13514"/>
            </a:avLst>
          </a:prstGeom>
          <a:solidFill>
            <a:srgbClr val="E3ECF8"/>
          </a:solidFill>
          <a:ln w="12700">
            <a:solidFill>
              <a:srgbClr val="B8CF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7" name="文本框 976" descr="{&quot;isTemplate&quot;:true,&quot;type&quot;:&quot;text&quot;}"/>
          <p:cNvSpPr txBox="1"/>
          <p:nvPr/>
        </p:nvSpPr>
        <p:spPr>
          <a:xfrm>
            <a:off x="7991475" y="2324100"/>
            <a:ext cx="80962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275" b="1">
                <a:solidFill>
                  <a:srgbClr val="0B1B33"/>
                </a:solidFill>
                <a:latin typeface="微软雅黑"/>
                <a:ea typeface="微软雅黑"/>
              </a:rPr>
              <a:t>机器人实验</a:t>
            </a:r>
            <a:endParaRPr/>
          </a:p>
        </p:txBody>
      </p:sp>
      <p:sp>
        <p:nvSpPr>
          <p:cNvPr id="978" name="文本框 977" descr="{&quot;isTemplate&quot;:true,&quot;type&quot;:&quot;text&quot;}"/>
          <p:cNvSpPr txBox="1"/>
          <p:nvPr/>
        </p:nvSpPr>
        <p:spPr>
          <a:xfrm>
            <a:off x="8134350" y="2562225"/>
            <a:ext cx="5334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4A5A6E"/>
                </a:solidFill>
                <a:latin typeface="微软雅黑"/>
                <a:ea typeface="微软雅黑"/>
              </a:rPr>
              <a:t>合成表征</a:t>
            </a:r>
            <a:endParaRPr/>
          </a:p>
        </p:txBody>
      </p:sp>
      <p:sp>
        <p:nvSpPr>
          <p:cNvPr id="979" name="矩形: 圆角 978"/>
          <p:cNvSpPr/>
          <p:nvPr/>
        </p:nvSpPr>
        <p:spPr>
          <a:xfrm>
            <a:off x="9582150" y="2171700"/>
            <a:ext cx="2228850" cy="704850"/>
          </a:xfrm>
          <a:prstGeom prst="roundRect">
            <a:avLst>
              <a:gd name="adj" fmla="val 13514"/>
            </a:avLst>
          </a:prstGeom>
          <a:solidFill>
            <a:srgbClr val="FFC107"/>
          </a:solidFill>
          <a:ln w="12700">
            <a:solidFill>
              <a:srgbClr val="B8CF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0" name="文本框 979" descr="{&quot;isTemplate&quot;:true,&quot;type&quot;:&quot;text&quot;}"/>
          <p:cNvSpPr txBox="1"/>
          <p:nvPr/>
        </p:nvSpPr>
        <p:spPr>
          <a:xfrm>
            <a:off x="10458450" y="2324100"/>
            <a:ext cx="48577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275" b="1">
                <a:solidFill>
                  <a:srgbClr val="0B1B33"/>
                </a:solidFill>
                <a:latin typeface="微软雅黑"/>
                <a:ea typeface="微软雅黑"/>
              </a:rPr>
              <a:t>新数据</a:t>
            </a:r>
            <a:endParaRPr/>
          </a:p>
        </p:txBody>
      </p:sp>
      <p:sp>
        <p:nvSpPr>
          <p:cNvPr id="981" name="文本框 980" descr="{&quot;isTemplate&quot;:true,&quot;type&quot;:&quot;text&quot;}"/>
          <p:cNvSpPr txBox="1"/>
          <p:nvPr/>
        </p:nvSpPr>
        <p:spPr>
          <a:xfrm>
            <a:off x="10563225" y="2562225"/>
            <a:ext cx="2667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4A5A6E"/>
                </a:solidFill>
                <a:latin typeface="微软雅黑"/>
                <a:ea typeface="微软雅黑"/>
              </a:rPr>
              <a:t>回填</a:t>
            </a:r>
            <a:endParaRPr/>
          </a:p>
        </p:txBody>
      </p:sp>
      <p:sp>
        <p:nvSpPr>
          <p:cNvPr id="982" name="矩形: 圆角 981"/>
          <p:cNvSpPr/>
          <p:nvPr/>
        </p:nvSpPr>
        <p:spPr>
          <a:xfrm>
            <a:off x="381000" y="3086100"/>
            <a:ext cx="3695700" cy="3429000"/>
          </a:xfrm>
          <a:prstGeom prst="roundRect">
            <a:avLst>
              <a:gd name="adj" fmla="val 3333"/>
            </a:avLst>
          </a:prstGeom>
          <a:solidFill>
            <a:srgbClr val="E8F1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3" name="文本框 982" descr="{&quot;isTemplate&quot;:true,&quot;type&quot;:&quot;text&quot;}"/>
          <p:cNvSpPr txBox="1"/>
          <p:nvPr/>
        </p:nvSpPr>
        <p:spPr>
          <a:xfrm>
            <a:off x="571500" y="3276600"/>
            <a:ext cx="33147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B1B33"/>
                </a:solidFill>
                <a:latin typeface="微软雅黑"/>
                <a:ea typeface="微软雅黑"/>
              </a:rPr>
              <a:t>改变了什么</a:t>
            </a:r>
            <a:endParaRPr/>
          </a:p>
        </p:txBody>
      </p:sp>
      <p:sp>
        <p:nvSpPr>
          <p:cNvPr id="984" name="文本框 983" descr="{&quot;isTemplate&quot;:true,&quot;type&quot;:&quot;text&quot;}"/>
          <p:cNvSpPr txBox="1"/>
          <p:nvPr/>
        </p:nvSpPr>
        <p:spPr>
          <a:xfrm>
            <a:off x="571500" y="3590925"/>
            <a:ext cx="3314700" cy="962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5000"/>
              </a:lnSpc>
            </a:pPr>
            <a:r>
              <a:rPr lang="zh-CN" sz="1275">
                <a:solidFill>
                  <a:srgbClr val="2C3947"/>
                </a:solidFill>
                <a:latin typeface="微软雅黑"/>
                <a:ea typeface="微软雅黑"/>
              </a:rPr>
              <a:t>决策环节从「研究者直觉」转为「采集函数的最优解」。研究者角色转向</a:t>
            </a:r>
            <a:r>
              <a:rPr lang="zh-CN" sz="1275" b="1">
                <a:solidFill>
                  <a:srgbClr val="2C3947"/>
                </a:solidFill>
                <a:latin typeface="微软雅黑"/>
                <a:ea typeface="微软雅黑"/>
              </a:rPr>
              <a:t>目标设定、约束定义、结果解释</a:t>
            </a:r>
            <a:endParaRPr/>
          </a:p>
        </p:txBody>
      </p:sp>
      <p:sp>
        <p:nvSpPr>
          <p:cNvPr id="985" name="矩形: 圆角 984"/>
          <p:cNvSpPr/>
          <p:nvPr/>
        </p:nvSpPr>
        <p:spPr>
          <a:xfrm>
            <a:off x="4248150" y="3086100"/>
            <a:ext cx="3695700" cy="3429000"/>
          </a:xfrm>
          <a:prstGeom prst="roundRect">
            <a:avLst>
              <a:gd name="adj" fmla="val 3333"/>
            </a:avLst>
          </a:prstGeom>
          <a:solidFill>
            <a:srgbClr val="FFF8E1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6" name="文本框 985" descr="{&quot;isTemplate&quot;:true,&quot;type&quot;:&quot;text&quot;}"/>
          <p:cNvSpPr txBox="1"/>
          <p:nvPr/>
        </p:nvSpPr>
        <p:spPr>
          <a:xfrm>
            <a:off x="4438650" y="3276600"/>
            <a:ext cx="33147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B1B33"/>
                </a:solidFill>
                <a:latin typeface="微软雅黑"/>
                <a:ea typeface="微软雅黑"/>
              </a:rPr>
              <a:t>关键前提</a:t>
            </a:r>
            <a:endParaRPr/>
          </a:p>
        </p:txBody>
      </p:sp>
      <p:sp>
        <p:nvSpPr>
          <p:cNvPr id="987" name="文本框 986" descr="{&quot;isTemplate&quot;:true,&quot;type&quot;:&quot;text&quot;}"/>
          <p:cNvSpPr txBox="1"/>
          <p:nvPr/>
        </p:nvSpPr>
        <p:spPr>
          <a:xfrm>
            <a:off x="4438650" y="3590925"/>
            <a:ext cx="3314700" cy="6477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5000"/>
              </a:lnSpc>
            </a:pPr>
            <a:r>
              <a:rPr lang="zh-CN" sz="1275">
                <a:solidFill>
                  <a:srgbClr val="2C3947"/>
                </a:solidFill>
                <a:latin typeface="微软雅黑"/>
                <a:ea typeface="微软雅黑"/>
              </a:rPr>
              <a:t>实验必须可自动化、成本可控、目标可量化。实验室自动化程度决定了自主化的上限</a:t>
            </a:r>
            <a:endParaRPr/>
          </a:p>
        </p:txBody>
      </p:sp>
      <p:sp>
        <p:nvSpPr>
          <p:cNvPr id="988" name="矩形: 圆角 987"/>
          <p:cNvSpPr/>
          <p:nvPr/>
        </p:nvSpPr>
        <p:spPr>
          <a:xfrm>
            <a:off x="8115300" y="3086100"/>
            <a:ext cx="3695700" cy="3429000"/>
          </a:xfrm>
          <a:prstGeom prst="roundRect">
            <a:avLst>
              <a:gd name="adj" fmla="val 3333"/>
            </a:avLst>
          </a:prstGeom>
          <a:solidFill>
            <a:srgbClr val="E8F5E9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9" name="文本框 988" descr="{&quot;isTemplate&quot;:true,&quot;type&quot;:&quot;text&quot;}"/>
          <p:cNvSpPr txBox="1"/>
          <p:nvPr/>
        </p:nvSpPr>
        <p:spPr>
          <a:xfrm>
            <a:off x="8305800" y="3276600"/>
            <a:ext cx="33147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B1B33"/>
                </a:solidFill>
                <a:latin typeface="微软雅黑"/>
                <a:ea typeface="微软雅黑"/>
              </a:rPr>
              <a:t>本课程落点</a:t>
            </a:r>
            <a:endParaRPr/>
          </a:p>
        </p:txBody>
      </p:sp>
      <p:sp>
        <p:nvSpPr>
          <p:cNvPr id="990" name="文本框 989" descr="{&quot;isTemplate&quot;:true,&quot;type&quot;:&quot;text&quot;}"/>
          <p:cNvSpPr txBox="1"/>
          <p:nvPr/>
        </p:nvSpPr>
        <p:spPr>
          <a:xfrm>
            <a:off x="8305800" y="3590925"/>
            <a:ext cx="3314700" cy="962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2C3947"/>
                </a:solidFill>
                <a:latin typeface="微软雅黑"/>
              </a:rPr>
              <a:t>第 14 讲讲采集函数与同预算离线回放；Optuna 只作调参与采样器配置的工程示例，不等于 GP-BO。第 15 讲讲 SDL 前沿。</a:t>
            </a:r>
            <a:endParaRPr/>
          </a:p>
        </p:txBody>
      </p:sp>
      <p:sp>
        <p:nvSpPr>
          <p:cNvPr id="991" name="文本框 990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992" name="文本框 991" descr="{&quot;isTemplate&quot;:true,&quot;type&quot;:&quot;text&quot;}"/>
          <p:cNvSpPr txBox="1"/>
          <p:nvPr/>
        </p:nvSpPr>
        <p:spPr>
          <a:xfrm>
            <a:off x="54673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993" name="文本框 992" descr="{&quot;isTemplate&quot;:true,&quot;type&quot;:&quot;text&quot;}"/>
          <p:cNvSpPr txBox="1"/>
          <p:nvPr/>
        </p:nvSpPr>
        <p:spPr>
          <a:xfrm>
            <a:off x="11410950" y="6610350"/>
            <a:ext cx="4000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38 / 60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矩形 99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96" name="矩形 995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97" name="文本框 996" descr="{&quot;isTemplate&quot;:true,&quot;type&quot;:&quot;text&quot;}"/>
          <p:cNvSpPr txBox="1"/>
          <p:nvPr/>
        </p:nvSpPr>
        <p:spPr>
          <a:xfrm>
            <a:off x="342900" y="171450"/>
            <a:ext cx="3524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在材料科学中的应用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讲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材料信息学导论与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产业</a:t>
            </a:r>
            <a:endParaRPr/>
          </a:p>
        </p:txBody>
      </p:sp>
      <p:sp>
        <p:nvSpPr>
          <p:cNvPr id="998" name="文本框 997" descr="{&quot;isTemplate&quot;:true,&quot;type&quot;:&quot;text&quot;}"/>
          <p:cNvSpPr txBox="1"/>
          <p:nvPr/>
        </p:nvSpPr>
        <p:spPr>
          <a:xfrm>
            <a:off x="9353550" y="171450"/>
            <a:ext cx="13906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03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材料是如何被发现的</a:t>
            </a:r>
            <a:endParaRPr/>
          </a:p>
        </p:txBody>
      </p:sp>
      <p:pic>
        <p:nvPicPr>
          <p:cNvPr id="999" name="图片 998"/>
          <p:cNvPicPr>
            <a:picLocks noChangeAspect="1"/>
          </p:cNvPicPr>
          <p:nvPr/>
        </p:nvPicPr>
        <p:blipFill>
          <a:blip r:embed="rId2"/>
          <a:srcRect l="847" r="847"/>
          <a:stretch>
            <a:fillRect/>
          </a:stretch>
        </p:blipFill>
        <p:spPr>
          <a:xfrm>
            <a:off x="10858500" y="123825"/>
            <a:ext cx="990600" cy="247650"/>
          </a:xfrm>
          <a:prstGeom prst="rect">
            <a:avLst/>
          </a:prstGeom>
          <a:ln/>
        </p:spPr>
      </p:pic>
      <p:sp>
        <p:nvSpPr>
          <p:cNvPr id="1000" name="文本框 999" descr="{&quot;isTemplate&quot;:true,&quot;type&quot;:&quot;text&quot;}"/>
          <p:cNvSpPr txBox="1"/>
          <p:nvPr/>
        </p:nvSpPr>
        <p:spPr>
          <a:xfrm>
            <a:off x="381000" y="666750"/>
            <a:ext cx="114300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钉钉进步体"/>
                <a:ea typeface="钉钉进步体"/>
              </a:rPr>
              <a:t>从生成结构到机器人验证：闭环正在形成</a:t>
            </a:r>
            <a:endParaRPr/>
          </a:p>
        </p:txBody>
      </p:sp>
      <p:sp>
        <p:nvSpPr>
          <p:cNvPr id="1001" name="矩形: 圆角 1000"/>
          <p:cNvSpPr/>
          <p:nvPr/>
        </p:nvSpPr>
        <p:spPr>
          <a:xfrm>
            <a:off x="381000" y="1114425"/>
            <a:ext cx="571500" cy="47625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02" name="矩形: 圆角 1001"/>
          <p:cNvSpPr/>
          <p:nvPr/>
        </p:nvSpPr>
        <p:spPr>
          <a:xfrm>
            <a:off x="381000" y="1276350"/>
            <a:ext cx="11430000" cy="914400"/>
          </a:xfrm>
          <a:prstGeom prst="roundRect">
            <a:avLst>
              <a:gd name="adj" fmla="val 1250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3" name="文本框 1002" descr="{&quot;isTemplate&quot;:true,&quot;type&quot;:&quot;text&quot;}"/>
          <p:cNvSpPr txBox="1"/>
          <p:nvPr/>
        </p:nvSpPr>
        <p:spPr>
          <a:xfrm>
            <a:off x="609600" y="1428750"/>
            <a:ext cx="10972800" cy="6096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275">
                <a:solidFill>
                  <a:srgbClr val="3A4759"/>
                </a:solidFill>
                <a:latin typeface="微软雅黑"/>
                <a:ea typeface="微软雅黑"/>
              </a:rPr>
              <a:t>自主发现的完整链条是三段（与方法一、二交替使用）：</a:t>
            </a:r>
            <a:r>
              <a:rPr lang="zh-CN" sz="1275" b="1">
                <a:solidFill>
                  <a:srgbClr val="0E3F8C"/>
                </a:solidFill>
                <a:latin typeface="微软雅黑"/>
                <a:ea typeface="微软雅黑"/>
              </a:rPr>
              <a:t>生成候选</a:t>
            </a:r>
            <a:r>
              <a:rPr lang="en-US" sz="1275">
                <a:solidFill>
                  <a:srgbClr val="3A4759"/>
                </a:solidFill>
                <a:latin typeface="微软雅黑"/>
                <a:ea typeface="微软雅黑"/>
              </a:rPr>
              <a:t> →</a:t>
            </a:r>
            <a:r>
              <a:rPr lang="zh-CN" sz="1275" b="1">
                <a:solidFill>
                  <a:srgbClr val="0E3F8C"/>
                </a:solidFill>
                <a:latin typeface="微软雅黑"/>
                <a:ea typeface="微软雅黑"/>
              </a:rPr>
              <a:t>计算筛选</a:t>
            </a:r>
            <a:r>
              <a:rPr lang="en-US" sz="1275">
                <a:solidFill>
                  <a:srgbClr val="3A4759"/>
                </a:solidFill>
                <a:latin typeface="微软雅黑"/>
                <a:ea typeface="微软雅黑"/>
              </a:rPr>
              <a:t> →</a:t>
            </a:r>
            <a:r>
              <a:rPr lang="zh-CN" sz="1275" b="1">
                <a:solidFill>
                  <a:srgbClr val="0E3F8C"/>
                </a:solidFill>
                <a:latin typeface="微软雅黑"/>
                <a:ea typeface="微软雅黑"/>
              </a:rPr>
              <a:t>机器人合成与表征</a:t>
            </a:r>
            <a:r>
              <a:rPr lang="zh-CN" sz="1275">
                <a:solidFill>
                  <a:srgbClr val="3A4759"/>
                </a:solidFill>
                <a:latin typeface="微软雅黑"/>
                <a:ea typeface="微软雅黑"/>
              </a:rPr>
              <a:t>。</a:t>
            </a:r>
            <a:r>
              <a:rPr lang="en-US" sz="1275">
                <a:solidFill>
                  <a:srgbClr val="3A4759"/>
                </a:solidFill>
                <a:latin typeface="微软雅黑"/>
                <a:ea typeface="微软雅黑"/>
              </a:rPr>
              <a:t> </a:t>
            </a:r>
            <a:r>
              <a:rPr lang="zh-CN" sz="1275">
                <a:solidFill>
                  <a:srgbClr val="3A4759"/>
                </a:solidFill>
                <a:latin typeface="微软雅黑"/>
                <a:ea typeface="微软雅黑"/>
              </a:rPr>
              <a:t>前两段已在软件里跑通，第三段才是真正把「预测」变成「材料」的地方。</a:t>
            </a:r>
            <a:endParaRPr/>
          </a:p>
        </p:txBody>
      </p:sp>
      <p:sp>
        <p:nvSpPr>
          <p:cNvPr id="1004" name="矩形: 圆角 1003"/>
          <p:cNvSpPr/>
          <p:nvPr/>
        </p:nvSpPr>
        <p:spPr>
          <a:xfrm>
            <a:off x="381000" y="2305050"/>
            <a:ext cx="5629275" cy="3629025"/>
          </a:xfrm>
          <a:prstGeom prst="roundRect">
            <a:avLst>
              <a:gd name="adj" fmla="val 2625"/>
            </a:avLst>
          </a:prstGeom>
          <a:solidFill>
            <a:srgbClr val="FFFFFF"/>
          </a:solidFill>
          <a:ln w="12700">
            <a:solidFill>
              <a:srgbClr val="C9D8E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005" name="图片 10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19350"/>
            <a:ext cx="4572000" cy="3048000"/>
          </a:xfrm>
          <a:prstGeom prst="rect">
            <a:avLst/>
          </a:prstGeom>
          <a:ln/>
        </p:spPr>
      </p:pic>
      <p:sp>
        <p:nvSpPr>
          <p:cNvPr id="1006" name="文本框 1005" descr="{&quot;isTemplate&quot;:true,&quot;type&quot;:&quot;text&quot;}"/>
          <p:cNvSpPr txBox="1"/>
          <p:nvPr/>
        </p:nvSpPr>
        <p:spPr>
          <a:xfrm>
            <a:off x="971550" y="5543550"/>
            <a:ext cx="44577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50000"/>
              </a:lnSpc>
            </a:pPr>
            <a:r>
              <a:rPr lang="zh-CN" sz="1200" b="1">
                <a:solidFill>
                  <a:srgbClr val="3A4759"/>
                </a:solidFill>
                <a:latin typeface="微软雅黑"/>
                <a:ea typeface="微软雅黑"/>
              </a:rPr>
              <a:t>生成模型</a:t>
            </a:r>
            <a:r>
              <a:rPr lang="zh-CN" sz="1200">
                <a:solidFill>
                  <a:srgbClr val="3A4759"/>
                </a:solidFill>
                <a:latin typeface="微软雅黑"/>
                <a:ea typeface="微软雅黑"/>
              </a:rPr>
              <a:t>：从无序分布反推</a:t>
            </a:r>
            <a:r>
              <a:rPr lang="en-US" sz="1200">
                <a:solidFill>
                  <a:srgbClr val="3A4759"/>
                </a:solidFill>
                <a:latin typeface="微软雅黑"/>
                <a:ea typeface="微软雅黑"/>
              </a:rPr>
              <a:t> </a:t>
            </a:r>
            <a:r>
              <a:rPr lang="zh-CN" sz="1200">
                <a:solidFill>
                  <a:srgbClr val="3A4759"/>
                </a:solidFill>
                <a:latin typeface="微软雅黑"/>
                <a:ea typeface="微软雅黑"/>
              </a:rPr>
              <a:t>稳定晶体结构（</a:t>
            </a:r>
            <a:r>
              <a:rPr lang="en-US" sz="1200">
                <a:solidFill>
                  <a:srgbClr val="3A4759"/>
                </a:solidFill>
                <a:latin typeface="微软雅黑"/>
                <a:ea typeface="微软雅黑"/>
              </a:rPr>
              <a:t>MatterGen </a:t>
            </a:r>
            <a:r>
              <a:rPr lang="zh-CN" sz="1200">
                <a:solidFill>
                  <a:srgbClr val="3A4759"/>
                </a:solidFill>
                <a:latin typeface="微软雅黑"/>
                <a:ea typeface="微软雅黑"/>
              </a:rPr>
              <a:t>一类方法）</a:t>
            </a:r>
            <a:endParaRPr/>
          </a:p>
        </p:txBody>
      </p:sp>
      <p:sp>
        <p:nvSpPr>
          <p:cNvPr id="1007" name="矩形: 圆角 1006"/>
          <p:cNvSpPr/>
          <p:nvPr/>
        </p:nvSpPr>
        <p:spPr>
          <a:xfrm>
            <a:off x="6181725" y="2305050"/>
            <a:ext cx="5629275" cy="3629025"/>
          </a:xfrm>
          <a:prstGeom prst="roundRect">
            <a:avLst>
              <a:gd name="adj" fmla="val 2625"/>
            </a:avLst>
          </a:prstGeom>
          <a:solidFill>
            <a:srgbClr val="FFFFFF"/>
          </a:solidFill>
          <a:ln w="12700">
            <a:solidFill>
              <a:srgbClr val="C9D8E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008" name="图片 100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125" y="2419350"/>
            <a:ext cx="4572000" cy="3048000"/>
          </a:xfrm>
          <a:prstGeom prst="rect">
            <a:avLst/>
          </a:prstGeom>
          <a:ln/>
        </p:spPr>
      </p:pic>
      <p:sp>
        <p:nvSpPr>
          <p:cNvPr id="1009" name="文本框 1008" descr="{&quot;isTemplate&quot;:true,&quot;type&quot;:&quot;text&quot;}"/>
          <p:cNvSpPr txBox="1"/>
          <p:nvPr/>
        </p:nvSpPr>
        <p:spPr>
          <a:xfrm>
            <a:off x="6924675" y="5543550"/>
            <a:ext cx="414337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50000"/>
              </a:lnSpc>
            </a:pPr>
            <a:r>
              <a:rPr lang="zh-CN" sz="1200" b="1">
                <a:solidFill>
                  <a:srgbClr val="3A4759"/>
                </a:solidFill>
                <a:latin typeface="微软雅黑"/>
                <a:ea typeface="微软雅黑"/>
              </a:rPr>
              <a:t>机器人实验平台</a:t>
            </a:r>
            <a:r>
              <a:rPr lang="zh-CN" sz="1200">
                <a:solidFill>
                  <a:srgbClr val="3A4759"/>
                </a:solidFill>
                <a:latin typeface="微软雅黑"/>
                <a:ea typeface="微软雅黑"/>
              </a:rPr>
              <a:t>：自动配料、</a:t>
            </a:r>
            <a:r>
              <a:rPr lang="en-US" sz="1200">
                <a:solidFill>
                  <a:srgbClr val="3A4759"/>
                </a:solidFill>
                <a:latin typeface="微软雅黑"/>
                <a:ea typeface="微软雅黑"/>
              </a:rPr>
              <a:t> </a:t>
            </a:r>
            <a:r>
              <a:rPr lang="zh-CN" sz="1200">
                <a:solidFill>
                  <a:srgbClr val="3A4759"/>
                </a:solidFill>
                <a:latin typeface="微软雅黑"/>
                <a:ea typeface="微软雅黑"/>
              </a:rPr>
              <a:t>烧结、表征（</a:t>
            </a:r>
            <a:r>
              <a:rPr lang="en-US" sz="1200">
                <a:solidFill>
                  <a:srgbClr val="3A4759"/>
                </a:solidFill>
                <a:latin typeface="微软雅黑"/>
                <a:ea typeface="微软雅黑"/>
              </a:rPr>
              <a:t>A-Lab </a:t>
            </a:r>
            <a:r>
              <a:rPr lang="zh-CN" sz="1200">
                <a:solidFill>
                  <a:srgbClr val="3A4759"/>
                </a:solidFill>
                <a:latin typeface="微软雅黑"/>
                <a:ea typeface="微软雅黑"/>
              </a:rPr>
              <a:t>一类系统）</a:t>
            </a:r>
            <a:endParaRPr/>
          </a:p>
        </p:txBody>
      </p:sp>
      <p:sp>
        <p:nvSpPr>
          <p:cNvPr id="1010" name="矩形: 圆角 1009"/>
          <p:cNvSpPr/>
          <p:nvPr/>
        </p:nvSpPr>
        <p:spPr>
          <a:xfrm>
            <a:off x="381000" y="6048375"/>
            <a:ext cx="11430000" cy="476250"/>
          </a:xfrm>
          <a:prstGeom prst="roundRect">
            <a:avLst>
              <a:gd name="adj" fmla="val 20000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11" name="文本框 1010" descr="{&quot;isTemplate&quot;:true,&quot;type&quot;:&quot;text&quot;}"/>
          <p:cNvSpPr txBox="1"/>
          <p:nvPr/>
        </p:nvSpPr>
        <p:spPr>
          <a:xfrm>
            <a:off x="609600" y="6181725"/>
            <a:ext cx="109728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闭环的瓶颈不在算法，而在</a:t>
            </a:r>
            <a:r>
              <a:rPr lang="zh-CN" sz="1350" b="1">
                <a:solidFill>
                  <a:srgbClr val="FFC107"/>
                </a:solidFill>
                <a:latin typeface="微软雅黑"/>
                <a:ea typeface="微软雅黑"/>
              </a:rPr>
              <a:t>「数据能不能喂回去」</a:t>
            </a:r>
            <a:r>
              <a:rPr lang="en-US" sz="1350">
                <a:solidFill>
                  <a:srgbClr val="FFFFFF"/>
                </a:solidFill>
                <a:latin typeface="微软雅黑"/>
                <a:ea typeface="微软雅黑"/>
              </a:rPr>
              <a:t> —— </a:t>
            </a: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这正是第</a:t>
            </a:r>
            <a:r>
              <a:rPr lang="en-US" sz="1350">
                <a:solidFill>
                  <a:srgbClr val="FFFFFF"/>
                </a:solidFill>
                <a:latin typeface="微软雅黑"/>
                <a:ea typeface="微软雅黑"/>
              </a:rPr>
              <a:t> 3 </a:t>
            </a: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讲的主题</a:t>
            </a:r>
            <a:endParaRPr/>
          </a:p>
        </p:txBody>
      </p:sp>
      <p:sp>
        <p:nvSpPr>
          <p:cNvPr id="1012" name="文本框 1011" descr="{&quot;isTemplate&quot;:true,&quot;type&quot;:&quot;text&quot;}"/>
          <p:cNvSpPr txBox="1"/>
          <p:nvPr/>
        </p:nvSpPr>
        <p:spPr>
          <a:xfrm>
            <a:off x="381000" y="6629400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1013" name="文本框 1012" descr="{&quot;isTemplate&quot;:true,&quot;type&quot;:&quot;text&quot;}"/>
          <p:cNvSpPr txBox="1"/>
          <p:nvPr/>
        </p:nvSpPr>
        <p:spPr>
          <a:xfrm>
            <a:off x="5467350" y="6629400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1014" name="文本框 1013" descr="{&quot;isTemplate&quot;:true,&quot;type&quot;:&quot;text&quot;}"/>
          <p:cNvSpPr txBox="1"/>
          <p:nvPr/>
        </p:nvSpPr>
        <p:spPr>
          <a:xfrm>
            <a:off x="11410950" y="6619875"/>
            <a:ext cx="4000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39 / 60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矩形 10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26" name="矩形 1025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27" name="文本框 1026" descr="{&quot;isTemplate&quot;:true,&quot;type&quot;:&quot;text&quot;}"/>
          <p:cNvSpPr txBox="1"/>
          <p:nvPr/>
        </p:nvSpPr>
        <p:spPr>
          <a:xfrm>
            <a:off x="342900" y="171450"/>
            <a:ext cx="3524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在材料科学中的应用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讲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材料信息学导论与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产业</a:t>
            </a:r>
            <a:endParaRPr/>
          </a:p>
        </p:txBody>
      </p:sp>
      <p:sp>
        <p:nvSpPr>
          <p:cNvPr id="1028" name="文本框 1027" descr="{&quot;isTemplate&quot;:true,&quot;type&quot;:&quot;text&quot;}"/>
          <p:cNvSpPr txBox="1"/>
          <p:nvPr/>
        </p:nvSpPr>
        <p:spPr>
          <a:xfrm>
            <a:off x="9353550" y="171450"/>
            <a:ext cx="13906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03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材料是如何被发现的</a:t>
            </a:r>
            <a:endParaRPr/>
          </a:p>
        </p:txBody>
      </p:sp>
      <p:pic>
        <p:nvPicPr>
          <p:cNvPr id="1029" name="图片 1028"/>
          <p:cNvPicPr>
            <a:picLocks noChangeAspect="1"/>
          </p:cNvPicPr>
          <p:nvPr/>
        </p:nvPicPr>
        <p:blipFill>
          <a:blip r:embed="rId2"/>
          <a:srcRect l="847" r="847"/>
          <a:stretch>
            <a:fillRect/>
          </a:stretch>
        </p:blipFill>
        <p:spPr>
          <a:xfrm>
            <a:off x="10858500" y="123825"/>
            <a:ext cx="990600" cy="247650"/>
          </a:xfrm>
          <a:prstGeom prst="rect">
            <a:avLst/>
          </a:prstGeom>
          <a:ln/>
        </p:spPr>
      </p:pic>
      <p:sp>
        <p:nvSpPr>
          <p:cNvPr id="1030" name="文本框 1029" descr="{&quot;isTemplate&quot;:true,&quot;type&quot;:&quot;text&quot;}"/>
          <p:cNvSpPr txBox="1"/>
          <p:nvPr/>
        </p:nvSpPr>
        <p:spPr>
          <a:xfrm>
            <a:off x="381000" y="647700"/>
            <a:ext cx="114300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钉钉进步体"/>
                <a:ea typeface="钉钉进步体"/>
              </a:rPr>
              <a:t>四种方法：并存、分工与协同</a:t>
            </a:r>
            <a:endParaRPr/>
          </a:p>
        </p:txBody>
      </p:sp>
      <p:sp>
        <p:nvSpPr>
          <p:cNvPr id="1031" name="矩形: 圆角 1030"/>
          <p:cNvSpPr/>
          <p:nvPr/>
        </p:nvSpPr>
        <p:spPr>
          <a:xfrm>
            <a:off x="381000" y="1095375"/>
            <a:ext cx="571500" cy="47625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32" name="矩形: 圆角 1031"/>
          <p:cNvSpPr/>
          <p:nvPr/>
        </p:nvSpPr>
        <p:spPr>
          <a:xfrm>
            <a:off x="381000" y="1295400"/>
            <a:ext cx="2762250" cy="4210050"/>
          </a:xfrm>
          <a:prstGeom prst="roundRect">
            <a:avLst>
              <a:gd name="adj" fmla="val 3448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33" name="任意多边形: 形状 1032"/>
          <p:cNvSpPr/>
          <p:nvPr/>
        </p:nvSpPr>
        <p:spPr>
          <a:xfrm>
            <a:off x="381000" y="1295400"/>
            <a:ext cx="2762250" cy="4210050"/>
          </a:xfrm>
          <a:custGeom>
            <a:avLst/>
            <a:gdLst/>
            <a:ahLst/>
            <a:cxnLst/>
            <a:rect l="0" t="0" r="0" b="0"/>
            <a:pathLst>
              <a:path w="290" h="442">
                <a:moveTo>
                  <a:pt x="280" y="0"/>
                </a:moveTo>
                <a:cubicBezTo>
                  <a:pt x="285" y="0"/>
                  <a:pt x="289" y="4"/>
                  <a:pt x="290" y="8"/>
                </a:cubicBezTo>
                <a:cubicBezTo>
                  <a:pt x="289" y="6"/>
                  <a:pt x="287" y="4"/>
                  <a:pt x="284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280" y="0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34" name="文本框 1033" descr="{&quot;isTemplate&quot;:true,&quot;type&quot;:&quot;text&quot;}"/>
          <p:cNvSpPr txBox="1"/>
          <p:nvPr/>
        </p:nvSpPr>
        <p:spPr>
          <a:xfrm>
            <a:off x="533400" y="1428750"/>
            <a:ext cx="24574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/>
                <a:ea typeface="微软雅黑"/>
              </a:rPr>
              <a:t>经验试错</a:t>
            </a:r>
            <a:endParaRPr/>
          </a:p>
        </p:txBody>
      </p:sp>
      <p:sp>
        <p:nvSpPr>
          <p:cNvPr id="1035" name="文本框 1034" descr="{&quot;isTemplate&quot;:true,&quot;type&quot;:&quot;text&quot;}"/>
          <p:cNvSpPr txBox="1"/>
          <p:nvPr/>
        </p:nvSpPr>
        <p:spPr>
          <a:xfrm>
            <a:off x="533400" y="1695450"/>
            <a:ext cx="24574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050">
                <a:solidFill>
                  <a:srgbClr val="5D6E85"/>
                </a:solidFill>
                <a:latin typeface="微软雅黑"/>
                <a:ea typeface="微软雅黑"/>
              </a:rPr>
              <a:t>最基础、至今仍最常用的手段</a:t>
            </a:r>
            <a:endParaRPr/>
          </a:p>
        </p:txBody>
      </p:sp>
      <p:sp>
        <p:nvSpPr>
          <p:cNvPr id="1036" name="文本框 1035" descr="{&quot;isTemplate&quot;:true,&quot;type&quot;:&quot;text&quot;}"/>
          <p:cNvSpPr txBox="1"/>
          <p:nvPr/>
        </p:nvSpPr>
        <p:spPr>
          <a:xfrm>
            <a:off x="533400" y="2057400"/>
            <a:ext cx="24574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B5E20"/>
                </a:solidFill>
                <a:latin typeface="微软雅黑"/>
                <a:ea typeface="微软雅黑"/>
              </a:rPr>
              <a:t>能给出</a:t>
            </a:r>
            <a:endParaRPr/>
          </a:p>
        </p:txBody>
      </p:sp>
      <p:sp>
        <p:nvSpPr>
          <p:cNvPr id="1037" name="文本框 1036" descr="{&quot;isTemplate&quot;:true,&quot;type&quot;:&quot;text&quot;}"/>
          <p:cNvSpPr txBox="1"/>
          <p:nvPr/>
        </p:nvSpPr>
        <p:spPr>
          <a:xfrm>
            <a:off x="533400" y="2257425"/>
            <a:ext cx="24574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·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真实可制备的样品与工艺窗口</a:t>
            </a:r>
            <a:endParaRPr/>
          </a:p>
        </p:txBody>
      </p:sp>
      <p:sp>
        <p:nvSpPr>
          <p:cNvPr id="1038" name="文本框 1037" descr="{&quot;isTemplate&quot;:true,&quot;type&quot;:&quot;text&quot;}"/>
          <p:cNvSpPr txBox="1"/>
          <p:nvPr/>
        </p:nvSpPr>
        <p:spPr>
          <a:xfrm>
            <a:off x="533400" y="2533650"/>
            <a:ext cx="24574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·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失败模式与未预期现象</a:t>
            </a:r>
            <a:endParaRPr/>
          </a:p>
        </p:txBody>
      </p:sp>
      <p:sp>
        <p:nvSpPr>
          <p:cNvPr id="1039" name="文本框 1038" descr="{&quot;isTemplate&quot;:true,&quot;type&quot;:&quot;text&quot;}"/>
          <p:cNvSpPr txBox="1"/>
          <p:nvPr/>
        </p:nvSpPr>
        <p:spPr>
          <a:xfrm>
            <a:off x="533400" y="2905125"/>
            <a:ext cx="24574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B3261E"/>
                </a:solidFill>
                <a:latin typeface="微软雅黑"/>
                <a:ea typeface="微软雅黑"/>
              </a:rPr>
              <a:t>不给出</a:t>
            </a:r>
            <a:endParaRPr/>
          </a:p>
        </p:txBody>
      </p:sp>
      <p:sp>
        <p:nvSpPr>
          <p:cNvPr id="1040" name="文本框 1039" descr="{&quot;isTemplate&quot;:true,&quot;type&quot;:&quot;text&quot;}"/>
          <p:cNvSpPr txBox="1"/>
          <p:nvPr/>
        </p:nvSpPr>
        <p:spPr>
          <a:xfrm>
            <a:off x="533400" y="3105150"/>
            <a:ext cx="24574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·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大空间的覆盖</a:t>
            </a:r>
            <a:endParaRPr/>
          </a:p>
        </p:txBody>
      </p:sp>
      <p:sp>
        <p:nvSpPr>
          <p:cNvPr id="1041" name="文本框 1040" descr="{&quot;isTemplate&quot;:true,&quot;type&quot;:&quot;text&quot;}"/>
          <p:cNvSpPr txBox="1"/>
          <p:nvPr/>
        </p:nvSpPr>
        <p:spPr>
          <a:xfrm>
            <a:off x="533400" y="3381375"/>
            <a:ext cx="24574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·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可迁移的定量规律</a:t>
            </a:r>
            <a:endParaRPr/>
          </a:p>
        </p:txBody>
      </p:sp>
      <p:sp>
        <p:nvSpPr>
          <p:cNvPr id="1042" name="文本框 1041" descr="{&quot;isTemplate&quot;:true,&quot;type&quot;:&quot;text&quot;}"/>
          <p:cNvSpPr txBox="1"/>
          <p:nvPr/>
        </p:nvSpPr>
        <p:spPr>
          <a:xfrm>
            <a:off x="533400" y="3771900"/>
            <a:ext cx="245745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975">
                <a:solidFill>
                  <a:srgbClr val="7A8798"/>
                </a:solidFill>
                <a:latin typeface="微软雅黑"/>
                <a:ea typeface="微软雅黑"/>
              </a:rPr>
              <a:t>常用场景：新体系探索：先做少量基线样品，确认可行域</a:t>
            </a:r>
            <a:endParaRPr/>
          </a:p>
        </p:txBody>
      </p:sp>
      <p:sp>
        <p:nvSpPr>
          <p:cNvPr id="1043" name="矩形: 圆角 1042"/>
          <p:cNvSpPr/>
          <p:nvPr/>
        </p:nvSpPr>
        <p:spPr>
          <a:xfrm>
            <a:off x="3276600" y="1295400"/>
            <a:ext cx="2752725" cy="4210050"/>
          </a:xfrm>
          <a:prstGeom prst="roundRect">
            <a:avLst>
              <a:gd name="adj" fmla="val 3460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44" name="任意多边形: 形状 1043"/>
          <p:cNvSpPr/>
          <p:nvPr/>
        </p:nvSpPr>
        <p:spPr>
          <a:xfrm>
            <a:off x="3276600" y="1295400"/>
            <a:ext cx="2752725" cy="4210050"/>
          </a:xfrm>
          <a:custGeom>
            <a:avLst/>
            <a:gdLst/>
            <a:ahLst/>
            <a:cxnLst/>
            <a:rect l="0" t="0" r="0" b="0"/>
            <a:pathLst>
              <a:path w="289" h="442">
                <a:moveTo>
                  <a:pt x="279" y="0"/>
                </a:moveTo>
                <a:cubicBezTo>
                  <a:pt x="284" y="0"/>
                  <a:pt x="288" y="4"/>
                  <a:pt x="289" y="8"/>
                </a:cubicBezTo>
                <a:cubicBezTo>
                  <a:pt x="288" y="6"/>
                  <a:pt x="286" y="4"/>
                  <a:pt x="283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279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45" name="文本框 1044" descr="{&quot;isTemplate&quot;:true,&quot;type&quot;:&quot;text&quot;}"/>
          <p:cNvSpPr txBox="1"/>
          <p:nvPr/>
        </p:nvSpPr>
        <p:spPr>
          <a:xfrm>
            <a:off x="3429000" y="1428750"/>
            <a:ext cx="24479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/>
                <a:ea typeface="微软雅黑"/>
              </a:rPr>
              <a:t>理论计算</a:t>
            </a:r>
            <a:endParaRPr/>
          </a:p>
        </p:txBody>
      </p:sp>
      <p:sp>
        <p:nvSpPr>
          <p:cNvPr id="1046" name="文本框 1045" descr="{&quot;isTemplate&quot;:true,&quot;type&quot;:&quot;text&quot;}"/>
          <p:cNvSpPr txBox="1"/>
          <p:nvPr/>
        </p:nvSpPr>
        <p:spPr>
          <a:xfrm>
            <a:off x="3429000" y="1695450"/>
            <a:ext cx="2447925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1050">
                <a:solidFill>
                  <a:srgbClr val="5D6E85"/>
                </a:solidFill>
                <a:latin typeface="微软雅黑"/>
                <a:ea typeface="微软雅黑"/>
              </a:rPr>
              <a:t>DFT </a:t>
            </a:r>
            <a:r>
              <a:rPr lang="zh-CN" sz="1050">
                <a:solidFill>
                  <a:srgbClr val="5D6E85"/>
                </a:solidFill>
                <a:latin typeface="微软雅黑"/>
                <a:ea typeface="微软雅黑"/>
              </a:rPr>
              <a:t>等方法从量子力学算性质</a:t>
            </a:r>
            <a:endParaRPr/>
          </a:p>
        </p:txBody>
      </p:sp>
      <p:sp>
        <p:nvSpPr>
          <p:cNvPr id="1047" name="文本框 1046" descr="{&quot;isTemplate&quot;:true,&quot;type&quot;:&quot;text&quot;}"/>
          <p:cNvSpPr txBox="1"/>
          <p:nvPr/>
        </p:nvSpPr>
        <p:spPr>
          <a:xfrm>
            <a:off x="3429000" y="2057400"/>
            <a:ext cx="24479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B5E20"/>
                </a:solidFill>
                <a:latin typeface="微软雅黑"/>
                <a:ea typeface="微软雅黑"/>
              </a:rPr>
              <a:t>能给出</a:t>
            </a:r>
            <a:endParaRPr/>
          </a:p>
        </p:txBody>
      </p:sp>
      <p:sp>
        <p:nvSpPr>
          <p:cNvPr id="1048" name="文本框 1047" descr="{&quot;isTemplate&quot;:true,&quot;type&quot;:&quot;text&quot;}"/>
          <p:cNvSpPr txBox="1"/>
          <p:nvPr/>
        </p:nvSpPr>
        <p:spPr>
          <a:xfrm>
            <a:off x="3429000" y="2257425"/>
            <a:ext cx="244792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·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可解释的机理与能量一致性</a:t>
            </a:r>
            <a:endParaRPr/>
          </a:p>
        </p:txBody>
      </p:sp>
      <p:sp>
        <p:nvSpPr>
          <p:cNvPr id="1049" name="文本框 1048" descr="{&quot;isTemplate&quot;:true,&quot;type&quot;:&quot;text&quot;}"/>
          <p:cNvSpPr txBox="1"/>
          <p:nvPr/>
        </p:nvSpPr>
        <p:spPr>
          <a:xfrm>
            <a:off x="3429000" y="2533650"/>
            <a:ext cx="244792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·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尚不可制备体系的性质估计</a:t>
            </a:r>
            <a:endParaRPr/>
          </a:p>
        </p:txBody>
      </p:sp>
      <p:sp>
        <p:nvSpPr>
          <p:cNvPr id="1050" name="文本框 1049" descr="{&quot;isTemplate&quot;:true,&quot;type&quot;:&quot;text&quot;}"/>
          <p:cNvSpPr txBox="1"/>
          <p:nvPr/>
        </p:nvSpPr>
        <p:spPr>
          <a:xfrm>
            <a:off x="3429000" y="2905125"/>
            <a:ext cx="24479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B3261E"/>
                </a:solidFill>
                <a:latin typeface="微软雅黑"/>
                <a:ea typeface="微软雅黑"/>
              </a:rPr>
              <a:t>不给出</a:t>
            </a:r>
            <a:endParaRPr/>
          </a:p>
        </p:txBody>
      </p:sp>
      <p:sp>
        <p:nvSpPr>
          <p:cNvPr id="1051" name="文本框 1050" descr="{&quot;isTemplate&quot;:true,&quot;type&quot;:&quot;text&quot;}"/>
          <p:cNvSpPr txBox="1"/>
          <p:nvPr/>
        </p:nvSpPr>
        <p:spPr>
          <a:xfrm>
            <a:off x="3429000" y="3105150"/>
            <a:ext cx="244792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·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全空间扫描（算力受限）</a:t>
            </a:r>
            <a:endParaRPr/>
          </a:p>
        </p:txBody>
      </p:sp>
      <p:sp>
        <p:nvSpPr>
          <p:cNvPr id="1052" name="文本框 1051" descr="{&quot;isTemplate&quot;:true,&quot;type&quot;:&quot;text&quot;}"/>
          <p:cNvSpPr txBox="1"/>
          <p:nvPr/>
        </p:nvSpPr>
        <p:spPr>
          <a:xfrm>
            <a:off x="3429000" y="3381375"/>
            <a:ext cx="2447925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·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与实验等价的精度（泛函、温度、动力学）</a:t>
            </a:r>
            <a:endParaRPr/>
          </a:p>
        </p:txBody>
      </p:sp>
      <p:sp>
        <p:nvSpPr>
          <p:cNvPr id="1053" name="文本框 1052" descr="{&quot;isTemplate&quot;:true,&quot;type&quot;:&quot;text&quot;}"/>
          <p:cNvSpPr txBox="1"/>
          <p:nvPr/>
        </p:nvSpPr>
        <p:spPr>
          <a:xfrm>
            <a:off x="3429000" y="4048125"/>
            <a:ext cx="2447925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975">
                <a:solidFill>
                  <a:srgbClr val="7A8798"/>
                </a:solidFill>
                <a:latin typeface="微软雅黑"/>
                <a:ea typeface="微软雅黑"/>
              </a:rPr>
              <a:t>常用场景：给出能量</a:t>
            </a:r>
            <a:r>
              <a:rPr lang="en-US" sz="975">
                <a:solidFill>
                  <a:srgbClr val="7A8798"/>
                </a:solidFill>
                <a:latin typeface="微软雅黑"/>
                <a:ea typeface="微软雅黑"/>
              </a:rPr>
              <a:t>/</a:t>
            </a:r>
            <a:r>
              <a:rPr lang="zh-CN" sz="975">
                <a:solidFill>
                  <a:srgbClr val="7A8798"/>
                </a:solidFill>
                <a:latin typeface="微软雅黑"/>
                <a:ea typeface="微软雅黑"/>
              </a:rPr>
              <a:t>电子结构：作为标签来源或一致性检查</a:t>
            </a:r>
            <a:endParaRPr/>
          </a:p>
        </p:txBody>
      </p:sp>
      <p:sp>
        <p:nvSpPr>
          <p:cNvPr id="1054" name="矩形: 圆角 1053"/>
          <p:cNvSpPr/>
          <p:nvPr/>
        </p:nvSpPr>
        <p:spPr>
          <a:xfrm>
            <a:off x="6162675" y="1295400"/>
            <a:ext cx="2762250" cy="4210050"/>
          </a:xfrm>
          <a:prstGeom prst="roundRect">
            <a:avLst>
              <a:gd name="adj" fmla="val 3448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55" name="任意多边形: 形状 1054"/>
          <p:cNvSpPr/>
          <p:nvPr/>
        </p:nvSpPr>
        <p:spPr>
          <a:xfrm>
            <a:off x="6162675" y="1295400"/>
            <a:ext cx="2762250" cy="4210050"/>
          </a:xfrm>
          <a:custGeom>
            <a:avLst/>
            <a:gdLst/>
            <a:ahLst/>
            <a:cxnLst/>
            <a:rect l="0" t="0" r="0" b="0"/>
            <a:pathLst>
              <a:path w="290" h="442">
                <a:moveTo>
                  <a:pt x="280" y="0"/>
                </a:moveTo>
                <a:cubicBezTo>
                  <a:pt x="285" y="0"/>
                  <a:pt x="289" y="4"/>
                  <a:pt x="290" y="8"/>
                </a:cubicBezTo>
                <a:cubicBezTo>
                  <a:pt x="289" y="6"/>
                  <a:pt x="287" y="4"/>
                  <a:pt x="284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280" y="0"/>
                </a:lnTo>
                <a:close/>
              </a:path>
            </a:pathLst>
          </a:custGeom>
          <a:solidFill>
            <a:srgbClr val="2E7D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56" name="文本框 1055" descr="{&quot;isTemplate&quot;:true,&quot;type&quot;:&quot;text&quot;}"/>
          <p:cNvSpPr txBox="1"/>
          <p:nvPr/>
        </p:nvSpPr>
        <p:spPr>
          <a:xfrm>
            <a:off x="6315075" y="1428750"/>
            <a:ext cx="24574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B5E20"/>
                </a:solidFill>
                <a:latin typeface="微软雅黑"/>
                <a:ea typeface="微软雅黑"/>
              </a:rPr>
              <a:t>数据驱动</a:t>
            </a:r>
            <a:endParaRPr/>
          </a:p>
        </p:txBody>
      </p:sp>
      <p:sp>
        <p:nvSpPr>
          <p:cNvPr id="1057" name="文本框 1056" descr="{&quot;isTemplate&quot;:true,&quot;type&quot;:&quot;text&quot;}"/>
          <p:cNvSpPr txBox="1"/>
          <p:nvPr/>
        </p:nvSpPr>
        <p:spPr>
          <a:xfrm>
            <a:off x="6315075" y="1695450"/>
            <a:ext cx="24574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050">
                <a:solidFill>
                  <a:srgbClr val="5D6E85"/>
                </a:solidFill>
                <a:latin typeface="微软雅黑"/>
                <a:ea typeface="微软雅黑"/>
              </a:rPr>
              <a:t>用历史数据学结构–性质映射</a:t>
            </a:r>
            <a:endParaRPr/>
          </a:p>
        </p:txBody>
      </p:sp>
      <p:sp>
        <p:nvSpPr>
          <p:cNvPr id="1058" name="文本框 1057" descr="{&quot;isTemplate&quot;:true,&quot;type&quot;:&quot;text&quot;}"/>
          <p:cNvSpPr txBox="1"/>
          <p:nvPr/>
        </p:nvSpPr>
        <p:spPr>
          <a:xfrm>
            <a:off x="6315075" y="2057400"/>
            <a:ext cx="24574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B5E20"/>
                </a:solidFill>
                <a:latin typeface="微软雅黑"/>
                <a:ea typeface="微软雅黑"/>
              </a:rPr>
              <a:t>能给出</a:t>
            </a:r>
            <a:endParaRPr/>
          </a:p>
        </p:txBody>
      </p:sp>
      <p:sp>
        <p:nvSpPr>
          <p:cNvPr id="1059" name="文本框 1058" descr="{&quot;isTemplate&quot;:true,&quot;type&quot;:&quot;text&quot;}"/>
          <p:cNvSpPr txBox="1"/>
          <p:nvPr/>
        </p:nvSpPr>
        <p:spPr>
          <a:xfrm>
            <a:off x="6315075" y="2257425"/>
            <a:ext cx="24574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·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快速的代理预测与候选排序</a:t>
            </a:r>
            <a:endParaRPr/>
          </a:p>
        </p:txBody>
      </p:sp>
      <p:sp>
        <p:nvSpPr>
          <p:cNvPr id="1060" name="文本框 1059" descr="{&quot;isTemplate&quot;:true,&quot;type&quot;:&quot;text&quot;}"/>
          <p:cNvSpPr txBox="1"/>
          <p:nvPr/>
        </p:nvSpPr>
        <p:spPr>
          <a:xfrm>
            <a:off x="6315075" y="2533650"/>
            <a:ext cx="24574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·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实验</a:t>
            </a: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 / DFT /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文献数据的统一利用</a:t>
            </a:r>
            <a:endParaRPr/>
          </a:p>
        </p:txBody>
      </p:sp>
      <p:sp>
        <p:nvSpPr>
          <p:cNvPr id="1061" name="文本框 1060" descr="{&quot;isTemplate&quot;:true,&quot;type&quot;:&quot;text&quot;}"/>
          <p:cNvSpPr txBox="1"/>
          <p:nvPr/>
        </p:nvSpPr>
        <p:spPr>
          <a:xfrm>
            <a:off x="6315075" y="2905125"/>
            <a:ext cx="24574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B3261E"/>
                </a:solidFill>
                <a:latin typeface="微软雅黑"/>
                <a:ea typeface="微软雅黑"/>
              </a:rPr>
              <a:t>不给出</a:t>
            </a:r>
            <a:endParaRPr/>
          </a:p>
        </p:txBody>
      </p:sp>
      <p:sp>
        <p:nvSpPr>
          <p:cNvPr id="1062" name="文本框 1061" descr="{&quot;isTemplate&quot;:true,&quot;type&quot;:&quot;text&quot;}"/>
          <p:cNvSpPr txBox="1"/>
          <p:nvPr/>
        </p:nvSpPr>
        <p:spPr>
          <a:xfrm>
            <a:off x="6315075" y="3105150"/>
            <a:ext cx="24574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·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分布外的可靠性保证</a:t>
            </a:r>
            <a:endParaRPr/>
          </a:p>
        </p:txBody>
      </p:sp>
      <p:sp>
        <p:nvSpPr>
          <p:cNvPr id="1063" name="文本框 1062" descr="{&quot;isTemplate&quot;:true,&quot;type&quot;:&quot;text&quot;}"/>
          <p:cNvSpPr txBox="1"/>
          <p:nvPr/>
        </p:nvSpPr>
        <p:spPr>
          <a:xfrm>
            <a:off x="6315075" y="3381375"/>
            <a:ext cx="24574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·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物理机制（除非另行解释）</a:t>
            </a:r>
            <a:endParaRPr/>
          </a:p>
        </p:txBody>
      </p:sp>
      <p:sp>
        <p:nvSpPr>
          <p:cNvPr id="1064" name="文本框 1063" descr="{&quot;isTemplate&quot;:true,&quot;type&quot;:&quot;text&quot;}"/>
          <p:cNvSpPr txBox="1"/>
          <p:nvPr/>
        </p:nvSpPr>
        <p:spPr>
          <a:xfrm>
            <a:off x="6315075" y="3771900"/>
            <a:ext cx="2457450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975">
                <a:solidFill>
                  <a:srgbClr val="7A8798"/>
                </a:solidFill>
                <a:latin typeface="微软雅黑"/>
                <a:ea typeface="微软雅黑"/>
              </a:rPr>
              <a:t>常用场景：已有数据家族内做快速排序与代理筛选</a:t>
            </a:r>
            <a:endParaRPr/>
          </a:p>
        </p:txBody>
      </p:sp>
      <p:sp>
        <p:nvSpPr>
          <p:cNvPr id="1065" name="矩形: 圆角 1064"/>
          <p:cNvSpPr/>
          <p:nvPr/>
        </p:nvSpPr>
        <p:spPr>
          <a:xfrm>
            <a:off x="9058275" y="1295400"/>
            <a:ext cx="2752725" cy="4210050"/>
          </a:xfrm>
          <a:prstGeom prst="roundRect">
            <a:avLst>
              <a:gd name="adj" fmla="val 3460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66" name="任意多边形: 形状 1065"/>
          <p:cNvSpPr/>
          <p:nvPr/>
        </p:nvSpPr>
        <p:spPr>
          <a:xfrm>
            <a:off x="9058275" y="1295400"/>
            <a:ext cx="2752725" cy="4210050"/>
          </a:xfrm>
          <a:custGeom>
            <a:avLst/>
            <a:gdLst/>
            <a:ahLst/>
            <a:cxnLst/>
            <a:rect l="0" t="0" r="0" b="0"/>
            <a:pathLst>
              <a:path w="289" h="442">
                <a:moveTo>
                  <a:pt x="279" y="0"/>
                </a:moveTo>
                <a:cubicBezTo>
                  <a:pt x="284" y="0"/>
                  <a:pt x="288" y="4"/>
                  <a:pt x="289" y="8"/>
                </a:cubicBezTo>
                <a:cubicBezTo>
                  <a:pt x="288" y="6"/>
                  <a:pt x="286" y="4"/>
                  <a:pt x="283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279" y="0"/>
                </a:lnTo>
                <a:close/>
              </a:path>
            </a:pathLst>
          </a:custGeom>
          <a:solidFill>
            <a:srgbClr val="B26A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67" name="文本框 1066" descr="{&quot;isTemplate&quot;:true,&quot;type&quot;:&quot;text&quot;}"/>
          <p:cNvSpPr txBox="1"/>
          <p:nvPr/>
        </p:nvSpPr>
        <p:spPr>
          <a:xfrm>
            <a:off x="9210675" y="1428750"/>
            <a:ext cx="24479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8D6E00"/>
                </a:solidFill>
                <a:latin typeface="微软雅黑"/>
                <a:ea typeface="微软雅黑"/>
              </a:rPr>
              <a:t>自主发现</a:t>
            </a:r>
            <a:endParaRPr/>
          </a:p>
        </p:txBody>
      </p:sp>
      <p:sp>
        <p:nvSpPr>
          <p:cNvPr id="1068" name="文本框 1067" descr="{&quot;isTemplate&quot;:true,&quot;type&quot;:&quot;text&quot;}"/>
          <p:cNvSpPr txBox="1"/>
          <p:nvPr/>
        </p:nvSpPr>
        <p:spPr>
          <a:xfrm>
            <a:off x="9210675" y="1695450"/>
            <a:ext cx="2447925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050">
                <a:solidFill>
                  <a:srgbClr val="5D6E85"/>
                </a:solidFill>
                <a:latin typeface="微软雅黑"/>
                <a:ea typeface="微软雅黑"/>
              </a:rPr>
              <a:t>由算法决定下一步做哪个实验</a:t>
            </a:r>
            <a:endParaRPr/>
          </a:p>
        </p:txBody>
      </p:sp>
      <p:sp>
        <p:nvSpPr>
          <p:cNvPr id="1069" name="文本框 1068" descr="{&quot;isTemplate&quot;:true,&quot;type&quot;:&quot;text&quot;}"/>
          <p:cNvSpPr txBox="1"/>
          <p:nvPr/>
        </p:nvSpPr>
        <p:spPr>
          <a:xfrm>
            <a:off x="9210675" y="2057400"/>
            <a:ext cx="24479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B5E20"/>
                </a:solidFill>
                <a:latin typeface="微软雅黑"/>
                <a:ea typeface="微软雅黑"/>
              </a:rPr>
              <a:t>能给出</a:t>
            </a:r>
            <a:endParaRPr/>
          </a:p>
        </p:txBody>
      </p:sp>
      <p:sp>
        <p:nvSpPr>
          <p:cNvPr id="1070" name="文本框 1069" descr="{&quot;isTemplate&quot;:true,&quot;type&quot;:&quot;text&quot;}"/>
          <p:cNvSpPr txBox="1"/>
          <p:nvPr/>
        </p:nvSpPr>
        <p:spPr>
          <a:xfrm>
            <a:off x="9210675" y="2257425"/>
            <a:ext cx="244792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·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可自动化实验上的试错轮次压缩</a:t>
            </a:r>
            <a:endParaRPr/>
          </a:p>
        </p:txBody>
      </p:sp>
      <p:sp>
        <p:nvSpPr>
          <p:cNvPr id="1071" name="文本框 1070" descr="{&quot;isTemplate&quot;:true,&quot;type&quot;:&quot;text&quot;}"/>
          <p:cNvSpPr txBox="1"/>
          <p:nvPr/>
        </p:nvSpPr>
        <p:spPr>
          <a:xfrm>
            <a:off x="9210675" y="2533650"/>
            <a:ext cx="244792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·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数据自动回填的闭环</a:t>
            </a:r>
            <a:endParaRPr/>
          </a:p>
        </p:txBody>
      </p:sp>
      <p:sp>
        <p:nvSpPr>
          <p:cNvPr id="1072" name="文本框 1071" descr="{&quot;isTemplate&quot;:true,&quot;type&quot;:&quot;text&quot;}"/>
          <p:cNvSpPr txBox="1"/>
          <p:nvPr/>
        </p:nvSpPr>
        <p:spPr>
          <a:xfrm>
            <a:off x="9210675" y="2905125"/>
            <a:ext cx="24479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B3261E"/>
                </a:solidFill>
                <a:latin typeface="微软雅黑"/>
                <a:ea typeface="微软雅黑"/>
              </a:rPr>
              <a:t>不给出</a:t>
            </a:r>
            <a:endParaRPr/>
          </a:p>
        </p:txBody>
      </p:sp>
      <p:sp>
        <p:nvSpPr>
          <p:cNvPr id="1073" name="文本框 1072" descr="{&quot;isTemplate&quot;:true,&quot;type&quot;:&quot;text&quot;}"/>
          <p:cNvSpPr txBox="1"/>
          <p:nvPr/>
        </p:nvSpPr>
        <p:spPr>
          <a:xfrm>
            <a:off x="9210675" y="3105150"/>
            <a:ext cx="244792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·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目标与约束的定义（仍需人来定）</a:t>
            </a:r>
            <a:endParaRPr/>
          </a:p>
        </p:txBody>
      </p:sp>
      <p:sp>
        <p:nvSpPr>
          <p:cNvPr id="1074" name="文本框 1073" descr="{&quot;isTemplate&quot;:true,&quot;type&quot;:&quot;text&quot;}"/>
          <p:cNvSpPr txBox="1"/>
          <p:nvPr/>
        </p:nvSpPr>
        <p:spPr>
          <a:xfrm>
            <a:off x="9210675" y="3381375"/>
            <a:ext cx="2447925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·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不可自动化体系的替代方案</a:t>
            </a:r>
            <a:endParaRPr/>
          </a:p>
        </p:txBody>
      </p:sp>
      <p:sp>
        <p:nvSpPr>
          <p:cNvPr id="1075" name="文本框 1074" descr="{&quot;isTemplate&quot;:true,&quot;type&quot;:&quot;text&quot;}"/>
          <p:cNvSpPr txBox="1"/>
          <p:nvPr/>
        </p:nvSpPr>
        <p:spPr>
          <a:xfrm>
            <a:off x="9210675" y="3771900"/>
            <a:ext cx="2447925" cy="447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975">
                <a:solidFill>
                  <a:srgbClr val="7A8798"/>
                </a:solidFill>
                <a:latin typeface="微软雅黑"/>
                <a:ea typeface="微软雅黑"/>
              </a:rPr>
              <a:t>常用场景：薄膜</a:t>
            </a:r>
            <a:r>
              <a:rPr lang="en-US" sz="975">
                <a:solidFill>
                  <a:srgbClr val="7A8798"/>
                </a:solidFill>
                <a:latin typeface="微软雅黑"/>
                <a:ea typeface="微软雅黑"/>
              </a:rPr>
              <a:t>/</a:t>
            </a:r>
            <a:r>
              <a:rPr lang="zh-CN" sz="975">
                <a:solidFill>
                  <a:srgbClr val="7A8798"/>
                </a:solidFill>
                <a:latin typeface="微软雅黑"/>
                <a:ea typeface="微软雅黑"/>
              </a:rPr>
              <a:t>配方类可自动化平台上的高通量迭代</a:t>
            </a:r>
            <a:endParaRPr/>
          </a:p>
        </p:txBody>
      </p:sp>
      <p:sp>
        <p:nvSpPr>
          <p:cNvPr id="1076" name="矩形: 圆角 1075"/>
          <p:cNvSpPr/>
          <p:nvPr/>
        </p:nvSpPr>
        <p:spPr>
          <a:xfrm>
            <a:off x="381000" y="5581650"/>
            <a:ext cx="11430000" cy="933450"/>
          </a:xfrm>
          <a:prstGeom prst="roundRect">
            <a:avLst>
              <a:gd name="adj" fmla="val 10204"/>
            </a:avLst>
          </a:prstGeom>
          <a:solidFill>
            <a:srgbClr val="E8F1FC"/>
          </a:solidFill>
          <a:ln w="12700">
            <a:solidFill>
              <a:srgbClr val="1E4F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77" name="文本框 1076" descr="{&quot;isTemplate&quot;:true,&quot;type&quot;:&quot;text&quot;}"/>
          <p:cNvSpPr txBox="1"/>
          <p:nvPr/>
        </p:nvSpPr>
        <p:spPr>
          <a:xfrm>
            <a:off x="571500" y="5715000"/>
            <a:ext cx="110490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275" b="1">
                <a:solidFill>
                  <a:srgbClr val="0E3F8C"/>
                </a:solidFill>
                <a:latin typeface="微软雅黑"/>
                <a:ea typeface="微软雅黑"/>
              </a:rPr>
              <a:t>协同方式：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经验给出可行域与失败模式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 → DFT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给出机理与一致性检查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 →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数据模型把昂贵环节换成代理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 →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闭环把下一步决策自动化。</a:t>
            </a:r>
            <a:endParaRPr/>
          </a:p>
        </p:txBody>
      </p:sp>
      <p:sp>
        <p:nvSpPr>
          <p:cNvPr id="1078" name="文本框 1077" descr="{&quot;isTemplate&quot;:true,&quot;type&quot;:&quot;text&quot;}"/>
          <p:cNvSpPr txBox="1"/>
          <p:nvPr/>
        </p:nvSpPr>
        <p:spPr>
          <a:xfrm>
            <a:off x="571500" y="6086475"/>
            <a:ext cx="110490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200">
                <a:solidFill>
                  <a:srgbClr val="B3261E"/>
                </a:solidFill>
                <a:latin typeface="微软雅黑"/>
                <a:ea typeface="微软雅黑"/>
              </a:rPr>
              <a:t>它们之间是</a:t>
            </a:r>
            <a:r>
              <a:rPr lang="zh-CN" sz="1200" b="1">
                <a:solidFill>
                  <a:srgbClr val="B3261E"/>
                </a:solidFill>
                <a:latin typeface="微软雅黑"/>
                <a:ea typeface="微软雅黑"/>
              </a:rPr>
              <a:t>分工而不是接替</a:t>
            </a:r>
            <a:r>
              <a:rPr lang="zh-CN" sz="1200">
                <a:solidFill>
                  <a:srgbClr val="B3261E"/>
                </a:solidFill>
                <a:latin typeface="微软雅黑"/>
                <a:ea typeface="微软雅黑"/>
              </a:rPr>
              <a:t>：不存在「后一种必然取代前一种」的规律；能否使用某一种，取决于数据、设备与问题本身。</a:t>
            </a:r>
            <a:endParaRPr/>
          </a:p>
        </p:txBody>
      </p:sp>
      <p:sp>
        <p:nvSpPr>
          <p:cNvPr id="1079" name="文本框 1078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1080" name="文本框 1079" descr="{&quot;isTemplate&quot;:true,&quot;type&quot;:&quot;text&quot;}"/>
          <p:cNvSpPr txBox="1"/>
          <p:nvPr/>
        </p:nvSpPr>
        <p:spPr>
          <a:xfrm>
            <a:off x="54673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1081" name="文本框 1080" descr="{&quot;isTemplate&quot;:true,&quot;type&quot;:&quot;text&quot;}"/>
          <p:cNvSpPr txBox="1"/>
          <p:nvPr/>
        </p:nvSpPr>
        <p:spPr>
          <a:xfrm>
            <a:off x="11410950" y="6610350"/>
            <a:ext cx="4000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40 / 60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矩形 108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84" name="矩形 1083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85" name="文本框 1084" descr="{&quot;isTemplate&quot;:true,&quot;type&quot;:&quot;text&quot;}"/>
          <p:cNvSpPr txBox="1"/>
          <p:nvPr/>
        </p:nvSpPr>
        <p:spPr>
          <a:xfrm>
            <a:off x="342900" y="171450"/>
            <a:ext cx="3524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在材料科学中的应用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讲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材料信息学导论与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产业</a:t>
            </a:r>
            <a:endParaRPr/>
          </a:p>
        </p:txBody>
      </p:sp>
      <p:sp>
        <p:nvSpPr>
          <p:cNvPr id="1086" name="文本框 1085" descr="{&quot;isTemplate&quot;:true,&quot;type&quot;:&quot;text&quot;}"/>
          <p:cNvSpPr txBox="1"/>
          <p:nvPr/>
        </p:nvSpPr>
        <p:spPr>
          <a:xfrm>
            <a:off x="9353550" y="171450"/>
            <a:ext cx="13906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03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材料是如何被发现的</a:t>
            </a:r>
            <a:endParaRPr/>
          </a:p>
        </p:txBody>
      </p:sp>
      <p:pic>
        <p:nvPicPr>
          <p:cNvPr id="1087" name="图片 1086"/>
          <p:cNvPicPr>
            <a:picLocks noChangeAspect="1"/>
          </p:cNvPicPr>
          <p:nvPr/>
        </p:nvPicPr>
        <p:blipFill>
          <a:blip r:embed="rId3"/>
          <a:srcRect l="847" r="847"/>
          <a:stretch>
            <a:fillRect/>
          </a:stretch>
        </p:blipFill>
        <p:spPr>
          <a:xfrm>
            <a:off x="10858500" y="123825"/>
            <a:ext cx="990600" cy="247650"/>
          </a:xfrm>
          <a:prstGeom prst="rect">
            <a:avLst/>
          </a:prstGeom>
          <a:ln/>
        </p:spPr>
      </p:pic>
      <p:sp>
        <p:nvSpPr>
          <p:cNvPr id="1088" name="文本框 1087" descr="{&quot;isTemplate&quot;:true,&quot;type&quot;:&quot;text&quot;}"/>
          <p:cNvSpPr txBox="1"/>
          <p:nvPr/>
        </p:nvSpPr>
        <p:spPr>
          <a:xfrm>
            <a:off x="381000" y="666750"/>
            <a:ext cx="114300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钉钉进步体"/>
                <a:ea typeface="钉钉进步体"/>
              </a:rPr>
              <a:t>一个可以查证的里程碑：</a:t>
            </a:r>
            <a:r>
              <a:rPr lang="en-US" sz="2400" b="1">
                <a:solidFill>
                  <a:srgbClr val="0E3F8C"/>
                </a:solidFill>
                <a:latin typeface="钉钉进步体"/>
                <a:ea typeface="钉钉进步体"/>
              </a:rPr>
              <a:t>AlphaFold</a:t>
            </a:r>
            <a:endParaRPr/>
          </a:p>
        </p:txBody>
      </p:sp>
      <p:sp>
        <p:nvSpPr>
          <p:cNvPr id="1089" name="矩形: 圆角 1088"/>
          <p:cNvSpPr/>
          <p:nvPr/>
        </p:nvSpPr>
        <p:spPr>
          <a:xfrm>
            <a:off x="381000" y="1114425"/>
            <a:ext cx="571500" cy="47625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90" name="矩形: 圆角 1089"/>
          <p:cNvSpPr/>
          <p:nvPr/>
        </p:nvSpPr>
        <p:spPr>
          <a:xfrm>
            <a:off x="381000" y="1276350"/>
            <a:ext cx="11430000" cy="1171575"/>
          </a:xfrm>
          <a:prstGeom prst="roundRect">
            <a:avLst>
              <a:gd name="adj" fmla="val 9756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91" name="文本框 1090" descr="{&quot;isTemplate&quot;:true,&quot;type&quot;:&quot;text&quot;}"/>
          <p:cNvSpPr txBox="1"/>
          <p:nvPr/>
        </p:nvSpPr>
        <p:spPr>
          <a:xfrm>
            <a:off x="609600" y="1409700"/>
            <a:ext cx="10972800" cy="9048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275">
                <a:solidFill>
                  <a:srgbClr val="3A4759"/>
                </a:solidFill>
                <a:latin typeface="微软雅黑"/>
                <a:ea typeface="微软雅黑"/>
              </a:rPr>
              <a:t>为什么用这一页讲「怎么判断一个突破是否可信」：</a:t>
            </a:r>
            <a:r>
              <a:rPr lang="en-US" sz="1275">
                <a:solidFill>
                  <a:srgbClr val="3A4759"/>
                </a:solidFill>
                <a:latin typeface="微软雅黑"/>
                <a:ea typeface="微软雅黑"/>
              </a:rPr>
              <a:t>DeepMind </a:t>
            </a:r>
            <a:r>
              <a:rPr lang="zh-CN" sz="1275">
                <a:solidFill>
                  <a:srgbClr val="3A4759"/>
                </a:solidFill>
                <a:latin typeface="微软雅黑"/>
                <a:ea typeface="微软雅黑"/>
              </a:rPr>
              <a:t>官方博客给出了</a:t>
            </a:r>
            <a:r>
              <a:rPr lang="zh-CN" sz="1275" b="1">
                <a:solidFill>
                  <a:srgbClr val="3A4759"/>
                </a:solidFill>
                <a:latin typeface="微软雅黑"/>
                <a:ea typeface="微软雅黑"/>
              </a:rPr>
              <a:t>可核对的三个要素</a:t>
            </a:r>
            <a:r>
              <a:rPr lang="en-US" sz="1275">
                <a:solidFill>
                  <a:srgbClr val="3A4759"/>
                </a:solidFill>
                <a:latin typeface="微软雅黑"/>
                <a:ea typeface="微软雅黑"/>
              </a:rPr>
              <a:t> —— </a:t>
            </a:r>
            <a:r>
              <a:rPr lang="zh-CN" sz="1275">
                <a:solidFill>
                  <a:srgbClr val="3A4759"/>
                </a:solidFill>
                <a:latin typeface="微软雅黑"/>
                <a:ea typeface="微软雅黑"/>
              </a:rPr>
              <a:t>具体问题、评测方式（</a:t>
            </a:r>
            <a:r>
              <a:rPr lang="en-US" sz="1275">
                <a:solidFill>
                  <a:srgbClr val="3A4759"/>
                </a:solidFill>
                <a:latin typeface="微软雅黑"/>
                <a:ea typeface="微软雅黑"/>
              </a:rPr>
              <a:t>CASP</a:t>
            </a:r>
            <a:r>
              <a:rPr lang="zh-CN" sz="1275">
                <a:solidFill>
                  <a:srgbClr val="3A4759"/>
                </a:solidFill>
                <a:latin typeface="微软雅黑"/>
                <a:ea typeface="微软雅黑"/>
              </a:rPr>
              <a:t>）、以及公开的方法与权重。</a:t>
            </a:r>
            <a:r>
              <a:rPr lang="zh-CN" sz="1275" b="1">
                <a:solidFill>
                  <a:srgbClr val="B3261E"/>
                </a:solidFill>
                <a:latin typeface="微软雅黑"/>
                <a:ea typeface="微软雅黑"/>
              </a:rPr>
              <a:t>同时注意任务边界：</a:t>
            </a:r>
            <a:r>
              <a:rPr lang="zh-CN" sz="1275">
                <a:solidFill>
                  <a:srgbClr val="3A4759"/>
                </a:solidFill>
                <a:latin typeface="微软雅黑"/>
                <a:ea typeface="微软雅黑"/>
              </a:rPr>
              <a:t>蛋白质结构预测与材料性质预测在输入、标签与验证证据上都不同；方法迁移到材料任务必须重新验证，不能直接沿用其结论。</a:t>
            </a:r>
            <a:endParaRPr/>
          </a:p>
        </p:txBody>
      </p:sp>
      <p:sp>
        <p:nvSpPr>
          <p:cNvPr id="1092" name="矩形: 圆角 1091"/>
          <p:cNvSpPr/>
          <p:nvPr/>
        </p:nvSpPr>
        <p:spPr>
          <a:xfrm>
            <a:off x="381000" y="2562225"/>
            <a:ext cx="7448550" cy="3952875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C9D8E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093" name="图片 109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525" y="2809875"/>
            <a:ext cx="5905500" cy="3228975"/>
          </a:xfrm>
          <a:prstGeom prst="rect">
            <a:avLst/>
          </a:prstGeom>
          <a:ln/>
        </p:spPr>
      </p:pic>
      <p:sp>
        <p:nvSpPr>
          <p:cNvPr id="1094" name="文本框 1093" descr="{&quot;isTemplate&quot;:true,&quot;type&quot;:&quot;text&quot;}"/>
          <p:cNvSpPr txBox="1"/>
          <p:nvPr/>
        </p:nvSpPr>
        <p:spPr>
          <a:xfrm>
            <a:off x="2914650" y="6115050"/>
            <a:ext cx="2381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1050">
                <a:solidFill>
                  <a:srgbClr val="6B7889"/>
                </a:solidFill>
                <a:latin typeface="微软雅黑"/>
                <a:ea typeface="微软雅黑"/>
              </a:rPr>
              <a:t>DeepMind </a:t>
            </a:r>
            <a:r>
              <a:rPr lang="zh-CN" sz="1050">
                <a:solidFill>
                  <a:srgbClr val="6B7889"/>
                </a:solidFill>
                <a:latin typeface="微软雅黑"/>
                <a:ea typeface="微软雅黑"/>
              </a:rPr>
              <a:t>官方博客原文（</a:t>
            </a:r>
            <a:r>
              <a:rPr lang="en-US" sz="1050">
                <a:solidFill>
                  <a:srgbClr val="6B7889"/>
                </a:solidFill>
                <a:latin typeface="微软雅黑"/>
                <a:ea typeface="微软雅黑"/>
              </a:rPr>
              <a:t>2020-11-30</a:t>
            </a:r>
            <a:r>
              <a:rPr lang="zh-CN" sz="1050">
                <a:solidFill>
                  <a:srgbClr val="6B7889"/>
                </a:solidFill>
                <a:latin typeface="微软雅黑"/>
                <a:ea typeface="微软雅黑"/>
              </a:rPr>
              <a:t>）</a:t>
            </a:r>
            <a:endParaRPr/>
          </a:p>
        </p:txBody>
      </p:sp>
      <p:sp>
        <p:nvSpPr>
          <p:cNvPr id="1095" name="矩形: 圆角 1094"/>
          <p:cNvSpPr/>
          <p:nvPr/>
        </p:nvSpPr>
        <p:spPr>
          <a:xfrm>
            <a:off x="8001000" y="2867025"/>
            <a:ext cx="3810000" cy="1619250"/>
          </a:xfrm>
          <a:prstGeom prst="roundRect">
            <a:avLst>
              <a:gd name="adj" fmla="val 5882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96" name="文本框 1095" descr="{&quot;isTemplate&quot;:true,&quot;type&quot;:&quot;text&quot;}"/>
          <p:cNvSpPr txBox="1"/>
          <p:nvPr/>
        </p:nvSpPr>
        <p:spPr>
          <a:xfrm>
            <a:off x="8191500" y="3038475"/>
            <a:ext cx="34290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B5E20"/>
                </a:solidFill>
                <a:latin typeface="微软雅黑"/>
                <a:ea typeface="微软雅黑"/>
              </a:rPr>
              <a:t>可信的信号</a:t>
            </a:r>
            <a:endParaRPr/>
          </a:p>
        </p:txBody>
      </p:sp>
      <p:sp>
        <p:nvSpPr>
          <p:cNvPr id="1097" name="文本框 1096" descr="{&quot;isTemplate&quot;:true,&quot;type&quot;:&quot;text&quot;}"/>
          <p:cNvSpPr txBox="1"/>
          <p:nvPr/>
        </p:nvSpPr>
        <p:spPr>
          <a:xfrm>
            <a:off x="8191500" y="3352800"/>
            <a:ext cx="34290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>· 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参加第三方盲测（</a:t>
            </a: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>CASP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）</a:t>
            </a:r>
            <a:endParaRPr/>
          </a:p>
        </p:txBody>
      </p:sp>
      <p:sp>
        <p:nvSpPr>
          <p:cNvPr id="1098" name="文本框 1097" descr="{&quot;isTemplate&quot;:true,&quot;type&quot;:&quot;text&quot;}"/>
          <p:cNvSpPr txBox="1"/>
          <p:nvPr/>
        </p:nvSpPr>
        <p:spPr>
          <a:xfrm>
            <a:off x="8191500" y="3686175"/>
            <a:ext cx="34290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>· 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公开方法与模型权重</a:t>
            </a:r>
            <a:endParaRPr/>
          </a:p>
        </p:txBody>
      </p:sp>
      <p:sp>
        <p:nvSpPr>
          <p:cNvPr id="1099" name="文本框 1098" descr="{&quot;isTemplate&quot;:true,&quot;type&quot;:&quot;text&quot;}"/>
          <p:cNvSpPr txBox="1"/>
          <p:nvPr/>
        </p:nvSpPr>
        <p:spPr>
          <a:xfrm>
            <a:off x="8191500" y="4019550"/>
            <a:ext cx="34290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>· 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问题有明确的评价指标</a:t>
            </a:r>
            <a:endParaRPr/>
          </a:p>
        </p:txBody>
      </p:sp>
      <p:sp>
        <p:nvSpPr>
          <p:cNvPr id="1100" name="矩形: 圆角 1099"/>
          <p:cNvSpPr/>
          <p:nvPr/>
        </p:nvSpPr>
        <p:spPr>
          <a:xfrm>
            <a:off x="8001000" y="4600575"/>
            <a:ext cx="3810000" cy="1619250"/>
          </a:xfrm>
          <a:prstGeom prst="roundRect">
            <a:avLst>
              <a:gd name="adj" fmla="val 5882"/>
            </a:avLst>
          </a:prstGeom>
          <a:solidFill>
            <a:srgbClr val="FCEDEC"/>
          </a:solidFill>
          <a:ln w="12700">
            <a:solidFill>
              <a:srgbClr val="B326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01" name="文本框 1100" descr="{&quot;isTemplate&quot;:true,&quot;type&quot;:&quot;text&quot;}"/>
          <p:cNvSpPr txBox="1"/>
          <p:nvPr/>
        </p:nvSpPr>
        <p:spPr>
          <a:xfrm>
            <a:off x="8191500" y="4772025"/>
            <a:ext cx="34290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B3261E"/>
                </a:solidFill>
                <a:latin typeface="微软雅黑"/>
                <a:ea typeface="微软雅黑"/>
              </a:rPr>
              <a:t>要警惕的说法</a:t>
            </a:r>
            <a:endParaRPr/>
          </a:p>
        </p:txBody>
      </p:sp>
      <p:sp>
        <p:nvSpPr>
          <p:cNvPr id="1102" name="文本框 1101" descr="{&quot;isTemplate&quot;:true,&quot;type&quot;:&quot;text&quot;}"/>
          <p:cNvSpPr txBox="1"/>
          <p:nvPr/>
        </p:nvSpPr>
        <p:spPr>
          <a:xfrm>
            <a:off x="8191500" y="5086350"/>
            <a:ext cx="34290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>· 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「准确率</a:t>
            </a: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> 99%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」但不说是哪个数据集</a:t>
            </a:r>
            <a:endParaRPr/>
          </a:p>
        </p:txBody>
      </p:sp>
      <p:sp>
        <p:nvSpPr>
          <p:cNvPr id="1103" name="文本框 1102" descr="{&quot;isTemplate&quot;:true,&quot;type&quot;:&quot;text&quot;}"/>
          <p:cNvSpPr txBox="1"/>
          <p:nvPr/>
        </p:nvSpPr>
        <p:spPr>
          <a:xfrm>
            <a:off x="8191500" y="5419725"/>
            <a:ext cx="34290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>· 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只在自建测试集上验证</a:t>
            </a:r>
            <a:endParaRPr/>
          </a:p>
        </p:txBody>
      </p:sp>
      <p:sp>
        <p:nvSpPr>
          <p:cNvPr id="1104" name="文本框 1103" descr="{&quot;isTemplate&quot;:true,&quot;type&quot;:&quot;text&quot;}"/>
          <p:cNvSpPr txBox="1"/>
          <p:nvPr/>
        </p:nvSpPr>
        <p:spPr>
          <a:xfrm>
            <a:off x="8191500" y="5753100"/>
            <a:ext cx="34290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>· 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不给基线方法做对比</a:t>
            </a:r>
            <a:endParaRPr/>
          </a:p>
        </p:txBody>
      </p:sp>
      <p:sp>
        <p:nvSpPr>
          <p:cNvPr id="1105" name="文本框 1104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1106" name="文本框 1105" descr="{&quot;isTemplate&quot;:true,&quot;type&quot;:&quot;text&quot;}"/>
          <p:cNvSpPr txBox="1"/>
          <p:nvPr/>
        </p:nvSpPr>
        <p:spPr>
          <a:xfrm>
            <a:off x="54673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1107" name="文本框 1106" descr="{&quot;isTemplate&quot;:true,&quot;type&quot;:&quot;text&quot;}"/>
          <p:cNvSpPr txBox="1"/>
          <p:nvPr/>
        </p:nvSpPr>
        <p:spPr>
          <a:xfrm>
            <a:off x="11410950" y="6610350"/>
            <a:ext cx="4000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41 / 60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矩形 110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10" name="矩形 1109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11" name="文本框 1110" descr="{&quot;isTemplate&quot;:true,&quot;type&quot;:&quot;text&quot;}"/>
          <p:cNvSpPr txBox="1"/>
          <p:nvPr/>
        </p:nvSpPr>
        <p:spPr>
          <a:xfrm>
            <a:off x="342900" y="171450"/>
            <a:ext cx="3524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在材料科学中的应用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讲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材料信息学导论与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产业</a:t>
            </a:r>
            <a:endParaRPr/>
          </a:p>
        </p:txBody>
      </p:sp>
      <p:sp>
        <p:nvSpPr>
          <p:cNvPr id="1112" name="文本框 1111" descr="{&quot;isTemplate&quot;:true,&quot;type&quot;:&quot;text&quot;}"/>
          <p:cNvSpPr txBox="1"/>
          <p:nvPr/>
        </p:nvSpPr>
        <p:spPr>
          <a:xfrm>
            <a:off x="9353550" y="171450"/>
            <a:ext cx="13906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03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材料是如何被发现的</a:t>
            </a:r>
            <a:endParaRPr/>
          </a:p>
        </p:txBody>
      </p:sp>
      <p:pic>
        <p:nvPicPr>
          <p:cNvPr id="1113" name="图片 1112"/>
          <p:cNvPicPr>
            <a:picLocks noChangeAspect="1"/>
          </p:cNvPicPr>
          <p:nvPr/>
        </p:nvPicPr>
        <p:blipFill>
          <a:blip r:embed="rId3"/>
          <a:srcRect l="847" r="847"/>
          <a:stretch>
            <a:fillRect/>
          </a:stretch>
        </p:blipFill>
        <p:spPr>
          <a:xfrm>
            <a:off x="10858500" y="123825"/>
            <a:ext cx="990600" cy="247650"/>
          </a:xfrm>
          <a:prstGeom prst="rect">
            <a:avLst/>
          </a:prstGeom>
          <a:ln/>
        </p:spPr>
      </p:pic>
      <p:sp>
        <p:nvSpPr>
          <p:cNvPr id="1114" name="文本框 1113" descr="{&quot;isTemplate&quot;:true,&quot;type&quot;:&quot;text&quot;}"/>
          <p:cNvSpPr txBox="1"/>
          <p:nvPr/>
        </p:nvSpPr>
        <p:spPr>
          <a:xfrm>
            <a:off x="381000" y="666750"/>
            <a:ext cx="114300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3200" b="1">
                <a:solidFill>
                  <a:srgbClr val="0E3F8C"/>
                </a:solidFill>
                <a:latin typeface="钉钉进步体"/>
                <a:ea typeface="钉钉进步体"/>
              </a:rPr>
              <a:t>AI for Science 的里程碑与任务边界</a:t>
            </a:r>
          </a:p>
        </p:txBody>
      </p:sp>
      <p:sp>
        <p:nvSpPr>
          <p:cNvPr id="1115" name="矩形: 圆角 1114"/>
          <p:cNvSpPr/>
          <p:nvPr/>
        </p:nvSpPr>
        <p:spPr>
          <a:xfrm>
            <a:off x="381000" y="1114425"/>
            <a:ext cx="571500" cy="47625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16" name="矩形: 圆角 1115"/>
          <p:cNvSpPr/>
          <p:nvPr/>
        </p:nvSpPr>
        <p:spPr>
          <a:xfrm>
            <a:off x="381000" y="1333500"/>
            <a:ext cx="2743200" cy="4019550"/>
          </a:xfrm>
          <a:prstGeom prst="roundRect">
            <a:avLst>
              <a:gd name="adj" fmla="val 3472"/>
            </a:avLst>
          </a:prstGeom>
          <a:solidFill>
            <a:srgbClr val="E8F1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17" name="文本框 1116" descr="{&quot;isTemplate&quot;:true,&quot;type&quot;:&quot;text&quot;}"/>
          <p:cNvSpPr txBox="1"/>
          <p:nvPr/>
        </p:nvSpPr>
        <p:spPr>
          <a:xfrm>
            <a:off x="533400" y="1504950"/>
            <a:ext cx="24384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5D6E85"/>
                </a:solidFill>
                <a:latin typeface="微软雅黑"/>
                <a:ea typeface="微软雅黑"/>
              </a:rPr>
              <a:t>2020</a:t>
            </a:r>
            <a:endParaRPr/>
          </a:p>
        </p:txBody>
      </p:sp>
      <p:sp>
        <p:nvSpPr>
          <p:cNvPr id="1118" name="文本框 1117" descr="{&quot;isTemplate&quot;:true,&quot;type&quot;:&quot;text&quot;}"/>
          <p:cNvSpPr txBox="1"/>
          <p:nvPr/>
        </p:nvSpPr>
        <p:spPr>
          <a:xfrm>
            <a:off x="533400" y="1704975"/>
            <a:ext cx="24384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微软雅黑"/>
                <a:ea typeface="微软雅黑"/>
              </a:rPr>
              <a:t>AlphaFold2</a:t>
            </a:r>
            <a:endParaRPr/>
          </a:p>
        </p:txBody>
      </p:sp>
      <p:sp>
        <p:nvSpPr>
          <p:cNvPr id="1119" name="文本框 1118" descr="{&quot;isTemplate&quot;:true,&quot;type&quot;:&quot;text&quot;}"/>
          <p:cNvSpPr txBox="1"/>
          <p:nvPr/>
        </p:nvSpPr>
        <p:spPr>
          <a:xfrm>
            <a:off x="533400" y="2038350"/>
            <a:ext cx="2438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1B33"/>
                </a:solidFill>
                <a:latin typeface="微软雅黑"/>
                <a:ea typeface="微软雅黑"/>
              </a:rPr>
              <a:t>生物结构预测</a:t>
            </a:r>
            <a:endParaRPr/>
          </a:p>
        </p:txBody>
      </p:sp>
      <p:sp>
        <p:nvSpPr>
          <p:cNvPr id="1120" name="文本框 1119" descr="{&quot;isTemplate&quot;:true,&quot;type&quot;:&quot;text&quot;}"/>
          <p:cNvSpPr txBox="1"/>
          <p:nvPr/>
        </p:nvSpPr>
        <p:spPr>
          <a:xfrm>
            <a:off x="533400" y="2305050"/>
            <a:ext cx="24384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把预测精度从「能用」推到「接近实验」，并开源全部权重与方法</a:t>
            </a:r>
            <a:endParaRPr/>
          </a:p>
        </p:txBody>
      </p:sp>
      <p:sp>
        <p:nvSpPr>
          <p:cNvPr id="1121" name="矩形: 圆角 1120"/>
          <p:cNvSpPr/>
          <p:nvPr/>
        </p:nvSpPr>
        <p:spPr>
          <a:xfrm>
            <a:off x="3276600" y="1333500"/>
            <a:ext cx="2743200" cy="4019550"/>
          </a:xfrm>
          <a:prstGeom prst="roundRect">
            <a:avLst>
              <a:gd name="adj" fmla="val 3472"/>
            </a:avLst>
          </a:prstGeom>
          <a:solidFill>
            <a:srgbClr val="DCE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22" name="文本框 1121" descr="{&quot;isTemplate&quot;:true,&quot;type&quot;:&quot;text&quot;}"/>
          <p:cNvSpPr txBox="1"/>
          <p:nvPr/>
        </p:nvSpPr>
        <p:spPr>
          <a:xfrm>
            <a:off x="3429000" y="1504950"/>
            <a:ext cx="24384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5D6E85"/>
                </a:solidFill>
                <a:latin typeface="微软雅黑"/>
                <a:ea typeface="微软雅黑"/>
              </a:rPr>
              <a:t>2023</a:t>
            </a:r>
            <a:endParaRPr/>
          </a:p>
        </p:txBody>
      </p:sp>
      <p:sp>
        <p:nvSpPr>
          <p:cNvPr id="1123" name="文本框 1122" descr="{&quot;isTemplate&quot;:true,&quot;type&quot;:&quot;text&quot;}"/>
          <p:cNvSpPr txBox="1"/>
          <p:nvPr/>
        </p:nvSpPr>
        <p:spPr>
          <a:xfrm>
            <a:off x="3429000" y="1704975"/>
            <a:ext cx="24384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微软雅黑"/>
                <a:ea typeface="微软雅黑"/>
              </a:rPr>
              <a:t>GNoME</a:t>
            </a:r>
            <a:endParaRPr/>
          </a:p>
        </p:txBody>
      </p:sp>
      <p:sp>
        <p:nvSpPr>
          <p:cNvPr id="1124" name="文本框 1123" descr="{&quot;isTemplate&quot;:true,&quot;type&quot;:&quot;text&quot;}"/>
          <p:cNvSpPr txBox="1"/>
          <p:nvPr/>
        </p:nvSpPr>
        <p:spPr>
          <a:xfrm>
            <a:off x="3429000" y="2038350"/>
            <a:ext cx="2438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1B33"/>
                </a:solidFill>
                <a:latin typeface="微软雅黑"/>
                <a:ea typeface="微软雅黑"/>
              </a:rPr>
              <a:t>材料稳定性</a:t>
            </a:r>
            <a:endParaRPr/>
          </a:p>
        </p:txBody>
      </p:sp>
      <p:sp>
        <p:nvSpPr>
          <p:cNvPr id="1125" name="文本框 1124" descr="{&quot;isTemplate&quot;:true,&quot;type&quot;:&quot;text&quot;}"/>
          <p:cNvSpPr txBox="1"/>
          <p:nvPr/>
        </p:nvSpPr>
        <p:spPr>
          <a:xfrm>
            <a:off x="3429000" y="2305050"/>
            <a:ext cx="24384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用模型批量筛选结构稳定性，报告了</a:t>
            </a: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 10⁵—10⁶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量级候选（原论文口径）</a:t>
            </a:r>
            <a:endParaRPr/>
          </a:p>
        </p:txBody>
      </p:sp>
      <p:sp>
        <p:nvSpPr>
          <p:cNvPr id="1126" name="矩形: 圆角 1125"/>
          <p:cNvSpPr/>
          <p:nvPr/>
        </p:nvSpPr>
        <p:spPr>
          <a:xfrm>
            <a:off x="6172200" y="1333500"/>
            <a:ext cx="2743200" cy="4019550"/>
          </a:xfrm>
          <a:prstGeom prst="roundRect">
            <a:avLst>
              <a:gd name="adj" fmla="val 3472"/>
            </a:avLst>
          </a:prstGeom>
          <a:solidFill>
            <a:srgbClr val="C3D5E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27" name="文本框 1126" descr="{&quot;isTemplate&quot;:true,&quot;type&quot;:&quot;text&quot;}"/>
          <p:cNvSpPr txBox="1"/>
          <p:nvPr/>
        </p:nvSpPr>
        <p:spPr>
          <a:xfrm>
            <a:off x="6324600" y="1504950"/>
            <a:ext cx="24384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5D6E85"/>
                </a:solidFill>
                <a:latin typeface="微软雅黑"/>
                <a:ea typeface="微软雅黑"/>
              </a:rPr>
              <a:t>2025</a:t>
            </a:r>
            <a:endParaRPr/>
          </a:p>
        </p:txBody>
      </p:sp>
      <p:sp>
        <p:nvSpPr>
          <p:cNvPr id="1128" name="文本框 1127" descr="{&quot;isTemplate&quot;:true,&quot;type&quot;:&quot;text&quot;}"/>
          <p:cNvSpPr txBox="1"/>
          <p:nvPr/>
        </p:nvSpPr>
        <p:spPr>
          <a:xfrm>
            <a:off x="6324600" y="1704975"/>
            <a:ext cx="24384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微软雅黑"/>
                <a:ea typeface="微软雅黑"/>
              </a:rPr>
              <a:t>MatterGen</a:t>
            </a:r>
            <a:endParaRPr/>
          </a:p>
        </p:txBody>
      </p:sp>
      <p:sp>
        <p:nvSpPr>
          <p:cNvPr id="1129" name="文本框 1128" descr="{&quot;isTemplate&quot;:true,&quot;type&quot;:&quot;text&quot;}"/>
          <p:cNvSpPr txBox="1"/>
          <p:nvPr/>
        </p:nvSpPr>
        <p:spPr>
          <a:xfrm>
            <a:off x="6324600" y="2038350"/>
            <a:ext cx="2438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1B33"/>
                </a:solidFill>
                <a:latin typeface="微软雅黑"/>
                <a:ea typeface="微软雅黑"/>
              </a:rPr>
              <a:t>条件生成</a:t>
            </a:r>
            <a:endParaRPr/>
          </a:p>
        </p:txBody>
      </p:sp>
      <p:sp>
        <p:nvSpPr>
          <p:cNvPr id="1130" name="文本框 1129" descr="{&quot;isTemplate&quot;:true,&quot;type&quot;:&quot;text&quot;}"/>
          <p:cNvSpPr txBox="1"/>
          <p:nvPr/>
        </p:nvSpPr>
        <p:spPr>
          <a:xfrm>
            <a:off x="6324600" y="2305050"/>
            <a:ext cx="24384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按目标性质条件生成晶体结构，而非只筛选现有数据库</a:t>
            </a:r>
            <a:endParaRPr/>
          </a:p>
        </p:txBody>
      </p:sp>
      <p:sp>
        <p:nvSpPr>
          <p:cNvPr id="1131" name="矩形: 圆角 1130"/>
          <p:cNvSpPr/>
          <p:nvPr/>
        </p:nvSpPr>
        <p:spPr>
          <a:xfrm>
            <a:off x="9067800" y="1333500"/>
            <a:ext cx="2743200" cy="4019550"/>
          </a:xfrm>
          <a:prstGeom prst="roundRect">
            <a:avLst>
              <a:gd name="adj" fmla="val 3472"/>
            </a:avLst>
          </a:prstGeom>
          <a:solidFill>
            <a:srgbClr val="B3C9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32" name="文本框 1131" descr="{&quot;isTemplate&quot;:true,&quot;type&quot;:&quot;text&quot;}"/>
          <p:cNvSpPr txBox="1"/>
          <p:nvPr/>
        </p:nvSpPr>
        <p:spPr>
          <a:xfrm>
            <a:off x="9220200" y="1504950"/>
            <a:ext cx="24384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5D6E85"/>
                </a:solidFill>
                <a:latin typeface="微软雅黑"/>
                <a:ea typeface="微软雅黑"/>
              </a:rPr>
              <a:t>2020s</a:t>
            </a:r>
            <a:endParaRPr/>
          </a:p>
        </p:txBody>
      </p:sp>
      <p:sp>
        <p:nvSpPr>
          <p:cNvPr id="1133" name="文本框 1132" descr="{&quot;isTemplate&quot;:true,&quot;type&quot;:&quot;text&quot;}"/>
          <p:cNvSpPr txBox="1"/>
          <p:nvPr/>
        </p:nvSpPr>
        <p:spPr>
          <a:xfrm>
            <a:off x="9220200" y="1704975"/>
            <a:ext cx="24384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微软雅黑"/>
                <a:ea typeface="微软雅黑"/>
              </a:rPr>
              <a:t>自驱动实验室</a:t>
            </a:r>
            <a:endParaRPr/>
          </a:p>
        </p:txBody>
      </p:sp>
      <p:sp>
        <p:nvSpPr>
          <p:cNvPr id="1134" name="文本框 1133" descr="{&quot;isTemplate&quot;:true,&quot;type&quot;:&quot;text&quot;}"/>
          <p:cNvSpPr txBox="1"/>
          <p:nvPr/>
        </p:nvSpPr>
        <p:spPr>
          <a:xfrm>
            <a:off x="9220200" y="2038350"/>
            <a:ext cx="2438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1B33"/>
                </a:solidFill>
                <a:latin typeface="微软雅黑"/>
                <a:ea typeface="微软雅黑"/>
              </a:rPr>
              <a:t>实验闭环</a:t>
            </a:r>
            <a:endParaRPr/>
          </a:p>
        </p:txBody>
      </p:sp>
      <p:sp>
        <p:nvSpPr>
          <p:cNvPr id="1135" name="文本框 1134" descr="{&quot;isTemplate&quot;:true,&quot;type&quot;:&quot;text&quot;}"/>
          <p:cNvSpPr txBox="1"/>
          <p:nvPr/>
        </p:nvSpPr>
        <p:spPr>
          <a:xfrm>
            <a:off x="9220200" y="2305050"/>
            <a:ext cx="24384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用机器人执行合成与表征，由算法决定下一步</a:t>
            </a:r>
            <a:endParaRPr/>
          </a:p>
        </p:txBody>
      </p:sp>
      <p:sp>
        <p:nvSpPr>
          <p:cNvPr id="1136" name="矩形: 圆角 1135"/>
          <p:cNvSpPr/>
          <p:nvPr/>
        </p:nvSpPr>
        <p:spPr>
          <a:xfrm>
            <a:off x="381000" y="5486400"/>
            <a:ext cx="11430000" cy="1028700"/>
          </a:xfrm>
          <a:prstGeom prst="roundRect">
            <a:avLst>
              <a:gd name="adj" fmla="val 9259"/>
            </a:avLst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37" name="文本框 1136" descr="{&quot;isTemplate&quot;:true,&quot;type&quot;:&quot;text&quot;}"/>
          <p:cNvSpPr txBox="1"/>
          <p:nvPr/>
        </p:nvSpPr>
        <p:spPr>
          <a:xfrm>
            <a:off x="609600" y="5657850"/>
            <a:ext cx="10972800" cy="685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5000"/>
              </a:lnSpc>
            </a:pPr>
            <a:r>
              <a:rPr lang="zh-CN" sz="1350" b="1">
                <a:solidFill>
                  <a:srgbClr val="8D6E00"/>
                </a:solidFill>
                <a:latin typeface="微软雅黑"/>
                <a:ea typeface="微软雅黑"/>
              </a:rPr>
              <a:t>任务边界：</a:t>
            </a: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AlphaFold 是单一目标、有公开基准、数据丰富的任务；材料任务常多目标、数据稀疏，验证需实验或独立计算。</a:t>
            </a:r>
            <a:r>
              <a:rPr lang="zh-CN" sz="1350" b="1">
                <a:solidFill>
                  <a:srgbClr val="1A2230"/>
                </a:solidFill>
                <a:latin typeface="微软雅黑"/>
                <a:ea typeface="微软雅黑"/>
              </a:rPr>
              <a:t>GNoME 给出的是计算稳定候选，需合成与表征验证</a:t>
            </a: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，与「已发现材料」不同。</a:t>
            </a:r>
          </a:p>
        </p:txBody>
      </p:sp>
      <p:sp>
        <p:nvSpPr>
          <p:cNvPr id="1138" name="文本框 1137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1139" name="文本框 1138" descr="{&quot;isTemplate&quot;:true,&quot;type&quot;:&quot;text&quot;}"/>
          <p:cNvSpPr txBox="1"/>
          <p:nvPr/>
        </p:nvSpPr>
        <p:spPr>
          <a:xfrm>
            <a:off x="54673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1140" name="文本框 1139" descr="{&quot;isTemplate&quot;:true,&quot;type&quot;:&quot;text&quot;}"/>
          <p:cNvSpPr txBox="1"/>
          <p:nvPr/>
        </p:nvSpPr>
        <p:spPr>
          <a:xfrm>
            <a:off x="11410950" y="6610350"/>
            <a:ext cx="4000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42 / 60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矩形 114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43" name="矩形 1142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44" name="文本框 1143" descr="{&quot;isTemplate&quot;:true,&quot;type&quot;:&quot;text&quot;}"/>
          <p:cNvSpPr txBox="1"/>
          <p:nvPr/>
        </p:nvSpPr>
        <p:spPr>
          <a:xfrm>
            <a:off x="342900" y="171450"/>
            <a:ext cx="3524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在材料科学中的应用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讲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材料信息学导论与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产业</a:t>
            </a:r>
            <a:endParaRPr/>
          </a:p>
        </p:txBody>
      </p:sp>
      <p:sp>
        <p:nvSpPr>
          <p:cNvPr id="1145" name="文本框 1144" descr="{&quot;isTemplate&quot;:true,&quot;type&quot;:&quot;text&quot;}"/>
          <p:cNvSpPr txBox="1"/>
          <p:nvPr/>
        </p:nvSpPr>
        <p:spPr>
          <a:xfrm>
            <a:off x="9353550" y="171450"/>
            <a:ext cx="13906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03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材料是如何被发现的</a:t>
            </a:r>
            <a:endParaRPr/>
          </a:p>
        </p:txBody>
      </p:sp>
      <p:pic>
        <p:nvPicPr>
          <p:cNvPr id="1146" name="图片 1145"/>
          <p:cNvPicPr>
            <a:picLocks noChangeAspect="1"/>
          </p:cNvPicPr>
          <p:nvPr/>
        </p:nvPicPr>
        <p:blipFill>
          <a:blip r:embed="rId3"/>
          <a:srcRect l="847" r="847"/>
          <a:stretch>
            <a:fillRect/>
          </a:stretch>
        </p:blipFill>
        <p:spPr>
          <a:xfrm>
            <a:off x="10858500" y="123825"/>
            <a:ext cx="990600" cy="247650"/>
          </a:xfrm>
          <a:prstGeom prst="rect">
            <a:avLst/>
          </a:prstGeom>
          <a:ln/>
        </p:spPr>
      </p:pic>
      <p:sp>
        <p:nvSpPr>
          <p:cNvPr id="1147" name="文本框 1146" descr="{&quot;isTemplate&quot;:true,&quot;type&quot;:&quot;text&quot;}"/>
          <p:cNvSpPr txBox="1"/>
          <p:nvPr/>
        </p:nvSpPr>
        <p:spPr>
          <a:xfrm>
            <a:off x="381000" y="666750"/>
            <a:ext cx="114300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E3F8C"/>
                </a:solidFill>
                <a:latin typeface="钉钉进步体"/>
                <a:ea typeface="钉钉进步体"/>
              </a:rPr>
              <a:t>GNoME </a:t>
            </a:r>
            <a:r>
              <a:rPr lang="zh-CN" sz="2400" b="1">
                <a:solidFill>
                  <a:srgbClr val="0E3F8C"/>
                </a:solidFill>
                <a:latin typeface="钉钉进步体"/>
                <a:ea typeface="钉钉进步体"/>
              </a:rPr>
              <a:t>与大规模稳定性扫描</a:t>
            </a:r>
            <a:endParaRPr/>
          </a:p>
        </p:txBody>
      </p:sp>
      <p:sp>
        <p:nvSpPr>
          <p:cNvPr id="1148" name="矩形: 圆角 1147"/>
          <p:cNvSpPr/>
          <p:nvPr/>
        </p:nvSpPr>
        <p:spPr>
          <a:xfrm>
            <a:off x="381000" y="1114425"/>
            <a:ext cx="571500" cy="47625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49" name="矩形: 圆角 1148"/>
          <p:cNvSpPr/>
          <p:nvPr/>
        </p:nvSpPr>
        <p:spPr>
          <a:xfrm>
            <a:off x="381000" y="1333500"/>
            <a:ext cx="3810000" cy="518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50" name="图片 114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485900"/>
            <a:ext cx="3505200" cy="2333625"/>
          </a:xfrm>
          <a:prstGeom prst="rect">
            <a:avLst/>
          </a:prstGeom>
          <a:ln/>
        </p:spPr>
      </p:pic>
      <p:sp>
        <p:nvSpPr>
          <p:cNvPr id="1151" name="文本框 1150" descr="{&quot;isTemplate&quot;:true,&quot;type&quot;:&quot;text&quot;}"/>
          <p:cNvSpPr txBox="1"/>
          <p:nvPr/>
        </p:nvSpPr>
        <p:spPr>
          <a:xfrm>
            <a:off x="1352550" y="3895725"/>
            <a:ext cx="18669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6B7889"/>
                </a:solidFill>
                <a:latin typeface="微软雅黑"/>
                <a:ea typeface="微软雅黑"/>
              </a:rPr>
              <a:t>大规模扫描得到的稳定晶体结构</a:t>
            </a:r>
            <a:endParaRPr/>
          </a:p>
        </p:txBody>
      </p:sp>
      <p:sp>
        <p:nvSpPr>
          <p:cNvPr id="1152" name="矩形: 圆角 1151"/>
          <p:cNvSpPr/>
          <p:nvPr/>
        </p:nvSpPr>
        <p:spPr>
          <a:xfrm>
            <a:off x="4419600" y="1333500"/>
            <a:ext cx="7391400" cy="1323975"/>
          </a:xfrm>
          <a:prstGeom prst="roundRect">
            <a:avLst>
              <a:gd name="adj" fmla="val 7194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53" name="文本框 1152" descr="{&quot;isTemplate&quot;:true,&quot;type&quot;:&quot;text&quot;}"/>
          <p:cNvSpPr txBox="1"/>
          <p:nvPr/>
        </p:nvSpPr>
        <p:spPr>
          <a:xfrm>
            <a:off x="4610100" y="1524000"/>
            <a:ext cx="70104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/>
                <a:ea typeface="微软雅黑"/>
              </a:rPr>
              <a:t>做了什么</a:t>
            </a:r>
            <a:endParaRPr/>
          </a:p>
        </p:txBody>
      </p:sp>
      <p:sp>
        <p:nvSpPr>
          <p:cNvPr id="1154" name="文本框 1153" descr="{&quot;isTemplate&quot;:true,&quot;type&quot;:&quot;text&quot;}"/>
          <p:cNvSpPr txBox="1"/>
          <p:nvPr/>
        </p:nvSpPr>
        <p:spPr>
          <a:xfrm>
            <a:off x="4610100" y="1819275"/>
            <a:ext cx="7010400" cy="6477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5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用模型替代部分昂贵的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 DFT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计算，先做结构稳定性的批量初筛，把可处理的结构数量提高若干个数量级。</a:t>
            </a:r>
            <a:endParaRPr/>
          </a:p>
        </p:txBody>
      </p:sp>
      <p:sp>
        <p:nvSpPr>
          <p:cNvPr id="1155" name="矩形: 圆角 1154"/>
          <p:cNvSpPr/>
          <p:nvPr/>
        </p:nvSpPr>
        <p:spPr>
          <a:xfrm>
            <a:off x="4419600" y="2771775"/>
            <a:ext cx="7391400" cy="1323975"/>
          </a:xfrm>
          <a:prstGeom prst="roundRect">
            <a:avLst>
              <a:gd name="adj" fmla="val 7194"/>
            </a:avLst>
          </a:prstGeom>
          <a:solidFill>
            <a:srgbClr val="E8F1FC"/>
          </a:solidFill>
          <a:ln w="12700">
            <a:solidFill>
              <a:srgbClr val="1E4F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56" name="文本框 1155" descr="{&quot;isTemplate&quot;:true,&quot;type&quot;:&quot;text&quot;}"/>
          <p:cNvSpPr txBox="1"/>
          <p:nvPr/>
        </p:nvSpPr>
        <p:spPr>
          <a:xfrm>
            <a:off x="4610100" y="2962275"/>
            <a:ext cx="70104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/>
                <a:ea typeface="微软雅黑"/>
              </a:rPr>
              <a:t>意义</a:t>
            </a:r>
            <a:endParaRPr/>
          </a:p>
        </p:txBody>
      </p:sp>
      <p:sp>
        <p:nvSpPr>
          <p:cNvPr id="1157" name="文本框 1156" descr="{&quot;isTemplate&quot;:true,&quot;type&quot;:&quot;text&quot;}"/>
          <p:cNvSpPr txBox="1"/>
          <p:nvPr/>
        </p:nvSpPr>
        <p:spPr>
          <a:xfrm>
            <a:off x="4610100" y="3257550"/>
            <a:ext cx="7010400" cy="6477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5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这是</a:t>
            </a:r>
            <a:r>
              <a:rPr lang="zh-CN" sz="1275" b="1">
                <a:solidFill>
                  <a:srgbClr val="0E3F8C"/>
                </a:solidFill>
                <a:latin typeface="微软雅黑"/>
                <a:ea typeface="微软雅黑"/>
              </a:rPr>
              <a:t>计算筛选规模化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的标志：初筛从逐个人工计算变为可批量执行；但目标设定与最终判断仍由研究者完成，它不是实验闭环。</a:t>
            </a:r>
            <a:endParaRPr/>
          </a:p>
        </p:txBody>
      </p:sp>
      <p:sp>
        <p:nvSpPr>
          <p:cNvPr id="1158" name="矩形: 圆角 1157"/>
          <p:cNvSpPr/>
          <p:nvPr/>
        </p:nvSpPr>
        <p:spPr>
          <a:xfrm>
            <a:off x="4419600" y="4210050"/>
            <a:ext cx="7391400" cy="1638300"/>
          </a:xfrm>
          <a:prstGeom prst="roundRect">
            <a:avLst>
              <a:gd name="adj" fmla="val 5814"/>
            </a:avLst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59" name="文本框 1158" descr="{&quot;isTemplate&quot;:true,&quot;type&quot;:&quot;text&quot;}"/>
          <p:cNvSpPr txBox="1"/>
          <p:nvPr/>
        </p:nvSpPr>
        <p:spPr>
          <a:xfrm>
            <a:off x="4610100" y="4400550"/>
            <a:ext cx="70104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8D6E00"/>
                </a:solidFill>
                <a:latin typeface="微软雅黑"/>
                <a:ea typeface="微软雅黑"/>
              </a:rPr>
              <a:t>必须注意的边界</a:t>
            </a:r>
            <a:endParaRPr/>
          </a:p>
        </p:txBody>
      </p:sp>
      <p:sp>
        <p:nvSpPr>
          <p:cNvPr id="1160" name="文本框 1159" descr="{&quot;isTemplate&quot;:true,&quot;type&quot;:&quot;text&quot;}"/>
          <p:cNvSpPr txBox="1"/>
          <p:nvPr/>
        </p:nvSpPr>
        <p:spPr>
          <a:xfrm>
            <a:off x="4610100" y="4695825"/>
            <a:ext cx="7010400" cy="962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5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计算凸包稳定是给定方法与参考相集合下的筛选指标，不等于真实可合成：可合成性还取决于动力学与工艺，亚稳态材料也可能被合成并应用。要区分「计算筛选候选」与「实验合成并验证」，不能把二者混为一个结论。</a:t>
            </a:r>
            <a:endParaRPr/>
          </a:p>
        </p:txBody>
      </p:sp>
      <p:sp>
        <p:nvSpPr>
          <p:cNvPr id="1161" name="文本框 1160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1162" name="文本框 1161" descr="{&quot;isTemplate&quot;:true,&quot;type&quot;:&quot;text&quot;}"/>
          <p:cNvSpPr txBox="1"/>
          <p:nvPr/>
        </p:nvSpPr>
        <p:spPr>
          <a:xfrm>
            <a:off x="54673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1163" name="文本框 1162" descr="{&quot;isTemplate&quot;:true,&quot;type&quot;:&quot;text&quot;}"/>
          <p:cNvSpPr txBox="1"/>
          <p:nvPr/>
        </p:nvSpPr>
        <p:spPr>
          <a:xfrm>
            <a:off x="11410950" y="6610350"/>
            <a:ext cx="4000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43 / 60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矩形 116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66" name="矩形 1165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67" name="文本框 1166" descr="{&quot;isTemplate&quot;:true,&quot;type&quot;:&quot;text&quot;}"/>
          <p:cNvSpPr txBox="1"/>
          <p:nvPr/>
        </p:nvSpPr>
        <p:spPr>
          <a:xfrm>
            <a:off x="342900" y="171450"/>
            <a:ext cx="3524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在材料科学中的应用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讲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材料信息学导论与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产业</a:t>
            </a:r>
            <a:endParaRPr/>
          </a:p>
        </p:txBody>
      </p:sp>
      <p:sp>
        <p:nvSpPr>
          <p:cNvPr id="1168" name="文本框 1167" descr="{&quot;isTemplate&quot;:true,&quot;type&quot;:&quot;text&quot;}"/>
          <p:cNvSpPr txBox="1"/>
          <p:nvPr/>
        </p:nvSpPr>
        <p:spPr>
          <a:xfrm>
            <a:off x="8601075" y="171450"/>
            <a:ext cx="21431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03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材料是如何被发现的</a:t>
            </a: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补充阅读</a:t>
            </a:r>
            <a:endParaRPr/>
          </a:p>
        </p:txBody>
      </p:sp>
      <p:pic>
        <p:nvPicPr>
          <p:cNvPr id="1169" name="图片 1168"/>
          <p:cNvPicPr>
            <a:picLocks noChangeAspect="1"/>
          </p:cNvPicPr>
          <p:nvPr/>
        </p:nvPicPr>
        <p:blipFill>
          <a:blip r:embed="rId3"/>
          <a:srcRect l="847" r="847"/>
          <a:stretch>
            <a:fillRect/>
          </a:stretch>
        </p:blipFill>
        <p:spPr>
          <a:xfrm>
            <a:off x="10858500" y="123825"/>
            <a:ext cx="990600" cy="247650"/>
          </a:xfrm>
          <a:prstGeom prst="rect">
            <a:avLst/>
          </a:prstGeom>
          <a:ln/>
        </p:spPr>
      </p:pic>
      <p:sp>
        <p:nvSpPr>
          <p:cNvPr id="1170" name="文本框 1169" descr="{&quot;isTemplate&quot;:true,&quot;type&quot;:&quot;text&quot;}"/>
          <p:cNvSpPr txBox="1"/>
          <p:nvPr/>
        </p:nvSpPr>
        <p:spPr>
          <a:xfrm>
            <a:off x="381000" y="666750"/>
            <a:ext cx="114300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钉钉进步体"/>
                <a:ea typeface="钉钉进步体"/>
              </a:rPr>
              <a:t>发现新工具的必要性</a:t>
            </a:r>
            <a:endParaRPr/>
          </a:p>
        </p:txBody>
      </p:sp>
      <p:sp>
        <p:nvSpPr>
          <p:cNvPr id="1171" name="矩形: 圆角 1170"/>
          <p:cNvSpPr/>
          <p:nvPr/>
        </p:nvSpPr>
        <p:spPr>
          <a:xfrm>
            <a:off x="381000" y="1114425"/>
            <a:ext cx="571500" cy="47625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72" name="矩形: 圆角 1171"/>
          <p:cNvSpPr/>
          <p:nvPr/>
        </p:nvSpPr>
        <p:spPr>
          <a:xfrm>
            <a:off x="381000" y="1333500"/>
            <a:ext cx="11430000" cy="4295775"/>
          </a:xfrm>
          <a:prstGeom prst="roundRect">
            <a:avLst>
              <a:gd name="adj" fmla="val 266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73" name="文本框 1172" descr="{&quot;isTemplate&quot;:true,&quot;type&quot;:&quot;text&quot;}"/>
          <p:cNvSpPr txBox="1"/>
          <p:nvPr/>
        </p:nvSpPr>
        <p:spPr>
          <a:xfrm>
            <a:off x="609600" y="1562100"/>
            <a:ext cx="109728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微软雅黑"/>
                <a:ea typeface="微软雅黑"/>
              </a:rPr>
              <a:t>三种手段的能力边界对照</a:t>
            </a:r>
            <a:endParaRPr/>
          </a:p>
        </p:txBody>
      </p:sp>
      <p:sp>
        <p:nvSpPr>
          <p:cNvPr id="1174" name="矩形: 圆角 1173"/>
          <p:cNvSpPr/>
          <p:nvPr/>
        </p:nvSpPr>
        <p:spPr>
          <a:xfrm>
            <a:off x="609600" y="2000250"/>
            <a:ext cx="3533775" cy="1533525"/>
          </a:xfrm>
          <a:prstGeom prst="roundRect">
            <a:avLst>
              <a:gd name="adj" fmla="val 621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75" name="文本框 1174" descr="{&quot;isTemplate&quot;:true,&quot;type&quot;:&quot;text&quot;}"/>
          <p:cNvSpPr txBox="1"/>
          <p:nvPr/>
        </p:nvSpPr>
        <p:spPr>
          <a:xfrm>
            <a:off x="1962150" y="2190750"/>
            <a:ext cx="8382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微软雅黑"/>
                <a:ea typeface="微软雅黑"/>
              </a:rPr>
              <a:t>经验试错</a:t>
            </a:r>
            <a:endParaRPr/>
          </a:p>
        </p:txBody>
      </p:sp>
      <p:sp>
        <p:nvSpPr>
          <p:cNvPr id="1176" name="矩形: 圆角 1175"/>
          <p:cNvSpPr/>
          <p:nvPr/>
        </p:nvSpPr>
        <p:spPr>
          <a:xfrm>
            <a:off x="876300" y="2600325"/>
            <a:ext cx="990600" cy="342900"/>
          </a:xfrm>
          <a:prstGeom prst="roundRect">
            <a:avLst>
              <a:gd name="adj" fmla="val 16667"/>
            </a:avLst>
          </a:prstGeom>
          <a:solidFill>
            <a:srgbClr val="FCE4E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77" name="文本框 1176" descr="{&quot;isTemplate&quot;:true,&quot;type&quot;:&quot;text&quot;}"/>
          <p:cNvSpPr txBox="1"/>
          <p:nvPr/>
        </p:nvSpPr>
        <p:spPr>
          <a:xfrm>
            <a:off x="990600" y="2676525"/>
            <a:ext cx="7620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覆盖能力低</a:t>
            </a:r>
            <a:endParaRPr/>
          </a:p>
        </p:txBody>
      </p:sp>
      <p:sp>
        <p:nvSpPr>
          <p:cNvPr id="1178" name="矩形: 圆角 1177"/>
          <p:cNvSpPr/>
          <p:nvPr/>
        </p:nvSpPr>
        <p:spPr>
          <a:xfrm>
            <a:off x="1924050" y="2600325"/>
            <a:ext cx="1171575" cy="34290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79" name="文本框 1178" descr="{&quot;isTemplate&quot;:true,&quot;type&quot;:&quot;text&quot;}"/>
          <p:cNvSpPr txBox="1"/>
          <p:nvPr/>
        </p:nvSpPr>
        <p:spPr>
          <a:xfrm>
            <a:off x="2038350" y="2676525"/>
            <a:ext cx="9429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可解释性</a:t>
            </a: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> ——</a:t>
            </a:r>
            <a:endParaRPr/>
          </a:p>
        </p:txBody>
      </p:sp>
      <p:sp>
        <p:nvSpPr>
          <p:cNvPr id="1180" name="矩形: 圆角 1179"/>
          <p:cNvSpPr/>
          <p:nvPr/>
        </p:nvSpPr>
        <p:spPr>
          <a:xfrm>
            <a:off x="3152775" y="2600325"/>
            <a:ext cx="733425" cy="342900"/>
          </a:xfrm>
          <a:prstGeom prst="roundRect">
            <a:avLst>
              <a:gd name="adj" fmla="val 16667"/>
            </a:avLst>
          </a:prstGeom>
          <a:solidFill>
            <a:srgbClr val="FFF8E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81" name="文本框 1180" descr="{&quot;isTemplate&quot;:true,&quot;type&quot;:&quot;text&quot;}"/>
          <p:cNvSpPr txBox="1"/>
          <p:nvPr/>
        </p:nvSpPr>
        <p:spPr>
          <a:xfrm>
            <a:off x="3267075" y="2676525"/>
            <a:ext cx="5048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成本</a:t>
            </a: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高</a:t>
            </a:r>
            <a:endParaRPr/>
          </a:p>
        </p:txBody>
      </p:sp>
      <p:sp>
        <p:nvSpPr>
          <p:cNvPr id="1182" name="矩形: 圆角 1181"/>
          <p:cNvSpPr/>
          <p:nvPr/>
        </p:nvSpPr>
        <p:spPr>
          <a:xfrm>
            <a:off x="2009775" y="3000375"/>
            <a:ext cx="733425" cy="342900"/>
          </a:xfrm>
          <a:prstGeom prst="roundRect">
            <a:avLst>
              <a:gd name="adj" fmla="val 16667"/>
            </a:avLst>
          </a:prstGeom>
          <a:solidFill>
            <a:srgbClr val="E3EC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83" name="文本框 1182" descr="{&quot;isTemplate&quot;:true,&quot;type&quot;:&quot;text&quot;}"/>
          <p:cNvSpPr txBox="1"/>
          <p:nvPr/>
        </p:nvSpPr>
        <p:spPr>
          <a:xfrm>
            <a:off x="2124075" y="3076575"/>
            <a:ext cx="5048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速度</a:t>
            </a: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慢</a:t>
            </a:r>
            <a:endParaRPr/>
          </a:p>
        </p:txBody>
      </p:sp>
      <p:sp>
        <p:nvSpPr>
          <p:cNvPr id="1184" name="矩形: 圆角 1183"/>
          <p:cNvSpPr/>
          <p:nvPr/>
        </p:nvSpPr>
        <p:spPr>
          <a:xfrm>
            <a:off x="4333875" y="2000250"/>
            <a:ext cx="3524250" cy="1533525"/>
          </a:xfrm>
          <a:prstGeom prst="roundRect">
            <a:avLst>
              <a:gd name="adj" fmla="val 621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85" name="文本框 1184" descr="{&quot;isTemplate&quot;:true,&quot;type&quot;:&quot;text&quot;}"/>
          <p:cNvSpPr txBox="1"/>
          <p:nvPr/>
        </p:nvSpPr>
        <p:spPr>
          <a:xfrm>
            <a:off x="5572125" y="2190750"/>
            <a:ext cx="10477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微软雅黑"/>
                <a:ea typeface="微软雅黑"/>
              </a:rPr>
              <a:t>第一性原理</a:t>
            </a:r>
            <a:endParaRPr/>
          </a:p>
        </p:txBody>
      </p:sp>
      <p:sp>
        <p:nvSpPr>
          <p:cNvPr id="1186" name="矩形: 圆角 1185"/>
          <p:cNvSpPr/>
          <p:nvPr/>
        </p:nvSpPr>
        <p:spPr>
          <a:xfrm>
            <a:off x="4638675" y="2600325"/>
            <a:ext cx="1038225" cy="342900"/>
          </a:xfrm>
          <a:prstGeom prst="roundRect">
            <a:avLst>
              <a:gd name="adj" fmla="val 16667"/>
            </a:avLst>
          </a:prstGeom>
          <a:solidFill>
            <a:srgbClr val="FCE4E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87" name="文本框 1186" descr="{&quot;isTemplate&quot;:true,&quot;type&quot;:&quot;text&quot;}"/>
          <p:cNvSpPr txBox="1"/>
          <p:nvPr/>
        </p:nvSpPr>
        <p:spPr>
          <a:xfrm>
            <a:off x="4752975" y="2676525"/>
            <a:ext cx="8096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覆盖能力</a:t>
            </a: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中</a:t>
            </a:r>
            <a:endParaRPr/>
          </a:p>
        </p:txBody>
      </p:sp>
      <p:sp>
        <p:nvSpPr>
          <p:cNvPr id="1188" name="矩形: 圆角 1187"/>
          <p:cNvSpPr/>
          <p:nvPr/>
        </p:nvSpPr>
        <p:spPr>
          <a:xfrm>
            <a:off x="5734050" y="2600325"/>
            <a:ext cx="1038225" cy="34290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89" name="文本框 1188" descr="{&quot;isTemplate&quot;:true,&quot;type&quot;:&quot;text&quot;}"/>
          <p:cNvSpPr txBox="1"/>
          <p:nvPr/>
        </p:nvSpPr>
        <p:spPr>
          <a:xfrm>
            <a:off x="5848350" y="2676525"/>
            <a:ext cx="8096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可解释性</a:t>
            </a: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高</a:t>
            </a:r>
            <a:endParaRPr/>
          </a:p>
        </p:txBody>
      </p:sp>
      <p:sp>
        <p:nvSpPr>
          <p:cNvPr id="1190" name="矩形: 圆角 1189"/>
          <p:cNvSpPr/>
          <p:nvPr/>
        </p:nvSpPr>
        <p:spPr>
          <a:xfrm>
            <a:off x="6829425" y="2600325"/>
            <a:ext cx="733425" cy="342900"/>
          </a:xfrm>
          <a:prstGeom prst="roundRect">
            <a:avLst>
              <a:gd name="adj" fmla="val 16667"/>
            </a:avLst>
          </a:prstGeom>
          <a:solidFill>
            <a:srgbClr val="FFF8E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91" name="文本框 1190" descr="{&quot;isTemplate&quot;:true,&quot;type&quot;:&quot;text&quot;}"/>
          <p:cNvSpPr txBox="1"/>
          <p:nvPr/>
        </p:nvSpPr>
        <p:spPr>
          <a:xfrm>
            <a:off x="6943725" y="2676525"/>
            <a:ext cx="5048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成本</a:t>
            </a: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中</a:t>
            </a:r>
            <a:endParaRPr/>
          </a:p>
        </p:txBody>
      </p:sp>
      <p:sp>
        <p:nvSpPr>
          <p:cNvPr id="1192" name="矩形: 圆角 1191"/>
          <p:cNvSpPr/>
          <p:nvPr/>
        </p:nvSpPr>
        <p:spPr>
          <a:xfrm>
            <a:off x="5734050" y="3000375"/>
            <a:ext cx="733425" cy="342900"/>
          </a:xfrm>
          <a:prstGeom prst="roundRect">
            <a:avLst>
              <a:gd name="adj" fmla="val 16667"/>
            </a:avLst>
          </a:prstGeom>
          <a:solidFill>
            <a:srgbClr val="E3EC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93" name="文本框 1192" descr="{&quot;isTemplate&quot;:true,&quot;type&quot;:&quot;text&quot;}"/>
          <p:cNvSpPr txBox="1"/>
          <p:nvPr/>
        </p:nvSpPr>
        <p:spPr>
          <a:xfrm>
            <a:off x="5848350" y="3076575"/>
            <a:ext cx="5048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速度</a:t>
            </a: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中</a:t>
            </a:r>
            <a:endParaRPr/>
          </a:p>
        </p:txBody>
      </p:sp>
      <p:sp>
        <p:nvSpPr>
          <p:cNvPr id="1194" name="矩形: 圆角 1193"/>
          <p:cNvSpPr/>
          <p:nvPr/>
        </p:nvSpPr>
        <p:spPr>
          <a:xfrm>
            <a:off x="8048625" y="2000250"/>
            <a:ext cx="3533775" cy="1533525"/>
          </a:xfrm>
          <a:prstGeom prst="roundRect">
            <a:avLst>
              <a:gd name="adj" fmla="val 621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95" name="文本框 1194" descr="{&quot;isTemplate&quot;:true,&quot;type&quot;:&quot;text&quot;}"/>
          <p:cNvSpPr txBox="1"/>
          <p:nvPr/>
        </p:nvSpPr>
        <p:spPr>
          <a:xfrm>
            <a:off x="9401175" y="2190750"/>
            <a:ext cx="8382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微软雅黑"/>
                <a:ea typeface="微软雅黑"/>
              </a:rPr>
              <a:t>机器学习</a:t>
            </a:r>
            <a:endParaRPr/>
          </a:p>
        </p:txBody>
      </p:sp>
      <p:sp>
        <p:nvSpPr>
          <p:cNvPr id="1196" name="矩形: 圆角 1195"/>
          <p:cNvSpPr/>
          <p:nvPr/>
        </p:nvSpPr>
        <p:spPr>
          <a:xfrm>
            <a:off x="8353425" y="2600325"/>
            <a:ext cx="1038225" cy="342900"/>
          </a:xfrm>
          <a:prstGeom prst="roundRect">
            <a:avLst>
              <a:gd name="adj" fmla="val 16667"/>
            </a:avLst>
          </a:prstGeom>
          <a:solidFill>
            <a:srgbClr val="FCE4E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97" name="文本框 1196" descr="{&quot;isTemplate&quot;:true,&quot;type&quot;:&quot;text&quot;}"/>
          <p:cNvSpPr txBox="1"/>
          <p:nvPr/>
        </p:nvSpPr>
        <p:spPr>
          <a:xfrm>
            <a:off x="8467725" y="2676525"/>
            <a:ext cx="8096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覆盖能力</a:t>
            </a: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高</a:t>
            </a:r>
            <a:endParaRPr/>
          </a:p>
        </p:txBody>
      </p:sp>
      <p:sp>
        <p:nvSpPr>
          <p:cNvPr id="1198" name="矩形: 圆角 1197"/>
          <p:cNvSpPr/>
          <p:nvPr/>
        </p:nvSpPr>
        <p:spPr>
          <a:xfrm>
            <a:off x="9448800" y="2600325"/>
            <a:ext cx="1038225" cy="342900"/>
          </a:xfrm>
          <a:prstGeom prst="roundRect">
            <a:avLst>
              <a:gd name="adj" fmla="val 16667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99" name="文本框 1198" descr="{&quot;isTemplate&quot;:true,&quot;type&quot;:&quot;text&quot;}"/>
          <p:cNvSpPr txBox="1"/>
          <p:nvPr/>
        </p:nvSpPr>
        <p:spPr>
          <a:xfrm>
            <a:off x="9563100" y="2676525"/>
            <a:ext cx="8096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可解释性</a:t>
            </a: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低</a:t>
            </a:r>
            <a:endParaRPr/>
          </a:p>
        </p:txBody>
      </p:sp>
      <p:sp>
        <p:nvSpPr>
          <p:cNvPr id="1200" name="矩形: 圆角 1199"/>
          <p:cNvSpPr/>
          <p:nvPr/>
        </p:nvSpPr>
        <p:spPr>
          <a:xfrm>
            <a:off x="10544175" y="2600325"/>
            <a:ext cx="733425" cy="342900"/>
          </a:xfrm>
          <a:prstGeom prst="roundRect">
            <a:avLst>
              <a:gd name="adj" fmla="val 16667"/>
            </a:avLst>
          </a:prstGeom>
          <a:solidFill>
            <a:srgbClr val="FFF8E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01" name="文本框 1200" descr="{&quot;isTemplate&quot;:true,&quot;type&quot;:&quot;text&quot;}"/>
          <p:cNvSpPr txBox="1"/>
          <p:nvPr/>
        </p:nvSpPr>
        <p:spPr>
          <a:xfrm>
            <a:off x="10658475" y="2676525"/>
            <a:ext cx="5048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成本</a:t>
            </a: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低</a:t>
            </a:r>
            <a:endParaRPr/>
          </a:p>
        </p:txBody>
      </p:sp>
      <p:sp>
        <p:nvSpPr>
          <p:cNvPr id="1202" name="矩形: 圆角 1201"/>
          <p:cNvSpPr/>
          <p:nvPr/>
        </p:nvSpPr>
        <p:spPr>
          <a:xfrm>
            <a:off x="9448800" y="3000375"/>
            <a:ext cx="733425" cy="342900"/>
          </a:xfrm>
          <a:prstGeom prst="roundRect">
            <a:avLst>
              <a:gd name="adj" fmla="val 16667"/>
            </a:avLst>
          </a:prstGeom>
          <a:solidFill>
            <a:srgbClr val="E3EC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03" name="文本框 1202" descr="{&quot;isTemplate&quot;:true,&quot;type&quot;:&quot;text&quot;}"/>
          <p:cNvSpPr txBox="1"/>
          <p:nvPr/>
        </p:nvSpPr>
        <p:spPr>
          <a:xfrm>
            <a:off x="9563100" y="3076575"/>
            <a:ext cx="5048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速度</a:t>
            </a:r>
            <a:r>
              <a:rPr lang="en-US" sz="1200">
                <a:solidFill>
                  <a:srgbClr val="1A2230"/>
                </a:solidFill>
                <a:latin typeface="微软雅黑"/>
                <a:ea typeface="微软雅黑"/>
              </a:rPr>
              <a:t> 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快</a:t>
            </a:r>
            <a:endParaRPr/>
          </a:p>
        </p:txBody>
      </p:sp>
      <p:sp>
        <p:nvSpPr>
          <p:cNvPr id="1204" name="矩形: 圆角 1203"/>
          <p:cNvSpPr/>
          <p:nvPr/>
        </p:nvSpPr>
        <p:spPr>
          <a:xfrm>
            <a:off x="381000" y="5762625"/>
            <a:ext cx="11430000" cy="752475"/>
          </a:xfrm>
          <a:prstGeom prst="roundRect">
            <a:avLst>
              <a:gd name="adj" fmla="val 12658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05" name="文本框 1204" descr="{&quot;isTemplate&quot;:true,&quot;type&quot;:&quot;text&quot;}"/>
          <p:cNvSpPr txBox="1"/>
          <p:nvPr/>
        </p:nvSpPr>
        <p:spPr>
          <a:xfrm>
            <a:off x="628650" y="5953125"/>
            <a:ext cx="109347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60000"/>
              </a:lnSpc>
            </a:pPr>
            <a:r>
              <a:rPr lang="zh-CN" sz="1500">
                <a:solidFill>
                  <a:srgbClr val="FFFFFF"/>
                </a:solidFill>
                <a:latin typeface="微软雅黑"/>
                <a:ea typeface="微软雅黑"/>
              </a:rPr>
              <a:t>没有单一手段能覆盖全部需求——</a:t>
            </a:r>
            <a:r>
              <a:rPr lang="zh-CN" sz="1500" b="1">
                <a:solidFill>
                  <a:srgbClr val="FFC107"/>
                </a:solidFill>
                <a:latin typeface="微软雅黑"/>
                <a:ea typeface="微软雅黑"/>
              </a:rPr>
              <a:t>材料信息学的定位，是给这三种手段补上「覆盖能力」这一维</a:t>
            </a:r>
            <a:endParaRPr/>
          </a:p>
        </p:txBody>
      </p:sp>
      <p:sp>
        <p:nvSpPr>
          <p:cNvPr id="1206" name="文本框 1205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1207" name="文本框 1206" descr="{&quot;isTemplate&quot;:true,&quot;type&quot;:&quot;text&quot;}"/>
          <p:cNvSpPr txBox="1"/>
          <p:nvPr/>
        </p:nvSpPr>
        <p:spPr>
          <a:xfrm>
            <a:off x="54673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1208" name="文本框 1207" descr="{&quot;isTemplate&quot;:true,&quot;type&quot;:&quot;text&quot;}"/>
          <p:cNvSpPr txBox="1"/>
          <p:nvPr/>
        </p:nvSpPr>
        <p:spPr>
          <a:xfrm>
            <a:off x="11410950" y="6610350"/>
            <a:ext cx="4000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44 / 60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矩形 120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11" name="文本框 1210" descr="{&quot;isTemplate&quot;:true,&quot;type&quot;:&quot;text&quot;}"/>
          <p:cNvSpPr txBox="1"/>
          <p:nvPr/>
        </p:nvSpPr>
        <p:spPr>
          <a:xfrm>
            <a:off x="5429250" y="1990725"/>
            <a:ext cx="1343025" cy="12573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0" b="1">
                <a:solidFill>
                  <a:srgbClr val="0E3F8C"/>
                </a:solidFill>
                <a:latin typeface="钉钉进步体"/>
                <a:ea typeface="钉钉进步体"/>
              </a:rPr>
              <a:t>04</a:t>
            </a:r>
            <a:endParaRPr/>
          </a:p>
        </p:txBody>
      </p:sp>
      <p:sp>
        <p:nvSpPr>
          <p:cNvPr id="1212" name="文本框 1211" descr="{&quot;isTemplate&quot;:true,&quot;type&quot;:&quot;text&quot;}"/>
          <p:cNvSpPr txBox="1"/>
          <p:nvPr/>
        </p:nvSpPr>
        <p:spPr>
          <a:xfrm>
            <a:off x="4476750" y="3305175"/>
            <a:ext cx="3248025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0B1B33"/>
                </a:solidFill>
                <a:latin typeface="钉钉进步体"/>
                <a:ea typeface="钉钉进步体"/>
              </a:rPr>
              <a:t>AI </a:t>
            </a:r>
            <a:r>
              <a:rPr lang="zh-CN" sz="2700" b="1">
                <a:solidFill>
                  <a:srgbClr val="0B1B33"/>
                </a:solidFill>
                <a:latin typeface="钉钉进步体"/>
                <a:ea typeface="钉钉进步体"/>
              </a:rPr>
              <a:t>材料产业与黄金热</a:t>
            </a:r>
            <a:endParaRPr/>
          </a:p>
        </p:txBody>
      </p:sp>
      <p:sp>
        <p:nvSpPr>
          <p:cNvPr id="1213" name="矩形: 圆角 1212"/>
          <p:cNvSpPr/>
          <p:nvPr/>
        </p:nvSpPr>
        <p:spPr>
          <a:xfrm>
            <a:off x="5667375" y="3895725"/>
            <a:ext cx="857250" cy="47625"/>
          </a:xfrm>
          <a:prstGeom prst="roundRect">
            <a:avLst>
              <a:gd name="adj" fmla="val 60000"/>
            </a:avLst>
          </a:prstGeom>
          <a:solidFill>
            <a:srgbClr val="FFC10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14" name="文本框 1213" descr="{&quot;isTemplate&quot;:true,&quot;type&quot;:&quot;text&quot;}"/>
          <p:cNvSpPr txBox="1"/>
          <p:nvPr/>
        </p:nvSpPr>
        <p:spPr>
          <a:xfrm>
            <a:off x="4572000" y="4133850"/>
            <a:ext cx="30480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70000"/>
              </a:lnSpc>
            </a:pPr>
            <a:r>
              <a:rPr lang="zh-CN" sz="1500">
                <a:solidFill>
                  <a:srgbClr val="3A4759"/>
                </a:solidFill>
                <a:latin typeface="微软雅黑"/>
                <a:ea typeface="微软雅黑"/>
              </a:rPr>
              <a:t>谁在投入</a:t>
            </a:r>
            <a:r>
              <a:rPr lang="en-US" sz="1500">
                <a:solidFill>
                  <a:srgbClr val="3A4759"/>
                </a:solidFill>
                <a:latin typeface="微软雅黑"/>
                <a:ea typeface="微软雅黑"/>
              </a:rPr>
              <a:t> · </a:t>
            </a:r>
            <a:r>
              <a:rPr lang="zh-CN" sz="1500">
                <a:solidFill>
                  <a:srgbClr val="3A4759"/>
                </a:solidFill>
                <a:latin typeface="微软雅黑"/>
                <a:ea typeface="微软雅黑"/>
              </a:rPr>
              <a:t>投入什么</a:t>
            </a:r>
            <a:r>
              <a:rPr lang="en-US" sz="1500">
                <a:solidFill>
                  <a:srgbClr val="3A4759"/>
                </a:solidFill>
                <a:latin typeface="微软雅黑"/>
                <a:ea typeface="微软雅黑"/>
              </a:rPr>
              <a:t> · </a:t>
            </a:r>
            <a:r>
              <a:rPr lang="zh-CN" sz="1500">
                <a:solidFill>
                  <a:srgbClr val="3A4759"/>
                </a:solidFill>
                <a:latin typeface="微软雅黑"/>
                <a:ea typeface="微软雅黑"/>
              </a:rPr>
              <a:t>为什么是现在</a:t>
            </a:r>
            <a:endParaRPr/>
          </a:p>
        </p:txBody>
      </p:sp>
      <p:sp>
        <p:nvSpPr>
          <p:cNvPr id="1215" name="文本框 1214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1216" name="文本框 1215" descr="{&quot;isTemplate&quot;:true,&quot;type&quot;:&quot;text&quot;}"/>
          <p:cNvSpPr txBox="1"/>
          <p:nvPr/>
        </p:nvSpPr>
        <p:spPr>
          <a:xfrm>
            <a:off x="54673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1217" name="文本框 1216" descr="{&quot;isTemplate&quot;:true,&quot;type&quot;:&quot;text&quot;}"/>
          <p:cNvSpPr txBox="1"/>
          <p:nvPr/>
        </p:nvSpPr>
        <p:spPr>
          <a:xfrm>
            <a:off x="11410950" y="6610350"/>
            <a:ext cx="4000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45 / 60</a:t>
            </a:r>
            <a:endParaRPr/>
          </a:p>
        </p:txBody>
      </p:sp>
      <p:pic>
        <p:nvPicPr>
          <p:cNvPr id="3" name="LogoWBG">
            <a:extLst>
              <a:ext uri="{FF2B5EF4-FFF2-40B4-BE49-F238E27FC236}">
                <a16:creationId xmlns:a16="http://schemas.microsoft.com/office/drawing/2014/main" id="{FDA612EE-125B-4917-8721-BBEEE16B6D39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1500" y="177800"/>
            <a:ext cx="952500" cy="235077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矩形 12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20" name="矩形 1219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21" name="文本框 1220" descr="{&quot;isTemplate&quot;:true,&quot;type&quot;:&quot;text&quot;}"/>
          <p:cNvSpPr txBox="1"/>
          <p:nvPr/>
        </p:nvSpPr>
        <p:spPr>
          <a:xfrm>
            <a:off x="342900" y="171450"/>
            <a:ext cx="3524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在材料科学中的应用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讲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材料信息学导论与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产业</a:t>
            </a:r>
            <a:endParaRPr/>
          </a:p>
        </p:txBody>
      </p:sp>
      <p:sp>
        <p:nvSpPr>
          <p:cNvPr id="1222" name="文本框 1221" descr="{&quot;isTemplate&quot;:true,&quot;type&quot;:&quot;text&quot;}"/>
          <p:cNvSpPr txBox="1"/>
          <p:nvPr/>
        </p:nvSpPr>
        <p:spPr>
          <a:xfrm>
            <a:off x="8562975" y="171450"/>
            <a:ext cx="21812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04 AI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材料产业与黄金热</a:t>
            </a: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补充阅读</a:t>
            </a:r>
            <a:endParaRPr/>
          </a:p>
        </p:txBody>
      </p:sp>
      <p:pic>
        <p:nvPicPr>
          <p:cNvPr id="1223" name="图片 1222"/>
          <p:cNvPicPr>
            <a:picLocks noChangeAspect="1"/>
          </p:cNvPicPr>
          <p:nvPr/>
        </p:nvPicPr>
        <p:blipFill>
          <a:blip r:embed="rId3"/>
          <a:srcRect l="847" r="847"/>
          <a:stretch>
            <a:fillRect/>
          </a:stretch>
        </p:blipFill>
        <p:spPr>
          <a:xfrm>
            <a:off x="10858500" y="123825"/>
            <a:ext cx="990600" cy="247650"/>
          </a:xfrm>
          <a:prstGeom prst="rect">
            <a:avLst/>
          </a:prstGeom>
          <a:ln/>
        </p:spPr>
      </p:pic>
      <p:sp>
        <p:nvSpPr>
          <p:cNvPr id="1224" name="文本框 1223" descr="{&quot;isTemplate&quot;:true,&quot;type&quot;:&quot;text&quot;}"/>
          <p:cNvSpPr txBox="1"/>
          <p:nvPr/>
        </p:nvSpPr>
        <p:spPr>
          <a:xfrm>
            <a:off x="381000" y="666750"/>
            <a:ext cx="114300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钉钉进步体"/>
                <a:ea typeface="钉钉进步体"/>
              </a:rPr>
              <a:t>传统材料巨头的</a:t>
            </a:r>
            <a:r>
              <a:rPr lang="en-US" sz="2400" b="1">
                <a:solidFill>
                  <a:srgbClr val="0E3F8C"/>
                </a:solidFill>
                <a:latin typeface="钉钉进步体"/>
                <a:ea typeface="钉钉进步体"/>
              </a:rPr>
              <a:t> AI </a:t>
            </a:r>
            <a:r>
              <a:rPr lang="zh-CN" sz="2400" b="1">
                <a:solidFill>
                  <a:srgbClr val="0E3F8C"/>
                </a:solidFill>
                <a:latin typeface="钉钉进步体"/>
                <a:ea typeface="钉钉进步体"/>
              </a:rPr>
              <a:t>布局</a:t>
            </a:r>
            <a:endParaRPr/>
          </a:p>
        </p:txBody>
      </p:sp>
      <p:sp>
        <p:nvSpPr>
          <p:cNvPr id="1225" name="矩形: 圆角 1224"/>
          <p:cNvSpPr/>
          <p:nvPr/>
        </p:nvSpPr>
        <p:spPr>
          <a:xfrm>
            <a:off x="381000" y="1114425"/>
            <a:ext cx="571500" cy="47625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26" name="文本框 1225" descr="{&quot;isTemplate&quot;:true,&quot;type&quot;:&quot;text&quot;}"/>
          <p:cNvSpPr txBox="1"/>
          <p:nvPr/>
        </p:nvSpPr>
        <p:spPr>
          <a:xfrm>
            <a:off x="381000" y="1333500"/>
            <a:ext cx="11430000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350">
                <a:solidFill>
                  <a:srgbClr val="3A4759"/>
                </a:solidFill>
                <a:latin typeface="微软雅黑"/>
                <a:ea typeface="微软雅黑"/>
              </a:rPr>
              <a:t>讲义列出的参与者横跨多个材料门类——这说明</a:t>
            </a:r>
            <a:r>
              <a:rPr lang="en-US" sz="1350">
                <a:solidFill>
                  <a:srgbClr val="3A4759"/>
                </a:solidFill>
                <a:latin typeface="微软雅黑"/>
                <a:ea typeface="微软雅黑"/>
              </a:rPr>
              <a:t> AI </a:t>
            </a:r>
            <a:r>
              <a:rPr lang="zh-CN" sz="1350">
                <a:solidFill>
                  <a:srgbClr val="3A4759"/>
                </a:solidFill>
                <a:latin typeface="微软雅黑"/>
                <a:ea typeface="微软雅黑"/>
              </a:rPr>
              <a:t>已被视为</a:t>
            </a:r>
            <a:r>
              <a:rPr lang="zh-CN" sz="1350" b="1">
                <a:solidFill>
                  <a:srgbClr val="0E3F8C"/>
                </a:solidFill>
                <a:latin typeface="微软雅黑"/>
                <a:ea typeface="微软雅黑"/>
              </a:rPr>
              <a:t>跨品类的通用能力</a:t>
            </a:r>
            <a:r>
              <a:rPr lang="zh-CN" sz="1350">
                <a:solidFill>
                  <a:srgbClr val="3A4759"/>
                </a:solidFill>
                <a:latin typeface="微软雅黑"/>
                <a:ea typeface="微软雅黑"/>
              </a:rPr>
              <a:t>，而非某一材料的专用技巧。</a:t>
            </a:r>
            <a:endParaRPr/>
          </a:p>
        </p:txBody>
      </p:sp>
      <p:sp>
        <p:nvSpPr>
          <p:cNvPr id="1227" name="矩形: 圆角 1226"/>
          <p:cNvSpPr/>
          <p:nvPr/>
        </p:nvSpPr>
        <p:spPr>
          <a:xfrm>
            <a:off x="381000" y="1800225"/>
            <a:ext cx="2743200" cy="3990975"/>
          </a:xfrm>
          <a:prstGeom prst="roundRect">
            <a:avLst>
              <a:gd name="adj" fmla="val 4167"/>
            </a:avLst>
          </a:prstGeom>
          <a:solidFill>
            <a:srgbClr val="E3EC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28" name="文本框 1227" descr="{&quot;isTemplate&quot;:true,&quot;type&quot;:&quot;text&quot;}"/>
          <p:cNvSpPr txBox="1"/>
          <p:nvPr/>
        </p:nvSpPr>
        <p:spPr>
          <a:xfrm>
            <a:off x="552450" y="1990725"/>
            <a:ext cx="24003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/>
                <a:ea typeface="微软雅黑"/>
              </a:rPr>
              <a:t>聚合物与塑料</a:t>
            </a:r>
            <a:endParaRPr/>
          </a:p>
        </p:txBody>
      </p:sp>
      <p:sp>
        <p:nvSpPr>
          <p:cNvPr id="1229" name="文本框 1228" descr="{&quot;isTemplate&quot;:true,&quot;type&quot;:&quot;text&quot;}"/>
          <p:cNvSpPr txBox="1"/>
          <p:nvPr/>
        </p:nvSpPr>
        <p:spPr>
          <a:xfrm>
            <a:off x="552450" y="2333625"/>
            <a:ext cx="24003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en-US" sz="1200">
                <a:solidFill>
                  <a:srgbClr val="2C3947"/>
                </a:solidFill>
                <a:latin typeface="微软雅黑"/>
                <a:ea typeface="微软雅黑"/>
              </a:rPr>
              <a:t>BASF · Dow · SABIC</a:t>
            </a:r>
            <a:endParaRPr/>
          </a:p>
        </p:txBody>
      </p:sp>
      <p:sp>
        <p:nvSpPr>
          <p:cNvPr id="1230" name="文本框 1229" descr="{&quot;isTemplate&quot;:true,&quot;type&quot;:&quot;text&quot;}"/>
          <p:cNvSpPr txBox="1"/>
          <p:nvPr/>
        </p:nvSpPr>
        <p:spPr>
          <a:xfrm>
            <a:off x="552450" y="2762250"/>
            <a:ext cx="24003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en-US" sz="1200">
                <a:solidFill>
                  <a:srgbClr val="2C3947"/>
                </a:solidFill>
                <a:latin typeface="微软雅黑"/>
                <a:ea typeface="微软雅黑"/>
              </a:rPr>
              <a:t>LyondellBasell · INEOS</a:t>
            </a:r>
            <a:endParaRPr/>
          </a:p>
        </p:txBody>
      </p:sp>
      <p:sp>
        <p:nvSpPr>
          <p:cNvPr id="1231" name="文本框 1230" descr="{&quot;isTemplate&quot;:true,&quot;type&quot;:&quot;text&quot;}"/>
          <p:cNvSpPr txBox="1"/>
          <p:nvPr/>
        </p:nvSpPr>
        <p:spPr>
          <a:xfrm>
            <a:off x="552450" y="3190875"/>
            <a:ext cx="24003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en-US" sz="1200">
                <a:solidFill>
                  <a:srgbClr val="2C3947"/>
                </a:solidFill>
                <a:latin typeface="微软雅黑"/>
                <a:ea typeface="微软雅黑"/>
              </a:rPr>
              <a:t>DuPont · Covestro · Arkema</a:t>
            </a:r>
            <a:endParaRPr/>
          </a:p>
        </p:txBody>
      </p:sp>
      <p:sp>
        <p:nvSpPr>
          <p:cNvPr id="1232" name="文本框 1231" descr="{&quot;isTemplate&quot;:true,&quot;type&quot;:&quot;text&quot;}"/>
          <p:cNvSpPr txBox="1"/>
          <p:nvPr/>
        </p:nvSpPr>
        <p:spPr>
          <a:xfrm>
            <a:off x="552450" y="3619500"/>
            <a:ext cx="24003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en-US" sz="1200">
                <a:solidFill>
                  <a:srgbClr val="2C3947"/>
                </a:solidFill>
                <a:latin typeface="微软雅黑"/>
                <a:ea typeface="微软雅黑"/>
              </a:rPr>
              <a:t>Toray · Hexcel · Teijin</a:t>
            </a:r>
            <a:endParaRPr/>
          </a:p>
        </p:txBody>
      </p:sp>
      <p:sp>
        <p:nvSpPr>
          <p:cNvPr id="1233" name="矩形: 圆角 1232"/>
          <p:cNvSpPr/>
          <p:nvPr/>
        </p:nvSpPr>
        <p:spPr>
          <a:xfrm>
            <a:off x="3276600" y="1800225"/>
            <a:ext cx="2743200" cy="3990975"/>
          </a:xfrm>
          <a:prstGeom prst="roundRect">
            <a:avLst>
              <a:gd name="adj" fmla="val 4167"/>
            </a:avLst>
          </a:prstGeom>
          <a:solidFill>
            <a:srgbClr val="D3E0F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34" name="文本框 1233" descr="{&quot;isTemplate&quot;:true,&quot;type&quot;:&quot;text&quot;}"/>
          <p:cNvSpPr txBox="1"/>
          <p:nvPr/>
        </p:nvSpPr>
        <p:spPr>
          <a:xfrm>
            <a:off x="3448050" y="1990725"/>
            <a:ext cx="24003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/>
                <a:ea typeface="微软雅黑"/>
              </a:rPr>
              <a:t>玻璃与陶瓷</a:t>
            </a:r>
            <a:endParaRPr/>
          </a:p>
        </p:txBody>
      </p:sp>
      <p:sp>
        <p:nvSpPr>
          <p:cNvPr id="1235" name="文本框 1234" descr="{&quot;isTemplate&quot;:true,&quot;type&quot;:&quot;text&quot;}"/>
          <p:cNvSpPr txBox="1"/>
          <p:nvPr/>
        </p:nvSpPr>
        <p:spPr>
          <a:xfrm>
            <a:off x="3448050" y="2333625"/>
            <a:ext cx="24003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en-US" sz="1200">
                <a:solidFill>
                  <a:srgbClr val="2C3947"/>
                </a:solidFill>
                <a:latin typeface="微软雅黑"/>
                <a:ea typeface="微软雅黑"/>
              </a:rPr>
              <a:t>Corning · Saint-Gobain</a:t>
            </a:r>
            <a:endParaRPr/>
          </a:p>
        </p:txBody>
      </p:sp>
      <p:sp>
        <p:nvSpPr>
          <p:cNvPr id="1236" name="文本框 1235" descr="{&quot;isTemplate&quot;:true,&quot;type&quot;:&quot;text&quot;}"/>
          <p:cNvSpPr txBox="1"/>
          <p:nvPr/>
        </p:nvSpPr>
        <p:spPr>
          <a:xfrm>
            <a:off x="3448050" y="2762250"/>
            <a:ext cx="24003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en-US" sz="1200">
                <a:solidFill>
                  <a:srgbClr val="2C3947"/>
                </a:solidFill>
                <a:latin typeface="微软雅黑"/>
                <a:ea typeface="微软雅黑"/>
              </a:rPr>
              <a:t>Kyocera · Murata</a:t>
            </a:r>
            <a:endParaRPr/>
          </a:p>
        </p:txBody>
      </p:sp>
      <p:sp>
        <p:nvSpPr>
          <p:cNvPr id="1237" name="文本框 1236" descr="{&quot;isTemplate&quot;:true,&quot;type&quot;:&quot;text&quot;}"/>
          <p:cNvSpPr txBox="1"/>
          <p:nvPr/>
        </p:nvSpPr>
        <p:spPr>
          <a:xfrm>
            <a:off x="3448050" y="3190875"/>
            <a:ext cx="24003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en-US" sz="1200">
                <a:solidFill>
                  <a:srgbClr val="2C3947"/>
                </a:solidFill>
                <a:latin typeface="微软雅黑"/>
                <a:ea typeface="微软雅黑"/>
              </a:rPr>
              <a:t>NGK Insulators · 3M · AGC</a:t>
            </a:r>
            <a:endParaRPr/>
          </a:p>
        </p:txBody>
      </p:sp>
      <p:sp>
        <p:nvSpPr>
          <p:cNvPr id="1238" name="文本框 1237" descr="{&quot;isTemplate&quot;:true,&quot;type&quot;:&quot;text&quot;}"/>
          <p:cNvSpPr txBox="1"/>
          <p:nvPr/>
        </p:nvSpPr>
        <p:spPr>
          <a:xfrm>
            <a:off x="3448050" y="3619500"/>
            <a:ext cx="24003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en-US" sz="1200">
                <a:solidFill>
                  <a:srgbClr val="2C3947"/>
                </a:solidFill>
                <a:latin typeface="微软雅黑"/>
                <a:ea typeface="微软雅黑"/>
              </a:rPr>
              <a:t>SCHOTT · Tosoh</a:t>
            </a:r>
            <a:endParaRPr/>
          </a:p>
        </p:txBody>
      </p:sp>
      <p:sp>
        <p:nvSpPr>
          <p:cNvPr id="1239" name="矩形: 圆角 1238"/>
          <p:cNvSpPr/>
          <p:nvPr/>
        </p:nvSpPr>
        <p:spPr>
          <a:xfrm>
            <a:off x="6172200" y="1800225"/>
            <a:ext cx="2743200" cy="3990975"/>
          </a:xfrm>
          <a:prstGeom prst="roundRect">
            <a:avLst>
              <a:gd name="adj" fmla="val 4167"/>
            </a:avLst>
          </a:prstGeom>
          <a:solidFill>
            <a:srgbClr val="C3D5E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40" name="文本框 1239" descr="{&quot;isTemplate&quot;:true,&quot;type&quot;:&quot;text&quot;}"/>
          <p:cNvSpPr txBox="1"/>
          <p:nvPr/>
        </p:nvSpPr>
        <p:spPr>
          <a:xfrm>
            <a:off x="6343650" y="1990725"/>
            <a:ext cx="24003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/>
                <a:ea typeface="微软雅黑"/>
              </a:rPr>
              <a:t>复合材料</a:t>
            </a:r>
            <a:endParaRPr/>
          </a:p>
        </p:txBody>
      </p:sp>
      <p:sp>
        <p:nvSpPr>
          <p:cNvPr id="1241" name="文本框 1240" descr="{&quot;isTemplate&quot;:true,&quot;type&quot;:&quot;text&quot;}"/>
          <p:cNvSpPr txBox="1"/>
          <p:nvPr/>
        </p:nvSpPr>
        <p:spPr>
          <a:xfrm>
            <a:off x="6343650" y="2333625"/>
            <a:ext cx="24003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en-US" sz="1200">
                <a:solidFill>
                  <a:srgbClr val="2C3947"/>
                </a:solidFill>
                <a:latin typeface="微软雅黑"/>
                <a:ea typeface="微软雅黑"/>
              </a:rPr>
              <a:t>Toray · Hexcel · Teijin</a:t>
            </a:r>
            <a:endParaRPr/>
          </a:p>
        </p:txBody>
      </p:sp>
      <p:sp>
        <p:nvSpPr>
          <p:cNvPr id="1242" name="文本框 1241" descr="{&quot;isTemplate&quot;:true,&quot;type&quot;:&quot;text&quot;}"/>
          <p:cNvSpPr txBox="1"/>
          <p:nvPr/>
        </p:nvSpPr>
        <p:spPr>
          <a:xfrm>
            <a:off x="6343650" y="2762250"/>
            <a:ext cx="24003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en-US" sz="1200">
                <a:solidFill>
                  <a:srgbClr val="2C3947"/>
                </a:solidFill>
                <a:latin typeface="微软雅黑"/>
                <a:ea typeface="微软雅黑"/>
              </a:rPr>
              <a:t>SGL Carbon · Gurit</a:t>
            </a:r>
            <a:endParaRPr/>
          </a:p>
        </p:txBody>
      </p:sp>
      <p:sp>
        <p:nvSpPr>
          <p:cNvPr id="1243" name="文本框 1242" descr="{&quot;isTemplate&quot;:true,&quot;type&quot;:&quot;text&quot;}"/>
          <p:cNvSpPr txBox="1"/>
          <p:nvPr/>
        </p:nvSpPr>
        <p:spPr>
          <a:xfrm>
            <a:off x="6343650" y="3190875"/>
            <a:ext cx="24003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en-US" sz="1200">
                <a:solidFill>
                  <a:srgbClr val="2C3947"/>
                </a:solidFill>
                <a:latin typeface="微软雅黑"/>
                <a:ea typeface="微软雅黑"/>
              </a:rPr>
              <a:t>Owens Corning</a:t>
            </a:r>
            <a:endParaRPr/>
          </a:p>
        </p:txBody>
      </p:sp>
      <p:sp>
        <p:nvSpPr>
          <p:cNvPr id="1244" name="矩形: 圆角 1243"/>
          <p:cNvSpPr/>
          <p:nvPr/>
        </p:nvSpPr>
        <p:spPr>
          <a:xfrm>
            <a:off x="9067800" y="1800225"/>
            <a:ext cx="2743200" cy="3990975"/>
          </a:xfrm>
          <a:prstGeom prst="roundRect">
            <a:avLst>
              <a:gd name="adj" fmla="val 4167"/>
            </a:avLst>
          </a:prstGeom>
          <a:solidFill>
            <a:srgbClr val="B3C9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45" name="文本框 1244" descr="{&quot;isTemplate&quot;:true,&quot;type&quot;:&quot;text&quot;}"/>
          <p:cNvSpPr txBox="1"/>
          <p:nvPr/>
        </p:nvSpPr>
        <p:spPr>
          <a:xfrm>
            <a:off x="9239250" y="1990725"/>
            <a:ext cx="24003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/>
                <a:ea typeface="微软雅黑"/>
              </a:rPr>
              <a:t>电子与半导体材料</a:t>
            </a:r>
            <a:endParaRPr/>
          </a:p>
        </p:txBody>
      </p:sp>
      <p:sp>
        <p:nvSpPr>
          <p:cNvPr id="1246" name="文本框 1245" descr="{&quot;isTemplate&quot;:true,&quot;type&quot;:&quot;text&quot;}"/>
          <p:cNvSpPr txBox="1"/>
          <p:nvPr/>
        </p:nvSpPr>
        <p:spPr>
          <a:xfrm>
            <a:off x="9239250" y="2333625"/>
            <a:ext cx="24003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en-US" sz="1200">
                <a:solidFill>
                  <a:srgbClr val="2C3947"/>
                </a:solidFill>
                <a:latin typeface="微软雅黑"/>
                <a:ea typeface="微软雅黑"/>
              </a:rPr>
              <a:t>Shin-Etsu Chemical · SUMCO</a:t>
            </a:r>
            <a:endParaRPr/>
          </a:p>
        </p:txBody>
      </p:sp>
      <p:sp>
        <p:nvSpPr>
          <p:cNvPr id="1247" name="文本框 1246" descr="{&quot;isTemplate&quot;:true,&quot;type&quot;:&quot;text&quot;}"/>
          <p:cNvSpPr txBox="1"/>
          <p:nvPr/>
        </p:nvSpPr>
        <p:spPr>
          <a:xfrm>
            <a:off x="9239250" y="2762250"/>
            <a:ext cx="24003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en-US" sz="1200">
                <a:solidFill>
                  <a:srgbClr val="2C3947"/>
                </a:solidFill>
                <a:latin typeface="微软雅黑"/>
                <a:ea typeface="微软雅黑"/>
              </a:rPr>
              <a:t>Siltronic · Wacker Chemie</a:t>
            </a:r>
            <a:endParaRPr/>
          </a:p>
        </p:txBody>
      </p:sp>
      <p:sp>
        <p:nvSpPr>
          <p:cNvPr id="1248" name="文本框 1247" descr="{&quot;isTemplate&quot;:true,&quot;type&quot;:&quot;text&quot;}"/>
          <p:cNvSpPr txBox="1"/>
          <p:nvPr/>
        </p:nvSpPr>
        <p:spPr>
          <a:xfrm>
            <a:off x="9239250" y="3190875"/>
            <a:ext cx="24003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en-US" sz="1200">
                <a:solidFill>
                  <a:srgbClr val="2C3947"/>
                </a:solidFill>
                <a:latin typeface="微软雅黑"/>
                <a:ea typeface="微软雅黑"/>
              </a:rPr>
              <a:t>Merck KGaA · Entegris</a:t>
            </a:r>
            <a:endParaRPr/>
          </a:p>
        </p:txBody>
      </p:sp>
      <p:sp>
        <p:nvSpPr>
          <p:cNvPr id="1249" name="文本框 1248" descr="{&quot;isTemplate&quot;:true,&quot;type&quot;:&quot;text&quot;}"/>
          <p:cNvSpPr txBox="1"/>
          <p:nvPr/>
        </p:nvSpPr>
        <p:spPr>
          <a:xfrm>
            <a:off x="9239250" y="3619500"/>
            <a:ext cx="24003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en-US" sz="1200">
                <a:solidFill>
                  <a:srgbClr val="2C3947"/>
                </a:solidFill>
                <a:latin typeface="微软雅黑"/>
                <a:ea typeface="微软雅黑"/>
              </a:rPr>
              <a:t>Air Liquide · Linde</a:t>
            </a:r>
            <a:endParaRPr/>
          </a:p>
        </p:txBody>
      </p:sp>
      <p:sp>
        <p:nvSpPr>
          <p:cNvPr id="1250" name="矩形: 圆角 1249"/>
          <p:cNvSpPr/>
          <p:nvPr/>
        </p:nvSpPr>
        <p:spPr>
          <a:xfrm>
            <a:off x="381000" y="5924550"/>
            <a:ext cx="11430000" cy="590550"/>
          </a:xfrm>
          <a:prstGeom prst="roundRect">
            <a:avLst>
              <a:gd name="adj" fmla="val 16129"/>
            </a:avLst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51" name="文本框 1250" descr="{&quot;isTemplate&quot;:true,&quot;type&quot;:&quot;text&quot;}"/>
          <p:cNvSpPr txBox="1"/>
          <p:nvPr/>
        </p:nvSpPr>
        <p:spPr>
          <a:xfrm>
            <a:off x="609600" y="6057900"/>
            <a:ext cx="1097280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sz="1350" b="1">
                <a:solidFill>
                  <a:srgbClr val="8D6E00"/>
                </a:solidFill>
                <a:latin typeface="微软雅黑"/>
                <a:ea typeface="微软雅黑"/>
              </a:rPr>
              <a:t>观察：</a:t>
            </a: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这些是</a:t>
            </a:r>
            <a:r>
              <a:rPr lang="zh-CN" sz="1350" b="1">
                <a:solidFill>
                  <a:srgbClr val="1A2230"/>
                </a:solidFill>
                <a:latin typeface="微软雅黑"/>
                <a:ea typeface="微软雅黑"/>
              </a:rPr>
              <a:t>材料制造企业</a:t>
            </a: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，不是软件公司——</a:t>
            </a:r>
            <a:r>
              <a:rPr lang="en-US" sz="1350">
                <a:solidFill>
                  <a:srgbClr val="1A2230"/>
                </a:solidFill>
                <a:latin typeface="微软雅黑"/>
                <a:ea typeface="微软雅黑"/>
              </a:rPr>
              <a:t>AI </a:t>
            </a: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能力是被引入材料产业内部，而非外部工具公司服务材料产业。</a:t>
            </a:r>
            <a:endParaRPr/>
          </a:p>
        </p:txBody>
      </p:sp>
      <p:sp>
        <p:nvSpPr>
          <p:cNvPr id="1252" name="文本框 1251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1253" name="文本框 1252" descr="{&quot;isTemplate&quot;:true,&quot;type&quot;:&quot;text&quot;}"/>
          <p:cNvSpPr txBox="1"/>
          <p:nvPr/>
        </p:nvSpPr>
        <p:spPr>
          <a:xfrm>
            <a:off x="54673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1254" name="文本框 1253" descr="{&quot;isTemplate&quot;:true,&quot;type&quot;:&quot;text&quot;}"/>
          <p:cNvSpPr txBox="1"/>
          <p:nvPr/>
        </p:nvSpPr>
        <p:spPr>
          <a:xfrm>
            <a:off x="11410950" y="6610350"/>
            <a:ext cx="4000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46 / 60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矩形 125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57" name="矩形 1256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58" name="文本框 1257" descr="{&quot;isTemplate&quot;:true,&quot;type&quot;:&quot;text&quot;}"/>
          <p:cNvSpPr txBox="1"/>
          <p:nvPr/>
        </p:nvSpPr>
        <p:spPr>
          <a:xfrm>
            <a:off x="342900" y="171450"/>
            <a:ext cx="3524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在材料科学中的应用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讲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材料信息学导论与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产业</a:t>
            </a:r>
            <a:endParaRPr/>
          </a:p>
        </p:txBody>
      </p:sp>
      <p:sp>
        <p:nvSpPr>
          <p:cNvPr id="1259" name="文本框 1258" descr="{&quot;isTemplate&quot;:true,&quot;type&quot;:&quot;text&quot;}"/>
          <p:cNvSpPr txBox="1"/>
          <p:nvPr/>
        </p:nvSpPr>
        <p:spPr>
          <a:xfrm>
            <a:off x="9315450" y="171450"/>
            <a:ext cx="14287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04 AI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材料产业与黄金热</a:t>
            </a:r>
            <a:endParaRPr/>
          </a:p>
        </p:txBody>
      </p:sp>
      <p:pic>
        <p:nvPicPr>
          <p:cNvPr id="1260" name="图片 1259"/>
          <p:cNvPicPr>
            <a:picLocks noChangeAspect="1"/>
          </p:cNvPicPr>
          <p:nvPr/>
        </p:nvPicPr>
        <p:blipFill>
          <a:blip r:embed="rId2"/>
          <a:srcRect l="847" r="847"/>
          <a:stretch>
            <a:fillRect/>
          </a:stretch>
        </p:blipFill>
        <p:spPr>
          <a:xfrm>
            <a:off x="10858500" y="123825"/>
            <a:ext cx="990600" cy="247650"/>
          </a:xfrm>
          <a:prstGeom prst="rect">
            <a:avLst/>
          </a:prstGeom>
          <a:ln/>
        </p:spPr>
      </p:pic>
      <p:sp>
        <p:nvSpPr>
          <p:cNvPr id="1261" name="文本框 1260" descr="{&quot;isTemplate&quot;:true,&quot;type&quot;:&quot;text&quot;}"/>
          <p:cNvSpPr txBox="1"/>
          <p:nvPr/>
        </p:nvSpPr>
        <p:spPr>
          <a:xfrm>
            <a:off x="381000" y="666750"/>
            <a:ext cx="114300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E3F8C"/>
                </a:solidFill>
                <a:latin typeface="钉钉进步体"/>
                <a:ea typeface="钉钉进步体"/>
              </a:rPr>
              <a:t>AI </a:t>
            </a:r>
            <a:r>
              <a:rPr lang="zh-CN" sz="2400" b="1">
                <a:solidFill>
                  <a:srgbClr val="0E3F8C"/>
                </a:solidFill>
                <a:latin typeface="钉钉进步体"/>
                <a:ea typeface="钉钉进步体"/>
              </a:rPr>
              <a:t>材料「淘金热」</a:t>
            </a:r>
            <a:endParaRPr/>
          </a:p>
        </p:txBody>
      </p:sp>
      <p:sp>
        <p:nvSpPr>
          <p:cNvPr id="1262" name="矩形: 圆角 1261"/>
          <p:cNvSpPr/>
          <p:nvPr/>
        </p:nvSpPr>
        <p:spPr>
          <a:xfrm>
            <a:off x="381000" y="1114425"/>
            <a:ext cx="571500" cy="47625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63" name="矩形: 圆角 1262"/>
          <p:cNvSpPr/>
          <p:nvPr/>
        </p:nvSpPr>
        <p:spPr>
          <a:xfrm>
            <a:off x="381000" y="1333500"/>
            <a:ext cx="11430000" cy="628650"/>
          </a:xfrm>
          <a:prstGeom prst="roundRect">
            <a:avLst>
              <a:gd name="adj" fmla="val 18182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64" name="文本框 1263" descr="{&quot;isTemplate&quot;:true,&quot;type&quot;:&quot;text&quot;}"/>
          <p:cNvSpPr txBox="1"/>
          <p:nvPr/>
        </p:nvSpPr>
        <p:spPr>
          <a:xfrm>
            <a:off x="647700" y="1524000"/>
            <a:ext cx="108966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575">
                <a:solidFill>
                  <a:srgbClr val="FFFFFF"/>
                </a:solidFill>
                <a:latin typeface="微软雅黑"/>
                <a:ea typeface="微软雅黑"/>
              </a:rPr>
              <a:t>「但……</a:t>
            </a:r>
            <a:r>
              <a:rPr lang="en-US" sz="1575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sz="1575">
                <a:solidFill>
                  <a:srgbClr val="FFFFFF"/>
                </a:solidFill>
                <a:latin typeface="微软雅黑"/>
                <a:ea typeface="微软雅黑"/>
              </a:rPr>
              <a:t>驱动的材料，已经开启了一场新的</a:t>
            </a:r>
            <a:r>
              <a:rPr lang="zh-CN" sz="1575" b="1">
                <a:solidFill>
                  <a:srgbClr val="FFC107"/>
                </a:solidFill>
                <a:latin typeface="微软雅黑"/>
                <a:ea typeface="微软雅黑"/>
              </a:rPr>
              <a:t>材料淘金热</a:t>
            </a:r>
            <a:r>
              <a:rPr lang="zh-CN" sz="1575">
                <a:solidFill>
                  <a:srgbClr val="FFFFFF"/>
                </a:solidFill>
                <a:latin typeface="微软雅黑"/>
                <a:ea typeface="微软雅黑"/>
              </a:rPr>
              <a:t>！」</a:t>
            </a:r>
            <a:endParaRPr/>
          </a:p>
        </p:txBody>
      </p:sp>
      <p:sp>
        <p:nvSpPr>
          <p:cNvPr id="1265" name="矩形: 圆角 1264"/>
          <p:cNvSpPr/>
          <p:nvPr/>
        </p:nvSpPr>
        <p:spPr>
          <a:xfrm>
            <a:off x="381000" y="2095500"/>
            <a:ext cx="7429500" cy="4419600"/>
          </a:xfrm>
          <a:prstGeom prst="roundRect">
            <a:avLst>
              <a:gd name="adj" fmla="val 2586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66" name="文本框 1265" descr="{&quot;isTemplate&quot;:true,&quot;type&quot;:&quot;text&quot;}"/>
          <p:cNvSpPr txBox="1"/>
          <p:nvPr/>
        </p:nvSpPr>
        <p:spPr>
          <a:xfrm>
            <a:off x="590550" y="2305050"/>
            <a:ext cx="70104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/>
                <a:ea typeface="微软雅黑"/>
              </a:rPr>
              <a:t>为什么是现在？三个条件同时成熟</a:t>
            </a:r>
            <a:endParaRPr/>
          </a:p>
        </p:txBody>
      </p:sp>
      <p:sp>
        <p:nvSpPr>
          <p:cNvPr id="1267" name="矩形: 圆角 1266"/>
          <p:cNvSpPr/>
          <p:nvPr/>
        </p:nvSpPr>
        <p:spPr>
          <a:xfrm>
            <a:off x="590550" y="268605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68" name="文本框 1267" descr="{&quot;isTemplate&quot;:true,&quot;type&quot;:&quot;text&quot;}"/>
          <p:cNvSpPr txBox="1"/>
          <p:nvPr/>
        </p:nvSpPr>
        <p:spPr>
          <a:xfrm>
            <a:off x="704850" y="2752725"/>
            <a:ext cx="10477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  <a:endParaRPr/>
          </a:p>
        </p:txBody>
      </p:sp>
      <p:sp>
        <p:nvSpPr>
          <p:cNvPr id="1269" name="文本框 1268" descr="{&quot;isTemplate&quot;:true,&quot;type&quot;:&quot;text&quot;}"/>
          <p:cNvSpPr txBox="1"/>
          <p:nvPr/>
        </p:nvSpPr>
        <p:spPr>
          <a:xfrm>
            <a:off x="1047750" y="2686050"/>
            <a:ext cx="65532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B1B33"/>
                </a:solidFill>
                <a:latin typeface="微软雅黑"/>
                <a:ea typeface="微软雅黑"/>
              </a:rPr>
              <a:t>数据</a:t>
            </a:r>
            <a:endParaRPr/>
          </a:p>
        </p:txBody>
      </p:sp>
      <p:sp>
        <p:nvSpPr>
          <p:cNvPr id="1270" name="文本框 1269" descr="{&quot;isTemplate&quot;:true,&quot;type&quot;:&quot;text&quot;}"/>
          <p:cNvSpPr txBox="1"/>
          <p:nvPr/>
        </p:nvSpPr>
        <p:spPr>
          <a:xfrm>
            <a:off x="1047750" y="2943225"/>
            <a:ext cx="655320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sz="1200">
                <a:solidFill>
                  <a:srgbClr val="3A4759"/>
                </a:solidFill>
                <a:latin typeface="微软雅黑"/>
                <a:ea typeface="微软雅黑"/>
              </a:rPr>
              <a:t>公开数据库（</a:t>
            </a:r>
            <a:r>
              <a:rPr lang="en-US" sz="1200">
                <a:solidFill>
                  <a:srgbClr val="3A4759"/>
                </a:solidFill>
                <a:latin typeface="微软雅黑"/>
                <a:ea typeface="微软雅黑"/>
              </a:rPr>
              <a:t>Materials Project</a:t>
            </a:r>
            <a:r>
              <a:rPr lang="zh-CN" sz="1200">
                <a:solidFill>
                  <a:srgbClr val="3A4759"/>
                </a:solidFill>
                <a:latin typeface="微软雅黑"/>
                <a:ea typeface="微软雅黑"/>
              </a:rPr>
              <a:t>、</a:t>
            </a:r>
            <a:r>
              <a:rPr lang="en-US" sz="1200">
                <a:solidFill>
                  <a:srgbClr val="3A4759"/>
                </a:solidFill>
                <a:latin typeface="微软雅黑"/>
                <a:ea typeface="微软雅黑"/>
              </a:rPr>
              <a:t>NOMAD </a:t>
            </a:r>
            <a:r>
              <a:rPr lang="zh-CN" sz="1200">
                <a:solidFill>
                  <a:srgbClr val="3A4759"/>
                </a:solidFill>
                <a:latin typeface="微软雅黑"/>
                <a:ea typeface="微软雅黑"/>
              </a:rPr>
              <a:t>等）积累到数百万条结构化记录，且开放</a:t>
            </a:r>
            <a:r>
              <a:rPr lang="en-US" sz="1200">
                <a:solidFill>
                  <a:srgbClr val="3A4759"/>
                </a:solidFill>
                <a:latin typeface="微软雅黑"/>
                <a:ea typeface="微软雅黑"/>
              </a:rPr>
              <a:t> API</a:t>
            </a:r>
            <a:endParaRPr/>
          </a:p>
        </p:txBody>
      </p:sp>
      <p:sp>
        <p:nvSpPr>
          <p:cNvPr id="1271" name="矩形: 圆角 1270"/>
          <p:cNvSpPr/>
          <p:nvPr/>
        </p:nvSpPr>
        <p:spPr>
          <a:xfrm>
            <a:off x="590550" y="338137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72" name="文本框 1271" descr="{&quot;isTemplate&quot;:true,&quot;type&quot;:&quot;text&quot;}"/>
          <p:cNvSpPr txBox="1"/>
          <p:nvPr/>
        </p:nvSpPr>
        <p:spPr>
          <a:xfrm>
            <a:off x="704850" y="3448050"/>
            <a:ext cx="10477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  <a:endParaRPr/>
          </a:p>
        </p:txBody>
      </p:sp>
      <p:sp>
        <p:nvSpPr>
          <p:cNvPr id="1273" name="文本框 1272" descr="{&quot;isTemplate&quot;:true,&quot;type&quot;:&quot;text&quot;}"/>
          <p:cNvSpPr txBox="1"/>
          <p:nvPr/>
        </p:nvSpPr>
        <p:spPr>
          <a:xfrm>
            <a:off x="1047750" y="3381375"/>
            <a:ext cx="65532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B1B33"/>
                </a:solidFill>
                <a:latin typeface="微软雅黑"/>
                <a:ea typeface="微软雅黑"/>
              </a:rPr>
              <a:t>工具</a:t>
            </a:r>
            <a:endParaRPr/>
          </a:p>
        </p:txBody>
      </p:sp>
      <p:sp>
        <p:nvSpPr>
          <p:cNvPr id="1274" name="文本框 1273" descr="{&quot;isTemplate&quot;:true,&quot;type&quot;:&quot;text&quot;}"/>
          <p:cNvSpPr txBox="1"/>
          <p:nvPr/>
        </p:nvSpPr>
        <p:spPr>
          <a:xfrm>
            <a:off x="1047750" y="3638550"/>
            <a:ext cx="655320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en-US" sz="1200">
                <a:solidFill>
                  <a:srgbClr val="3A4759"/>
                </a:solidFill>
                <a:latin typeface="微软雅黑"/>
                <a:ea typeface="微软雅黑"/>
              </a:rPr>
              <a:t>pymatgen</a:t>
            </a:r>
            <a:r>
              <a:rPr lang="zh-CN" sz="1200">
                <a:solidFill>
                  <a:srgbClr val="3A4759"/>
                </a:solidFill>
                <a:latin typeface="微软雅黑"/>
                <a:ea typeface="微软雅黑"/>
              </a:rPr>
              <a:t>、</a:t>
            </a:r>
            <a:r>
              <a:rPr lang="en-US" sz="1200">
                <a:solidFill>
                  <a:srgbClr val="3A4759"/>
                </a:solidFill>
                <a:latin typeface="微软雅黑"/>
                <a:ea typeface="微软雅黑"/>
              </a:rPr>
              <a:t>scikit-learn</a:t>
            </a:r>
            <a:r>
              <a:rPr lang="zh-CN" sz="1200">
                <a:solidFill>
                  <a:srgbClr val="3A4759"/>
                </a:solidFill>
                <a:latin typeface="微软雅黑"/>
                <a:ea typeface="微软雅黑"/>
              </a:rPr>
              <a:t>、</a:t>
            </a:r>
            <a:r>
              <a:rPr lang="en-US" sz="1200">
                <a:solidFill>
                  <a:srgbClr val="3A4759"/>
                </a:solidFill>
                <a:latin typeface="微软雅黑"/>
                <a:ea typeface="微软雅黑"/>
              </a:rPr>
              <a:t>PyTorch </a:t>
            </a:r>
            <a:r>
              <a:rPr lang="zh-CN" sz="1200">
                <a:solidFill>
                  <a:srgbClr val="3A4759"/>
                </a:solidFill>
                <a:latin typeface="微软雅黑"/>
                <a:ea typeface="微软雅黑"/>
              </a:rPr>
              <a:t>等使材料数据可被直接接入</a:t>
            </a:r>
            <a:r>
              <a:rPr lang="en-US" sz="1200">
                <a:solidFill>
                  <a:srgbClr val="3A4759"/>
                </a:solidFill>
                <a:latin typeface="微软雅黑"/>
                <a:ea typeface="微软雅黑"/>
              </a:rPr>
              <a:t> ML </a:t>
            </a:r>
            <a:r>
              <a:rPr lang="zh-CN" sz="1200">
                <a:solidFill>
                  <a:srgbClr val="3A4759"/>
                </a:solidFill>
                <a:latin typeface="微软雅黑"/>
                <a:ea typeface="微软雅黑"/>
              </a:rPr>
              <a:t>工作流</a:t>
            </a:r>
            <a:endParaRPr/>
          </a:p>
        </p:txBody>
      </p:sp>
      <p:sp>
        <p:nvSpPr>
          <p:cNvPr id="1275" name="矩形: 圆角 1274"/>
          <p:cNvSpPr/>
          <p:nvPr/>
        </p:nvSpPr>
        <p:spPr>
          <a:xfrm>
            <a:off x="590550" y="407670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76" name="文本框 1275" descr="{&quot;isTemplate&quot;:true,&quot;type&quot;:&quot;text&quot;}"/>
          <p:cNvSpPr txBox="1"/>
          <p:nvPr/>
        </p:nvSpPr>
        <p:spPr>
          <a:xfrm>
            <a:off x="704850" y="4143375"/>
            <a:ext cx="10477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  <a:endParaRPr/>
          </a:p>
        </p:txBody>
      </p:sp>
      <p:sp>
        <p:nvSpPr>
          <p:cNvPr id="1277" name="文本框 1276" descr="{&quot;isTemplate&quot;:true,&quot;type&quot;:&quot;text&quot;}"/>
          <p:cNvSpPr txBox="1"/>
          <p:nvPr/>
        </p:nvSpPr>
        <p:spPr>
          <a:xfrm>
            <a:off x="1047750" y="4076700"/>
            <a:ext cx="65532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B1B33"/>
                </a:solidFill>
                <a:latin typeface="微软雅黑"/>
                <a:ea typeface="微软雅黑"/>
              </a:rPr>
              <a:t>信号</a:t>
            </a:r>
            <a:endParaRPr/>
          </a:p>
        </p:txBody>
      </p:sp>
      <p:sp>
        <p:nvSpPr>
          <p:cNvPr id="1278" name="文本框 1277" descr="{&quot;isTemplate&quot;:true,&quot;type&quot;:&quot;text&quot;}"/>
          <p:cNvSpPr txBox="1"/>
          <p:nvPr/>
        </p:nvSpPr>
        <p:spPr>
          <a:xfrm>
            <a:off x="1047750" y="4333875"/>
            <a:ext cx="655320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en-US" sz="1200">
                <a:solidFill>
                  <a:srgbClr val="3A4759"/>
                </a:solidFill>
                <a:latin typeface="微软雅黑"/>
                <a:ea typeface="微软雅黑"/>
              </a:rPr>
              <a:t>GNoME</a:t>
            </a:r>
            <a:r>
              <a:rPr lang="zh-CN" sz="1200">
                <a:solidFill>
                  <a:srgbClr val="3A4759"/>
                </a:solidFill>
                <a:latin typeface="微软雅黑"/>
                <a:ea typeface="微软雅黑"/>
              </a:rPr>
              <a:t>、</a:t>
            </a:r>
            <a:r>
              <a:rPr lang="en-US" sz="1200">
                <a:solidFill>
                  <a:srgbClr val="3A4759"/>
                </a:solidFill>
                <a:latin typeface="微软雅黑"/>
                <a:ea typeface="微软雅黑"/>
              </a:rPr>
              <a:t>AlphaFold </a:t>
            </a:r>
            <a:r>
              <a:rPr lang="zh-CN" sz="1200">
                <a:solidFill>
                  <a:srgbClr val="3A4759"/>
                </a:solidFill>
                <a:latin typeface="微软雅黑"/>
                <a:ea typeface="微软雅黑"/>
              </a:rPr>
              <a:t>等证明了大规模</a:t>
            </a:r>
            <a:r>
              <a:rPr lang="en-US" sz="1200">
                <a:solidFill>
                  <a:srgbClr val="3A4759"/>
                </a:solidFill>
                <a:latin typeface="微软雅黑"/>
                <a:ea typeface="微软雅黑"/>
              </a:rPr>
              <a:t> AI </a:t>
            </a:r>
            <a:r>
              <a:rPr lang="zh-CN" sz="1200">
                <a:solidFill>
                  <a:srgbClr val="3A4759"/>
                </a:solidFill>
                <a:latin typeface="微软雅黑"/>
                <a:ea typeface="微软雅黑"/>
              </a:rPr>
              <a:t>方法在科学上的可行性</a:t>
            </a:r>
            <a:endParaRPr/>
          </a:p>
        </p:txBody>
      </p:sp>
      <p:sp>
        <p:nvSpPr>
          <p:cNvPr id="1279" name="矩形: 圆角 1278"/>
          <p:cNvSpPr/>
          <p:nvPr/>
        </p:nvSpPr>
        <p:spPr>
          <a:xfrm>
            <a:off x="8001000" y="2095500"/>
            <a:ext cx="3810000" cy="4419600"/>
          </a:xfrm>
          <a:prstGeom prst="roundRect">
            <a:avLst>
              <a:gd name="adj" fmla="val 3000"/>
            </a:avLst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80" name="文本框 1279" descr="{&quot;isTemplate&quot;:true,&quot;type&quot;:&quot;text&quot;}"/>
          <p:cNvSpPr txBox="1"/>
          <p:nvPr/>
        </p:nvSpPr>
        <p:spPr>
          <a:xfrm>
            <a:off x="8210550" y="2305050"/>
            <a:ext cx="33909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8D6E00"/>
                </a:solidFill>
                <a:latin typeface="微软雅黑"/>
                <a:ea typeface="微软雅黑"/>
              </a:rPr>
              <a:t>对学生的两点含义</a:t>
            </a:r>
            <a:endParaRPr/>
          </a:p>
        </p:txBody>
      </p:sp>
      <p:sp>
        <p:nvSpPr>
          <p:cNvPr id="1281" name="矩形: 圆角 1280"/>
          <p:cNvSpPr/>
          <p:nvPr/>
        </p:nvSpPr>
        <p:spPr>
          <a:xfrm>
            <a:off x="8210550" y="2667000"/>
            <a:ext cx="3390900" cy="1152525"/>
          </a:xfrm>
          <a:prstGeom prst="roundRect">
            <a:avLst>
              <a:gd name="adj" fmla="val 66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82" name="文本框 1281" descr="{&quot;isTemplate&quot;:true,&quot;type&quot;:&quot;text&quot;}"/>
          <p:cNvSpPr txBox="1"/>
          <p:nvPr/>
        </p:nvSpPr>
        <p:spPr>
          <a:xfrm>
            <a:off x="8362950" y="2819400"/>
            <a:ext cx="30861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8D6E00"/>
                </a:solidFill>
                <a:latin typeface="微软雅黑"/>
                <a:ea typeface="微软雅黑"/>
              </a:rPr>
              <a:t>机会</a:t>
            </a:r>
            <a:endParaRPr/>
          </a:p>
        </p:txBody>
      </p:sp>
      <p:sp>
        <p:nvSpPr>
          <p:cNvPr id="1283" name="文本框 1282" descr="{&quot;isTemplate&quot;:true,&quot;type&quot;:&quot;text&quot;}"/>
          <p:cNvSpPr txBox="1"/>
          <p:nvPr/>
        </p:nvSpPr>
        <p:spPr>
          <a:xfrm>
            <a:off x="8362950" y="3076575"/>
            <a:ext cx="30861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会数据方法的材料科研者稀缺，而这门能力的</a:t>
            </a:r>
            <a:r>
              <a:rPr lang="zh-CN" sz="1200" b="1">
                <a:solidFill>
                  <a:srgbClr val="1A2230"/>
                </a:solidFill>
                <a:latin typeface="微软雅黑"/>
                <a:ea typeface="微软雅黑"/>
              </a:rPr>
              <a:t>边际收益极高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——同组中会的人优势明显。</a:t>
            </a:r>
            <a:endParaRPr/>
          </a:p>
        </p:txBody>
      </p:sp>
      <p:sp>
        <p:nvSpPr>
          <p:cNvPr id="1284" name="矩形: 圆角 1283"/>
          <p:cNvSpPr/>
          <p:nvPr/>
        </p:nvSpPr>
        <p:spPr>
          <a:xfrm>
            <a:off x="8210550" y="3933825"/>
            <a:ext cx="3390900" cy="14478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85" name="文本框 1284" descr="{&quot;isTemplate&quot;:true,&quot;type&quot;:&quot;text&quot;}"/>
          <p:cNvSpPr txBox="1"/>
          <p:nvPr/>
        </p:nvSpPr>
        <p:spPr>
          <a:xfrm>
            <a:off x="8362950" y="4086225"/>
            <a:ext cx="30861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62828"/>
                </a:solidFill>
                <a:latin typeface="微软雅黑"/>
                <a:ea typeface="微软雅黑"/>
              </a:rPr>
              <a:t>风险</a:t>
            </a:r>
            <a:endParaRPr/>
          </a:p>
        </p:txBody>
      </p:sp>
      <p:sp>
        <p:nvSpPr>
          <p:cNvPr id="1286" name="文本框 1285" descr="{&quot;isTemplate&quot;:true,&quot;type&quot;:&quot;text&quot;}"/>
          <p:cNvSpPr txBox="1"/>
          <p:nvPr/>
        </p:nvSpPr>
        <p:spPr>
          <a:xfrm>
            <a:off x="8362950" y="4343400"/>
            <a:ext cx="3086100" cy="885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泡沫期涌入者众多，</a:t>
            </a:r>
            <a:r>
              <a:rPr lang="zh-CN" sz="1200" b="1">
                <a:solidFill>
                  <a:srgbClr val="1A2230"/>
                </a:solidFill>
                <a:latin typeface="微软雅黑"/>
                <a:ea typeface="微软雅黑"/>
              </a:rPr>
              <a:t>大量「</a:t>
            </a:r>
            <a:r>
              <a:rPr lang="en-US" sz="1200" b="1">
                <a:solidFill>
                  <a:srgbClr val="1A2230"/>
                </a:solidFill>
                <a:latin typeface="微软雅黑"/>
                <a:ea typeface="微软雅黑"/>
              </a:rPr>
              <a:t>AI </a:t>
            </a:r>
            <a:r>
              <a:rPr lang="zh-CN" sz="1200" b="1">
                <a:solidFill>
                  <a:srgbClr val="1A2230"/>
                </a:solidFill>
                <a:latin typeface="微软雅黑"/>
                <a:ea typeface="微软雅黑"/>
              </a:rPr>
              <a:t>材料」工作因评估不严谨而失效</a:t>
            </a:r>
            <a:r>
              <a:rPr lang="zh-CN" sz="1200">
                <a:solidFill>
                  <a:srgbClr val="1A2230"/>
                </a:solidFill>
                <a:latin typeface="微软雅黑"/>
                <a:ea typeface="微软雅黑"/>
              </a:rPr>
              <a:t>。方法论的严谨性才是护城河。</a:t>
            </a:r>
            <a:endParaRPr/>
          </a:p>
        </p:txBody>
      </p:sp>
      <p:sp>
        <p:nvSpPr>
          <p:cNvPr id="1287" name="文本框 1286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1288" name="文本框 1287" descr="{&quot;isTemplate&quot;:true,&quot;type&quot;:&quot;text&quot;}"/>
          <p:cNvSpPr txBox="1"/>
          <p:nvPr/>
        </p:nvSpPr>
        <p:spPr>
          <a:xfrm>
            <a:off x="54673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1289" name="文本框 1288" descr="{&quot;isTemplate&quot;:true,&quot;type&quot;:&quot;text&quot;}"/>
          <p:cNvSpPr txBox="1"/>
          <p:nvPr/>
        </p:nvSpPr>
        <p:spPr>
          <a:xfrm>
            <a:off x="11410950" y="6610350"/>
            <a:ext cx="4000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47 / 60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矩形 129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92" name="矩形 1291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93" name="文本框 1292" descr="{&quot;isTemplate&quot;:true,&quot;type&quot;:&quot;text&quot;}"/>
          <p:cNvSpPr txBox="1"/>
          <p:nvPr/>
        </p:nvSpPr>
        <p:spPr>
          <a:xfrm>
            <a:off x="342900" y="171450"/>
            <a:ext cx="3524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在材料科学中的应用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讲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材料信息学导论与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产业</a:t>
            </a:r>
            <a:endParaRPr/>
          </a:p>
        </p:txBody>
      </p:sp>
      <p:sp>
        <p:nvSpPr>
          <p:cNvPr id="1294" name="文本框 1293" descr="{&quot;isTemplate&quot;:true,&quot;type&quot;:&quot;text&quot;}"/>
          <p:cNvSpPr txBox="1"/>
          <p:nvPr/>
        </p:nvSpPr>
        <p:spPr>
          <a:xfrm>
            <a:off x="9315450" y="171450"/>
            <a:ext cx="14287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04 AI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材料产业与黄金热</a:t>
            </a:r>
            <a:endParaRPr/>
          </a:p>
        </p:txBody>
      </p:sp>
      <p:pic>
        <p:nvPicPr>
          <p:cNvPr id="1295" name="图片 1294"/>
          <p:cNvPicPr>
            <a:picLocks noChangeAspect="1"/>
          </p:cNvPicPr>
          <p:nvPr/>
        </p:nvPicPr>
        <p:blipFill>
          <a:blip r:embed="rId2"/>
          <a:srcRect l="847" r="847"/>
          <a:stretch>
            <a:fillRect/>
          </a:stretch>
        </p:blipFill>
        <p:spPr>
          <a:xfrm>
            <a:off x="10858500" y="123825"/>
            <a:ext cx="990600" cy="247650"/>
          </a:xfrm>
          <a:prstGeom prst="rect">
            <a:avLst/>
          </a:prstGeom>
          <a:ln/>
        </p:spPr>
      </p:pic>
      <p:sp>
        <p:nvSpPr>
          <p:cNvPr id="1296" name="文本框 1295" descr="{&quot;isTemplate&quot;:true,&quot;type&quot;:&quot;text&quot;}"/>
          <p:cNvSpPr txBox="1"/>
          <p:nvPr/>
        </p:nvSpPr>
        <p:spPr>
          <a:xfrm>
            <a:off x="381000" y="666750"/>
            <a:ext cx="114300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钉钉进步体"/>
                <a:ea typeface="钉钉进步体"/>
              </a:rPr>
              <a:t>工业界在做什么</a:t>
            </a:r>
            <a:endParaRPr/>
          </a:p>
        </p:txBody>
      </p:sp>
      <p:sp>
        <p:nvSpPr>
          <p:cNvPr id="1297" name="矩形: 圆角 1296"/>
          <p:cNvSpPr/>
          <p:nvPr/>
        </p:nvSpPr>
        <p:spPr>
          <a:xfrm>
            <a:off x="381000" y="1114425"/>
            <a:ext cx="571500" cy="47625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98" name="文本框 1297" descr="{&quot;isTemplate&quot;:true,&quot;type&quot;:&quot;text&quot;}"/>
          <p:cNvSpPr txBox="1"/>
          <p:nvPr/>
        </p:nvSpPr>
        <p:spPr>
          <a:xfrm>
            <a:off x="381000" y="1333500"/>
            <a:ext cx="11430000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350">
                <a:solidFill>
                  <a:srgbClr val="3A4759"/>
                </a:solidFill>
                <a:latin typeface="微软雅黑"/>
                <a:ea typeface="微软雅黑"/>
              </a:rPr>
              <a:t>工业界的真实投入集中在几个方向——注意这些方向全部指向</a:t>
            </a:r>
            <a:r>
              <a:rPr lang="zh-CN" sz="1350" b="1">
                <a:solidFill>
                  <a:srgbClr val="0E3F8C"/>
                </a:solidFill>
                <a:latin typeface="微软雅黑"/>
                <a:ea typeface="微软雅黑"/>
              </a:rPr>
              <a:t>缩短实验周期与提高良率</a:t>
            </a:r>
            <a:r>
              <a:rPr lang="zh-CN" sz="1350">
                <a:solidFill>
                  <a:srgbClr val="3A4759"/>
                </a:solidFill>
                <a:latin typeface="微软雅黑"/>
                <a:ea typeface="微软雅黑"/>
              </a:rPr>
              <a:t>，而非「造出全新材料」。</a:t>
            </a:r>
            <a:endParaRPr/>
          </a:p>
        </p:txBody>
      </p:sp>
      <p:sp>
        <p:nvSpPr>
          <p:cNvPr id="1299" name="矩形: 圆角 1298"/>
          <p:cNvSpPr/>
          <p:nvPr/>
        </p:nvSpPr>
        <p:spPr>
          <a:xfrm>
            <a:off x="381000" y="1800225"/>
            <a:ext cx="2162175" cy="3943350"/>
          </a:xfrm>
          <a:prstGeom prst="roundRect">
            <a:avLst>
              <a:gd name="adj" fmla="val 4405"/>
            </a:avLst>
          </a:prstGeom>
          <a:solidFill>
            <a:srgbClr val="E3EC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00" name="文本框 1299" descr="{&quot;isTemplate&quot;:true,&quot;type&quot;:&quot;text&quot;}"/>
          <p:cNvSpPr txBox="1"/>
          <p:nvPr/>
        </p:nvSpPr>
        <p:spPr>
          <a:xfrm>
            <a:off x="533400" y="1990725"/>
            <a:ext cx="185737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40000"/>
              </a:lnSpc>
            </a:pPr>
            <a:r>
              <a:rPr lang="zh-CN" sz="1425" b="1">
                <a:solidFill>
                  <a:srgbClr val="0B1B33"/>
                </a:solidFill>
                <a:latin typeface="微软雅黑"/>
                <a:ea typeface="微软雅黑"/>
              </a:rPr>
              <a:t>配方与工艺优化</a:t>
            </a:r>
            <a:endParaRPr/>
          </a:p>
        </p:txBody>
      </p:sp>
      <p:sp>
        <p:nvSpPr>
          <p:cNvPr id="1301" name="文本框 1300" descr="{&quot;isTemplate&quot;:true,&quot;type&quot;:&quot;text&quot;}"/>
          <p:cNvSpPr txBox="1"/>
          <p:nvPr/>
        </p:nvSpPr>
        <p:spPr>
          <a:xfrm>
            <a:off x="533400" y="2409825"/>
            <a:ext cx="185737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ctr">
              <a:lnSpc>
                <a:spcPct val="160000"/>
              </a:lnSpc>
            </a:pPr>
            <a:r>
              <a:rPr lang="zh-CN" sz="1200">
                <a:solidFill>
                  <a:srgbClr val="2C3947"/>
                </a:solidFill>
                <a:latin typeface="微软雅黑"/>
                <a:ea typeface="微软雅黑"/>
              </a:rPr>
              <a:t>减少试错批次、降低原料浪费</a:t>
            </a:r>
            <a:endParaRPr/>
          </a:p>
        </p:txBody>
      </p:sp>
      <p:sp>
        <p:nvSpPr>
          <p:cNvPr id="1302" name="矩形: 圆角 1301"/>
          <p:cNvSpPr/>
          <p:nvPr/>
        </p:nvSpPr>
        <p:spPr>
          <a:xfrm>
            <a:off x="2695575" y="1800225"/>
            <a:ext cx="2162175" cy="3943350"/>
          </a:xfrm>
          <a:prstGeom prst="roundRect">
            <a:avLst>
              <a:gd name="adj" fmla="val 4405"/>
            </a:avLst>
          </a:prstGeom>
          <a:solidFill>
            <a:srgbClr val="D3E0F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03" name="文本框 1302" descr="{&quot;isTemplate&quot;:true,&quot;type&quot;:&quot;text&quot;}"/>
          <p:cNvSpPr txBox="1"/>
          <p:nvPr/>
        </p:nvSpPr>
        <p:spPr>
          <a:xfrm>
            <a:off x="2847975" y="1990725"/>
            <a:ext cx="185737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40000"/>
              </a:lnSpc>
            </a:pPr>
            <a:r>
              <a:rPr lang="zh-CN" sz="1425" b="1">
                <a:solidFill>
                  <a:srgbClr val="0B1B33"/>
                </a:solidFill>
                <a:latin typeface="微软雅黑"/>
                <a:ea typeface="微软雅黑"/>
              </a:rPr>
              <a:t>材料性能预测</a:t>
            </a:r>
            <a:endParaRPr/>
          </a:p>
        </p:txBody>
      </p:sp>
      <p:sp>
        <p:nvSpPr>
          <p:cNvPr id="1304" name="文本框 1303" descr="{&quot;isTemplate&quot;:true,&quot;type&quot;:&quot;text&quot;}"/>
          <p:cNvSpPr txBox="1"/>
          <p:nvPr/>
        </p:nvSpPr>
        <p:spPr>
          <a:xfrm>
            <a:off x="2847975" y="2409825"/>
            <a:ext cx="185737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ctr">
              <a:lnSpc>
                <a:spcPct val="160000"/>
              </a:lnSpc>
            </a:pPr>
            <a:r>
              <a:rPr lang="zh-CN" sz="1200">
                <a:solidFill>
                  <a:srgbClr val="2C3947"/>
                </a:solidFill>
                <a:latin typeface="微软雅黑"/>
                <a:ea typeface="微软雅黑"/>
              </a:rPr>
              <a:t>在合成前筛掉必然失败的配方</a:t>
            </a:r>
            <a:endParaRPr/>
          </a:p>
        </p:txBody>
      </p:sp>
      <p:sp>
        <p:nvSpPr>
          <p:cNvPr id="1305" name="矩形: 圆角 1304"/>
          <p:cNvSpPr/>
          <p:nvPr/>
        </p:nvSpPr>
        <p:spPr>
          <a:xfrm>
            <a:off x="5010150" y="1800225"/>
            <a:ext cx="2171700" cy="3943350"/>
          </a:xfrm>
          <a:prstGeom prst="roundRect">
            <a:avLst>
              <a:gd name="adj" fmla="val 4386"/>
            </a:avLst>
          </a:prstGeom>
          <a:solidFill>
            <a:srgbClr val="C3D5E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06" name="文本框 1305" descr="{&quot;isTemplate&quot;:true,&quot;type&quot;:&quot;text&quot;}"/>
          <p:cNvSpPr txBox="1"/>
          <p:nvPr/>
        </p:nvSpPr>
        <p:spPr>
          <a:xfrm>
            <a:off x="5162550" y="1990725"/>
            <a:ext cx="18669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40000"/>
              </a:lnSpc>
            </a:pPr>
            <a:r>
              <a:rPr lang="zh-CN" sz="1425" b="1">
                <a:solidFill>
                  <a:srgbClr val="0B1B33"/>
                </a:solidFill>
                <a:latin typeface="微软雅黑"/>
                <a:ea typeface="微软雅黑"/>
              </a:rPr>
              <a:t>显微图像分析</a:t>
            </a:r>
            <a:endParaRPr/>
          </a:p>
        </p:txBody>
      </p:sp>
      <p:sp>
        <p:nvSpPr>
          <p:cNvPr id="1307" name="文本框 1306" descr="{&quot;isTemplate&quot;:true,&quot;type&quot;:&quot;text&quot;}"/>
          <p:cNvSpPr txBox="1"/>
          <p:nvPr/>
        </p:nvSpPr>
        <p:spPr>
          <a:xfrm>
            <a:off x="5162550" y="2409825"/>
            <a:ext cx="18669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ctr">
              <a:lnSpc>
                <a:spcPct val="160000"/>
              </a:lnSpc>
            </a:pPr>
            <a:r>
              <a:rPr lang="zh-CN" sz="1200">
                <a:solidFill>
                  <a:srgbClr val="2C3947"/>
                </a:solidFill>
                <a:latin typeface="微软雅黑"/>
                <a:ea typeface="微软雅黑"/>
              </a:rPr>
              <a:t>自动识别缺陷、晶粒与相结构</a:t>
            </a:r>
            <a:endParaRPr/>
          </a:p>
        </p:txBody>
      </p:sp>
      <p:sp>
        <p:nvSpPr>
          <p:cNvPr id="1308" name="矩形: 圆角 1307"/>
          <p:cNvSpPr/>
          <p:nvPr/>
        </p:nvSpPr>
        <p:spPr>
          <a:xfrm>
            <a:off x="7334250" y="1800225"/>
            <a:ext cx="2162175" cy="3943350"/>
          </a:xfrm>
          <a:prstGeom prst="roundRect">
            <a:avLst>
              <a:gd name="adj" fmla="val 4405"/>
            </a:avLst>
          </a:prstGeom>
          <a:solidFill>
            <a:srgbClr val="B3C9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09" name="文本框 1308" descr="{&quot;isTemplate&quot;:true,&quot;type&quot;:&quot;text&quot;}"/>
          <p:cNvSpPr txBox="1"/>
          <p:nvPr/>
        </p:nvSpPr>
        <p:spPr>
          <a:xfrm>
            <a:off x="7486650" y="1990725"/>
            <a:ext cx="185737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40000"/>
              </a:lnSpc>
            </a:pPr>
            <a:r>
              <a:rPr lang="zh-CN" sz="1425" b="1">
                <a:solidFill>
                  <a:srgbClr val="0B1B33"/>
                </a:solidFill>
                <a:latin typeface="微软雅黑"/>
                <a:ea typeface="微软雅黑"/>
              </a:rPr>
              <a:t>失效分析</a:t>
            </a:r>
            <a:endParaRPr/>
          </a:p>
        </p:txBody>
      </p:sp>
      <p:sp>
        <p:nvSpPr>
          <p:cNvPr id="1310" name="文本框 1309" descr="{&quot;isTemplate&quot;:true,&quot;type&quot;:&quot;text&quot;}"/>
          <p:cNvSpPr txBox="1"/>
          <p:nvPr/>
        </p:nvSpPr>
        <p:spPr>
          <a:xfrm>
            <a:off x="7486650" y="2409825"/>
            <a:ext cx="185737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ctr">
              <a:lnSpc>
                <a:spcPct val="160000"/>
              </a:lnSpc>
            </a:pPr>
            <a:r>
              <a:rPr lang="zh-CN" sz="1200">
                <a:solidFill>
                  <a:srgbClr val="2C3947"/>
                </a:solidFill>
                <a:latin typeface="微软雅黑"/>
                <a:ea typeface="微软雅黑"/>
              </a:rPr>
              <a:t>从服役失效反推材料薄弱环节</a:t>
            </a:r>
            <a:endParaRPr/>
          </a:p>
        </p:txBody>
      </p:sp>
      <p:sp>
        <p:nvSpPr>
          <p:cNvPr id="1311" name="矩形: 圆角 1310"/>
          <p:cNvSpPr/>
          <p:nvPr/>
        </p:nvSpPr>
        <p:spPr>
          <a:xfrm>
            <a:off x="9648825" y="1800225"/>
            <a:ext cx="2162175" cy="3943350"/>
          </a:xfrm>
          <a:prstGeom prst="roundRect">
            <a:avLst>
              <a:gd name="adj" fmla="val 4405"/>
            </a:avLst>
          </a:prstGeom>
          <a:solidFill>
            <a:srgbClr val="A3BCE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12" name="文本框 1311" descr="{&quot;isTemplate&quot;:true,&quot;type&quot;:&quot;text&quot;}"/>
          <p:cNvSpPr txBox="1"/>
          <p:nvPr/>
        </p:nvSpPr>
        <p:spPr>
          <a:xfrm>
            <a:off x="9801225" y="1990725"/>
            <a:ext cx="185737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40000"/>
              </a:lnSpc>
            </a:pPr>
            <a:r>
              <a:rPr lang="zh-CN" sz="1425" b="1">
                <a:solidFill>
                  <a:srgbClr val="0B1B33"/>
                </a:solidFill>
                <a:latin typeface="微软雅黑"/>
                <a:ea typeface="微软雅黑"/>
              </a:rPr>
              <a:t>研发数据资产化</a:t>
            </a:r>
            <a:endParaRPr/>
          </a:p>
        </p:txBody>
      </p:sp>
      <p:sp>
        <p:nvSpPr>
          <p:cNvPr id="1313" name="文本框 1312" descr="{&quot;isTemplate&quot;:true,&quot;type&quot;:&quot;text&quot;}"/>
          <p:cNvSpPr txBox="1"/>
          <p:nvPr/>
        </p:nvSpPr>
        <p:spPr>
          <a:xfrm>
            <a:off x="9801225" y="2409825"/>
            <a:ext cx="185737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ctr">
              <a:lnSpc>
                <a:spcPct val="160000"/>
              </a:lnSpc>
            </a:pPr>
            <a:r>
              <a:rPr lang="zh-CN" sz="1200">
                <a:solidFill>
                  <a:srgbClr val="2C3947"/>
                </a:solidFill>
                <a:latin typeface="微软雅黑"/>
                <a:ea typeface="微软雅黑"/>
              </a:rPr>
              <a:t>把历史实验数据转为可复用资产</a:t>
            </a:r>
            <a:endParaRPr/>
          </a:p>
        </p:txBody>
      </p:sp>
      <p:sp>
        <p:nvSpPr>
          <p:cNvPr id="1314" name="矩形: 圆角 1313"/>
          <p:cNvSpPr/>
          <p:nvPr/>
        </p:nvSpPr>
        <p:spPr>
          <a:xfrm>
            <a:off x="381000" y="5876925"/>
            <a:ext cx="11430000" cy="638175"/>
          </a:xfrm>
          <a:prstGeom prst="roundRect">
            <a:avLst>
              <a:gd name="adj" fmla="val 14925"/>
            </a:avLst>
          </a:prstGeom>
          <a:solidFill>
            <a:srgbClr val="E8F1FC"/>
          </a:solidFill>
          <a:ln w="12700">
            <a:solidFill>
              <a:srgbClr val="1E4F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15" name="文本框 1314" descr="{&quot;isTemplate&quot;:true,&quot;type&quot;:&quot;text&quot;}"/>
          <p:cNvSpPr txBox="1"/>
          <p:nvPr/>
        </p:nvSpPr>
        <p:spPr>
          <a:xfrm>
            <a:off x="609600" y="6029325"/>
            <a:ext cx="10972800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0E3F8C"/>
                </a:solidFill>
                <a:latin typeface="微软雅黑"/>
                <a:ea typeface="微软雅黑"/>
              </a:rPr>
              <a:t>值得注意的务实取向：</a:t>
            </a: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工业界的第一目标往往不是科学发现，而是</a:t>
            </a:r>
            <a:r>
              <a:rPr lang="zh-CN" sz="1350" b="1">
                <a:solidFill>
                  <a:srgbClr val="1A2230"/>
                </a:solidFill>
                <a:latin typeface="微软雅黑"/>
                <a:ea typeface="微软雅黑"/>
              </a:rPr>
              <a:t>在既有流程中省下成本</a:t>
            </a: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。理解这一点，学生才能把方法用对地方。</a:t>
            </a:r>
            <a:endParaRPr/>
          </a:p>
        </p:txBody>
      </p:sp>
      <p:sp>
        <p:nvSpPr>
          <p:cNvPr id="1316" name="文本框 1315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1317" name="文本框 1316" descr="{&quot;isTemplate&quot;:true,&quot;type&quot;:&quot;text&quot;}"/>
          <p:cNvSpPr txBox="1"/>
          <p:nvPr/>
        </p:nvSpPr>
        <p:spPr>
          <a:xfrm>
            <a:off x="54673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1318" name="文本框 1317" descr="{&quot;isTemplate&quot;:true,&quot;type&quot;:&quot;text&quot;}"/>
          <p:cNvSpPr txBox="1"/>
          <p:nvPr/>
        </p:nvSpPr>
        <p:spPr>
          <a:xfrm>
            <a:off x="11410950" y="6610350"/>
            <a:ext cx="4000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48 / 60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矩形 13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21" name="矩形 1320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22" name="文本框 1321" descr="{&quot;isTemplate&quot;:true,&quot;type&quot;:&quot;text&quot;}"/>
          <p:cNvSpPr txBox="1"/>
          <p:nvPr/>
        </p:nvSpPr>
        <p:spPr>
          <a:xfrm>
            <a:off x="342900" y="171450"/>
            <a:ext cx="3524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在材料科学中的应用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讲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材料信息学导论与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产业</a:t>
            </a:r>
            <a:endParaRPr/>
          </a:p>
        </p:txBody>
      </p:sp>
      <p:sp>
        <p:nvSpPr>
          <p:cNvPr id="1323" name="文本框 1322" descr="{&quot;isTemplate&quot;:true,&quot;type&quot;:&quot;text&quot;}"/>
          <p:cNvSpPr txBox="1"/>
          <p:nvPr/>
        </p:nvSpPr>
        <p:spPr>
          <a:xfrm>
            <a:off x="9315450" y="171450"/>
            <a:ext cx="14287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04 AI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材料产业与黄金热</a:t>
            </a:r>
            <a:endParaRPr/>
          </a:p>
        </p:txBody>
      </p:sp>
      <p:pic>
        <p:nvPicPr>
          <p:cNvPr id="1324" name="图片 1323"/>
          <p:cNvPicPr>
            <a:picLocks noChangeAspect="1"/>
          </p:cNvPicPr>
          <p:nvPr/>
        </p:nvPicPr>
        <p:blipFill>
          <a:blip r:embed="rId3"/>
          <a:srcRect l="847" r="847"/>
          <a:stretch>
            <a:fillRect/>
          </a:stretch>
        </p:blipFill>
        <p:spPr>
          <a:xfrm>
            <a:off x="10858500" y="123825"/>
            <a:ext cx="990600" cy="247650"/>
          </a:xfrm>
          <a:prstGeom prst="rect">
            <a:avLst/>
          </a:prstGeom>
          <a:ln/>
        </p:spPr>
      </p:pic>
      <p:sp>
        <p:nvSpPr>
          <p:cNvPr id="1325" name="文本框 1324" descr="{&quot;isTemplate&quot;:true,&quot;type&quot;:&quot;text&quot;}"/>
          <p:cNvSpPr txBox="1"/>
          <p:nvPr/>
        </p:nvSpPr>
        <p:spPr>
          <a:xfrm>
            <a:off x="381000" y="666750"/>
            <a:ext cx="114300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钉钉进步体"/>
                <a:ea typeface="钉钉进步体"/>
              </a:rPr>
              <a:t>教学情景（假设）：</a:t>
            </a:r>
            <a:r>
              <a:rPr lang="en-US" sz="2400" b="1">
                <a:solidFill>
                  <a:srgbClr val="0E3F8C"/>
                </a:solidFill>
                <a:latin typeface="钉钉进步体"/>
                <a:ea typeface="钉钉进步体"/>
              </a:rPr>
              <a:t>AI </a:t>
            </a:r>
            <a:r>
              <a:rPr lang="zh-CN" sz="2400" b="1">
                <a:solidFill>
                  <a:srgbClr val="0E3F8C"/>
                </a:solidFill>
                <a:latin typeface="钉钉进步体"/>
                <a:ea typeface="钉钉进步体"/>
              </a:rPr>
              <a:t>优化玻璃退火工艺</a:t>
            </a:r>
            <a:endParaRPr/>
          </a:p>
        </p:txBody>
      </p:sp>
      <p:sp>
        <p:nvSpPr>
          <p:cNvPr id="1326" name="矩形: 圆角 1325"/>
          <p:cNvSpPr/>
          <p:nvPr/>
        </p:nvSpPr>
        <p:spPr>
          <a:xfrm>
            <a:off x="381000" y="1114425"/>
            <a:ext cx="571500" cy="47625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27" name="矩形: 圆角 1326"/>
          <p:cNvSpPr/>
          <p:nvPr/>
        </p:nvSpPr>
        <p:spPr>
          <a:xfrm>
            <a:off x="381000" y="1333500"/>
            <a:ext cx="3810000" cy="518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28" name="图片 1327"/>
          <p:cNvPicPr>
            <a:picLocks noChangeAspect="1"/>
          </p:cNvPicPr>
          <p:nvPr/>
        </p:nvPicPr>
        <p:blipFill>
          <a:blip r:embed="rId4"/>
          <a:srcRect t="72" b="72"/>
          <a:stretch>
            <a:fillRect/>
          </a:stretch>
        </p:blipFill>
        <p:spPr>
          <a:xfrm>
            <a:off x="1085850" y="1485900"/>
            <a:ext cx="2409825" cy="2381250"/>
          </a:xfrm>
          <a:prstGeom prst="rect">
            <a:avLst/>
          </a:prstGeom>
          <a:ln/>
        </p:spPr>
      </p:pic>
      <p:sp>
        <p:nvSpPr>
          <p:cNvPr id="1329" name="文本框 1328" descr="{&quot;isTemplate&quot;:true,&quot;type&quot;:&quot;text&quot;}"/>
          <p:cNvSpPr txBox="1"/>
          <p:nvPr/>
        </p:nvSpPr>
        <p:spPr>
          <a:xfrm>
            <a:off x="1152525" y="3943350"/>
            <a:ext cx="22669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6B7889"/>
                </a:solidFill>
                <a:latin typeface="微软雅黑"/>
                <a:ea typeface="微软雅黑"/>
              </a:rPr>
              <a:t>玻璃退火：升温速率决定内应力与强度</a:t>
            </a:r>
            <a:endParaRPr/>
          </a:p>
        </p:txBody>
      </p:sp>
      <p:sp>
        <p:nvSpPr>
          <p:cNvPr id="1330" name="矩形: 圆角 1329"/>
          <p:cNvSpPr/>
          <p:nvPr/>
        </p:nvSpPr>
        <p:spPr>
          <a:xfrm>
            <a:off x="4419600" y="1333500"/>
            <a:ext cx="7391400" cy="933450"/>
          </a:xfrm>
          <a:prstGeom prst="roundRect">
            <a:avLst>
              <a:gd name="adj" fmla="val 10204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31" name="文本框 1330" descr="{&quot;isTemplate&quot;:true,&quot;type&quot;:&quot;text&quot;}"/>
          <p:cNvSpPr txBox="1"/>
          <p:nvPr/>
        </p:nvSpPr>
        <p:spPr>
          <a:xfrm>
            <a:off x="4629150" y="1504950"/>
            <a:ext cx="69723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E3F8C"/>
                </a:solidFill>
                <a:latin typeface="微软雅黑"/>
                <a:ea typeface="微软雅黑"/>
              </a:rPr>
              <a:t>问题</a:t>
            </a:r>
            <a:endParaRPr/>
          </a:p>
        </p:txBody>
      </p:sp>
      <p:sp>
        <p:nvSpPr>
          <p:cNvPr id="1332" name="文本框 1331" descr="{&quot;isTemplate&quot;:true,&quot;type&quot;:&quot;text&quot;}"/>
          <p:cNvSpPr txBox="1"/>
          <p:nvPr/>
        </p:nvSpPr>
        <p:spPr>
          <a:xfrm>
            <a:off x="4629150" y="1781175"/>
            <a:ext cx="69723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退火速率–内应力–最终强度之间是多参数耦合关系，机理复杂、经验公式适用面窄</a:t>
            </a:r>
            <a:endParaRPr/>
          </a:p>
        </p:txBody>
      </p:sp>
      <p:sp>
        <p:nvSpPr>
          <p:cNvPr id="1333" name="矩形: 圆角 1332"/>
          <p:cNvSpPr/>
          <p:nvPr/>
        </p:nvSpPr>
        <p:spPr>
          <a:xfrm>
            <a:off x="4419600" y="2381250"/>
            <a:ext cx="7391400" cy="933450"/>
          </a:xfrm>
          <a:prstGeom prst="roundRect">
            <a:avLst>
              <a:gd name="adj" fmla="val 10204"/>
            </a:avLst>
          </a:prstGeom>
          <a:solidFill>
            <a:srgbClr val="E8F1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34" name="文本框 1333" descr="{&quot;isTemplate&quot;:true,&quot;type&quot;:&quot;text&quot;}"/>
          <p:cNvSpPr txBox="1"/>
          <p:nvPr/>
        </p:nvSpPr>
        <p:spPr>
          <a:xfrm>
            <a:off x="4629150" y="2552700"/>
            <a:ext cx="69723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E3F8C"/>
                </a:solidFill>
                <a:latin typeface="微软雅黑"/>
                <a:ea typeface="微软雅黑"/>
              </a:rPr>
              <a:t>做法</a:t>
            </a:r>
            <a:endParaRPr/>
          </a:p>
        </p:txBody>
      </p:sp>
      <p:sp>
        <p:nvSpPr>
          <p:cNvPr id="1335" name="文本框 1334" descr="{&quot;isTemplate&quot;:true,&quot;type&quot;:&quot;text&quot;}"/>
          <p:cNvSpPr txBox="1"/>
          <p:nvPr/>
        </p:nvSpPr>
        <p:spPr>
          <a:xfrm>
            <a:off x="4629150" y="2828925"/>
            <a:ext cx="69723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用代理模型学习速率曲线与强度的映射，再用贝叶斯优化挑选最优升温程序</a:t>
            </a:r>
            <a:endParaRPr/>
          </a:p>
        </p:txBody>
      </p:sp>
      <p:sp>
        <p:nvSpPr>
          <p:cNvPr id="1336" name="矩形: 圆角 1335"/>
          <p:cNvSpPr/>
          <p:nvPr/>
        </p:nvSpPr>
        <p:spPr>
          <a:xfrm>
            <a:off x="4419600" y="3429000"/>
            <a:ext cx="7391400" cy="1247775"/>
          </a:xfrm>
          <a:prstGeom prst="roundRect">
            <a:avLst>
              <a:gd name="adj" fmla="val 7634"/>
            </a:avLst>
          </a:prstGeom>
          <a:solidFill>
            <a:srgbClr val="E8F1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37" name="文本框 1336" descr="{&quot;isTemplate&quot;:true,&quot;type&quot;:&quot;text&quot;}"/>
          <p:cNvSpPr txBox="1"/>
          <p:nvPr/>
        </p:nvSpPr>
        <p:spPr>
          <a:xfrm>
            <a:off x="4629150" y="3600450"/>
            <a:ext cx="69723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E3F8C"/>
                </a:solidFill>
                <a:latin typeface="微软雅黑"/>
                <a:ea typeface="微软雅黑"/>
              </a:rPr>
              <a:t>结果</a:t>
            </a:r>
            <a:endParaRPr/>
          </a:p>
        </p:txBody>
      </p:sp>
      <p:sp>
        <p:nvSpPr>
          <p:cNvPr id="1338" name="文本框 1337" descr="{&quot;isTemplate&quot;:true,&quot;type&quot;:&quot;text&quot;}"/>
          <p:cNvSpPr txBox="1"/>
          <p:nvPr/>
        </p:nvSpPr>
        <p:spPr>
          <a:xfrm>
            <a:off x="4629150" y="3876675"/>
            <a:ext cx="697230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教学情景：用代理模型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 +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贝叶斯优化替代逐炉试错；具体轮次取决于工艺窗口与噪声，本页不给未经验证的数值</a:t>
            </a:r>
            <a:endParaRPr/>
          </a:p>
        </p:txBody>
      </p:sp>
      <p:sp>
        <p:nvSpPr>
          <p:cNvPr id="1339" name="矩形: 圆角 1338"/>
          <p:cNvSpPr/>
          <p:nvPr/>
        </p:nvSpPr>
        <p:spPr>
          <a:xfrm>
            <a:off x="4419600" y="4791075"/>
            <a:ext cx="7391400" cy="1362075"/>
          </a:xfrm>
          <a:prstGeom prst="roundRect">
            <a:avLst>
              <a:gd name="adj" fmla="val 6993"/>
            </a:avLst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40" name="文本框 1339" descr="{&quot;isTemplate&quot;:true,&quot;type&quot;:&quot;text&quot;}"/>
          <p:cNvSpPr txBox="1"/>
          <p:nvPr/>
        </p:nvSpPr>
        <p:spPr>
          <a:xfrm>
            <a:off x="4629150" y="4962525"/>
            <a:ext cx="6972300" cy="1019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5000"/>
              </a:lnSpc>
            </a:pPr>
            <a:r>
              <a:rPr lang="zh-CN" sz="1350" b="1">
                <a:solidFill>
                  <a:srgbClr val="8D6E00"/>
                </a:solidFill>
                <a:latin typeface="微软雅黑"/>
                <a:ea typeface="微软雅黑"/>
              </a:rPr>
              <a:t>教学价值（本页为教学情景，不含企业实测数据）：</a:t>
            </a: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这个例子的目标函数</a:t>
            </a:r>
            <a:r>
              <a:rPr lang="zh-CN" sz="1350" b="1">
                <a:solidFill>
                  <a:srgbClr val="1A2230"/>
                </a:solidFill>
                <a:latin typeface="微软雅黑"/>
                <a:ea typeface="微软雅黑"/>
              </a:rPr>
              <a:t>完全由工程需求定义</a:t>
            </a: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，而不是「发现新材料」。学生从中可看到</a:t>
            </a:r>
            <a:r>
              <a:rPr lang="en-US" sz="1350">
                <a:solidFill>
                  <a:srgbClr val="1A2230"/>
                </a:solidFill>
                <a:latin typeface="微软雅黑"/>
                <a:ea typeface="微软雅黑"/>
              </a:rPr>
              <a:t> ML </a:t>
            </a: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在工业中的主要价值形态——</a:t>
            </a:r>
            <a:r>
              <a:rPr lang="zh-CN" sz="1350" b="1">
                <a:solidFill>
                  <a:srgbClr val="1A2230"/>
                </a:solidFill>
                <a:latin typeface="微软雅黑"/>
                <a:ea typeface="微软雅黑"/>
              </a:rPr>
              <a:t>优化既有工艺</a:t>
            </a: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。</a:t>
            </a:r>
            <a:endParaRPr/>
          </a:p>
        </p:txBody>
      </p:sp>
      <p:sp>
        <p:nvSpPr>
          <p:cNvPr id="1341" name="文本框 1340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1342" name="文本框 1341" descr="{&quot;isTemplate&quot;:true,&quot;type&quot;:&quot;text&quot;}"/>
          <p:cNvSpPr txBox="1"/>
          <p:nvPr/>
        </p:nvSpPr>
        <p:spPr>
          <a:xfrm>
            <a:off x="54673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1343" name="文本框 1342" descr="{&quot;isTemplate&quot;:true,&quot;type&quot;:&quot;text&quot;}"/>
          <p:cNvSpPr txBox="1"/>
          <p:nvPr/>
        </p:nvSpPr>
        <p:spPr>
          <a:xfrm>
            <a:off x="11410950" y="6610350"/>
            <a:ext cx="4000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49 / 60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矩形 136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69" name="矩形 1368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70" name="文本框 1369" descr="{&quot;isTemplate&quot;:true,&quot;type&quot;:&quot;text&quot;}"/>
          <p:cNvSpPr txBox="1"/>
          <p:nvPr/>
        </p:nvSpPr>
        <p:spPr>
          <a:xfrm>
            <a:off x="342900" y="171450"/>
            <a:ext cx="3524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在材料科学中的应用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讲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材料信息学导论与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产业</a:t>
            </a:r>
            <a:endParaRPr/>
          </a:p>
        </p:txBody>
      </p:sp>
      <p:sp>
        <p:nvSpPr>
          <p:cNvPr id="1371" name="文本框 1370" descr="{&quot;isTemplate&quot;:true,&quot;type&quot;:&quot;text&quot;}"/>
          <p:cNvSpPr txBox="1"/>
          <p:nvPr/>
        </p:nvSpPr>
        <p:spPr>
          <a:xfrm>
            <a:off x="9315450" y="171450"/>
            <a:ext cx="14287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04 AI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材料产业与黄金热</a:t>
            </a:r>
            <a:endParaRPr/>
          </a:p>
        </p:txBody>
      </p:sp>
      <p:pic>
        <p:nvPicPr>
          <p:cNvPr id="1372" name="图片 1371"/>
          <p:cNvPicPr>
            <a:picLocks noChangeAspect="1"/>
          </p:cNvPicPr>
          <p:nvPr/>
        </p:nvPicPr>
        <p:blipFill>
          <a:blip r:embed="rId3"/>
          <a:srcRect l="847" r="847"/>
          <a:stretch>
            <a:fillRect/>
          </a:stretch>
        </p:blipFill>
        <p:spPr>
          <a:xfrm>
            <a:off x="10858500" y="123825"/>
            <a:ext cx="990600" cy="247650"/>
          </a:xfrm>
          <a:prstGeom prst="rect">
            <a:avLst/>
          </a:prstGeom>
          <a:ln/>
        </p:spPr>
      </p:pic>
      <p:sp>
        <p:nvSpPr>
          <p:cNvPr id="1373" name="文本框 1372" descr="{&quot;isTemplate&quot;:true,&quot;type&quot;:&quot;text&quot;}"/>
          <p:cNvSpPr txBox="1"/>
          <p:nvPr/>
        </p:nvSpPr>
        <p:spPr>
          <a:xfrm>
            <a:off x="381000" y="666750"/>
            <a:ext cx="114300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钉钉进步体"/>
                <a:ea typeface="钉钉进步体"/>
              </a:rPr>
              <a:t>教学情景（假设）：从废钢成分预测性能</a:t>
            </a:r>
            <a:endParaRPr/>
          </a:p>
        </p:txBody>
      </p:sp>
      <p:sp>
        <p:nvSpPr>
          <p:cNvPr id="1374" name="矩形: 圆角 1373"/>
          <p:cNvSpPr/>
          <p:nvPr/>
        </p:nvSpPr>
        <p:spPr>
          <a:xfrm>
            <a:off x="381000" y="1114425"/>
            <a:ext cx="571500" cy="47625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75" name="矩形: 圆角 1374"/>
          <p:cNvSpPr/>
          <p:nvPr/>
        </p:nvSpPr>
        <p:spPr>
          <a:xfrm>
            <a:off x="381000" y="1333500"/>
            <a:ext cx="3810000" cy="518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76" name="图片 1375"/>
          <p:cNvPicPr>
            <a:picLocks noChangeAspect="1"/>
          </p:cNvPicPr>
          <p:nvPr/>
        </p:nvPicPr>
        <p:blipFill>
          <a:blip r:embed="rId4"/>
          <a:srcRect l="206" r="206"/>
          <a:stretch>
            <a:fillRect/>
          </a:stretch>
        </p:blipFill>
        <p:spPr>
          <a:xfrm>
            <a:off x="533400" y="1485900"/>
            <a:ext cx="3505200" cy="2305050"/>
          </a:xfrm>
          <a:prstGeom prst="rect">
            <a:avLst/>
          </a:prstGeom>
          <a:ln/>
        </p:spPr>
      </p:pic>
      <p:sp>
        <p:nvSpPr>
          <p:cNvPr id="1377" name="文本框 1376" descr="{&quot;isTemplate&quot;:true,&quot;type&quot;:&quot;text&quot;}"/>
          <p:cNvSpPr txBox="1"/>
          <p:nvPr/>
        </p:nvSpPr>
        <p:spPr>
          <a:xfrm>
            <a:off x="1514475" y="3867150"/>
            <a:ext cx="15525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6B7889"/>
                </a:solidFill>
                <a:latin typeface="微软雅黑"/>
                <a:ea typeface="微软雅黑"/>
              </a:rPr>
              <a:t>废钢成分波动</a:t>
            </a:r>
            <a:r>
              <a:rPr lang="en-US" sz="1050">
                <a:solidFill>
                  <a:srgbClr val="6B7889"/>
                </a:solidFill>
                <a:latin typeface="微软雅黑"/>
                <a:ea typeface="微软雅黑"/>
              </a:rPr>
              <a:t> → </a:t>
            </a:r>
            <a:r>
              <a:rPr lang="zh-CN" sz="1050">
                <a:solidFill>
                  <a:srgbClr val="6B7889"/>
                </a:solidFill>
                <a:latin typeface="微软雅黑"/>
                <a:ea typeface="微软雅黑"/>
              </a:rPr>
              <a:t>强度波动</a:t>
            </a:r>
            <a:endParaRPr/>
          </a:p>
        </p:txBody>
      </p:sp>
      <p:sp>
        <p:nvSpPr>
          <p:cNvPr id="1378" name="矩形: 圆角 1377"/>
          <p:cNvSpPr/>
          <p:nvPr/>
        </p:nvSpPr>
        <p:spPr>
          <a:xfrm>
            <a:off x="4419600" y="1333500"/>
            <a:ext cx="7391400" cy="933450"/>
          </a:xfrm>
          <a:prstGeom prst="roundRect">
            <a:avLst>
              <a:gd name="adj" fmla="val 10204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79" name="文本框 1378" descr="{&quot;isTemplate&quot;:true,&quot;type&quot;:&quot;text&quot;}"/>
          <p:cNvSpPr txBox="1"/>
          <p:nvPr/>
        </p:nvSpPr>
        <p:spPr>
          <a:xfrm>
            <a:off x="4629150" y="1504950"/>
            <a:ext cx="69723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E3F8C"/>
                </a:solidFill>
                <a:latin typeface="微软雅黑"/>
                <a:ea typeface="微软雅黑"/>
              </a:rPr>
              <a:t>场景</a:t>
            </a:r>
            <a:endParaRPr/>
          </a:p>
        </p:txBody>
      </p:sp>
      <p:sp>
        <p:nvSpPr>
          <p:cNvPr id="1380" name="文本框 1379" descr="{&quot;isTemplate&quot;:true,&quot;type&quot;:&quot;text&quot;}"/>
          <p:cNvSpPr txBox="1"/>
          <p:nvPr/>
        </p:nvSpPr>
        <p:spPr>
          <a:xfrm>
            <a:off x="4629150" y="1781175"/>
            <a:ext cx="69723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废钢回收来源混杂，成分波动大，直接影响最终钢材强度，传统经验配比需要大量试炉</a:t>
            </a:r>
            <a:endParaRPr/>
          </a:p>
        </p:txBody>
      </p:sp>
      <p:sp>
        <p:nvSpPr>
          <p:cNvPr id="1381" name="矩形: 圆角 1380"/>
          <p:cNvSpPr/>
          <p:nvPr/>
        </p:nvSpPr>
        <p:spPr>
          <a:xfrm>
            <a:off x="4419600" y="2381250"/>
            <a:ext cx="7391400" cy="933450"/>
          </a:xfrm>
          <a:prstGeom prst="roundRect">
            <a:avLst>
              <a:gd name="adj" fmla="val 10204"/>
            </a:avLst>
          </a:prstGeom>
          <a:solidFill>
            <a:srgbClr val="E8F1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82" name="文本框 1381" descr="{&quot;isTemplate&quot;:true,&quot;type&quot;:&quot;text&quot;}"/>
          <p:cNvSpPr txBox="1"/>
          <p:nvPr/>
        </p:nvSpPr>
        <p:spPr>
          <a:xfrm>
            <a:off x="4629150" y="2552700"/>
            <a:ext cx="69723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E3F8C"/>
                </a:solidFill>
                <a:latin typeface="微软雅黑"/>
                <a:ea typeface="微软雅黑"/>
              </a:rPr>
              <a:t>做法</a:t>
            </a:r>
            <a:endParaRPr/>
          </a:p>
        </p:txBody>
      </p:sp>
      <p:sp>
        <p:nvSpPr>
          <p:cNvPr id="1383" name="文本框 1382" descr="{&quot;isTemplate&quot;:true,&quot;type&quot;:&quot;text&quot;}"/>
          <p:cNvSpPr txBox="1"/>
          <p:nvPr/>
        </p:nvSpPr>
        <p:spPr>
          <a:xfrm>
            <a:off x="4629150" y="2828925"/>
            <a:ext cx="69723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用历史炉次数据训练模型，从废钢成分预测目标钢材强度，反推需要的配比调整</a:t>
            </a:r>
            <a:endParaRPr/>
          </a:p>
        </p:txBody>
      </p:sp>
      <p:sp>
        <p:nvSpPr>
          <p:cNvPr id="1384" name="矩形: 圆角 1383"/>
          <p:cNvSpPr/>
          <p:nvPr/>
        </p:nvSpPr>
        <p:spPr>
          <a:xfrm>
            <a:off x="4419600" y="3429000"/>
            <a:ext cx="7391400" cy="933450"/>
          </a:xfrm>
          <a:prstGeom prst="roundRect">
            <a:avLst>
              <a:gd name="adj" fmla="val 10204"/>
            </a:avLst>
          </a:prstGeom>
          <a:solidFill>
            <a:srgbClr val="E8F1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85" name="文本框 1384" descr="{&quot;isTemplate&quot;:true,&quot;type&quot;:&quot;text&quot;}"/>
          <p:cNvSpPr txBox="1"/>
          <p:nvPr/>
        </p:nvSpPr>
        <p:spPr>
          <a:xfrm>
            <a:off x="4629150" y="3600450"/>
            <a:ext cx="69723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E3F8C"/>
                </a:solidFill>
                <a:latin typeface="微软雅黑"/>
                <a:ea typeface="微软雅黑"/>
              </a:rPr>
              <a:t>价值</a:t>
            </a:r>
            <a:endParaRPr/>
          </a:p>
        </p:txBody>
      </p:sp>
      <p:sp>
        <p:nvSpPr>
          <p:cNvPr id="1386" name="文本框 1385" descr="{&quot;isTemplate&quot;:true,&quot;type&quot;:&quot;text&quot;}"/>
          <p:cNvSpPr txBox="1"/>
          <p:nvPr/>
        </p:nvSpPr>
        <p:spPr>
          <a:xfrm>
            <a:off x="4629150" y="3876675"/>
            <a:ext cx="69723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275" b="1">
                <a:solidFill>
                  <a:srgbClr val="1A2230"/>
                </a:solidFill>
                <a:latin typeface="微软雅黑"/>
                <a:ea typeface="微软雅黑"/>
              </a:rPr>
              <a:t>节省的不只是炉次，还有每一次失败炉次的能源与原料成本</a:t>
            </a:r>
            <a:endParaRPr/>
          </a:p>
        </p:txBody>
      </p:sp>
      <p:sp>
        <p:nvSpPr>
          <p:cNvPr id="1387" name="矩形: 圆角 1386"/>
          <p:cNvSpPr/>
          <p:nvPr/>
        </p:nvSpPr>
        <p:spPr>
          <a:xfrm>
            <a:off x="4419600" y="4476750"/>
            <a:ext cx="7391400" cy="1362075"/>
          </a:xfrm>
          <a:prstGeom prst="roundRect">
            <a:avLst>
              <a:gd name="adj" fmla="val 6993"/>
            </a:avLst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88" name="文本框 1387" descr="{&quot;isTemplate&quot;:true,&quot;type&quot;:&quot;text&quot;}"/>
          <p:cNvSpPr txBox="1"/>
          <p:nvPr/>
        </p:nvSpPr>
        <p:spPr>
          <a:xfrm>
            <a:off x="4629150" y="4648200"/>
            <a:ext cx="6972300" cy="1019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5000"/>
              </a:lnSpc>
            </a:pPr>
            <a:r>
              <a:rPr lang="zh-CN" sz="1350" b="1">
                <a:solidFill>
                  <a:srgbClr val="8D6E00"/>
                </a:solidFill>
                <a:latin typeface="微软雅黑"/>
                <a:ea typeface="微软雅黑"/>
              </a:rPr>
              <a:t>教学情景说明（假设案例，不引用企业实测效果）：</a:t>
            </a: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对特定体系，数据量对通用</a:t>
            </a:r>
            <a:r>
              <a:rPr lang="en-US" sz="1350">
                <a:solidFill>
                  <a:srgbClr val="1A2230"/>
                </a:solidFill>
                <a:latin typeface="微软雅黑"/>
                <a:ea typeface="微软雅黑"/>
              </a:rPr>
              <a:t> ML </a:t>
            </a: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而言微不足道，但</a:t>
            </a:r>
            <a:r>
              <a:rPr lang="zh-CN" sz="1350" b="1">
                <a:solidFill>
                  <a:srgbClr val="1A2230"/>
                </a:solidFill>
                <a:latin typeface="微软雅黑"/>
                <a:ea typeface="微软雅黑"/>
              </a:rPr>
              <a:t>窄域预测可能已经够用</a:t>
            </a: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——这是「</a:t>
            </a:r>
            <a:r>
              <a:rPr lang="en-US" sz="1350">
                <a:solidFill>
                  <a:srgbClr val="1A2230"/>
                </a:solidFill>
                <a:latin typeface="微软雅黑"/>
                <a:ea typeface="微软雅黑"/>
              </a:rPr>
              <a:t>n &lt; 1000 </a:t>
            </a:r>
            <a:r>
              <a:rPr lang="zh-CN" sz="1350">
                <a:solidFill>
                  <a:srgbClr val="1A2230"/>
                </a:solidFill>
                <a:latin typeface="微软雅黑"/>
                <a:ea typeface="微软雅黑"/>
              </a:rPr>
              <a:t>也有可为」的前提，并不等于已被验证。</a:t>
            </a:r>
            <a:endParaRPr/>
          </a:p>
        </p:txBody>
      </p:sp>
      <p:sp>
        <p:nvSpPr>
          <p:cNvPr id="1389" name="文本框 1388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1390" name="文本框 1389" descr="{&quot;isTemplate&quot;:true,&quot;type&quot;:&quot;text&quot;}"/>
          <p:cNvSpPr txBox="1"/>
          <p:nvPr/>
        </p:nvSpPr>
        <p:spPr>
          <a:xfrm>
            <a:off x="54673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1391" name="文本框 1390" descr="{&quot;isTemplate&quot;:true,&quot;type&quot;:&quot;text&quot;}"/>
          <p:cNvSpPr txBox="1"/>
          <p:nvPr/>
        </p:nvSpPr>
        <p:spPr>
          <a:xfrm>
            <a:off x="11410950" y="6610350"/>
            <a:ext cx="4000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50 / 60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矩形 139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94" name="矩形 1393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95" name="文本框 1394" descr="{&quot;isTemplate&quot;:true,&quot;type&quot;:&quot;text&quot;}"/>
          <p:cNvSpPr txBox="1"/>
          <p:nvPr/>
        </p:nvSpPr>
        <p:spPr>
          <a:xfrm>
            <a:off x="342900" y="171450"/>
            <a:ext cx="3524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在材料科学中的应用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讲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材料信息学导论与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产业</a:t>
            </a:r>
            <a:endParaRPr/>
          </a:p>
        </p:txBody>
      </p:sp>
      <p:sp>
        <p:nvSpPr>
          <p:cNvPr id="1396" name="文本框 1395" descr="{&quot;isTemplate&quot;:true,&quot;type&quot;:&quot;text&quot;}"/>
          <p:cNvSpPr txBox="1"/>
          <p:nvPr/>
        </p:nvSpPr>
        <p:spPr>
          <a:xfrm>
            <a:off x="9315450" y="171450"/>
            <a:ext cx="14287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04 AI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材料产业与黄金热</a:t>
            </a:r>
            <a:endParaRPr/>
          </a:p>
        </p:txBody>
      </p:sp>
      <p:pic>
        <p:nvPicPr>
          <p:cNvPr id="1397" name="图片 1396"/>
          <p:cNvPicPr>
            <a:picLocks noChangeAspect="1"/>
          </p:cNvPicPr>
          <p:nvPr/>
        </p:nvPicPr>
        <p:blipFill>
          <a:blip r:embed="rId2"/>
          <a:srcRect l="847" r="847"/>
          <a:stretch>
            <a:fillRect/>
          </a:stretch>
        </p:blipFill>
        <p:spPr>
          <a:xfrm>
            <a:off x="10858500" y="123825"/>
            <a:ext cx="990600" cy="247650"/>
          </a:xfrm>
          <a:prstGeom prst="rect">
            <a:avLst/>
          </a:prstGeom>
          <a:ln/>
        </p:spPr>
      </p:pic>
      <p:sp>
        <p:nvSpPr>
          <p:cNvPr id="1398" name="文本框 1397" descr="{&quot;isTemplate&quot;:true,&quot;type&quot;:&quot;text&quot;}"/>
          <p:cNvSpPr txBox="1"/>
          <p:nvPr/>
        </p:nvSpPr>
        <p:spPr>
          <a:xfrm>
            <a:off x="381000" y="666750"/>
            <a:ext cx="114300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钉钉进步体"/>
                <a:ea typeface="钉钉进步体"/>
              </a:rPr>
              <a:t>对淘金热的冷静审视</a:t>
            </a:r>
            <a:endParaRPr/>
          </a:p>
        </p:txBody>
      </p:sp>
      <p:sp>
        <p:nvSpPr>
          <p:cNvPr id="1399" name="矩形: 圆角 1398"/>
          <p:cNvSpPr/>
          <p:nvPr/>
        </p:nvSpPr>
        <p:spPr>
          <a:xfrm>
            <a:off x="381000" y="1114425"/>
            <a:ext cx="571500" cy="47625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00" name="矩形: 圆角 1399"/>
          <p:cNvSpPr/>
          <p:nvPr/>
        </p:nvSpPr>
        <p:spPr>
          <a:xfrm>
            <a:off x="381000" y="1333500"/>
            <a:ext cx="5619750" cy="4524375"/>
          </a:xfrm>
          <a:prstGeom prst="roundRect">
            <a:avLst>
              <a:gd name="adj" fmla="val 2526"/>
            </a:avLst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01" name="文本框 1400" descr="{&quot;isTemplate&quot;:true,&quot;type&quot;:&quot;text&quot;}"/>
          <p:cNvSpPr txBox="1"/>
          <p:nvPr/>
        </p:nvSpPr>
        <p:spPr>
          <a:xfrm>
            <a:off x="590550" y="1543050"/>
            <a:ext cx="52006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8D6E00"/>
                </a:solidFill>
                <a:latin typeface="微软雅黑"/>
                <a:ea typeface="微软雅黑"/>
              </a:rPr>
              <a:t>常见的四类问题</a:t>
            </a:r>
            <a:endParaRPr/>
          </a:p>
        </p:txBody>
      </p:sp>
      <p:sp>
        <p:nvSpPr>
          <p:cNvPr id="1402" name="文本框 1401" descr="{&quot;isTemplate&quot;:true,&quot;type&quot;:&quot;text&quot;}"/>
          <p:cNvSpPr txBox="1"/>
          <p:nvPr/>
        </p:nvSpPr>
        <p:spPr>
          <a:xfrm>
            <a:off x="590550" y="1924050"/>
            <a:ext cx="52006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B1B33"/>
                </a:solidFill>
                <a:latin typeface="微软雅黑"/>
                <a:ea typeface="微软雅黑"/>
              </a:rPr>
              <a:t>数据问题</a:t>
            </a:r>
            <a:endParaRPr/>
          </a:p>
        </p:txBody>
      </p:sp>
      <p:sp>
        <p:nvSpPr>
          <p:cNvPr id="1403" name="文本框 1402" descr="{&quot;isTemplate&quot;:true,&quot;type&quot;:&quot;text&quot;}"/>
          <p:cNvSpPr txBox="1"/>
          <p:nvPr/>
        </p:nvSpPr>
        <p:spPr>
          <a:xfrm>
            <a:off x="590550" y="2171700"/>
            <a:ext cx="520065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sz="1200">
                <a:solidFill>
                  <a:srgbClr val="3A4759"/>
                </a:solidFill>
                <a:latin typeface="微软雅黑"/>
                <a:ea typeface="微软雅黑"/>
              </a:rPr>
              <a:t>公共数据库以计算数据为主，与真实实验的性质存在系统性差距</a:t>
            </a:r>
            <a:endParaRPr/>
          </a:p>
        </p:txBody>
      </p:sp>
      <p:sp>
        <p:nvSpPr>
          <p:cNvPr id="1404" name="文本框 1403" descr="{&quot;isTemplate&quot;:true,&quot;type&quot;:&quot;text&quot;}"/>
          <p:cNvSpPr txBox="1"/>
          <p:nvPr/>
        </p:nvSpPr>
        <p:spPr>
          <a:xfrm>
            <a:off x="590550" y="2590800"/>
            <a:ext cx="52006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B1B33"/>
                </a:solidFill>
                <a:latin typeface="微软雅黑"/>
                <a:ea typeface="微软雅黑"/>
              </a:rPr>
              <a:t>评估问题</a:t>
            </a:r>
            <a:endParaRPr/>
          </a:p>
        </p:txBody>
      </p:sp>
      <p:sp>
        <p:nvSpPr>
          <p:cNvPr id="1405" name="文本框 1404" descr="{&quot;isTemplate&quot;:true,&quot;type&quot;:&quot;text&quot;}"/>
          <p:cNvSpPr txBox="1"/>
          <p:nvPr/>
        </p:nvSpPr>
        <p:spPr>
          <a:xfrm>
            <a:off x="590550" y="2838450"/>
            <a:ext cx="520065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sz="1200">
                <a:solidFill>
                  <a:srgbClr val="3A4759"/>
                </a:solidFill>
                <a:latin typeface="微软雅黑"/>
                <a:ea typeface="微软雅黑"/>
              </a:rPr>
              <a:t>大量工作只在同分布测试集上报告</a:t>
            </a:r>
            <a:r>
              <a:rPr lang="en-US" sz="1200">
                <a:solidFill>
                  <a:srgbClr val="3A4759"/>
                </a:solidFill>
                <a:latin typeface="微软雅黑"/>
                <a:ea typeface="微软雅黑"/>
              </a:rPr>
              <a:t>R²</a:t>
            </a:r>
            <a:r>
              <a:rPr lang="zh-CN" sz="1200">
                <a:solidFill>
                  <a:srgbClr val="3A4759"/>
                </a:solidFill>
                <a:latin typeface="微软雅黑"/>
                <a:ea typeface="微软雅黑"/>
              </a:rPr>
              <a:t>，掩盖了外推能力的缺失</a:t>
            </a:r>
            <a:endParaRPr/>
          </a:p>
        </p:txBody>
      </p:sp>
      <p:sp>
        <p:nvSpPr>
          <p:cNvPr id="1406" name="文本框 1405" descr="{&quot;isTemplate&quot;:true,&quot;type&quot;:&quot;text&quot;}"/>
          <p:cNvSpPr txBox="1"/>
          <p:nvPr/>
        </p:nvSpPr>
        <p:spPr>
          <a:xfrm>
            <a:off x="590550" y="3257550"/>
            <a:ext cx="52006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B1B33"/>
                </a:solidFill>
                <a:latin typeface="微软雅黑"/>
                <a:ea typeface="微软雅黑"/>
              </a:rPr>
              <a:t>增量问题</a:t>
            </a:r>
            <a:endParaRPr/>
          </a:p>
        </p:txBody>
      </p:sp>
      <p:sp>
        <p:nvSpPr>
          <p:cNvPr id="1407" name="文本框 1406" descr="{&quot;isTemplate&quot;:true,&quot;type&quot;:&quot;text&quot;}"/>
          <p:cNvSpPr txBox="1"/>
          <p:nvPr/>
        </p:nvSpPr>
        <p:spPr>
          <a:xfrm>
            <a:off x="590550" y="3505200"/>
            <a:ext cx="520065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sz="1200">
                <a:solidFill>
                  <a:srgbClr val="3A4759"/>
                </a:solidFill>
                <a:latin typeface="微软雅黑"/>
                <a:ea typeface="微软雅黑"/>
              </a:rPr>
              <a:t>模型常常只是在复现已知关联，而非提供新的设计洞见</a:t>
            </a:r>
            <a:endParaRPr/>
          </a:p>
        </p:txBody>
      </p:sp>
      <p:sp>
        <p:nvSpPr>
          <p:cNvPr id="1408" name="文本框 1407" descr="{&quot;isTemplate&quot;:true,&quot;type&quot;:&quot;text&quot;}"/>
          <p:cNvSpPr txBox="1"/>
          <p:nvPr/>
        </p:nvSpPr>
        <p:spPr>
          <a:xfrm>
            <a:off x="590550" y="3924300"/>
            <a:ext cx="52006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B1B33"/>
                </a:solidFill>
                <a:latin typeface="微软雅黑"/>
                <a:ea typeface="微软雅黑"/>
              </a:rPr>
              <a:t>规模问题</a:t>
            </a:r>
            <a:endParaRPr/>
          </a:p>
        </p:txBody>
      </p:sp>
      <p:sp>
        <p:nvSpPr>
          <p:cNvPr id="1409" name="文本框 1408" descr="{&quot;isTemplate&quot;:true,&quot;type&quot;:&quot;text&quot;}"/>
          <p:cNvSpPr txBox="1"/>
          <p:nvPr/>
        </p:nvSpPr>
        <p:spPr>
          <a:xfrm>
            <a:off x="590550" y="4171950"/>
            <a:ext cx="520065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sz="1200">
                <a:solidFill>
                  <a:srgbClr val="3A4759"/>
                </a:solidFill>
                <a:latin typeface="微软雅黑"/>
                <a:ea typeface="微软雅黑"/>
              </a:rPr>
              <a:t>在</a:t>
            </a:r>
            <a:r>
              <a:rPr lang="en-US" sz="1200">
                <a:solidFill>
                  <a:srgbClr val="3A4759"/>
                </a:solidFill>
                <a:latin typeface="微软雅黑"/>
                <a:ea typeface="微软雅黑"/>
              </a:rPr>
              <a:t> n&lt;1000 </a:t>
            </a:r>
            <a:r>
              <a:rPr lang="zh-CN" sz="1200">
                <a:solidFill>
                  <a:srgbClr val="3A4759"/>
                </a:solidFill>
                <a:latin typeface="微软雅黑"/>
                <a:ea typeface="微软雅黑"/>
              </a:rPr>
              <a:t>上训练深度网络，报告的高精度往往来自信息泄漏</a:t>
            </a:r>
            <a:endParaRPr/>
          </a:p>
        </p:txBody>
      </p:sp>
      <p:sp>
        <p:nvSpPr>
          <p:cNvPr id="1410" name="矩形: 圆角 1409"/>
          <p:cNvSpPr/>
          <p:nvPr/>
        </p:nvSpPr>
        <p:spPr>
          <a:xfrm>
            <a:off x="6191250" y="1333500"/>
            <a:ext cx="5619750" cy="4524375"/>
          </a:xfrm>
          <a:prstGeom prst="roundRect">
            <a:avLst>
              <a:gd name="adj" fmla="val 2526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11" name="文本框 1410" descr="{&quot;isTemplate&quot;:true,&quot;type&quot;:&quot;text&quot;}"/>
          <p:cNvSpPr txBox="1"/>
          <p:nvPr/>
        </p:nvSpPr>
        <p:spPr>
          <a:xfrm>
            <a:off x="6400800" y="1543050"/>
            <a:ext cx="52006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B5E20"/>
                </a:solidFill>
                <a:latin typeface="微软雅黑"/>
                <a:ea typeface="微软雅黑"/>
              </a:rPr>
              <a:t>那么什么才算「做对了」</a:t>
            </a:r>
            <a:endParaRPr/>
          </a:p>
        </p:txBody>
      </p:sp>
      <p:sp>
        <p:nvSpPr>
          <p:cNvPr id="1412" name="矩形: 圆角 1411"/>
          <p:cNvSpPr/>
          <p:nvPr/>
        </p:nvSpPr>
        <p:spPr>
          <a:xfrm>
            <a:off x="6400800" y="20002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13" name="文本框 1412" descr="{&quot;isTemplate&quot;:true,&quot;type&quot;:&quot;text&quot;}"/>
          <p:cNvSpPr txBox="1"/>
          <p:nvPr/>
        </p:nvSpPr>
        <p:spPr>
          <a:xfrm>
            <a:off x="6572250" y="1924050"/>
            <a:ext cx="50292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数据可信：说明数据来源、清洗规则，并评估噪声水平</a:t>
            </a:r>
            <a:endParaRPr/>
          </a:p>
        </p:txBody>
      </p:sp>
      <p:sp>
        <p:nvSpPr>
          <p:cNvPr id="1414" name="矩形: 圆角 1413"/>
          <p:cNvSpPr/>
          <p:nvPr/>
        </p:nvSpPr>
        <p:spPr>
          <a:xfrm>
            <a:off x="6400800" y="24384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15" name="文本框 1414" descr="{&quot;isTemplate&quot;:true,&quot;type&quot;:&quot;text&quot;}"/>
          <p:cNvSpPr txBox="1"/>
          <p:nvPr/>
        </p:nvSpPr>
        <p:spPr>
          <a:xfrm>
            <a:off x="6572250" y="2362200"/>
            <a:ext cx="50292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评估严格：使用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 LOCO-CV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等材料专属划分，明确报告外推场景</a:t>
            </a:r>
            <a:endParaRPr/>
          </a:p>
        </p:txBody>
      </p:sp>
      <p:sp>
        <p:nvSpPr>
          <p:cNvPr id="1416" name="矩形: 圆角 1415"/>
          <p:cNvSpPr/>
          <p:nvPr/>
        </p:nvSpPr>
        <p:spPr>
          <a:xfrm>
            <a:off x="6400800" y="28765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17" name="文本框 1416" descr="{&quot;isTemplate&quot;:true,&quot;type&quot;:&quot;text&quot;}"/>
          <p:cNvSpPr txBox="1"/>
          <p:nvPr/>
        </p:nvSpPr>
        <p:spPr>
          <a:xfrm>
            <a:off x="6572250" y="2800350"/>
            <a:ext cx="50292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基线诚实：与简单基线（如随机森林）比较，而非只与弱模型比</a:t>
            </a:r>
            <a:endParaRPr/>
          </a:p>
        </p:txBody>
      </p:sp>
      <p:sp>
        <p:nvSpPr>
          <p:cNvPr id="1418" name="矩形: 圆角 1417"/>
          <p:cNvSpPr/>
          <p:nvPr/>
        </p:nvSpPr>
        <p:spPr>
          <a:xfrm>
            <a:off x="6400800" y="33147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19" name="文本框 1418" descr="{&quot;isTemplate&quot;:true,&quot;type&quot;:&quot;text&quot;}"/>
          <p:cNvSpPr txBox="1"/>
          <p:nvPr/>
        </p:nvSpPr>
        <p:spPr>
          <a:xfrm>
            <a:off x="6572250" y="3238500"/>
            <a:ext cx="50292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机制可讲：能指出哪些特征在起作用，以及为什么符合物理直觉</a:t>
            </a:r>
            <a:endParaRPr/>
          </a:p>
        </p:txBody>
      </p:sp>
      <p:sp>
        <p:nvSpPr>
          <p:cNvPr id="1420" name="矩形: 圆角 1419"/>
          <p:cNvSpPr/>
          <p:nvPr/>
        </p:nvSpPr>
        <p:spPr>
          <a:xfrm>
            <a:off x="6400800" y="37528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21" name="文本框 1420" descr="{&quot;isTemplate&quot;:true,&quot;type&quot;:&quot;text&quot;}"/>
          <p:cNvSpPr txBox="1"/>
          <p:nvPr/>
        </p:nvSpPr>
        <p:spPr>
          <a:xfrm>
            <a:off x="6572250" y="3676650"/>
            <a:ext cx="50292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可复现：代码、数据、随机种子、库版本齐全</a:t>
            </a:r>
            <a:endParaRPr/>
          </a:p>
        </p:txBody>
      </p:sp>
      <p:sp>
        <p:nvSpPr>
          <p:cNvPr id="1422" name="矩形: 圆角 1421"/>
          <p:cNvSpPr/>
          <p:nvPr/>
        </p:nvSpPr>
        <p:spPr>
          <a:xfrm>
            <a:off x="381000" y="5991225"/>
            <a:ext cx="11430000" cy="523875"/>
          </a:xfrm>
          <a:prstGeom prst="roundRect">
            <a:avLst>
              <a:gd name="adj" fmla="val 18182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23" name="文本框 1422" descr="{&quot;isTemplate&quot;:true,&quot;type&quot;:&quot;text&quot;}"/>
          <p:cNvSpPr txBox="1"/>
          <p:nvPr/>
        </p:nvSpPr>
        <p:spPr>
          <a:xfrm>
            <a:off x="628650" y="6143625"/>
            <a:ext cx="109347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425">
                <a:solidFill>
                  <a:srgbClr val="FFFFFF"/>
                </a:solidFill>
                <a:latin typeface="微软雅黑"/>
                <a:ea typeface="微软雅黑"/>
              </a:rPr>
              <a:t>这份清单就是</a:t>
            </a:r>
            <a:r>
              <a:rPr lang="zh-CN" sz="1425" b="1">
                <a:solidFill>
                  <a:srgbClr val="FFC107"/>
                </a:solidFill>
                <a:latin typeface="微软雅黑"/>
                <a:ea typeface="微软雅黑"/>
              </a:rPr>
              <a:t>本课程对作业与项目的评分标准</a:t>
            </a:r>
            <a:endParaRPr/>
          </a:p>
        </p:txBody>
      </p:sp>
      <p:sp>
        <p:nvSpPr>
          <p:cNvPr id="1424" name="文本框 1423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1425" name="文本框 1424" descr="{&quot;isTemplate&quot;:true,&quot;type&quot;:&quot;text&quot;}"/>
          <p:cNvSpPr txBox="1"/>
          <p:nvPr/>
        </p:nvSpPr>
        <p:spPr>
          <a:xfrm>
            <a:off x="54673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1426" name="文本框 1425" descr="{&quot;isTemplate&quot;:true,&quot;type&quot;:&quot;text&quot;}"/>
          <p:cNvSpPr txBox="1"/>
          <p:nvPr/>
        </p:nvSpPr>
        <p:spPr>
          <a:xfrm>
            <a:off x="11410950" y="6610350"/>
            <a:ext cx="4000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51 / 60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矩形 14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29" name="矩形 1428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30" name="文本框 1429" descr="{&quot;isTemplate&quot;:true,&quot;type&quot;:&quot;text&quot;}"/>
          <p:cNvSpPr txBox="1"/>
          <p:nvPr/>
        </p:nvSpPr>
        <p:spPr>
          <a:xfrm>
            <a:off x="342900" y="171450"/>
            <a:ext cx="3524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在材料科学中的应用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讲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材料信息学导论与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产业</a:t>
            </a:r>
            <a:endParaRPr/>
          </a:p>
        </p:txBody>
      </p:sp>
      <p:sp>
        <p:nvSpPr>
          <p:cNvPr id="1431" name="文本框 1430" descr="{&quot;isTemplate&quot;:true,&quot;type&quot;:&quot;text&quot;}"/>
          <p:cNvSpPr txBox="1"/>
          <p:nvPr/>
        </p:nvSpPr>
        <p:spPr>
          <a:xfrm>
            <a:off x="9315450" y="171450"/>
            <a:ext cx="14287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04 AI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材料产业与黄金热</a:t>
            </a:r>
            <a:endParaRPr/>
          </a:p>
        </p:txBody>
      </p:sp>
      <p:pic>
        <p:nvPicPr>
          <p:cNvPr id="1432" name="图片 1431"/>
          <p:cNvPicPr>
            <a:picLocks noChangeAspect="1"/>
          </p:cNvPicPr>
          <p:nvPr/>
        </p:nvPicPr>
        <p:blipFill>
          <a:blip r:embed="rId2"/>
          <a:srcRect l="847" r="847"/>
          <a:stretch>
            <a:fillRect/>
          </a:stretch>
        </p:blipFill>
        <p:spPr>
          <a:xfrm>
            <a:off x="10858500" y="123825"/>
            <a:ext cx="990600" cy="247650"/>
          </a:xfrm>
          <a:prstGeom prst="rect">
            <a:avLst/>
          </a:prstGeom>
          <a:ln/>
        </p:spPr>
      </p:pic>
      <p:sp>
        <p:nvSpPr>
          <p:cNvPr id="1433" name="文本框 1432" descr="{&quot;isTemplate&quot;:true,&quot;type&quot;:&quot;text&quot;}"/>
          <p:cNvSpPr txBox="1"/>
          <p:nvPr/>
        </p:nvSpPr>
        <p:spPr>
          <a:xfrm>
            <a:off x="381000" y="666750"/>
            <a:ext cx="114300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钉钉进步体"/>
                <a:ea typeface="钉钉进步体"/>
              </a:rPr>
              <a:t>这与在座的你有什么关系？</a:t>
            </a:r>
            <a:endParaRPr/>
          </a:p>
        </p:txBody>
      </p:sp>
      <p:sp>
        <p:nvSpPr>
          <p:cNvPr id="1434" name="矩形: 圆角 1433"/>
          <p:cNvSpPr/>
          <p:nvPr/>
        </p:nvSpPr>
        <p:spPr>
          <a:xfrm>
            <a:off x="381000" y="1114425"/>
            <a:ext cx="571500" cy="47625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35" name="矩形: 圆角 1434"/>
          <p:cNvSpPr/>
          <p:nvPr/>
        </p:nvSpPr>
        <p:spPr>
          <a:xfrm>
            <a:off x="381000" y="1333500"/>
            <a:ext cx="2733675" cy="4257675"/>
          </a:xfrm>
          <a:prstGeom prst="roundRect">
            <a:avLst>
              <a:gd name="adj" fmla="val 4181"/>
            </a:avLst>
          </a:prstGeom>
          <a:solidFill>
            <a:srgbClr val="E3EC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36" name="文本框 1435" descr="{&quot;isTemplate&quot;:true,&quot;type&quot;:&quot;text&quot;}"/>
          <p:cNvSpPr txBox="1"/>
          <p:nvPr/>
        </p:nvSpPr>
        <p:spPr>
          <a:xfrm>
            <a:off x="571500" y="1543050"/>
            <a:ext cx="2352675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微软雅黑"/>
                <a:ea typeface="微软雅黑"/>
              </a:rPr>
              <a:t>你的博士课题</a:t>
            </a:r>
            <a:endParaRPr/>
          </a:p>
        </p:txBody>
      </p:sp>
      <p:sp>
        <p:nvSpPr>
          <p:cNvPr id="1437" name="文本框 1436" descr="{&quot;isTemplate&quot;:true,&quot;type&quot;:&quot;text&quot;}"/>
          <p:cNvSpPr txBox="1"/>
          <p:nvPr/>
        </p:nvSpPr>
        <p:spPr>
          <a:xfrm>
            <a:off x="571500" y="1924050"/>
            <a:ext cx="2352675" cy="1323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0000"/>
              </a:lnSpc>
            </a:pPr>
            <a:r>
              <a:rPr lang="zh-CN" sz="1275">
                <a:solidFill>
                  <a:srgbClr val="2C3947"/>
                </a:solidFill>
                <a:latin typeface="微软雅黑"/>
                <a:ea typeface="微软雅黑"/>
              </a:rPr>
              <a:t>几乎必然涉及材料数据的获取、分析或预测。即使课题本身与</a:t>
            </a:r>
            <a:r>
              <a:rPr lang="en-US" sz="1275">
                <a:solidFill>
                  <a:srgbClr val="2C3947"/>
                </a:solidFill>
                <a:latin typeface="微软雅黑"/>
                <a:ea typeface="微软雅黑"/>
              </a:rPr>
              <a:t> ML </a:t>
            </a:r>
            <a:r>
              <a:rPr lang="zh-CN" sz="1275">
                <a:solidFill>
                  <a:srgbClr val="2C3947"/>
                </a:solidFill>
                <a:latin typeface="微软雅黑"/>
                <a:ea typeface="微软雅黑"/>
              </a:rPr>
              <a:t>无关，</a:t>
            </a:r>
            <a:r>
              <a:rPr lang="zh-CN" sz="1275" b="1">
                <a:solidFill>
                  <a:srgbClr val="2C3947"/>
                </a:solidFill>
                <a:latin typeface="微软雅黑"/>
                <a:ea typeface="微软雅黑"/>
              </a:rPr>
              <a:t>方法论也会影响你的数据可靠性判断</a:t>
            </a:r>
            <a:endParaRPr/>
          </a:p>
        </p:txBody>
      </p:sp>
      <p:sp>
        <p:nvSpPr>
          <p:cNvPr id="1438" name="矩形: 圆角 1437"/>
          <p:cNvSpPr/>
          <p:nvPr/>
        </p:nvSpPr>
        <p:spPr>
          <a:xfrm>
            <a:off x="3286125" y="1333500"/>
            <a:ext cx="2724150" cy="4257675"/>
          </a:xfrm>
          <a:prstGeom prst="roundRect">
            <a:avLst>
              <a:gd name="adj" fmla="val 4196"/>
            </a:avLst>
          </a:prstGeom>
          <a:solidFill>
            <a:srgbClr val="D3E0F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39" name="文本框 1438" descr="{&quot;isTemplate&quot;:true,&quot;type&quot;:&quot;text&quot;}"/>
          <p:cNvSpPr txBox="1"/>
          <p:nvPr/>
        </p:nvSpPr>
        <p:spPr>
          <a:xfrm>
            <a:off x="3476625" y="1543050"/>
            <a:ext cx="23431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微软雅黑"/>
                <a:ea typeface="微软雅黑"/>
              </a:rPr>
              <a:t>你的研究方法</a:t>
            </a:r>
            <a:endParaRPr/>
          </a:p>
        </p:txBody>
      </p:sp>
      <p:sp>
        <p:nvSpPr>
          <p:cNvPr id="1440" name="文本框 1439" descr="{&quot;isTemplate&quot;:true,&quot;type&quot;:&quot;text&quot;}"/>
          <p:cNvSpPr txBox="1"/>
          <p:nvPr/>
        </p:nvSpPr>
        <p:spPr>
          <a:xfrm>
            <a:off x="3476625" y="1924050"/>
            <a:ext cx="2343150" cy="1000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0000"/>
              </a:lnSpc>
            </a:pPr>
            <a:r>
              <a:rPr lang="zh-CN" sz="1275">
                <a:solidFill>
                  <a:srgbClr val="2C3947"/>
                </a:solidFill>
                <a:latin typeface="微软雅黑"/>
                <a:ea typeface="微软雅黑"/>
              </a:rPr>
              <a:t>实验方案设计越来越会包含「先做计算筛选」的步骤。能建模的人能把实验次数降下来</a:t>
            </a:r>
            <a:endParaRPr/>
          </a:p>
        </p:txBody>
      </p:sp>
      <p:sp>
        <p:nvSpPr>
          <p:cNvPr id="1441" name="矩形: 圆角 1440"/>
          <p:cNvSpPr/>
          <p:nvPr/>
        </p:nvSpPr>
        <p:spPr>
          <a:xfrm>
            <a:off x="6181725" y="1333500"/>
            <a:ext cx="2733675" cy="4257675"/>
          </a:xfrm>
          <a:prstGeom prst="roundRect">
            <a:avLst>
              <a:gd name="adj" fmla="val 4181"/>
            </a:avLst>
          </a:prstGeom>
          <a:solidFill>
            <a:srgbClr val="C3D5E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42" name="文本框 1441" descr="{&quot;isTemplate&quot;:true,&quot;type&quot;:&quot;text&quot;}"/>
          <p:cNvSpPr txBox="1"/>
          <p:nvPr/>
        </p:nvSpPr>
        <p:spPr>
          <a:xfrm>
            <a:off x="6372225" y="1543050"/>
            <a:ext cx="2352675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微软雅黑"/>
                <a:ea typeface="微软雅黑"/>
              </a:rPr>
              <a:t>你的发表</a:t>
            </a:r>
            <a:endParaRPr/>
          </a:p>
        </p:txBody>
      </p:sp>
      <p:sp>
        <p:nvSpPr>
          <p:cNvPr id="1443" name="文本框 1442" descr="{&quot;isTemplate&quot;:true,&quot;type&quot;:&quot;text&quot;}"/>
          <p:cNvSpPr txBox="1"/>
          <p:nvPr/>
        </p:nvSpPr>
        <p:spPr>
          <a:xfrm>
            <a:off x="6372225" y="1924050"/>
            <a:ext cx="2352675" cy="1000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0000"/>
              </a:lnSpc>
            </a:pPr>
            <a:r>
              <a:rPr lang="zh-CN" sz="1275">
                <a:solidFill>
                  <a:srgbClr val="2C3947"/>
                </a:solidFill>
                <a:latin typeface="微软雅黑"/>
                <a:ea typeface="微软雅黑"/>
              </a:rPr>
              <a:t>顶刊审稿人正在越来越多地要求数据驱动的部分。会建模</a:t>
            </a:r>
            <a:r>
              <a:rPr lang="en-US" sz="1275">
                <a:solidFill>
                  <a:srgbClr val="2C3947"/>
                </a:solidFill>
                <a:latin typeface="微软雅黑"/>
                <a:ea typeface="微软雅黑"/>
              </a:rPr>
              <a:t> = </a:t>
            </a:r>
            <a:r>
              <a:rPr lang="zh-CN" sz="1275">
                <a:solidFill>
                  <a:srgbClr val="2C3947"/>
                </a:solidFill>
                <a:latin typeface="微软雅黑"/>
                <a:ea typeface="微软雅黑"/>
              </a:rPr>
              <a:t>更好的结果呈现</a:t>
            </a:r>
            <a:endParaRPr/>
          </a:p>
        </p:txBody>
      </p:sp>
      <p:sp>
        <p:nvSpPr>
          <p:cNvPr id="1444" name="矩形: 圆角 1443"/>
          <p:cNvSpPr/>
          <p:nvPr/>
        </p:nvSpPr>
        <p:spPr>
          <a:xfrm>
            <a:off x="9086850" y="1333500"/>
            <a:ext cx="2724150" cy="4257675"/>
          </a:xfrm>
          <a:prstGeom prst="roundRect">
            <a:avLst>
              <a:gd name="adj" fmla="val 4196"/>
            </a:avLst>
          </a:prstGeom>
          <a:solidFill>
            <a:srgbClr val="B3C9E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45" name="文本框 1444" descr="{&quot;isTemplate&quot;:true,&quot;type&quot;:&quot;text&quot;}"/>
          <p:cNvSpPr txBox="1"/>
          <p:nvPr/>
        </p:nvSpPr>
        <p:spPr>
          <a:xfrm>
            <a:off x="9277350" y="1543050"/>
            <a:ext cx="23431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微软雅黑"/>
                <a:ea typeface="微软雅黑"/>
              </a:rPr>
              <a:t>你的就业</a:t>
            </a:r>
            <a:endParaRPr/>
          </a:p>
        </p:txBody>
      </p:sp>
      <p:sp>
        <p:nvSpPr>
          <p:cNvPr id="1446" name="文本框 1445" descr="{&quot;isTemplate&quot;:true,&quot;type&quot;:&quot;text&quot;}"/>
          <p:cNvSpPr txBox="1"/>
          <p:nvPr/>
        </p:nvSpPr>
        <p:spPr>
          <a:xfrm>
            <a:off x="9277350" y="1924050"/>
            <a:ext cx="2343150" cy="666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0000"/>
              </a:lnSpc>
            </a:pPr>
            <a:r>
              <a:rPr lang="zh-CN" sz="1275">
                <a:solidFill>
                  <a:srgbClr val="2C3947"/>
                </a:solidFill>
                <a:latin typeface="微软雅黑"/>
                <a:ea typeface="微软雅黑"/>
              </a:rPr>
              <a:t>本课程训练的是把材料问题与数据方法结合起来的能力</a:t>
            </a:r>
            <a:endParaRPr/>
          </a:p>
        </p:txBody>
      </p:sp>
      <p:sp>
        <p:nvSpPr>
          <p:cNvPr id="1447" name="矩形: 圆角 1446"/>
          <p:cNvSpPr/>
          <p:nvPr/>
        </p:nvSpPr>
        <p:spPr>
          <a:xfrm>
            <a:off x="381000" y="5724525"/>
            <a:ext cx="11430000" cy="790575"/>
          </a:xfrm>
          <a:prstGeom prst="roundRect">
            <a:avLst>
              <a:gd name="adj" fmla="val 14458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48" name="文本框 1447" descr="{&quot;isTemplate&quot;:true,&quot;type&quot;:&quot;text&quot;}"/>
          <p:cNvSpPr txBox="1"/>
          <p:nvPr/>
        </p:nvSpPr>
        <p:spPr>
          <a:xfrm>
            <a:off x="647700" y="5934075"/>
            <a:ext cx="108966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60000"/>
              </a:lnSpc>
            </a:pPr>
            <a:r>
              <a:rPr lang="zh-CN" sz="1500" b="1">
                <a:solidFill>
                  <a:srgbClr val="FFC107"/>
                </a:solidFill>
                <a:latin typeface="微软雅黑"/>
                <a:ea typeface="微软雅黑"/>
              </a:rPr>
              <a:t>这门课不会让你成为数据科学家，</a:t>
            </a:r>
            <a:r>
              <a:rPr lang="zh-CN" sz="1500">
                <a:solidFill>
                  <a:srgbClr val="FFFFFF"/>
                </a:solidFill>
                <a:latin typeface="微软雅黑"/>
                <a:ea typeface="微软雅黑"/>
              </a:rPr>
              <a:t>但会让你成为</a:t>
            </a:r>
            <a:r>
              <a:rPr lang="zh-CN" sz="1500" b="1">
                <a:solidFill>
                  <a:srgbClr val="FFC107"/>
                </a:solidFill>
                <a:latin typeface="微软雅黑"/>
                <a:ea typeface="微软雅黑"/>
              </a:rPr>
              <a:t>能可靠使用数据方法的研究者</a:t>
            </a:r>
            <a:endParaRPr/>
          </a:p>
        </p:txBody>
      </p:sp>
      <p:sp>
        <p:nvSpPr>
          <p:cNvPr id="1449" name="文本框 1448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1450" name="文本框 1449" descr="{&quot;isTemplate&quot;:true,&quot;type&quot;:&quot;text&quot;}"/>
          <p:cNvSpPr txBox="1"/>
          <p:nvPr/>
        </p:nvSpPr>
        <p:spPr>
          <a:xfrm>
            <a:off x="54673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1451" name="文本框 1450" descr="{&quot;isTemplate&quot;:true,&quot;type&quot;:&quot;text&quot;}"/>
          <p:cNvSpPr txBox="1"/>
          <p:nvPr/>
        </p:nvSpPr>
        <p:spPr>
          <a:xfrm>
            <a:off x="11410950" y="6610350"/>
            <a:ext cx="4000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52 / 60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矩形 145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54" name="文本框 1453" descr="{&quot;isTemplate&quot;:true,&quot;type&quot;:&quot;text&quot;}"/>
          <p:cNvSpPr txBox="1"/>
          <p:nvPr/>
        </p:nvSpPr>
        <p:spPr>
          <a:xfrm>
            <a:off x="5429250" y="1990725"/>
            <a:ext cx="1343025" cy="12573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0" b="1">
                <a:solidFill>
                  <a:srgbClr val="0E3F8C"/>
                </a:solidFill>
                <a:latin typeface="钉钉进步体"/>
                <a:ea typeface="钉钉进步体"/>
              </a:rPr>
              <a:t>05</a:t>
            </a:r>
            <a:endParaRPr/>
          </a:p>
        </p:txBody>
      </p:sp>
      <p:sp>
        <p:nvSpPr>
          <p:cNvPr id="1455" name="文本框 1454" descr="{&quot;isTemplate&quot;:true,&quot;type&quot;:&quot;text&quot;}"/>
          <p:cNvSpPr txBox="1"/>
          <p:nvPr/>
        </p:nvSpPr>
        <p:spPr>
          <a:xfrm>
            <a:off x="4552950" y="3305175"/>
            <a:ext cx="3086100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B1B33"/>
                </a:solidFill>
                <a:latin typeface="钉钉进步体"/>
                <a:ea typeface="钉钉进步体"/>
              </a:rPr>
              <a:t>课程地图与学术诚信</a:t>
            </a:r>
            <a:endParaRPr/>
          </a:p>
        </p:txBody>
      </p:sp>
      <p:sp>
        <p:nvSpPr>
          <p:cNvPr id="1456" name="矩形: 圆角 1455"/>
          <p:cNvSpPr/>
          <p:nvPr/>
        </p:nvSpPr>
        <p:spPr>
          <a:xfrm>
            <a:off x="5667375" y="3895725"/>
            <a:ext cx="857250" cy="47625"/>
          </a:xfrm>
          <a:prstGeom prst="roundRect">
            <a:avLst>
              <a:gd name="adj" fmla="val 60000"/>
            </a:avLst>
          </a:prstGeom>
          <a:solidFill>
            <a:srgbClr val="FFC10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57" name="文本框 1456" descr="{&quot;isTemplate&quot;:true,&quot;type&quot;:&quot;text&quot;}"/>
          <p:cNvSpPr txBox="1"/>
          <p:nvPr/>
        </p:nvSpPr>
        <p:spPr>
          <a:xfrm>
            <a:off x="4419600" y="4133850"/>
            <a:ext cx="3362325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70000"/>
              </a:lnSpc>
            </a:pPr>
            <a:r>
              <a:rPr lang="en-US" sz="1500">
                <a:solidFill>
                  <a:srgbClr val="3A4759"/>
                </a:solidFill>
                <a:latin typeface="微软雅黑"/>
                <a:ea typeface="微软雅黑"/>
              </a:rPr>
              <a:t>16 </a:t>
            </a:r>
            <a:r>
              <a:rPr lang="zh-CN" sz="1500">
                <a:solidFill>
                  <a:srgbClr val="3A4759"/>
                </a:solidFill>
                <a:latin typeface="微软雅黑"/>
                <a:ea typeface="微软雅黑"/>
              </a:rPr>
              <a:t>讲脉络</a:t>
            </a:r>
            <a:r>
              <a:rPr lang="en-US" sz="1500">
                <a:solidFill>
                  <a:srgbClr val="3A4759"/>
                </a:solidFill>
                <a:latin typeface="微软雅黑"/>
                <a:ea typeface="微软雅黑"/>
              </a:rPr>
              <a:t> · </a:t>
            </a:r>
            <a:r>
              <a:rPr lang="zh-CN" sz="1500">
                <a:solidFill>
                  <a:srgbClr val="3A4759"/>
                </a:solidFill>
                <a:latin typeface="微软雅黑"/>
                <a:ea typeface="微软雅黑"/>
              </a:rPr>
              <a:t>考核方式</a:t>
            </a:r>
            <a:r>
              <a:rPr lang="en-US" sz="1500">
                <a:solidFill>
                  <a:srgbClr val="3A4759"/>
                </a:solidFill>
                <a:latin typeface="微软雅黑"/>
                <a:ea typeface="微软雅黑"/>
              </a:rPr>
              <a:t> · AI </a:t>
            </a:r>
            <a:r>
              <a:rPr lang="zh-CN" sz="1500">
                <a:solidFill>
                  <a:srgbClr val="3A4759"/>
                </a:solidFill>
                <a:latin typeface="微软雅黑"/>
                <a:ea typeface="微软雅黑"/>
              </a:rPr>
              <a:t>工具使用边界</a:t>
            </a:r>
            <a:endParaRPr/>
          </a:p>
        </p:txBody>
      </p:sp>
      <p:sp>
        <p:nvSpPr>
          <p:cNvPr id="1458" name="文本框 1457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1459" name="文本框 1458" descr="{&quot;isTemplate&quot;:true,&quot;type&quot;:&quot;text&quot;}"/>
          <p:cNvSpPr txBox="1"/>
          <p:nvPr/>
        </p:nvSpPr>
        <p:spPr>
          <a:xfrm>
            <a:off x="54673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1460" name="文本框 1459" descr="{&quot;isTemplate&quot;:true,&quot;type&quot;:&quot;text&quot;}"/>
          <p:cNvSpPr txBox="1"/>
          <p:nvPr/>
        </p:nvSpPr>
        <p:spPr>
          <a:xfrm>
            <a:off x="11410950" y="6610350"/>
            <a:ext cx="4000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53 / 60</a:t>
            </a:r>
            <a:endParaRPr/>
          </a:p>
        </p:txBody>
      </p:sp>
      <p:pic>
        <p:nvPicPr>
          <p:cNvPr id="3" name="LogoWBG">
            <a:extLst>
              <a:ext uri="{FF2B5EF4-FFF2-40B4-BE49-F238E27FC236}">
                <a16:creationId xmlns:a16="http://schemas.microsoft.com/office/drawing/2014/main" id="{7F902BF2-68DC-4378-9195-0FC7A8D9EDFA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1500" y="177800"/>
            <a:ext cx="952500" cy="235077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矩形 146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63" name="矩形 1462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64" name="文本框 1463" descr="{&quot;isTemplate&quot;:true,&quot;type&quot;:&quot;text&quot;}"/>
          <p:cNvSpPr txBox="1"/>
          <p:nvPr/>
        </p:nvSpPr>
        <p:spPr>
          <a:xfrm>
            <a:off x="342900" y="171450"/>
            <a:ext cx="3524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在材料科学中的应用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讲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材料信息学导论与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产业</a:t>
            </a:r>
            <a:endParaRPr/>
          </a:p>
        </p:txBody>
      </p:sp>
      <p:sp>
        <p:nvSpPr>
          <p:cNvPr id="1465" name="文本框 1464" descr="{&quot;isTemplate&quot;:true,&quot;type&quot;:&quot;text&quot;}"/>
          <p:cNvSpPr txBox="1"/>
          <p:nvPr/>
        </p:nvSpPr>
        <p:spPr>
          <a:xfrm>
            <a:off x="9353550" y="171450"/>
            <a:ext cx="13906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05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课程地图与学术诚信</a:t>
            </a:r>
            <a:endParaRPr/>
          </a:p>
        </p:txBody>
      </p:sp>
      <p:pic>
        <p:nvPicPr>
          <p:cNvPr id="1466" name="图片 1465"/>
          <p:cNvPicPr>
            <a:picLocks noChangeAspect="1"/>
          </p:cNvPicPr>
          <p:nvPr/>
        </p:nvPicPr>
        <p:blipFill>
          <a:blip r:embed="rId3"/>
          <a:srcRect l="847" r="847"/>
          <a:stretch>
            <a:fillRect/>
          </a:stretch>
        </p:blipFill>
        <p:spPr>
          <a:xfrm>
            <a:off x="10858500" y="123825"/>
            <a:ext cx="990600" cy="247650"/>
          </a:xfrm>
          <a:prstGeom prst="rect">
            <a:avLst/>
          </a:prstGeom>
          <a:ln/>
        </p:spPr>
      </p:pic>
      <p:sp>
        <p:nvSpPr>
          <p:cNvPr id="1467" name="文本框 1466" descr="{&quot;isTemplate&quot;:true,&quot;type&quot;:&quot;text&quot;}"/>
          <p:cNvSpPr txBox="1"/>
          <p:nvPr/>
        </p:nvSpPr>
        <p:spPr>
          <a:xfrm>
            <a:off x="381000" y="647700"/>
            <a:ext cx="11430000" cy="361950"/>
          </a:xfrm>
          <a:prstGeom prst="rect">
            <a:avLst/>
          </a:prstGeom>
        </p:spPr>
        <p:txBody>
          <a:bodyPr wrap="square" lIns="0" tIns="0" rIns="0" bIns="0"/>
          <a:lstStyle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E3F8C"/>
                </a:solidFill>
                <a:latin typeface="钉钉进步体"/>
                <a:ea typeface="钉钉进步体"/>
              </a:rPr>
              <a:t>16 讲课程地图（V5）</a:t>
            </a:r>
            <a:endParaRPr/>
          </a:p>
        </p:txBody>
      </p:sp>
      <p:sp>
        <p:nvSpPr>
          <p:cNvPr id="1468" name="矩形: 圆角 1467"/>
          <p:cNvSpPr/>
          <p:nvPr/>
        </p:nvSpPr>
        <p:spPr>
          <a:xfrm>
            <a:off x="381000" y="1085850"/>
            <a:ext cx="571500" cy="47625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69" name="矩形: 圆角 1468"/>
          <p:cNvSpPr/>
          <p:nvPr/>
        </p:nvSpPr>
        <p:spPr>
          <a:xfrm>
            <a:off x="381000" y="1247775"/>
            <a:ext cx="2790825" cy="1000125"/>
          </a:xfrm>
          <a:prstGeom prst="roundRect">
            <a:avLst>
              <a:gd name="adj" fmla="val 761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70" name="任意多边形: 形状 1469"/>
          <p:cNvSpPr/>
          <p:nvPr/>
        </p:nvSpPr>
        <p:spPr>
          <a:xfrm>
            <a:off x="381000" y="1247775"/>
            <a:ext cx="47625" cy="1000125"/>
          </a:xfrm>
          <a:custGeom>
            <a:avLst/>
            <a:gdLst/>
            <a:ahLst/>
            <a:cxnLst/>
            <a:rect l="0" t="0" r="0" b="0"/>
            <a:pathLst>
              <a:path w="5" h="105">
                <a:moveTo>
                  <a:pt x="5" y="104"/>
                </a:moveTo>
                <a:cubicBezTo>
                  <a:pt x="2" y="103"/>
                  <a:pt x="0" y="100"/>
                  <a:pt x="0" y="97"/>
                </a:cubicBezTo>
                <a:lnTo>
                  <a:pt x="0" y="8"/>
                </a:lnTo>
                <a:cubicBezTo>
                  <a:pt x="0" y="5"/>
                  <a:pt x="2" y="2"/>
                  <a:pt x="5" y="1"/>
                </a:cubicBez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71" name="矩形: 圆角 1470"/>
          <p:cNvSpPr/>
          <p:nvPr/>
        </p:nvSpPr>
        <p:spPr>
          <a:xfrm>
            <a:off x="542925" y="1552575"/>
            <a:ext cx="247650" cy="209550"/>
          </a:xfrm>
          <a:prstGeom prst="roundRect">
            <a:avLst>
              <a:gd name="adj" fmla="val 22727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72" name="文本框 1471" descr="{&quot;isTemplate&quot;:true,&quot;type&quot;:&quot;text&quot;}"/>
          <p:cNvSpPr txBox="1"/>
          <p:nvPr/>
        </p:nvSpPr>
        <p:spPr>
          <a:xfrm>
            <a:off x="628650" y="1581150"/>
            <a:ext cx="857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  <a:endParaRPr/>
          </a:p>
        </p:txBody>
      </p:sp>
      <p:sp>
        <p:nvSpPr>
          <p:cNvPr id="1473" name="文本框 1472" descr="{&quot;isTemplate&quot;:true,&quot;type&quot;:&quot;text&quot;}"/>
          <p:cNvSpPr txBox="1"/>
          <p:nvPr/>
        </p:nvSpPr>
        <p:spPr>
          <a:xfrm>
            <a:off x="866775" y="1562100"/>
            <a:ext cx="10382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1B33"/>
                </a:solidFill>
                <a:latin typeface="微软雅黑"/>
                <a:ea typeface="微软雅黑"/>
              </a:rPr>
              <a:t>导论与</a:t>
            </a:r>
            <a:r>
              <a:rPr lang="en-US" sz="1200" b="1">
                <a:solidFill>
                  <a:srgbClr val="0B1B33"/>
                </a:solidFill>
                <a:latin typeface="微软雅黑"/>
                <a:ea typeface="微软雅黑"/>
              </a:rPr>
              <a:t> AI </a:t>
            </a:r>
            <a:r>
              <a:rPr lang="zh-CN" sz="1200" b="1">
                <a:solidFill>
                  <a:srgbClr val="0B1B33"/>
                </a:solidFill>
                <a:latin typeface="微软雅黑"/>
                <a:ea typeface="微软雅黑"/>
              </a:rPr>
              <a:t>产业</a:t>
            </a:r>
            <a:endParaRPr/>
          </a:p>
        </p:txBody>
      </p:sp>
      <p:sp>
        <p:nvSpPr>
          <p:cNvPr id="1474" name="文本框 1473" descr="{&quot;isTemplate&quot;:true,&quot;type&quot;:&quot;text&quot;}"/>
          <p:cNvSpPr txBox="1"/>
          <p:nvPr/>
        </p:nvSpPr>
        <p:spPr>
          <a:xfrm>
            <a:off x="542925" y="1800225"/>
            <a:ext cx="25146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7A8798"/>
                </a:solidFill>
                <a:latin typeface="微软雅黑"/>
                <a:ea typeface="微软雅黑"/>
              </a:rPr>
              <a:t>模块</a:t>
            </a:r>
            <a:r>
              <a:rPr lang="en-US" sz="900">
                <a:solidFill>
                  <a:srgbClr val="7A8798"/>
                </a:solidFill>
                <a:latin typeface="微软雅黑"/>
                <a:ea typeface="微软雅黑"/>
              </a:rPr>
              <a:t> A · </a:t>
            </a:r>
            <a:r>
              <a:rPr lang="zh-CN" sz="900">
                <a:solidFill>
                  <a:srgbClr val="7A8798"/>
                </a:solidFill>
                <a:latin typeface="微软雅黑"/>
                <a:ea typeface="微软雅黑"/>
              </a:rPr>
              <a:t>奠基：范式与数据</a:t>
            </a:r>
            <a:endParaRPr/>
          </a:p>
        </p:txBody>
      </p:sp>
      <p:sp>
        <p:nvSpPr>
          <p:cNvPr id="1475" name="矩形: 圆角 1474"/>
          <p:cNvSpPr/>
          <p:nvPr/>
        </p:nvSpPr>
        <p:spPr>
          <a:xfrm>
            <a:off x="3267075" y="1247775"/>
            <a:ext cx="2781300" cy="1000125"/>
          </a:xfrm>
          <a:prstGeom prst="roundRect">
            <a:avLst>
              <a:gd name="adj" fmla="val 761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76" name="任意多边形: 形状 1475"/>
          <p:cNvSpPr/>
          <p:nvPr/>
        </p:nvSpPr>
        <p:spPr>
          <a:xfrm>
            <a:off x="3267075" y="1247775"/>
            <a:ext cx="47625" cy="1000125"/>
          </a:xfrm>
          <a:custGeom>
            <a:avLst/>
            <a:gdLst/>
            <a:ahLst/>
            <a:cxnLst/>
            <a:rect l="0" t="0" r="0" b="0"/>
            <a:pathLst>
              <a:path w="5" h="105">
                <a:moveTo>
                  <a:pt x="5" y="104"/>
                </a:moveTo>
                <a:cubicBezTo>
                  <a:pt x="2" y="103"/>
                  <a:pt x="0" y="100"/>
                  <a:pt x="0" y="97"/>
                </a:cubicBezTo>
                <a:lnTo>
                  <a:pt x="0" y="8"/>
                </a:lnTo>
                <a:cubicBezTo>
                  <a:pt x="0" y="5"/>
                  <a:pt x="2" y="2"/>
                  <a:pt x="5" y="1"/>
                </a:cubicBez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77" name="矩形: 圆角 1476"/>
          <p:cNvSpPr/>
          <p:nvPr/>
        </p:nvSpPr>
        <p:spPr>
          <a:xfrm>
            <a:off x="3429000" y="1552575"/>
            <a:ext cx="247650" cy="209550"/>
          </a:xfrm>
          <a:prstGeom prst="roundRect">
            <a:avLst>
              <a:gd name="adj" fmla="val 22727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78" name="文本框 1477" descr="{&quot;isTemplate&quot;:true,&quot;type&quot;:&quot;text&quot;}"/>
          <p:cNvSpPr txBox="1"/>
          <p:nvPr/>
        </p:nvSpPr>
        <p:spPr>
          <a:xfrm>
            <a:off x="3514725" y="1581150"/>
            <a:ext cx="857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  <a:endParaRPr/>
          </a:p>
        </p:txBody>
      </p:sp>
      <p:sp>
        <p:nvSpPr>
          <p:cNvPr id="1479" name="文本框 1478" descr="{&quot;isTemplate&quot;:true,&quot;type&quot;:&quot;text&quot;}"/>
          <p:cNvSpPr txBox="1"/>
          <p:nvPr/>
        </p:nvSpPr>
        <p:spPr>
          <a:xfrm>
            <a:off x="3752850" y="1562100"/>
            <a:ext cx="13716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1B33"/>
                </a:solidFill>
                <a:latin typeface="微软雅黑"/>
                <a:ea typeface="微软雅黑"/>
              </a:rPr>
              <a:t>任务类型与数据生态</a:t>
            </a:r>
            <a:endParaRPr/>
          </a:p>
        </p:txBody>
      </p:sp>
      <p:sp>
        <p:nvSpPr>
          <p:cNvPr id="1480" name="文本框 1479" descr="{&quot;isTemplate&quot;:true,&quot;type&quot;:&quot;text&quot;}"/>
          <p:cNvSpPr txBox="1"/>
          <p:nvPr/>
        </p:nvSpPr>
        <p:spPr>
          <a:xfrm>
            <a:off x="3429000" y="1800225"/>
            <a:ext cx="25050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7A8798"/>
                </a:solidFill>
                <a:latin typeface="微软雅黑"/>
                <a:ea typeface="微软雅黑"/>
              </a:rPr>
              <a:t>模块</a:t>
            </a:r>
            <a:r>
              <a:rPr lang="en-US" sz="900">
                <a:solidFill>
                  <a:srgbClr val="7A8798"/>
                </a:solidFill>
                <a:latin typeface="微软雅黑"/>
                <a:ea typeface="微软雅黑"/>
              </a:rPr>
              <a:t> A · </a:t>
            </a:r>
            <a:r>
              <a:rPr lang="zh-CN" sz="900">
                <a:solidFill>
                  <a:srgbClr val="7A8798"/>
                </a:solidFill>
                <a:latin typeface="微软雅黑"/>
                <a:ea typeface="微软雅黑"/>
              </a:rPr>
              <a:t>奠基：范式与数据</a:t>
            </a:r>
            <a:endParaRPr/>
          </a:p>
        </p:txBody>
      </p:sp>
      <p:sp>
        <p:nvSpPr>
          <p:cNvPr id="1481" name="矩形: 圆角 1480"/>
          <p:cNvSpPr/>
          <p:nvPr/>
        </p:nvSpPr>
        <p:spPr>
          <a:xfrm>
            <a:off x="6143625" y="1247775"/>
            <a:ext cx="2790825" cy="1000125"/>
          </a:xfrm>
          <a:prstGeom prst="roundRect">
            <a:avLst>
              <a:gd name="adj" fmla="val 761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82" name="任意多边形: 形状 1481"/>
          <p:cNvSpPr/>
          <p:nvPr/>
        </p:nvSpPr>
        <p:spPr>
          <a:xfrm>
            <a:off x="6143625" y="1247775"/>
            <a:ext cx="47625" cy="1000125"/>
          </a:xfrm>
          <a:custGeom>
            <a:avLst/>
            <a:gdLst/>
            <a:ahLst/>
            <a:cxnLst/>
            <a:rect l="0" t="0" r="0" b="0"/>
            <a:pathLst>
              <a:path w="5" h="105">
                <a:moveTo>
                  <a:pt x="5" y="104"/>
                </a:moveTo>
                <a:cubicBezTo>
                  <a:pt x="2" y="103"/>
                  <a:pt x="0" y="100"/>
                  <a:pt x="0" y="97"/>
                </a:cubicBezTo>
                <a:lnTo>
                  <a:pt x="0" y="8"/>
                </a:lnTo>
                <a:cubicBezTo>
                  <a:pt x="0" y="5"/>
                  <a:pt x="2" y="2"/>
                  <a:pt x="5" y="1"/>
                </a:cubicBez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83" name="矩形: 圆角 1482"/>
          <p:cNvSpPr/>
          <p:nvPr/>
        </p:nvSpPr>
        <p:spPr>
          <a:xfrm>
            <a:off x="6305550" y="1552575"/>
            <a:ext cx="247650" cy="209550"/>
          </a:xfrm>
          <a:prstGeom prst="roundRect">
            <a:avLst>
              <a:gd name="adj" fmla="val 22727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84" name="文本框 1483" descr="{&quot;isTemplate&quot;:true,&quot;type&quot;:&quot;text&quot;}"/>
          <p:cNvSpPr txBox="1"/>
          <p:nvPr/>
        </p:nvSpPr>
        <p:spPr>
          <a:xfrm>
            <a:off x="6391275" y="1581150"/>
            <a:ext cx="857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  <a:endParaRPr/>
          </a:p>
        </p:txBody>
      </p:sp>
      <p:sp>
        <p:nvSpPr>
          <p:cNvPr id="1485" name="文本框 1484" descr="{&quot;isTemplate&quot;:true,&quot;type&quot;:&quot;text&quot;}"/>
          <p:cNvSpPr txBox="1"/>
          <p:nvPr/>
        </p:nvSpPr>
        <p:spPr>
          <a:xfrm>
            <a:off x="6629400" y="1562100"/>
            <a:ext cx="15240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1B33"/>
                </a:solidFill>
                <a:latin typeface="微软雅黑"/>
                <a:ea typeface="微软雅黑"/>
              </a:rPr>
              <a:t>数据获取、处理与剖析</a:t>
            </a:r>
            <a:endParaRPr/>
          </a:p>
        </p:txBody>
      </p:sp>
      <p:sp>
        <p:nvSpPr>
          <p:cNvPr id="1486" name="文本框 1485" descr="{&quot;isTemplate&quot;:true,&quot;type&quot;:&quot;text&quot;}"/>
          <p:cNvSpPr txBox="1"/>
          <p:nvPr/>
        </p:nvSpPr>
        <p:spPr>
          <a:xfrm>
            <a:off x="6305550" y="1800225"/>
            <a:ext cx="25146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7A8798"/>
                </a:solidFill>
                <a:latin typeface="微软雅黑"/>
                <a:ea typeface="微软雅黑"/>
              </a:rPr>
              <a:t>模块</a:t>
            </a:r>
            <a:r>
              <a:rPr lang="en-US" sz="900">
                <a:solidFill>
                  <a:srgbClr val="7A8798"/>
                </a:solidFill>
                <a:latin typeface="微软雅黑"/>
                <a:ea typeface="微软雅黑"/>
              </a:rPr>
              <a:t> A · </a:t>
            </a:r>
            <a:r>
              <a:rPr lang="zh-CN" sz="900">
                <a:solidFill>
                  <a:srgbClr val="7A8798"/>
                </a:solidFill>
                <a:latin typeface="微软雅黑"/>
                <a:ea typeface="微软雅黑"/>
              </a:rPr>
              <a:t>奠基：范式与数据</a:t>
            </a:r>
            <a:endParaRPr/>
          </a:p>
        </p:txBody>
      </p:sp>
      <p:sp>
        <p:nvSpPr>
          <p:cNvPr id="1487" name="矩形: 圆角 1486"/>
          <p:cNvSpPr/>
          <p:nvPr/>
        </p:nvSpPr>
        <p:spPr>
          <a:xfrm>
            <a:off x="9029700" y="1247775"/>
            <a:ext cx="2781300" cy="1000125"/>
          </a:xfrm>
          <a:prstGeom prst="roundRect">
            <a:avLst>
              <a:gd name="adj" fmla="val 761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88" name="任意多边形: 形状 1487"/>
          <p:cNvSpPr/>
          <p:nvPr/>
        </p:nvSpPr>
        <p:spPr>
          <a:xfrm>
            <a:off x="9029700" y="1247775"/>
            <a:ext cx="47625" cy="1000125"/>
          </a:xfrm>
          <a:custGeom>
            <a:avLst/>
            <a:gdLst/>
            <a:ahLst/>
            <a:cxnLst/>
            <a:rect l="0" t="0" r="0" b="0"/>
            <a:pathLst>
              <a:path w="5" h="105">
                <a:moveTo>
                  <a:pt x="5" y="104"/>
                </a:moveTo>
                <a:cubicBezTo>
                  <a:pt x="2" y="103"/>
                  <a:pt x="0" y="100"/>
                  <a:pt x="0" y="97"/>
                </a:cubicBezTo>
                <a:lnTo>
                  <a:pt x="0" y="8"/>
                </a:lnTo>
                <a:cubicBezTo>
                  <a:pt x="0" y="5"/>
                  <a:pt x="2" y="2"/>
                  <a:pt x="5" y="1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89" name="矩形: 圆角 1488"/>
          <p:cNvSpPr/>
          <p:nvPr/>
        </p:nvSpPr>
        <p:spPr>
          <a:xfrm>
            <a:off x="9191625" y="1552575"/>
            <a:ext cx="247650" cy="209550"/>
          </a:xfrm>
          <a:prstGeom prst="roundRect">
            <a:avLst>
              <a:gd name="adj" fmla="val 22727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90" name="文本框 1489" descr="{&quot;isTemplate&quot;:true,&quot;type&quot;:&quot;text&quot;}"/>
          <p:cNvSpPr txBox="1"/>
          <p:nvPr/>
        </p:nvSpPr>
        <p:spPr>
          <a:xfrm>
            <a:off x="9277350" y="1581150"/>
            <a:ext cx="857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  <a:endParaRPr/>
          </a:p>
        </p:txBody>
      </p:sp>
      <p:sp>
        <p:nvSpPr>
          <p:cNvPr id="1491" name="文本框 1490" descr="{&quot;isTemplate&quot;:true,&quot;type&quot;:&quot;text&quot;}"/>
          <p:cNvSpPr txBox="1"/>
          <p:nvPr/>
        </p:nvSpPr>
        <p:spPr>
          <a:xfrm>
            <a:off x="9515475" y="1562100"/>
            <a:ext cx="7620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1B33"/>
                </a:solidFill>
                <a:latin typeface="微软雅黑"/>
                <a:ea typeface="微软雅黑"/>
              </a:rPr>
              <a:t>成分特征化</a:t>
            </a:r>
            <a:endParaRPr/>
          </a:p>
        </p:txBody>
      </p:sp>
      <p:sp>
        <p:nvSpPr>
          <p:cNvPr id="1492" name="文本框 1491" descr="{&quot;isTemplate&quot;:true,&quot;type&quot;:&quot;text&quot;}"/>
          <p:cNvSpPr txBox="1"/>
          <p:nvPr/>
        </p:nvSpPr>
        <p:spPr>
          <a:xfrm>
            <a:off x="9191625" y="1800225"/>
            <a:ext cx="25050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7A8798"/>
                </a:solidFill>
                <a:latin typeface="微软雅黑"/>
                <a:ea typeface="微软雅黑"/>
              </a:rPr>
              <a:t>模块</a:t>
            </a:r>
            <a:r>
              <a:rPr lang="en-US" sz="900">
                <a:solidFill>
                  <a:srgbClr val="7A8798"/>
                </a:solidFill>
                <a:latin typeface="微软雅黑"/>
                <a:ea typeface="微软雅黑"/>
              </a:rPr>
              <a:t> B · </a:t>
            </a:r>
            <a:r>
              <a:rPr lang="zh-CN" sz="900">
                <a:solidFill>
                  <a:srgbClr val="7A8798"/>
                </a:solidFill>
                <a:latin typeface="微软雅黑"/>
                <a:ea typeface="微软雅黑"/>
              </a:rPr>
              <a:t>材料表示</a:t>
            </a:r>
            <a:endParaRPr/>
          </a:p>
        </p:txBody>
      </p:sp>
      <p:sp>
        <p:nvSpPr>
          <p:cNvPr id="1493" name="矩形: 圆角 1492"/>
          <p:cNvSpPr/>
          <p:nvPr/>
        </p:nvSpPr>
        <p:spPr>
          <a:xfrm>
            <a:off x="381000" y="2343150"/>
            <a:ext cx="2790825" cy="1000125"/>
          </a:xfrm>
          <a:prstGeom prst="roundRect">
            <a:avLst>
              <a:gd name="adj" fmla="val 761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94" name="任意多边形: 形状 1493"/>
          <p:cNvSpPr/>
          <p:nvPr/>
        </p:nvSpPr>
        <p:spPr>
          <a:xfrm>
            <a:off x="381000" y="2343150"/>
            <a:ext cx="47625" cy="1000125"/>
          </a:xfrm>
          <a:custGeom>
            <a:avLst/>
            <a:gdLst/>
            <a:ahLst/>
            <a:cxnLst/>
            <a:rect l="0" t="0" r="0" b="0"/>
            <a:pathLst>
              <a:path w="5" h="105">
                <a:moveTo>
                  <a:pt x="5" y="104"/>
                </a:moveTo>
                <a:cubicBezTo>
                  <a:pt x="2" y="103"/>
                  <a:pt x="0" y="100"/>
                  <a:pt x="0" y="97"/>
                </a:cubicBezTo>
                <a:lnTo>
                  <a:pt x="0" y="8"/>
                </a:lnTo>
                <a:cubicBezTo>
                  <a:pt x="0" y="5"/>
                  <a:pt x="2" y="2"/>
                  <a:pt x="5" y="1"/>
                </a:cubicBez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95" name="矩形: 圆角 1494"/>
          <p:cNvSpPr/>
          <p:nvPr/>
        </p:nvSpPr>
        <p:spPr>
          <a:xfrm>
            <a:off x="542925" y="2647950"/>
            <a:ext cx="247650" cy="209550"/>
          </a:xfrm>
          <a:prstGeom prst="roundRect">
            <a:avLst>
              <a:gd name="adj" fmla="val 22727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96" name="文本框 1495" descr="{&quot;isTemplate&quot;:true,&quot;type&quot;:&quot;text&quot;}"/>
          <p:cNvSpPr txBox="1"/>
          <p:nvPr/>
        </p:nvSpPr>
        <p:spPr>
          <a:xfrm>
            <a:off x="628650" y="2676525"/>
            <a:ext cx="857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  <a:endParaRPr/>
          </a:p>
        </p:txBody>
      </p:sp>
      <p:sp>
        <p:nvSpPr>
          <p:cNvPr id="1497" name="文本框 1496" descr="{&quot;isTemplate&quot;:true,&quot;type&quot;:&quot;text&quot;}"/>
          <p:cNvSpPr txBox="1"/>
          <p:nvPr/>
        </p:nvSpPr>
        <p:spPr>
          <a:xfrm>
            <a:off x="866775" y="2657475"/>
            <a:ext cx="13716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1B33"/>
                </a:solidFill>
                <a:latin typeface="微软雅黑"/>
                <a:ea typeface="微软雅黑"/>
              </a:rPr>
              <a:t>结构、图表示与分子</a:t>
            </a:r>
            <a:endParaRPr/>
          </a:p>
        </p:txBody>
      </p:sp>
      <p:sp>
        <p:nvSpPr>
          <p:cNvPr id="1498" name="文本框 1497" descr="{&quot;isTemplate&quot;:true,&quot;type&quot;:&quot;text&quot;}"/>
          <p:cNvSpPr txBox="1"/>
          <p:nvPr/>
        </p:nvSpPr>
        <p:spPr>
          <a:xfrm>
            <a:off x="542925" y="2895600"/>
            <a:ext cx="25146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7A8798"/>
                </a:solidFill>
                <a:latin typeface="微软雅黑"/>
                <a:ea typeface="微软雅黑"/>
              </a:rPr>
              <a:t>模块</a:t>
            </a:r>
            <a:r>
              <a:rPr lang="en-US" sz="900">
                <a:solidFill>
                  <a:srgbClr val="7A8798"/>
                </a:solidFill>
                <a:latin typeface="微软雅黑"/>
                <a:ea typeface="微软雅黑"/>
              </a:rPr>
              <a:t> B · </a:t>
            </a:r>
            <a:r>
              <a:rPr lang="zh-CN" sz="900">
                <a:solidFill>
                  <a:srgbClr val="7A8798"/>
                </a:solidFill>
                <a:latin typeface="微软雅黑"/>
                <a:ea typeface="微软雅黑"/>
              </a:rPr>
              <a:t>材料表示</a:t>
            </a:r>
            <a:endParaRPr/>
          </a:p>
        </p:txBody>
      </p:sp>
      <p:sp>
        <p:nvSpPr>
          <p:cNvPr id="1499" name="矩形: 圆角 1498"/>
          <p:cNvSpPr/>
          <p:nvPr/>
        </p:nvSpPr>
        <p:spPr>
          <a:xfrm>
            <a:off x="3267075" y="2343150"/>
            <a:ext cx="2781300" cy="1000125"/>
          </a:xfrm>
          <a:prstGeom prst="roundRect">
            <a:avLst>
              <a:gd name="adj" fmla="val 761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00" name="任意多边形: 形状 1499"/>
          <p:cNvSpPr/>
          <p:nvPr/>
        </p:nvSpPr>
        <p:spPr>
          <a:xfrm>
            <a:off x="3267075" y="2343150"/>
            <a:ext cx="47625" cy="1000125"/>
          </a:xfrm>
          <a:custGeom>
            <a:avLst/>
            <a:gdLst/>
            <a:ahLst/>
            <a:cxnLst/>
            <a:rect l="0" t="0" r="0" b="0"/>
            <a:pathLst>
              <a:path w="5" h="105">
                <a:moveTo>
                  <a:pt x="5" y="104"/>
                </a:moveTo>
                <a:cubicBezTo>
                  <a:pt x="2" y="103"/>
                  <a:pt x="0" y="100"/>
                  <a:pt x="0" y="97"/>
                </a:cubicBezTo>
                <a:lnTo>
                  <a:pt x="0" y="8"/>
                </a:lnTo>
                <a:cubicBezTo>
                  <a:pt x="0" y="5"/>
                  <a:pt x="2" y="2"/>
                  <a:pt x="5" y="1"/>
                </a:cubicBezTo>
                <a:close/>
              </a:path>
            </a:pathLst>
          </a:custGeom>
          <a:solidFill>
            <a:srgbClr val="3A6EA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01" name="矩形: 圆角 1500"/>
          <p:cNvSpPr/>
          <p:nvPr/>
        </p:nvSpPr>
        <p:spPr>
          <a:xfrm>
            <a:off x="3429000" y="2647950"/>
            <a:ext cx="247650" cy="209550"/>
          </a:xfrm>
          <a:prstGeom prst="roundRect">
            <a:avLst>
              <a:gd name="adj" fmla="val 22727"/>
            </a:avLst>
          </a:prstGeom>
          <a:solidFill>
            <a:srgbClr val="3A6EA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02" name="文本框 1501" descr="{&quot;isTemplate&quot;:true,&quot;type&quot;:&quot;text&quot;}"/>
          <p:cNvSpPr txBox="1"/>
          <p:nvPr/>
        </p:nvSpPr>
        <p:spPr>
          <a:xfrm>
            <a:off x="3514725" y="2676525"/>
            <a:ext cx="857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微软雅黑"/>
                <a:ea typeface="微软雅黑"/>
              </a:rPr>
              <a:t>6</a:t>
            </a:r>
            <a:endParaRPr/>
          </a:p>
        </p:txBody>
      </p:sp>
      <p:sp>
        <p:nvSpPr>
          <p:cNvPr id="1503" name="文本框 1502" descr="{&quot;isTemplate&quot;:true,&quot;type&quot;:&quot;text&quot;}"/>
          <p:cNvSpPr txBox="1"/>
          <p:nvPr/>
        </p:nvSpPr>
        <p:spPr>
          <a:xfrm>
            <a:off x="3752850" y="2657475"/>
            <a:ext cx="914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1B33"/>
                </a:solidFill>
                <a:latin typeface="微软雅黑"/>
                <a:ea typeface="微软雅黑"/>
              </a:rPr>
              <a:t>回归与正则化</a:t>
            </a:r>
            <a:endParaRPr/>
          </a:p>
        </p:txBody>
      </p:sp>
      <p:sp>
        <p:nvSpPr>
          <p:cNvPr id="1504" name="文本框 1503" descr="{&quot;isTemplate&quot;:true,&quot;type&quot;:&quot;text&quot;}"/>
          <p:cNvSpPr txBox="1"/>
          <p:nvPr/>
        </p:nvSpPr>
        <p:spPr>
          <a:xfrm>
            <a:off x="3429000" y="2895600"/>
            <a:ext cx="25050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7A8798"/>
                </a:solidFill>
                <a:latin typeface="微软雅黑"/>
                <a:ea typeface="微软雅黑"/>
              </a:rPr>
              <a:t>模块</a:t>
            </a:r>
            <a:r>
              <a:rPr lang="en-US" sz="900">
                <a:solidFill>
                  <a:srgbClr val="7A8798"/>
                </a:solidFill>
                <a:latin typeface="微软雅黑"/>
                <a:ea typeface="微软雅黑"/>
              </a:rPr>
              <a:t> C · </a:t>
            </a:r>
            <a:r>
              <a:rPr lang="zh-CN" sz="900">
                <a:solidFill>
                  <a:srgbClr val="7A8798"/>
                </a:solidFill>
                <a:latin typeface="微软雅黑"/>
                <a:ea typeface="微软雅黑"/>
              </a:rPr>
              <a:t>可信统计学习</a:t>
            </a:r>
            <a:endParaRPr/>
          </a:p>
        </p:txBody>
      </p:sp>
      <p:sp>
        <p:nvSpPr>
          <p:cNvPr id="1505" name="矩形: 圆角 1504"/>
          <p:cNvSpPr/>
          <p:nvPr/>
        </p:nvSpPr>
        <p:spPr>
          <a:xfrm>
            <a:off x="6143625" y="2343150"/>
            <a:ext cx="2790825" cy="1000125"/>
          </a:xfrm>
          <a:prstGeom prst="roundRect">
            <a:avLst>
              <a:gd name="adj" fmla="val 761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06" name="任意多边形: 形状 1505"/>
          <p:cNvSpPr/>
          <p:nvPr/>
        </p:nvSpPr>
        <p:spPr>
          <a:xfrm>
            <a:off x="6143625" y="2343150"/>
            <a:ext cx="47625" cy="1000125"/>
          </a:xfrm>
          <a:custGeom>
            <a:avLst/>
            <a:gdLst/>
            <a:ahLst/>
            <a:cxnLst/>
            <a:rect l="0" t="0" r="0" b="0"/>
            <a:pathLst>
              <a:path w="5" h="105">
                <a:moveTo>
                  <a:pt x="5" y="104"/>
                </a:moveTo>
                <a:cubicBezTo>
                  <a:pt x="2" y="103"/>
                  <a:pt x="0" y="100"/>
                  <a:pt x="0" y="97"/>
                </a:cubicBezTo>
                <a:lnTo>
                  <a:pt x="0" y="8"/>
                </a:lnTo>
                <a:cubicBezTo>
                  <a:pt x="0" y="5"/>
                  <a:pt x="2" y="2"/>
                  <a:pt x="5" y="1"/>
                </a:cubicBezTo>
                <a:close/>
              </a:path>
            </a:pathLst>
          </a:custGeom>
          <a:solidFill>
            <a:srgbClr val="3A6EA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07" name="矩形: 圆角 1506"/>
          <p:cNvSpPr/>
          <p:nvPr/>
        </p:nvSpPr>
        <p:spPr>
          <a:xfrm>
            <a:off x="6305550" y="2647950"/>
            <a:ext cx="247650" cy="209550"/>
          </a:xfrm>
          <a:prstGeom prst="roundRect">
            <a:avLst>
              <a:gd name="adj" fmla="val 22727"/>
            </a:avLst>
          </a:prstGeom>
          <a:solidFill>
            <a:srgbClr val="3A6EA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08" name="文本框 1507" descr="{&quot;isTemplate&quot;:true,&quot;type&quot;:&quot;text&quot;}"/>
          <p:cNvSpPr txBox="1"/>
          <p:nvPr/>
        </p:nvSpPr>
        <p:spPr>
          <a:xfrm>
            <a:off x="6391275" y="2676525"/>
            <a:ext cx="857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微软雅黑"/>
                <a:ea typeface="微软雅黑"/>
              </a:rPr>
              <a:t>7</a:t>
            </a:r>
            <a:endParaRPr/>
          </a:p>
        </p:txBody>
      </p:sp>
      <p:sp>
        <p:nvSpPr>
          <p:cNvPr id="1509" name="文本框 1508" descr="{&quot;isTemplate&quot;:true,&quot;type&quot;:&quot;text&quot;}"/>
          <p:cNvSpPr txBox="1"/>
          <p:nvPr/>
        </p:nvSpPr>
        <p:spPr>
          <a:xfrm>
            <a:off x="6629400" y="2657475"/>
            <a:ext cx="10668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1B33"/>
                </a:solidFill>
                <a:latin typeface="微软雅黑"/>
                <a:ea typeface="微软雅黑"/>
              </a:rPr>
              <a:t>分类与决策阈值</a:t>
            </a:r>
            <a:endParaRPr/>
          </a:p>
        </p:txBody>
      </p:sp>
      <p:sp>
        <p:nvSpPr>
          <p:cNvPr id="1510" name="文本框 1509" descr="{&quot;isTemplate&quot;:true,&quot;type&quot;:&quot;text&quot;}"/>
          <p:cNvSpPr txBox="1"/>
          <p:nvPr/>
        </p:nvSpPr>
        <p:spPr>
          <a:xfrm>
            <a:off x="6305550" y="2895600"/>
            <a:ext cx="25146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7A8798"/>
                </a:solidFill>
                <a:latin typeface="微软雅黑"/>
                <a:ea typeface="微软雅黑"/>
              </a:rPr>
              <a:t>模块</a:t>
            </a:r>
            <a:r>
              <a:rPr lang="en-US" sz="900">
                <a:solidFill>
                  <a:srgbClr val="7A8798"/>
                </a:solidFill>
                <a:latin typeface="微软雅黑"/>
                <a:ea typeface="微软雅黑"/>
              </a:rPr>
              <a:t> C · </a:t>
            </a:r>
            <a:r>
              <a:rPr lang="zh-CN" sz="900">
                <a:solidFill>
                  <a:srgbClr val="7A8798"/>
                </a:solidFill>
                <a:latin typeface="微软雅黑"/>
                <a:ea typeface="微软雅黑"/>
              </a:rPr>
              <a:t>可信统计学习</a:t>
            </a:r>
            <a:endParaRPr/>
          </a:p>
        </p:txBody>
      </p:sp>
      <p:sp>
        <p:nvSpPr>
          <p:cNvPr id="1511" name="矩形: 圆角 1510"/>
          <p:cNvSpPr/>
          <p:nvPr/>
        </p:nvSpPr>
        <p:spPr>
          <a:xfrm>
            <a:off x="9029700" y="2343150"/>
            <a:ext cx="2781300" cy="1000125"/>
          </a:xfrm>
          <a:prstGeom prst="roundRect">
            <a:avLst>
              <a:gd name="adj" fmla="val 761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12" name="任意多边形: 形状 1511"/>
          <p:cNvSpPr/>
          <p:nvPr/>
        </p:nvSpPr>
        <p:spPr>
          <a:xfrm>
            <a:off x="9029700" y="2343150"/>
            <a:ext cx="47625" cy="1000125"/>
          </a:xfrm>
          <a:custGeom>
            <a:avLst/>
            <a:gdLst/>
            <a:ahLst/>
            <a:cxnLst/>
            <a:rect l="0" t="0" r="0" b="0"/>
            <a:pathLst>
              <a:path w="5" h="105">
                <a:moveTo>
                  <a:pt x="5" y="104"/>
                </a:moveTo>
                <a:cubicBezTo>
                  <a:pt x="2" y="103"/>
                  <a:pt x="0" y="100"/>
                  <a:pt x="0" y="97"/>
                </a:cubicBezTo>
                <a:lnTo>
                  <a:pt x="0" y="8"/>
                </a:lnTo>
                <a:cubicBezTo>
                  <a:pt x="0" y="5"/>
                  <a:pt x="2" y="2"/>
                  <a:pt x="5" y="1"/>
                </a:cubicBezTo>
                <a:close/>
              </a:path>
            </a:pathLst>
          </a:custGeom>
          <a:solidFill>
            <a:srgbClr val="3A6EA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13" name="矩形: 圆角 1512"/>
          <p:cNvSpPr/>
          <p:nvPr/>
        </p:nvSpPr>
        <p:spPr>
          <a:xfrm>
            <a:off x="9191625" y="2647950"/>
            <a:ext cx="247650" cy="209550"/>
          </a:xfrm>
          <a:prstGeom prst="roundRect">
            <a:avLst>
              <a:gd name="adj" fmla="val 22727"/>
            </a:avLst>
          </a:prstGeom>
          <a:solidFill>
            <a:srgbClr val="3A6EA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14" name="文本框 1513" descr="{&quot;isTemplate&quot;:true,&quot;type&quot;:&quot;text&quot;}"/>
          <p:cNvSpPr txBox="1"/>
          <p:nvPr/>
        </p:nvSpPr>
        <p:spPr>
          <a:xfrm>
            <a:off x="9277350" y="2676525"/>
            <a:ext cx="857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微软雅黑"/>
                <a:ea typeface="微软雅黑"/>
              </a:rPr>
              <a:t>8</a:t>
            </a:r>
            <a:endParaRPr/>
          </a:p>
        </p:txBody>
      </p:sp>
      <p:sp>
        <p:nvSpPr>
          <p:cNvPr id="1515" name="文本框 1514" descr="{&quot;isTemplate&quot;:true,&quot;type&quot;:&quot;text&quot;}"/>
          <p:cNvSpPr txBox="1"/>
          <p:nvPr/>
        </p:nvSpPr>
        <p:spPr>
          <a:xfrm>
            <a:off x="9515475" y="2657475"/>
            <a:ext cx="13716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1B33"/>
                </a:solidFill>
                <a:latin typeface="微软雅黑"/>
                <a:ea typeface="微软雅黑"/>
              </a:rPr>
              <a:t>评估与外推</a:t>
            </a:r>
            <a:r>
              <a:rPr lang="en-US" sz="1200" b="1">
                <a:solidFill>
                  <a:srgbClr val="0B1B33"/>
                </a:solidFill>
                <a:latin typeface="微软雅黑"/>
                <a:ea typeface="微软雅黑"/>
              </a:rPr>
              <a:t> · </a:t>
            </a:r>
            <a:r>
              <a:rPr lang="zh-CN" sz="1200" b="1">
                <a:solidFill>
                  <a:srgbClr val="0B1B33"/>
                </a:solidFill>
                <a:latin typeface="微软雅黑"/>
                <a:ea typeface="微软雅黑"/>
              </a:rPr>
              <a:t>研讨①</a:t>
            </a:r>
            <a:endParaRPr/>
          </a:p>
        </p:txBody>
      </p:sp>
      <p:sp>
        <p:nvSpPr>
          <p:cNvPr id="1516" name="文本框 1515" descr="{&quot;isTemplate&quot;:true,&quot;type&quot;:&quot;text&quot;}"/>
          <p:cNvSpPr txBox="1"/>
          <p:nvPr/>
        </p:nvSpPr>
        <p:spPr>
          <a:xfrm>
            <a:off x="9191625" y="2895600"/>
            <a:ext cx="25050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7A8798"/>
                </a:solidFill>
                <a:latin typeface="微软雅黑"/>
                <a:ea typeface="微软雅黑"/>
              </a:rPr>
              <a:t>模块</a:t>
            </a:r>
            <a:r>
              <a:rPr lang="en-US" sz="900">
                <a:solidFill>
                  <a:srgbClr val="7A8798"/>
                </a:solidFill>
                <a:latin typeface="微软雅黑"/>
                <a:ea typeface="微软雅黑"/>
              </a:rPr>
              <a:t> C · </a:t>
            </a:r>
            <a:r>
              <a:rPr lang="zh-CN" sz="900">
                <a:solidFill>
                  <a:srgbClr val="7A8798"/>
                </a:solidFill>
                <a:latin typeface="微软雅黑"/>
                <a:ea typeface="微软雅黑"/>
              </a:rPr>
              <a:t>可信统计学习</a:t>
            </a:r>
            <a:endParaRPr/>
          </a:p>
        </p:txBody>
      </p:sp>
      <p:sp>
        <p:nvSpPr>
          <p:cNvPr id="1517" name="矩形: 圆角 1516"/>
          <p:cNvSpPr/>
          <p:nvPr/>
        </p:nvSpPr>
        <p:spPr>
          <a:xfrm>
            <a:off x="381000" y="3438525"/>
            <a:ext cx="2790825" cy="990600"/>
          </a:xfrm>
          <a:prstGeom prst="roundRect">
            <a:avLst>
              <a:gd name="adj" fmla="val 769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18" name="任意多边形: 形状 1517"/>
          <p:cNvSpPr/>
          <p:nvPr/>
        </p:nvSpPr>
        <p:spPr>
          <a:xfrm>
            <a:off x="381000" y="3438525"/>
            <a:ext cx="47625" cy="990600"/>
          </a:xfrm>
          <a:custGeom>
            <a:avLst/>
            <a:gdLst/>
            <a:ahLst/>
            <a:cxnLst/>
            <a:rect l="0" t="0" r="0" b="0"/>
            <a:pathLst>
              <a:path w="5" h="104">
                <a:moveTo>
                  <a:pt x="5" y="103"/>
                </a:moveTo>
                <a:cubicBezTo>
                  <a:pt x="2" y="102"/>
                  <a:pt x="0" y="99"/>
                  <a:pt x="0" y="96"/>
                </a:cubicBezTo>
                <a:lnTo>
                  <a:pt x="0" y="8"/>
                </a:lnTo>
                <a:cubicBezTo>
                  <a:pt x="0" y="5"/>
                  <a:pt x="2" y="2"/>
                  <a:pt x="5" y="1"/>
                </a:cubicBezTo>
                <a:close/>
              </a:path>
            </a:pathLst>
          </a:custGeom>
          <a:solidFill>
            <a:srgbClr val="3A6EA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19" name="矩形: 圆角 1518"/>
          <p:cNvSpPr/>
          <p:nvPr/>
        </p:nvSpPr>
        <p:spPr>
          <a:xfrm>
            <a:off x="542925" y="3743325"/>
            <a:ext cx="247650" cy="209550"/>
          </a:xfrm>
          <a:prstGeom prst="roundRect">
            <a:avLst>
              <a:gd name="adj" fmla="val 22727"/>
            </a:avLst>
          </a:prstGeom>
          <a:solidFill>
            <a:srgbClr val="3A6EA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20" name="文本框 1519" descr="{&quot;isTemplate&quot;:true,&quot;type&quot;:&quot;text&quot;}"/>
          <p:cNvSpPr txBox="1"/>
          <p:nvPr/>
        </p:nvSpPr>
        <p:spPr>
          <a:xfrm>
            <a:off x="628650" y="3771900"/>
            <a:ext cx="857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微软雅黑"/>
                <a:ea typeface="微软雅黑"/>
              </a:rPr>
              <a:t>9</a:t>
            </a:r>
            <a:endParaRPr/>
          </a:p>
        </p:txBody>
      </p:sp>
      <p:sp>
        <p:nvSpPr>
          <p:cNvPr id="1521" name="文本框 1520" descr="{&quot;isTemplate&quot;:true,&quot;type&quot;:&quot;text&quot;}"/>
          <p:cNvSpPr txBox="1"/>
          <p:nvPr/>
        </p:nvSpPr>
        <p:spPr>
          <a:xfrm>
            <a:off x="866775" y="3752850"/>
            <a:ext cx="10668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1B33"/>
                </a:solidFill>
                <a:latin typeface="微软雅黑"/>
                <a:ea typeface="微软雅黑"/>
              </a:rPr>
              <a:t>集成与模型解释</a:t>
            </a:r>
            <a:endParaRPr/>
          </a:p>
        </p:txBody>
      </p:sp>
      <p:sp>
        <p:nvSpPr>
          <p:cNvPr id="1522" name="文本框 1521" descr="{&quot;isTemplate&quot;:true,&quot;type&quot;:&quot;text&quot;}"/>
          <p:cNvSpPr txBox="1"/>
          <p:nvPr/>
        </p:nvSpPr>
        <p:spPr>
          <a:xfrm>
            <a:off x="542925" y="3990975"/>
            <a:ext cx="25146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7A8798"/>
                </a:solidFill>
                <a:latin typeface="微软雅黑"/>
                <a:ea typeface="微软雅黑"/>
              </a:rPr>
              <a:t>模块</a:t>
            </a:r>
            <a:r>
              <a:rPr lang="en-US" sz="900">
                <a:solidFill>
                  <a:srgbClr val="7A8798"/>
                </a:solidFill>
                <a:latin typeface="微软雅黑"/>
                <a:ea typeface="微软雅黑"/>
              </a:rPr>
              <a:t> C · </a:t>
            </a:r>
            <a:r>
              <a:rPr lang="zh-CN" sz="900">
                <a:solidFill>
                  <a:srgbClr val="7A8798"/>
                </a:solidFill>
                <a:latin typeface="微软雅黑"/>
                <a:ea typeface="微软雅黑"/>
              </a:rPr>
              <a:t>可信统计学习</a:t>
            </a:r>
            <a:endParaRPr/>
          </a:p>
        </p:txBody>
      </p:sp>
      <p:sp>
        <p:nvSpPr>
          <p:cNvPr id="1523" name="矩形: 圆角 1522"/>
          <p:cNvSpPr/>
          <p:nvPr/>
        </p:nvSpPr>
        <p:spPr>
          <a:xfrm>
            <a:off x="3267075" y="3438525"/>
            <a:ext cx="2781300" cy="990600"/>
          </a:xfrm>
          <a:prstGeom prst="roundRect">
            <a:avLst>
              <a:gd name="adj" fmla="val 769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24" name="任意多边形: 形状 1523"/>
          <p:cNvSpPr/>
          <p:nvPr/>
        </p:nvSpPr>
        <p:spPr>
          <a:xfrm>
            <a:off x="3267075" y="3438525"/>
            <a:ext cx="47625" cy="990600"/>
          </a:xfrm>
          <a:custGeom>
            <a:avLst/>
            <a:gdLst/>
            <a:ahLst/>
            <a:cxnLst/>
            <a:rect l="0" t="0" r="0" b="0"/>
            <a:pathLst>
              <a:path w="5" h="104">
                <a:moveTo>
                  <a:pt x="5" y="103"/>
                </a:moveTo>
                <a:cubicBezTo>
                  <a:pt x="2" y="102"/>
                  <a:pt x="0" y="99"/>
                  <a:pt x="0" y="96"/>
                </a:cubicBezTo>
                <a:lnTo>
                  <a:pt x="0" y="8"/>
                </a:lnTo>
                <a:cubicBezTo>
                  <a:pt x="0" y="5"/>
                  <a:pt x="2" y="2"/>
                  <a:pt x="5" y="1"/>
                </a:cubicBezTo>
                <a:close/>
              </a:path>
            </a:pathLst>
          </a:custGeom>
          <a:solidFill>
            <a:srgbClr val="3A6EA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25" name="矩形: 圆角 1524"/>
          <p:cNvSpPr/>
          <p:nvPr/>
        </p:nvSpPr>
        <p:spPr>
          <a:xfrm>
            <a:off x="3429000" y="3743325"/>
            <a:ext cx="247650" cy="209550"/>
          </a:xfrm>
          <a:prstGeom prst="roundRect">
            <a:avLst>
              <a:gd name="adj" fmla="val 22727"/>
            </a:avLst>
          </a:prstGeom>
          <a:solidFill>
            <a:srgbClr val="3A6EA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26" name="文本框 1525" descr="{&quot;isTemplate&quot;:true,&quot;type&quot;:&quot;text&quot;}"/>
          <p:cNvSpPr txBox="1"/>
          <p:nvPr/>
        </p:nvSpPr>
        <p:spPr>
          <a:xfrm>
            <a:off x="3476625" y="3771900"/>
            <a:ext cx="1619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微软雅黑"/>
                <a:ea typeface="微软雅黑"/>
              </a:rPr>
              <a:t>10</a:t>
            </a:r>
            <a:endParaRPr/>
          </a:p>
        </p:txBody>
      </p:sp>
      <p:sp>
        <p:nvSpPr>
          <p:cNvPr id="1527" name="文本框 1526" descr="{&quot;isTemplate&quot;:true,&quot;type&quot;:&quot;text&quot;}"/>
          <p:cNvSpPr txBox="1"/>
          <p:nvPr/>
        </p:nvSpPr>
        <p:spPr>
          <a:xfrm>
            <a:off x="3752850" y="3752850"/>
            <a:ext cx="15144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1B33"/>
                </a:solidFill>
                <a:latin typeface="微软雅黑"/>
                <a:ea typeface="微软雅黑"/>
              </a:rPr>
              <a:t>无监督</a:t>
            </a:r>
            <a:r>
              <a:rPr lang="en-US" sz="1200" b="1">
                <a:solidFill>
                  <a:srgbClr val="0B1B33"/>
                </a:solidFill>
                <a:latin typeface="微软雅黑"/>
                <a:ea typeface="微软雅黑"/>
              </a:rPr>
              <a:t> · </a:t>
            </a:r>
            <a:r>
              <a:rPr lang="zh-CN" sz="1200" b="1">
                <a:solidFill>
                  <a:srgbClr val="0B1B33"/>
                </a:solidFill>
                <a:latin typeface="微软雅黑"/>
                <a:ea typeface="微软雅黑"/>
              </a:rPr>
              <a:t>中期</a:t>
            </a:r>
            <a:r>
              <a:rPr lang="en-US" sz="1200" b="1">
                <a:solidFill>
                  <a:srgbClr val="0B1B33"/>
                </a:solidFill>
                <a:latin typeface="微软雅黑"/>
                <a:ea typeface="微软雅黑"/>
              </a:rPr>
              <a:t> · </a:t>
            </a:r>
            <a:r>
              <a:rPr lang="zh-CN" sz="1200" b="1">
                <a:solidFill>
                  <a:srgbClr val="0B1B33"/>
                </a:solidFill>
                <a:latin typeface="微软雅黑"/>
                <a:ea typeface="微软雅黑"/>
              </a:rPr>
              <a:t>研讨②</a:t>
            </a:r>
            <a:endParaRPr/>
          </a:p>
        </p:txBody>
      </p:sp>
      <p:sp>
        <p:nvSpPr>
          <p:cNvPr id="1528" name="文本框 1527" descr="{&quot;isTemplate&quot;:true,&quot;type&quot;:&quot;text&quot;}"/>
          <p:cNvSpPr txBox="1"/>
          <p:nvPr/>
        </p:nvSpPr>
        <p:spPr>
          <a:xfrm>
            <a:off x="3429000" y="3990975"/>
            <a:ext cx="25050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7A8798"/>
                </a:solidFill>
                <a:latin typeface="微软雅黑"/>
                <a:ea typeface="微软雅黑"/>
              </a:rPr>
              <a:t>模块</a:t>
            </a:r>
            <a:r>
              <a:rPr lang="en-US" sz="900">
                <a:solidFill>
                  <a:srgbClr val="7A8798"/>
                </a:solidFill>
                <a:latin typeface="微软雅黑"/>
                <a:ea typeface="微软雅黑"/>
              </a:rPr>
              <a:t> C · </a:t>
            </a:r>
            <a:r>
              <a:rPr lang="zh-CN" sz="900">
                <a:solidFill>
                  <a:srgbClr val="7A8798"/>
                </a:solidFill>
                <a:latin typeface="微软雅黑"/>
                <a:ea typeface="微软雅黑"/>
              </a:rPr>
              <a:t>可信统计学习</a:t>
            </a:r>
            <a:endParaRPr/>
          </a:p>
        </p:txBody>
      </p:sp>
      <p:sp>
        <p:nvSpPr>
          <p:cNvPr id="1529" name="矩形: 圆角 1528"/>
          <p:cNvSpPr/>
          <p:nvPr/>
        </p:nvSpPr>
        <p:spPr>
          <a:xfrm>
            <a:off x="6143625" y="3438525"/>
            <a:ext cx="2790825" cy="990600"/>
          </a:xfrm>
          <a:prstGeom prst="roundRect">
            <a:avLst>
              <a:gd name="adj" fmla="val 769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30" name="任意多边形: 形状 1529"/>
          <p:cNvSpPr/>
          <p:nvPr/>
        </p:nvSpPr>
        <p:spPr>
          <a:xfrm>
            <a:off x="6143625" y="3438525"/>
            <a:ext cx="47625" cy="990600"/>
          </a:xfrm>
          <a:custGeom>
            <a:avLst/>
            <a:gdLst/>
            <a:ahLst/>
            <a:cxnLst/>
            <a:rect l="0" t="0" r="0" b="0"/>
            <a:pathLst>
              <a:path w="5" h="104">
                <a:moveTo>
                  <a:pt x="5" y="103"/>
                </a:moveTo>
                <a:cubicBezTo>
                  <a:pt x="2" y="102"/>
                  <a:pt x="0" y="99"/>
                  <a:pt x="0" y="96"/>
                </a:cubicBezTo>
                <a:lnTo>
                  <a:pt x="0" y="8"/>
                </a:lnTo>
                <a:cubicBezTo>
                  <a:pt x="0" y="5"/>
                  <a:pt x="2" y="2"/>
                  <a:pt x="5" y="1"/>
                </a:cubicBezTo>
                <a:close/>
              </a:path>
            </a:pathLst>
          </a:custGeom>
          <a:solidFill>
            <a:srgbClr val="2E7D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31" name="矩形: 圆角 1530"/>
          <p:cNvSpPr/>
          <p:nvPr/>
        </p:nvSpPr>
        <p:spPr>
          <a:xfrm>
            <a:off x="6305550" y="3743325"/>
            <a:ext cx="247650" cy="209550"/>
          </a:xfrm>
          <a:prstGeom prst="roundRect">
            <a:avLst>
              <a:gd name="adj" fmla="val 22727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32" name="文本框 1531" descr="{&quot;isTemplate&quot;:true,&quot;type&quot;:&quot;text&quot;}"/>
          <p:cNvSpPr txBox="1"/>
          <p:nvPr/>
        </p:nvSpPr>
        <p:spPr>
          <a:xfrm>
            <a:off x="6353175" y="3771900"/>
            <a:ext cx="1619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微软雅黑"/>
                <a:ea typeface="微软雅黑"/>
              </a:rPr>
              <a:t>11</a:t>
            </a:r>
            <a:endParaRPr/>
          </a:p>
        </p:txBody>
      </p:sp>
      <p:sp>
        <p:nvSpPr>
          <p:cNvPr id="1533" name="文本框 1532" descr="{&quot;isTemplate&quot;:true,&quot;type&quot;:&quot;text&quot;}"/>
          <p:cNvSpPr txBox="1"/>
          <p:nvPr/>
        </p:nvSpPr>
        <p:spPr>
          <a:xfrm>
            <a:off x="6629400" y="3752850"/>
            <a:ext cx="12763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B1B33"/>
                </a:solidFill>
                <a:latin typeface="微软雅黑"/>
                <a:ea typeface="微软雅黑"/>
              </a:rPr>
              <a:t>NN / CNN / GNN</a:t>
            </a:r>
            <a:endParaRPr/>
          </a:p>
        </p:txBody>
      </p:sp>
      <p:sp>
        <p:nvSpPr>
          <p:cNvPr id="1534" name="文本框 1533" descr="{&quot;isTemplate&quot;:true,&quot;type&quot;:&quot;text&quot;}"/>
          <p:cNvSpPr txBox="1"/>
          <p:nvPr/>
        </p:nvSpPr>
        <p:spPr>
          <a:xfrm>
            <a:off x="6305550" y="3990975"/>
            <a:ext cx="25146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7A8798"/>
                </a:solidFill>
                <a:latin typeface="微软雅黑"/>
                <a:ea typeface="微软雅黑"/>
              </a:rPr>
              <a:t>模块</a:t>
            </a:r>
            <a:r>
              <a:rPr lang="en-US" sz="900">
                <a:solidFill>
                  <a:srgbClr val="7A8798"/>
                </a:solidFill>
                <a:latin typeface="微软雅黑"/>
                <a:ea typeface="微软雅黑"/>
              </a:rPr>
              <a:t> D · </a:t>
            </a:r>
            <a:r>
              <a:rPr lang="zh-CN" sz="900">
                <a:solidFill>
                  <a:srgbClr val="7A8798"/>
                </a:solidFill>
                <a:latin typeface="微软雅黑"/>
                <a:ea typeface="微软雅黑"/>
              </a:rPr>
              <a:t>表示学习与知识复用</a:t>
            </a:r>
            <a:endParaRPr/>
          </a:p>
        </p:txBody>
      </p:sp>
      <p:sp>
        <p:nvSpPr>
          <p:cNvPr id="1535" name="矩形: 圆角 1534"/>
          <p:cNvSpPr/>
          <p:nvPr/>
        </p:nvSpPr>
        <p:spPr>
          <a:xfrm>
            <a:off x="9029700" y="3438525"/>
            <a:ext cx="2781300" cy="990600"/>
          </a:xfrm>
          <a:prstGeom prst="roundRect">
            <a:avLst>
              <a:gd name="adj" fmla="val 769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36" name="任意多边形: 形状 1535"/>
          <p:cNvSpPr/>
          <p:nvPr/>
        </p:nvSpPr>
        <p:spPr>
          <a:xfrm>
            <a:off x="9029700" y="3438525"/>
            <a:ext cx="47625" cy="990600"/>
          </a:xfrm>
          <a:custGeom>
            <a:avLst/>
            <a:gdLst/>
            <a:ahLst/>
            <a:cxnLst/>
            <a:rect l="0" t="0" r="0" b="0"/>
            <a:pathLst>
              <a:path w="5" h="104">
                <a:moveTo>
                  <a:pt x="5" y="103"/>
                </a:moveTo>
                <a:cubicBezTo>
                  <a:pt x="2" y="102"/>
                  <a:pt x="0" y="99"/>
                  <a:pt x="0" y="96"/>
                </a:cubicBezTo>
                <a:lnTo>
                  <a:pt x="0" y="8"/>
                </a:lnTo>
                <a:cubicBezTo>
                  <a:pt x="0" y="5"/>
                  <a:pt x="2" y="2"/>
                  <a:pt x="5" y="1"/>
                </a:cubicBezTo>
                <a:close/>
              </a:path>
            </a:pathLst>
          </a:custGeom>
          <a:solidFill>
            <a:srgbClr val="2E7D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37" name="矩形: 圆角 1536"/>
          <p:cNvSpPr/>
          <p:nvPr/>
        </p:nvSpPr>
        <p:spPr>
          <a:xfrm>
            <a:off x="9191625" y="3743325"/>
            <a:ext cx="247650" cy="209550"/>
          </a:xfrm>
          <a:prstGeom prst="roundRect">
            <a:avLst>
              <a:gd name="adj" fmla="val 22727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38" name="文本框 1537" descr="{&quot;isTemplate&quot;:true,&quot;type&quot;:&quot;text&quot;}"/>
          <p:cNvSpPr txBox="1"/>
          <p:nvPr/>
        </p:nvSpPr>
        <p:spPr>
          <a:xfrm>
            <a:off x="9239250" y="3771900"/>
            <a:ext cx="1619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微软雅黑"/>
                <a:ea typeface="微软雅黑"/>
              </a:rPr>
              <a:t>12</a:t>
            </a:r>
            <a:endParaRPr/>
          </a:p>
        </p:txBody>
      </p:sp>
      <p:sp>
        <p:nvSpPr>
          <p:cNvPr id="1539" name="文本框 1538" descr="{&quot;isTemplate&quot;:true,&quot;type&quot;:&quot;text&quot;}"/>
          <p:cNvSpPr txBox="1"/>
          <p:nvPr/>
        </p:nvSpPr>
        <p:spPr>
          <a:xfrm>
            <a:off x="9515475" y="3752850"/>
            <a:ext cx="13620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1B33"/>
                </a:solidFill>
                <a:latin typeface="微软雅黑"/>
                <a:ea typeface="微软雅黑"/>
              </a:rPr>
              <a:t>注意力</a:t>
            </a:r>
            <a:r>
              <a:rPr lang="en-US" sz="1200" b="1">
                <a:solidFill>
                  <a:srgbClr val="0B1B33"/>
                </a:solidFill>
                <a:latin typeface="微软雅黑"/>
                <a:ea typeface="微软雅黑"/>
              </a:rPr>
              <a:t> · </a:t>
            </a:r>
            <a:r>
              <a:rPr lang="zh-CN" sz="1200" b="1">
                <a:solidFill>
                  <a:srgbClr val="0B1B33"/>
                </a:solidFill>
                <a:latin typeface="微软雅黑"/>
                <a:ea typeface="微软雅黑"/>
              </a:rPr>
              <a:t>迁移</a:t>
            </a:r>
            <a:r>
              <a:rPr lang="en-US" sz="1200" b="1">
                <a:solidFill>
                  <a:srgbClr val="0B1B33"/>
                </a:solidFill>
                <a:latin typeface="微软雅黑"/>
                <a:ea typeface="微软雅黑"/>
              </a:rPr>
              <a:t> · </a:t>
            </a:r>
            <a:r>
              <a:rPr lang="zh-CN" sz="1200" b="1">
                <a:solidFill>
                  <a:srgbClr val="0B1B33"/>
                </a:solidFill>
                <a:latin typeface="微软雅黑"/>
                <a:ea typeface="微软雅黑"/>
              </a:rPr>
              <a:t>生成</a:t>
            </a:r>
            <a:endParaRPr/>
          </a:p>
        </p:txBody>
      </p:sp>
      <p:sp>
        <p:nvSpPr>
          <p:cNvPr id="1540" name="文本框 1539" descr="{&quot;isTemplate&quot;:true,&quot;type&quot;:&quot;text&quot;}"/>
          <p:cNvSpPr txBox="1"/>
          <p:nvPr/>
        </p:nvSpPr>
        <p:spPr>
          <a:xfrm>
            <a:off x="9191625" y="3990975"/>
            <a:ext cx="25050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7A8798"/>
                </a:solidFill>
                <a:latin typeface="微软雅黑"/>
                <a:ea typeface="微软雅黑"/>
              </a:rPr>
              <a:t>模块</a:t>
            </a:r>
            <a:r>
              <a:rPr lang="en-US" sz="900">
                <a:solidFill>
                  <a:srgbClr val="7A8798"/>
                </a:solidFill>
                <a:latin typeface="微软雅黑"/>
                <a:ea typeface="微软雅黑"/>
              </a:rPr>
              <a:t> D · </a:t>
            </a:r>
            <a:r>
              <a:rPr lang="zh-CN" sz="900">
                <a:solidFill>
                  <a:srgbClr val="7A8798"/>
                </a:solidFill>
                <a:latin typeface="微软雅黑"/>
                <a:ea typeface="微软雅黑"/>
              </a:rPr>
              <a:t>表示学习与知识复用</a:t>
            </a:r>
            <a:endParaRPr/>
          </a:p>
        </p:txBody>
      </p:sp>
      <p:sp>
        <p:nvSpPr>
          <p:cNvPr id="1541" name="矩形: 圆角 1540"/>
          <p:cNvSpPr/>
          <p:nvPr/>
        </p:nvSpPr>
        <p:spPr>
          <a:xfrm>
            <a:off x="381000" y="4524375"/>
            <a:ext cx="2790825" cy="1000125"/>
          </a:xfrm>
          <a:prstGeom prst="roundRect">
            <a:avLst>
              <a:gd name="adj" fmla="val 761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42" name="任意多边形: 形状 1541"/>
          <p:cNvSpPr/>
          <p:nvPr/>
        </p:nvSpPr>
        <p:spPr>
          <a:xfrm>
            <a:off x="381000" y="4524375"/>
            <a:ext cx="47625" cy="1000125"/>
          </a:xfrm>
          <a:custGeom>
            <a:avLst/>
            <a:gdLst/>
            <a:ahLst/>
            <a:cxnLst/>
            <a:rect l="0" t="0" r="0" b="0"/>
            <a:pathLst>
              <a:path w="5" h="105">
                <a:moveTo>
                  <a:pt x="5" y="104"/>
                </a:moveTo>
                <a:cubicBezTo>
                  <a:pt x="2" y="103"/>
                  <a:pt x="0" y="100"/>
                  <a:pt x="0" y="97"/>
                </a:cubicBezTo>
                <a:lnTo>
                  <a:pt x="0" y="8"/>
                </a:lnTo>
                <a:cubicBezTo>
                  <a:pt x="0" y="5"/>
                  <a:pt x="2" y="2"/>
                  <a:pt x="5" y="1"/>
                </a:cubicBezTo>
                <a:close/>
              </a:path>
            </a:pathLst>
          </a:custGeom>
          <a:solidFill>
            <a:srgbClr val="B26A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43" name="矩形: 圆角 1542"/>
          <p:cNvSpPr/>
          <p:nvPr/>
        </p:nvSpPr>
        <p:spPr>
          <a:xfrm>
            <a:off x="542925" y="4829175"/>
            <a:ext cx="247650" cy="209550"/>
          </a:xfrm>
          <a:prstGeom prst="roundRect">
            <a:avLst>
              <a:gd name="adj" fmla="val 22727"/>
            </a:avLst>
          </a:prstGeom>
          <a:solidFill>
            <a:srgbClr val="B26A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44" name="文本框 1543" descr="{&quot;isTemplate&quot;:true,&quot;type&quot;:&quot;text&quot;}"/>
          <p:cNvSpPr txBox="1"/>
          <p:nvPr/>
        </p:nvSpPr>
        <p:spPr>
          <a:xfrm>
            <a:off x="590550" y="4857750"/>
            <a:ext cx="1619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微软雅黑"/>
                <a:ea typeface="微软雅黑"/>
              </a:rPr>
              <a:t>13</a:t>
            </a:r>
            <a:endParaRPr/>
          </a:p>
        </p:txBody>
      </p:sp>
      <p:sp>
        <p:nvSpPr>
          <p:cNvPr id="1545" name="文本框 1544" descr="{&quot;isTemplate&quot;:true,&quot;type&quot;:&quot;text&quot;}"/>
          <p:cNvSpPr txBox="1"/>
          <p:nvPr/>
        </p:nvSpPr>
        <p:spPr>
          <a:xfrm>
            <a:off x="866775" y="4838700"/>
            <a:ext cx="11811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1B33"/>
                </a:solidFill>
                <a:latin typeface="微软雅黑"/>
                <a:ea typeface="微软雅黑"/>
              </a:rPr>
              <a:t>贝叶斯推断与</a:t>
            </a:r>
            <a:r>
              <a:rPr lang="en-US" sz="1200" b="1">
                <a:solidFill>
                  <a:srgbClr val="0B1B33"/>
                </a:solidFill>
                <a:latin typeface="微软雅黑"/>
                <a:ea typeface="微软雅黑"/>
              </a:rPr>
              <a:t> GP</a:t>
            </a:r>
            <a:endParaRPr/>
          </a:p>
        </p:txBody>
      </p:sp>
      <p:sp>
        <p:nvSpPr>
          <p:cNvPr id="1546" name="文本框 1545" descr="{&quot;isTemplate&quot;:true,&quot;type&quot;:&quot;text&quot;}"/>
          <p:cNvSpPr txBox="1"/>
          <p:nvPr/>
        </p:nvSpPr>
        <p:spPr>
          <a:xfrm>
            <a:off x="542925" y="5076825"/>
            <a:ext cx="25146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7A8798"/>
                </a:solidFill>
                <a:latin typeface="微软雅黑"/>
                <a:ea typeface="微软雅黑"/>
              </a:rPr>
              <a:t>模块</a:t>
            </a:r>
            <a:r>
              <a:rPr lang="en-US" sz="900">
                <a:solidFill>
                  <a:srgbClr val="7A8798"/>
                </a:solidFill>
                <a:latin typeface="微软雅黑"/>
                <a:ea typeface="微软雅黑"/>
              </a:rPr>
              <a:t> E · </a:t>
            </a:r>
            <a:r>
              <a:rPr lang="zh-CN" sz="900">
                <a:solidFill>
                  <a:srgbClr val="7A8798"/>
                </a:solidFill>
                <a:latin typeface="微软雅黑"/>
                <a:ea typeface="微软雅黑"/>
              </a:rPr>
              <a:t>贝叶斯与实验决策</a:t>
            </a:r>
            <a:endParaRPr/>
          </a:p>
        </p:txBody>
      </p:sp>
      <p:sp>
        <p:nvSpPr>
          <p:cNvPr id="1547" name="矩形: 圆角 1546"/>
          <p:cNvSpPr/>
          <p:nvPr/>
        </p:nvSpPr>
        <p:spPr>
          <a:xfrm>
            <a:off x="3267075" y="4524375"/>
            <a:ext cx="2781300" cy="1000125"/>
          </a:xfrm>
          <a:prstGeom prst="roundRect">
            <a:avLst>
              <a:gd name="adj" fmla="val 761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48" name="任意多边形: 形状 1547"/>
          <p:cNvSpPr/>
          <p:nvPr/>
        </p:nvSpPr>
        <p:spPr>
          <a:xfrm>
            <a:off x="3267075" y="4524375"/>
            <a:ext cx="47625" cy="1000125"/>
          </a:xfrm>
          <a:custGeom>
            <a:avLst/>
            <a:gdLst/>
            <a:ahLst/>
            <a:cxnLst/>
            <a:rect l="0" t="0" r="0" b="0"/>
            <a:pathLst>
              <a:path w="5" h="105">
                <a:moveTo>
                  <a:pt x="5" y="104"/>
                </a:moveTo>
                <a:cubicBezTo>
                  <a:pt x="2" y="103"/>
                  <a:pt x="0" y="100"/>
                  <a:pt x="0" y="97"/>
                </a:cubicBezTo>
                <a:lnTo>
                  <a:pt x="0" y="8"/>
                </a:lnTo>
                <a:cubicBezTo>
                  <a:pt x="0" y="5"/>
                  <a:pt x="2" y="2"/>
                  <a:pt x="5" y="1"/>
                </a:cubicBezTo>
                <a:close/>
              </a:path>
            </a:pathLst>
          </a:custGeom>
          <a:solidFill>
            <a:srgbClr val="B26A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49" name="矩形: 圆角 1548"/>
          <p:cNvSpPr/>
          <p:nvPr/>
        </p:nvSpPr>
        <p:spPr>
          <a:xfrm>
            <a:off x="3429000" y="4829175"/>
            <a:ext cx="247650" cy="209550"/>
          </a:xfrm>
          <a:prstGeom prst="roundRect">
            <a:avLst>
              <a:gd name="adj" fmla="val 22727"/>
            </a:avLst>
          </a:prstGeom>
          <a:solidFill>
            <a:srgbClr val="B26A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50" name="文本框 1549" descr="{&quot;isTemplate&quot;:true,&quot;type&quot;:&quot;text&quot;}"/>
          <p:cNvSpPr txBox="1"/>
          <p:nvPr/>
        </p:nvSpPr>
        <p:spPr>
          <a:xfrm>
            <a:off x="3476625" y="4857750"/>
            <a:ext cx="1619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微软雅黑"/>
                <a:ea typeface="微软雅黑"/>
              </a:rPr>
              <a:t>14</a:t>
            </a:r>
            <a:endParaRPr/>
          </a:p>
        </p:txBody>
      </p:sp>
      <p:sp>
        <p:nvSpPr>
          <p:cNvPr id="1551" name="文本框 1550" descr="{&quot;isTemplate&quot;:true,&quot;type&quot;:&quot;text&quot;}"/>
          <p:cNvSpPr txBox="1"/>
          <p:nvPr/>
        </p:nvSpPr>
        <p:spPr>
          <a:xfrm>
            <a:off x="3752850" y="4838700"/>
            <a:ext cx="10287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B1B33"/>
                </a:solidFill>
                <a:latin typeface="微软雅黑"/>
                <a:ea typeface="微软雅黑"/>
              </a:rPr>
              <a:t>BO </a:t>
            </a:r>
            <a:r>
              <a:rPr lang="zh-CN" sz="1200" b="1">
                <a:solidFill>
                  <a:srgbClr val="0B1B33"/>
                </a:solidFill>
                <a:latin typeface="微软雅黑"/>
                <a:ea typeface="微软雅黑"/>
              </a:rPr>
              <a:t>与实验决策</a:t>
            </a:r>
            <a:endParaRPr/>
          </a:p>
        </p:txBody>
      </p:sp>
      <p:sp>
        <p:nvSpPr>
          <p:cNvPr id="1552" name="文本框 1551" descr="{&quot;isTemplate&quot;:true,&quot;type&quot;:&quot;text&quot;}"/>
          <p:cNvSpPr txBox="1"/>
          <p:nvPr/>
        </p:nvSpPr>
        <p:spPr>
          <a:xfrm>
            <a:off x="3429000" y="5076825"/>
            <a:ext cx="25050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7A8798"/>
                </a:solidFill>
                <a:latin typeface="微软雅黑"/>
                <a:ea typeface="微软雅黑"/>
              </a:rPr>
              <a:t>模块</a:t>
            </a:r>
            <a:r>
              <a:rPr lang="en-US" sz="900">
                <a:solidFill>
                  <a:srgbClr val="7A8798"/>
                </a:solidFill>
                <a:latin typeface="微软雅黑"/>
                <a:ea typeface="微软雅黑"/>
              </a:rPr>
              <a:t> E · </a:t>
            </a:r>
            <a:r>
              <a:rPr lang="zh-CN" sz="900">
                <a:solidFill>
                  <a:srgbClr val="7A8798"/>
                </a:solidFill>
                <a:latin typeface="微软雅黑"/>
                <a:ea typeface="微软雅黑"/>
              </a:rPr>
              <a:t>贝叶斯与实验决策</a:t>
            </a:r>
            <a:endParaRPr/>
          </a:p>
        </p:txBody>
      </p:sp>
      <p:sp>
        <p:nvSpPr>
          <p:cNvPr id="1553" name="矩形: 圆角 1552"/>
          <p:cNvSpPr/>
          <p:nvPr/>
        </p:nvSpPr>
        <p:spPr>
          <a:xfrm>
            <a:off x="6143625" y="4524375"/>
            <a:ext cx="2790825" cy="1000125"/>
          </a:xfrm>
          <a:prstGeom prst="roundRect">
            <a:avLst>
              <a:gd name="adj" fmla="val 761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54" name="任意多边形: 形状 1553"/>
          <p:cNvSpPr/>
          <p:nvPr/>
        </p:nvSpPr>
        <p:spPr>
          <a:xfrm>
            <a:off x="6143625" y="4524375"/>
            <a:ext cx="47625" cy="1000125"/>
          </a:xfrm>
          <a:custGeom>
            <a:avLst/>
            <a:gdLst/>
            <a:ahLst/>
            <a:cxnLst/>
            <a:rect l="0" t="0" r="0" b="0"/>
            <a:pathLst>
              <a:path w="5" h="105">
                <a:moveTo>
                  <a:pt x="5" y="104"/>
                </a:moveTo>
                <a:cubicBezTo>
                  <a:pt x="2" y="103"/>
                  <a:pt x="0" y="100"/>
                  <a:pt x="0" y="97"/>
                </a:cubicBezTo>
                <a:lnTo>
                  <a:pt x="0" y="8"/>
                </a:lnTo>
                <a:cubicBezTo>
                  <a:pt x="0" y="5"/>
                  <a:pt x="2" y="2"/>
                  <a:pt x="5" y="1"/>
                </a:cubicBezTo>
                <a:close/>
              </a:path>
            </a:pathLst>
          </a:custGeom>
          <a:solidFill>
            <a:srgbClr val="6A1B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55" name="矩形: 圆角 1554"/>
          <p:cNvSpPr/>
          <p:nvPr/>
        </p:nvSpPr>
        <p:spPr>
          <a:xfrm>
            <a:off x="6305550" y="4829175"/>
            <a:ext cx="247650" cy="209550"/>
          </a:xfrm>
          <a:prstGeom prst="roundRect">
            <a:avLst>
              <a:gd name="adj" fmla="val 22727"/>
            </a:avLst>
          </a:prstGeom>
          <a:solidFill>
            <a:srgbClr val="6A1B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56" name="文本框 1555" descr="{&quot;isTemplate&quot;:true,&quot;type&quot;:&quot;text&quot;}"/>
          <p:cNvSpPr txBox="1"/>
          <p:nvPr/>
        </p:nvSpPr>
        <p:spPr>
          <a:xfrm>
            <a:off x="6353175" y="4857750"/>
            <a:ext cx="1619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微软雅黑"/>
                <a:ea typeface="微软雅黑"/>
              </a:rPr>
              <a:t>15</a:t>
            </a:r>
            <a:endParaRPr/>
          </a:p>
        </p:txBody>
      </p:sp>
      <p:sp>
        <p:nvSpPr>
          <p:cNvPr id="1557" name="文本框 1556" descr="{&quot;isTemplate&quot;:true,&quot;type&quot;:&quot;text&quot;}"/>
          <p:cNvSpPr txBox="1"/>
          <p:nvPr/>
        </p:nvSpPr>
        <p:spPr>
          <a:xfrm>
            <a:off x="6629400" y="4838700"/>
            <a:ext cx="12192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B1B33"/>
                </a:solidFill>
                <a:latin typeface="微软雅黑"/>
                <a:ea typeface="微软雅黑"/>
              </a:rPr>
              <a:t>PINN </a:t>
            </a:r>
            <a:r>
              <a:rPr lang="zh-CN" sz="1200" b="1">
                <a:solidFill>
                  <a:srgbClr val="0B1B33"/>
                </a:solidFill>
                <a:latin typeface="微软雅黑"/>
                <a:ea typeface="微软雅黑"/>
              </a:rPr>
              <a:t>与前沿判断</a:t>
            </a:r>
            <a:endParaRPr/>
          </a:p>
        </p:txBody>
      </p:sp>
      <p:sp>
        <p:nvSpPr>
          <p:cNvPr id="1558" name="文本框 1557" descr="{&quot;isTemplate&quot;:true,&quot;type&quot;:&quot;text&quot;}"/>
          <p:cNvSpPr txBox="1"/>
          <p:nvPr/>
        </p:nvSpPr>
        <p:spPr>
          <a:xfrm>
            <a:off x="6305550" y="5076825"/>
            <a:ext cx="25146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7A8798"/>
                </a:solidFill>
                <a:latin typeface="微软雅黑"/>
                <a:ea typeface="微软雅黑"/>
              </a:rPr>
              <a:t>模块</a:t>
            </a:r>
            <a:r>
              <a:rPr lang="en-US" sz="900">
                <a:solidFill>
                  <a:srgbClr val="7A8798"/>
                </a:solidFill>
                <a:latin typeface="微软雅黑"/>
                <a:ea typeface="微软雅黑"/>
              </a:rPr>
              <a:t> F · </a:t>
            </a:r>
            <a:r>
              <a:rPr lang="zh-CN" sz="900">
                <a:solidFill>
                  <a:srgbClr val="7A8798"/>
                </a:solidFill>
                <a:latin typeface="微软雅黑"/>
                <a:ea typeface="微软雅黑"/>
              </a:rPr>
              <a:t>物理先验与前沿</a:t>
            </a:r>
            <a:endParaRPr/>
          </a:p>
        </p:txBody>
      </p:sp>
      <p:sp>
        <p:nvSpPr>
          <p:cNvPr id="1559" name="矩形: 圆角 1558"/>
          <p:cNvSpPr/>
          <p:nvPr/>
        </p:nvSpPr>
        <p:spPr>
          <a:xfrm>
            <a:off x="9029700" y="4524375"/>
            <a:ext cx="2781300" cy="1000125"/>
          </a:xfrm>
          <a:prstGeom prst="roundRect">
            <a:avLst>
              <a:gd name="adj" fmla="val 761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60" name="任意多边形: 形状 1559"/>
          <p:cNvSpPr/>
          <p:nvPr/>
        </p:nvSpPr>
        <p:spPr>
          <a:xfrm>
            <a:off x="9029700" y="4524375"/>
            <a:ext cx="47625" cy="1000125"/>
          </a:xfrm>
          <a:custGeom>
            <a:avLst/>
            <a:gdLst/>
            <a:ahLst/>
            <a:cxnLst/>
            <a:rect l="0" t="0" r="0" b="0"/>
            <a:pathLst>
              <a:path w="5" h="105">
                <a:moveTo>
                  <a:pt x="5" y="104"/>
                </a:moveTo>
                <a:cubicBezTo>
                  <a:pt x="2" y="103"/>
                  <a:pt x="0" y="100"/>
                  <a:pt x="0" y="97"/>
                </a:cubicBezTo>
                <a:lnTo>
                  <a:pt x="0" y="8"/>
                </a:lnTo>
                <a:cubicBezTo>
                  <a:pt x="0" y="5"/>
                  <a:pt x="2" y="2"/>
                  <a:pt x="5" y="1"/>
                </a:cubicBezTo>
                <a:close/>
              </a:path>
            </a:pathLst>
          </a:custGeom>
          <a:solidFill>
            <a:srgbClr val="455A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61" name="矩形: 圆角 1560"/>
          <p:cNvSpPr/>
          <p:nvPr/>
        </p:nvSpPr>
        <p:spPr>
          <a:xfrm>
            <a:off x="9191625" y="4829175"/>
            <a:ext cx="247650" cy="209550"/>
          </a:xfrm>
          <a:prstGeom prst="roundRect">
            <a:avLst>
              <a:gd name="adj" fmla="val 22727"/>
            </a:avLst>
          </a:prstGeom>
          <a:solidFill>
            <a:srgbClr val="455A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62" name="文本框 1561" descr="{&quot;isTemplate&quot;:true,&quot;type&quot;:&quot;text&quot;}"/>
          <p:cNvSpPr txBox="1"/>
          <p:nvPr/>
        </p:nvSpPr>
        <p:spPr>
          <a:xfrm>
            <a:off x="9239250" y="4857750"/>
            <a:ext cx="1619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微软雅黑"/>
                <a:ea typeface="微软雅黑"/>
              </a:rPr>
              <a:t>16</a:t>
            </a:r>
            <a:endParaRPr/>
          </a:p>
        </p:txBody>
      </p:sp>
      <p:sp>
        <p:nvSpPr>
          <p:cNvPr id="1563" name="文本框 1562" descr="{&quot;isTemplate&quot;:true,&quot;type&quot;:&quot;text&quot;}"/>
          <p:cNvSpPr txBox="1"/>
          <p:nvPr/>
        </p:nvSpPr>
        <p:spPr>
          <a:xfrm>
            <a:off x="9515475" y="4838700"/>
            <a:ext cx="10668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1B33"/>
                </a:solidFill>
                <a:latin typeface="微软雅黑"/>
                <a:ea typeface="微软雅黑"/>
              </a:rPr>
              <a:t>答辩与课程总结</a:t>
            </a:r>
            <a:endParaRPr/>
          </a:p>
        </p:txBody>
      </p:sp>
      <p:sp>
        <p:nvSpPr>
          <p:cNvPr id="1564" name="文本框 1563" descr="{&quot;isTemplate&quot;:true,&quot;type&quot;:&quot;text&quot;}"/>
          <p:cNvSpPr txBox="1"/>
          <p:nvPr/>
        </p:nvSpPr>
        <p:spPr>
          <a:xfrm>
            <a:off x="9191625" y="5076825"/>
            <a:ext cx="25050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7A8798"/>
                </a:solidFill>
                <a:latin typeface="微软雅黑"/>
                <a:ea typeface="微软雅黑"/>
              </a:rPr>
              <a:t>模块</a:t>
            </a:r>
            <a:r>
              <a:rPr lang="en-US" sz="900">
                <a:solidFill>
                  <a:srgbClr val="7A8798"/>
                </a:solidFill>
                <a:latin typeface="微软雅黑"/>
                <a:ea typeface="微软雅黑"/>
              </a:rPr>
              <a:t> G · </a:t>
            </a:r>
            <a:r>
              <a:rPr lang="zh-CN" sz="900">
                <a:solidFill>
                  <a:srgbClr val="7A8798"/>
                </a:solidFill>
                <a:latin typeface="微软雅黑"/>
                <a:ea typeface="微软雅黑"/>
              </a:rPr>
              <a:t>答辩与总结</a:t>
            </a:r>
            <a:endParaRPr/>
          </a:p>
        </p:txBody>
      </p:sp>
      <p:sp>
        <p:nvSpPr>
          <p:cNvPr id="1565" name="矩形: 圆角 1564"/>
          <p:cNvSpPr/>
          <p:nvPr/>
        </p:nvSpPr>
        <p:spPr>
          <a:xfrm>
            <a:off x="381000" y="5619750"/>
            <a:ext cx="11430000" cy="628650"/>
          </a:xfrm>
          <a:prstGeom prst="roundRect">
            <a:avLst>
              <a:gd name="adj" fmla="val 1515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66" name="矩形: 圆角 1565"/>
          <p:cNvSpPr/>
          <p:nvPr/>
        </p:nvSpPr>
        <p:spPr>
          <a:xfrm>
            <a:off x="552450" y="573405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67" name="文本框 1566" descr="{&quot;isTemplate&quot;:true,&quot;type&quot;:&quot;text&quot;}"/>
          <p:cNvSpPr txBox="1"/>
          <p:nvPr/>
        </p:nvSpPr>
        <p:spPr>
          <a:xfrm>
            <a:off x="723900" y="5715000"/>
            <a:ext cx="17430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2C3947"/>
                </a:solidFill>
                <a:latin typeface="微软雅黑"/>
                <a:ea typeface="微软雅黑"/>
              </a:rPr>
              <a:t>A 1–3 </a:t>
            </a:r>
            <a:r>
              <a:rPr lang="zh-CN" sz="975">
                <a:solidFill>
                  <a:srgbClr val="2C3947"/>
                </a:solidFill>
                <a:latin typeface="微软雅黑"/>
                <a:ea typeface="微软雅黑"/>
              </a:rPr>
              <a:t>奠基：范式与数据</a:t>
            </a:r>
            <a:r>
              <a:rPr lang="en-US" sz="975">
                <a:solidFill>
                  <a:srgbClr val="2C3947"/>
                </a:solidFill>
                <a:latin typeface="微软雅黑"/>
                <a:ea typeface="微软雅黑"/>
              </a:rPr>
              <a:t> 6 </a:t>
            </a:r>
            <a:r>
              <a:rPr lang="zh-CN" sz="975">
                <a:solidFill>
                  <a:srgbClr val="2C3947"/>
                </a:solidFill>
                <a:latin typeface="微软雅黑"/>
                <a:ea typeface="微软雅黑"/>
              </a:rPr>
              <a:t>学时</a:t>
            </a:r>
            <a:endParaRPr/>
          </a:p>
        </p:txBody>
      </p:sp>
      <p:sp>
        <p:nvSpPr>
          <p:cNvPr id="1568" name="矩形: 圆角 1567"/>
          <p:cNvSpPr/>
          <p:nvPr/>
        </p:nvSpPr>
        <p:spPr>
          <a:xfrm>
            <a:off x="2600325" y="573405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69" name="文本框 1568" descr="{&quot;isTemplate&quot;:true,&quot;type&quot;:&quot;text&quot;}"/>
          <p:cNvSpPr txBox="1"/>
          <p:nvPr/>
        </p:nvSpPr>
        <p:spPr>
          <a:xfrm>
            <a:off x="2771775" y="5715000"/>
            <a:ext cx="12477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2C3947"/>
                </a:solidFill>
                <a:latin typeface="微软雅黑"/>
                <a:ea typeface="微软雅黑"/>
              </a:rPr>
              <a:t>B 4–5 </a:t>
            </a:r>
            <a:r>
              <a:rPr lang="zh-CN" sz="975">
                <a:solidFill>
                  <a:srgbClr val="2C3947"/>
                </a:solidFill>
                <a:latin typeface="微软雅黑"/>
                <a:ea typeface="微软雅黑"/>
              </a:rPr>
              <a:t>材料表示</a:t>
            </a:r>
            <a:r>
              <a:rPr lang="en-US" sz="975">
                <a:solidFill>
                  <a:srgbClr val="2C3947"/>
                </a:solidFill>
                <a:latin typeface="微软雅黑"/>
                <a:ea typeface="微软雅黑"/>
              </a:rPr>
              <a:t> 4 </a:t>
            </a:r>
            <a:r>
              <a:rPr lang="zh-CN" sz="975">
                <a:solidFill>
                  <a:srgbClr val="2C3947"/>
                </a:solidFill>
                <a:latin typeface="微软雅黑"/>
                <a:ea typeface="微软雅黑"/>
              </a:rPr>
              <a:t>学时</a:t>
            </a:r>
            <a:endParaRPr/>
          </a:p>
        </p:txBody>
      </p:sp>
      <p:sp>
        <p:nvSpPr>
          <p:cNvPr id="1570" name="矩形: 圆角 1569"/>
          <p:cNvSpPr/>
          <p:nvPr/>
        </p:nvSpPr>
        <p:spPr>
          <a:xfrm>
            <a:off x="4152900" y="573405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3A6EA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71" name="文本框 1570" descr="{&quot;isTemplate&quot;:true,&quot;type&quot;:&quot;text&quot;}"/>
          <p:cNvSpPr txBox="1"/>
          <p:nvPr/>
        </p:nvSpPr>
        <p:spPr>
          <a:xfrm>
            <a:off x="4324350" y="5715000"/>
            <a:ext cx="16287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2C3947"/>
                </a:solidFill>
                <a:latin typeface="微软雅黑"/>
                <a:ea typeface="微软雅黑"/>
              </a:rPr>
              <a:t>C 6–10 </a:t>
            </a:r>
            <a:r>
              <a:rPr lang="zh-CN" sz="975">
                <a:solidFill>
                  <a:srgbClr val="2C3947"/>
                </a:solidFill>
                <a:latin typeface="微软雅黑"/>
                <a:ea typeface="微软雅黑"/>
              </a:rPr>
              <a:t>可信统计学习</a:t>
            </a:r>
            <a:r>
              <a:rPr lang="en-US" sz="975">
                <a:solidFill>
                  <a:srgbClr val="2C3947"/>
                </a:solidFill>
                <a:latin typeface="微软雅黑"/>
                <a:ea typeface="微软雅黑"/>
              </a:rPr>
              <a:t> 10 </a:t>
            </a:r>
            <a:r>
              <a:rPr lang="zh-CN" sz="975">
                <a:solidFill>
                  <a:srgbClr val="2C3947"/>
                </a:solidFill>
                <a:latin typeface="微软雅黑"/>
                <a:ea typeface="微软雅黑"/>
              </a:rPr>
              <a:t>学时</a:t>
            </a:r>
            <a:endParaRPr/>
          </a:p>
        </p:txBody>
      </p:sp>
      <p:sp>
        <p:nvSpPr>
          <p:cNvPr id="1572" name="矩形: 圆角 1571"/>
          <p:cNvSpPr/>
          <p:nvPr/>
        </p:nvSpPr>
        <p:spPr>
          <a:xfrm>
            <a:off x="6086475" y="573405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2E7D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73" name="文本框 1572" descr="{&quot;isTemplate&quot;:true,&quot;type&quot;:&quot;text&quot;}"/>
          <p:cNvSpPr txBox="1"/>
          <p:nvPr/>
        </p:nvSpPr>
        <p:spPr>
          <a:xfrm>
            <a:off x="6257925" y="5715000"/>
            <a:ext cx="20097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2C3947"/>
                </a:solidFill>
                <a:latin typeface="微软雅黑"/>
                <a:ea typeface="微软雅黑"/>
              </a:rPr>
              <a:t>D 11–12 </a:t>
            </a:r>
            <a:r>
              <a:rPr lang="zh-CN" sz="975">
                <a:solidFill>
                  <a:srgbClr val="2C3947"/>
                </a:solidFill>
                <a:latin typeface="微软雅黑"/>
                <a:ea typeface="微软雅黑"/>
              </a:rPr>
              <a:t>表示学习与知识复用</a:t>
            </a:r>
            <a:r>
              <a:rPr lang="en-US" sz="975">
                <a:solidFill>
                  <a:srgbClr val="2C3947"/>
                </a:solidFill>
                <a:latin typeface="微软雅黑"/>
                <a:ea typeface="微软雅黑"/>
              </a:rPr>
              <a:t> 4 </a:t>
            </a:r>
            <a:r>
              <a:rPr lang="zh-CN" sz="975">
                <a:solidFill>
                  <a:srgbClr val="2C3947"/>
                </a:solidFill>
                <a:latin typeface="微软雅黑"/>
                <a:ea typeface="微软雅黑"/>
              </a:rPr>
              <a:t>学时</a:t>
            </a:r>
            <a:endParaRPr/>
          </a:p>
        </p:txBody>
      </p:sp>
      <p:sp>
        <p:nvSpPr>
          <p:cNvPr id="1574" name="矩形: 圆角 1573"/>
          <p:cNvSpPr/>
          <p:nvPr/>
        </p:nvSpPr>
        <p:spPr>
          <a:xfrm>
            <a:off x="8401050" y="573405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B26A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75" name="文本框 1574" descr="{&quot;isTemplate&quot;:true,&quot;type&quot;:&quot;text&quot;}"/>
          <p:cNvSpPr txBox="1"/>
          <p:nvPr/>
        </p:nvSpPr>
        <p:spPr>
          <a:xfrm>
            <a:off x="8572500" y="5715000"/>
            <a:ext cx="18764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2C3947"/>
                </a:solidFill>
                <a:latin typeface="微软雅黑"/>
                <a:ea typeface="微软雅黑"/>
              </a:rPr>
              <a:t>E 13–14 </a:t>
            </a:r>
            <a:r>
              <a:rPr lang="zh-CN" sz="975">
                <a:solidFill>
                  <a:srgbClr val="2C3947"/>
                </a:solidFill>
                <a:latin typeface="微软雅黑"/>
                <a:ea typeface="微软雅黑"/>
              </a:rPr>
              <a:t>贝叶斯与实验决策</a:t>
            </a:r>
            <a:r>
              <a:rPr lang="en-US" sz="975">
                <a:solidFill>
                  <a:srgbClr val="2C3947"/>
                </a:solidFill>
                <a:latin typeface="微软雅黑"/>
                <a:ea typeface="微软雅黑"/>
              </a:rPr>
              <a:t> 4 </a:t>
            </a:r>
            <a:r>
              <a:rPr lang="zh-CN" sz="975">
                <a:solidFill>
                  <a:srgbClr val="2C3947"/>
                </a:solidFill>
                <a:latin typeface="微软雅黑"/>
                <a:ea typeface="微软雅黑"/>
              </a:rPr>
              <a:t>学时</a:t>
            </a:r>
            <a:endParaRPr/>
          </a:p>
        </p:txBody>
      </p:sp>
      <p:sp>
        <p:nvSpPr>
          <p:cNvPr id="1576" name="矩形: 圆角 1575"/>
          <p:cNvSpPr/>
          <p:nvPr/>
        </p:nvSpPr>
        <p:spPr>
          <a:xfrm>
            <a:off x="552450" y="60198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6A1B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77" name="文本框 1576" descr="{&quot;isTemplate&quot;:true,&quot;type&quot;:&quot;text&quot;}"/>
          <p:cNvSpPr txBox="1"/>
          <p:nvPr/>
        </p:nvSpPr>
        <p:spPr>
          <a:xfrm>
            <a:off x="723900" y="6000750"/>
            <a:ext cx="15430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2C3947"/>
                </a:solidFill>
                <a:latin typeface="微软雅黑"/>
                <a:ea typeface="微软雅黑"/>
              </a:rPr>
              <a:t>F 15 </a:t>
            </a:r>
            <a:r>
              <a:rPr lang="zh-CN" sz="975">
                <a:solidFill>
                  <a:srgbClr val="2C3947"/>
                </a:solidFill>
                <a:latin typeface="微软雅黑"/>
                <a:ea typeface="微软雅黑"/>
              </a:rPr>
              <a:t>物理先验与前沿</a:t>
            </a:r>
            <a:r>
              <a:rPr lang="en-US" sz="975">
                <a:solidFill>
                  <a:srgbClr val="2C3947"/>
                </a:solidFill>
                <a:latin typeface="微软雅黑"/>
                <a:ea typeface="微软雅黑"/>
              </a:rPr>
              <a:t> 2 </a:t>
            </a:r>
            <a:r>
              <a:rPr lang="zh-CN" sz="975">
                <a:solidFill>
                  <a:srgbClr val="2C3947"/>
                </a:solidFill>
                <a:latin typeface="微软雅黑"/>
                <a:ea typeface="微软雅黑"/>
              </a:rPr>
              <a:t>学时</a:t>
            </a:r>
            <a:endParaRPr/>
          </a:p>
        </p:txBody>
      </p:sp>
      <p:sp>
        <p:nvSpPr>
          <p:cNvPr id="1578" name="矩形: 圆角 1577"/>
          <p:cNvSpPr/>
          <p:nvPr/>
        </p:nvSpPr>
        <p:spPr>
          <a:xfrm>
            <a:off x="2400300" y="6019800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455A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79" name="文本框 1578" descr="{&quot;isTemplate&quot;:true,&quot;type&quot;:&quot;text&quot;}"/>
          <p:cNvSpPr txBox="1"/>
          <p:nvPr/>
        </p:nvSpPr>
        <p:spPr>
          <a:xfrm>
            <a:off x="2571750" y="6000750"/>
            <a:ext cx="13144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2C3947"/>
                </a:solidFill>
                <a:latin typeface="微软雅黑"/>
                <a:ea typeface="微软雅黑"/>
              </a:rPr>
              <a:t>G 16 </a:t>
            </a:r>
            <a:r>
              <a:rPr lang="zh-CN" sz="975">
                <a:solidFill>
                  <a:srgbClr val="2C3947"/>
                </a:solidFill>
                <a:latin typeface="微软雅黑"/>
                <a:ea typeface="微软雅黑"/>
              </a:rPr>
              <a:t>答辩与总结</a:t>
            </a:r>
            <a:r>
              <a:rPr lang="en-US" sz="975">
                <a:solidFill>
                  <a:srgbClr val="2C3947"/>
                </a:solidFill>
                <a:latin typeface="微软雅黑"/>
                <a:ea typeface="微软雅黑"/>
              </a:rPr>
              <a:t> 2 </a:t>
            </a:r>
            <a:r>
              <a:rPr lang="zh-CN" sz="975">
                <a:solidFill>
                  <a:srgbClr val="2C3947"/>
                </a:solidFill>
                <a:latin typeface="微软雅黑"/>
                <a:ea typeface="微软雅黑"/>
              </a:rPr>
              <a:t>学时</a:t>
            </a:r>
            <a:endParaRPr/>
          </a:p>
        </p:txBody>
      </p:sp>
      <p:sp>
        <p:nvSpPr>
          <p:cNvPr id="1580" name="文本框 1579" descr="{&quot;isTemplate&quot;:true,&quot;type&quot;:&quot;text&quot;}"/>
          <p:cNvSpPr txBox="1"/>
          <p:nvPr/>
        </p:nvSpPr>
        <p:spPr>
          <a:xfrm>
            <a:off x="381000" y="6343650"/>
            <a:ext cx="114300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5D6E85"/>
                </a:solidFill>
                <a:latin typeface="微软雅黑"/>
                <a:ea typeface="微软雅黑"/>
              </a:rPr>
              <a:t>8 </a:t>
            </a:r>
            <a:r>
              <a:rPr lang="zh-CN" sz="1125">
                <a:solidFill>
                  <a:srgbClr val="5D6E85"/>
                </a:solidFill>
                <a:latin typeface="微软雅黑"/>
                <a:ea typeface="微软雅黑"/>
              </a:rPr>
              <a:t>周</a:t>
            </a:r>
            <a:r>
              <a:rPr lang="en-US" sz="1125">
                <a:solidFill>
                  <a:srgbClr val="5D6E85"/>
                </a:solidFill>
                <a:latin typeface="微软雅黑"/>
                <a:ea typeface="微软雅黑"/>
              </a:rPr>
              <a:t> × </a:t>
            </a:r>
            <a:r>
              <a:rPr lang="zh-CN" sz="1125">
                <a:solidFill>
                  <a:srgbClr val="5D6E85"/>
                </a:solidFill>
                <a:latin typeface="微软雅黑"/>
                <a:ea typeface="微软雅黑"/>
              </a:rPr>
              <a:t>每周</a:t>
            </a:r>
            <a:r>
              <a:rPr lang="en-US" sz="1125">
                <a:solidFill>
                  <a:srgbClr val="5D6E85"/>
                </a:solidFill>
                <a:latin typeface="微软雅黑"/>
                <a:ea typeface="微软雅黑"/>
              </a:rPr>
              <a:t> 4 </a:t>
            </a:r>
            <a:r>
              <a:rPr lang="zh-CN" sz="1125">
                <a:solidFill>
                  <a:srgbClr val="5D6E85"/>
                </a:solidFill>
                <a:latin typeface="微软雅黑"/>
                <a:ea typeface="微软雅黑"/>
              </a:rPr>
              <a:t>学时，共</a:t>
            </a:r>
            <a:r>
              <a:rPr lang="en-US" sz="1125">
                <a:solidFill>
                  <a:srgbClr val="5D6E85"/>
                </a:solidFill>
                <a:latin typeface="微软雅黑"/>
                <a:ea typeface="微软雅黑"/>
              </a:rPr>
              <a:t> 16 </a:t>
            </a:r>
            <a:r>
              <a:rPr lang="zh-CN" sz="1125">
                <a:solidFill>
                  <a:srgbClr val="5D6E85"/>
                </a:solidFill>
                <a:latin typeface="微软雅黑"/>
                <a:ea typeface="微软雅黑"/>
              </a:rPr>
              <a:t>讲</a:t>
            </a:r>
            <a:r>
              <a:rPr lang="en-US" sz="1125">
                <a:solidFill>
                  <a:srgbClr val="5D6E85"/>
                </a:solidFill>
                <a:latin typeface="微软雅黑"/>
                <a:ea typeface="微软雅黑"/>
              </a:rPr>
              <a:t> 32 </a:t>
            </a:r>
            <a:r>
              <a:rPr lang="zh-CN" sz="1125">
                <a:solidFill>
                  <a:srgbClr val="5D6E85"/>
                </a:solidFill>
                <a:latin typeface="微软雅黑"/>
                <a:ea typeface="微软雅黑"/>
              </a:rPr>
              <a:t>学时；每讲</a:t>
            </a:r>
            <a:r>
              <a:rPr lang="en-US" sz="1125">
                <a:solidFill>
                  <a:srgbClr val="5D6E85"/>
                </a:solidFill>
                <a:latin typeface="微软雅黑"/>
                <a:ea typeface="微软雅黑"/>
              </a:rPr>
              <a:t> 90 </a:t>
            </a:r>
            <a:r>
              <a:rPr lang="zh-CN" sz="1125">
                <a:solidFill>
                  <a:srgbClr val="5D6E85"/>
                </a:solidFill>
                <a:latin typeface="微软雅黑"/>
                <a:ea typeface="微软雅黑"/>
              </a:rPr>
              <a:t>教学分钟。第</a:t>
            </a:r>
            <a:r>
              <a:rPr lang="en-US" sz="1125">
                <a:solidFill>
                  <a:srgbClr val="5D6E85"/>
                </a:solidFill>
                <a:latin typeface="微软雅黑"/>
                <a:ea typeface="微软雅黑"/>
              </a:rPr>
              <a:t> 8</a:t>
            </a:r>
            <a:r>
              <a:rPr lang="zh-CN" sz="1125">
                <a:solidFill>
                  <a:srgbClr val="5D6E85"/>
                </a:solidFill>
                <a:latin typeface="微软雅黑"/>
                <a:ea typeface="微软雅黑"/>
              </a:rPr>
              <a:t>、</a:t>
            </a:r>
            <a:r>
              <a:rPr lang="en-US" sz="1125">
                <a:solidFill>
                  <a:srgbClr val="5D6E85"/>
                </a:solidFill>
                <a:latin typeface="微软雅黑"/>
                <a:ea typeface="微软雅黑"/>
              </a:rPr>
              <a:t>10 </a:t>
            </a:r>
            <a:r>
              <a:rPr lang="zh-CN" sz="1125">
                <a:solidFill>
                  <a:srgbClr val="5D6E85"/>
                </a:solidFill>
                <a:latin typeface="微软雅黑"/>
                <a:ea typeface="微软雅黑"/>
              </a:rPr>
              <a:t>讲各含</a:t>
            </a:r>
            <a:r>
              <a:rPr lang="en-US" sz="1125">
                <a:solidFill>
                  <a:srgbClr val="5D6E85"/>
                </a:solidFill>
                <a:latin typeface="微软雅黑"/>
                <a:ea typeface="微软雅黑"/>
              </a:rPr>
              <a:t> 20 </a:t>
            </a:r>
            <a:r>
              <a:rPr lang="zh-CN" sz="1125">
                <a:solidFill>
                  <a:srgbClr val="5D6E85"/>
                </a:solidFill>
                <a:latin typeface="微软雅黑"/>
                <a:ea typeface="微软雅黑"/>
              </a:rPr>
              <a:t>分钟论文研讨，第</a:t>
            </a:r>
            <a:r>
              <a:rPr lang="en-US" sz="1125">
                <a:solidFill>
                  <a:srgbClr val="5D6E85"/>
                </a:solidFill>
                <a:latin typeface="微软雅黑"/>
                <a:ea typeface="微软雅黑"/>
              </a:rPr>
              <a:t> 16 </a:t>
            </a:r>
            <a:r>
              <a:rPr lang="zh-CN" sz="1125">
                <a:solidFill>
                  <a:srgbClr val="5D6E85"/>
                </a:solidFill>
                <a:latin typeface="微软雅黑"/>
                <a:ea typeface="微软雅黑"/>
              </a:rPr>
              <a:t>讲为答辩。</a:t>
            </a:r>
            <a:endParaRPr/>
          </a:p>
        </p:txBody>
      </p:sp>
      <p:sp>
        <p:nvSpPr>
          <p:cNvPr id="1581" name="文本框 1580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1582" name="文本框 1581" descr="{&quot;isTemplate&quot;:true,&quot;type&quot;:&quot;text&quot;}"/>
          <p:cNvSpPr txBox="1"/>
          <p:nvPr/>
        </p:nvSpPr>
        <p:spPr>
          <a:xfrm>
            <a:off x="54673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1583" name="文本框 1582" descr="{&quot;isTemplate&quot;:true,&quot;type&quot;:&quot;text&quot;}"/>
          <p:cNvSpPr txBox="1"/>
          <p:nvPr/>
        </p:nvSpPr>
        <p:spPr>
          <a:xfrm>
            <a:off x="11410950" y="6610350"/>
            <a:ext cx="4000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54 / 60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矩形 158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86" name="矩形 1585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87" name="文本框 1586" descr="{&quot;isTemplate&quot;:true,&quot;type&quot;:&quot;text&quot;}"/>
          <p:cNvSpPr txBox="1"/>
          <p:nvPr/>
        </p:nvSpPr>
        <p:spPr>
          <a:xfrm>
            <a:off x="342900" y="171450"/>
            <a:ext cx="3524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在材料科学中的应用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讲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材料信息学导论与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产业</a:t>
            </a:r>
            <a:endParaRPr/>
          </a:p>
        </p:txBody>
      </p:sp>
      <p:sp>
        <p:nvSpPr>
          <p:cNvPr id="1588" name="文本框 1587" descr="{&quot;isTemplate&quot;:true,&quot;type&quot;:&quot;text&quot;}"/>
          <p:cNvSpPr txBox="1"/>
          <p:nvPr/>
        </p:nvSpPr>
        <p:spPr>
          <a:xfrm>
            <a:off x="9353550" y="171450"/>
            <a:ext cx="13906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05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课程地图与学术诚信</a:t>
            </a:r>
            <a:endParaRPr/>
          </a:p>
        </p:txBody>
      </p:sp>
      <p:pic>
        <p:nvPicPr>
          <p:cNvPr id="1589" name="图片 1588"/>
          <p:cNvPicPr>
            <a:picLocks noChangeAspect="1"/>
          </p:cNvPicPr>
          <p:nvPr/>
        </p:nvPicPr>
        <p:blipFill>
          <a:blip r:embed="rId3"/>
          <a:srcRect l="847" r="847"/>
          <a:stretch>
            <a:fillRect/>
          </a:stretch>
        </p:blipFill>
        <p:spPr>
          <a:xfrm>
            <a:off x="10858500" y="123825"/>
            <a:ext cx="990600" cy="247650"/>
          </a:xfrm>
          <a:prstGeom prst="rect">
            <a:avLst/>
          </a:prstGeom>
          <a:ln/>
        </p:spPr>
      </p:pic>
      <p:sp>
        <p:nvSpPr>
          <p:cNvPr id="1590" name="文本框 1589" descr="{&quot;isTemplate&quot;:true,&quot;type&quot;:&quot;text&quot;}"/>
          <p:cNvSpPr txBox="1"/>
          <p:nvPr/>
        </p:nvSpPr>
        <p:spPr>
          <a:xfrm>
            <a:off x="381000" y="647700"/>
            <a:ext cx="11430000" cy="361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325" b="1">
                <a:solidFill>
                  <a:srgbClr val="0E3F8C"/>
                </a:solidFill>
                <a:latin typeface="钉钉进步体"/>
                <a:ea typeface="钉钉进步体"/>
              </a:rPr>
              <a:t>考核方式与四次作业节点</a:t>
            </a:r>
            <a:endParaRPr/>
          </a:p>
        </p:txBody>
      </p:sp>
      <p:sp>
        <p:nvSpPr>
          <p:cNvPr id="1591" name="矩形: 圆角 1590"/>
          <p:cNvSpPr/>
          <p:nvPr/>
        </p:nvSpPr>
        <p:spPr>
          <a:xfrm>
            <a:off x="381000" y="1085850"/>
            <a:ext cx="571500" cy="47625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92" name="文本框 1591" descr="{&quot;isTemplate&quot;:true,&quot;type&quot;:&quot;text&quot;}"/>
          <p:cNvSpPr txBox="1"/>
          <p:nvPr/>
        </p:nvSpPr>
        <p:spPr>
          <a:xfrm>
            <a:off x="381000" y="1247775"/>
            <a:ext cx="67437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/>
                <a:ea typeface="微软雅黑"/>
              </a:rPr>
              <a:t>总评构成（合计</a:t>
            </a:r>
            <a:r>
              <a:rPr lang="en-US" sz="1425" b="1">
                <a:solidFill>
                  <a:srgbClr val="0E3F8C"/>
                </a:solidFill>
                <a:latin typeface="微软雅黑"/>
                <a:ea typeface="微软雅黑"/>
              </a:rPr>
              <a:t> 100%</a:t>
            </a:r>
            <a:r>
              <a:rPr lang="zh-CN" sz="1425" b="1">
                <a:solidFill>
                  <a:srgbClr val="0E3F8C"/>
                </a:solidFill>
                <a:latin typeface="微软雅黑"/>
                <a:ea typeface="微软雅黑"/>
              </a:rPr>
              <a:t>）</a:t>
            </a:r>
            <a:endParaRPr/>
          </a:p>
        </p:txBody>
      </p:sp>
      <p:sp>
        <p:nvSpPr>
          <p:cNvPr id="1593" name="矩形: 圆角 1592"/>
          <p:cNvSpPr/>
          <p:nvPr/>
        </p:nvSpPr>
        <p:spPr>
          <a:xfrm>
            <a:off x="381000" y="1581150"/>
            <a:ext cx="6743700" cy="876300"/>
          </a:xfrm>
          <a:prstGeom prst="roundRect">
            <a:avLst>
              <a:gd name="adj" fmla="val 1087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94" name="任意多边形: 形状 1593"/>
          <p:cNvSpPr/>
          <p:nvPr/>
        </p:nvSpPr>
        <p:spPr>
          <a:xfrm>
            <a:off x="381000" y="1581150"/>
            <a:ext cx="685800" cy="876300"/>
          </a:xfrm>
          <a:custGeom>
            <a:avLst/>
            <a:gdLst/>
            <a:ahLst/>
            <a:cxnLst/>
            <a:rect l="0" t="0" r="0" b="0"/>
            <a:pathLst>
              <a:path w="72" h="92">
                <a:moveTo>
                  <a:pt x="72" y="92"/>
                </a:moveTo>
                <a:lnTo>
                  <a:pt x="10" y="92"/>
                </a:lnTo>
                <a:cubicBezTo>
                  <a:pt x="4" y="92"/>
                  <a:pt x="0" y="88"/>
                  <a:pt x="0" y="82"/>
                </a:cubicBez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lnTo>
                  <a:pt x="72" y="0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95" name="文本框 1594" descr="{&quot;isTemplate&quot;:true,&quot;type&quot;:&quot;text&quot;}"/>
          <p:cNvSpPr txBox="1"/>
          <p:nvPr/>
        </p:nvSpPr>
        <p:spPr>
          <a:xfrm>
            <a:off x="466725" y="1895475"/>
            <a:ext cx="5238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钉钉进步体"/>
                <a:ea typeface="钉钉进步体"/>
              </a:rPr>
              <a:t>30%</a:t>
            </a:r>
            <a:endParaRPr/>
          </a:p>
        </p:txBody>
      </p:sp>
      <p:sp>
        <p:nvSpPr>
          <p:cNvPr id="1596" name="文本框 1595" descr="{&quot;isTemplate&quot;:true,&quot;type&quot;:&quot;text&quot;}"/>
          <p:cNvSpPr txBox="1"/>
          <p:nvPr/>
        </p:nvSpPr>
        <p:spPr>
          <a:xfrm>
            <a:off x="1200150" y="1809750"/>
            <a:ext cx="57912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微软雅黑"/>
                <a:ea typeface="微软雅黑"/>
              </a:rPr>
              <a:t>四次作业</a:t>
            </a:r>
            <a:endParaRPr/>
          </a:p>
        </p:txBody>
      </p:sp>
      <p:sp>
        <p:nvSpPr>
          <p:cNvPr id="1597" name="文本框 1596" descr="{&quot;isTemplate&quot;:true,&quot;type&quot;:&quot;text&quot;}"/>
          <p:cNvSpPr txBox="1"/>
          <p:nvPr/>
        </p:nvSpPr>
        <p:spPr>
          <a:xfrm>
            <a:off x="1200150" y="2019300"/>
            <a:ext cx="57912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975">
                <a:solidFill>
                  <a:srgbClr val="2C3947"/>
                </a:solidFill>
                <a:latin typeface="微软雅黑"/>
                <a:ea typeface="微软雅黑"/>
              </a:rPr>
              <a:t>各</a:t>
            </a:r>
            <a:r>
              <a:rPr lang="en-US" sz="975">
                <a:solidFill>
                  <a:srgbClr val="2C3947"/>
                </a:solidFill>
                <a:latin typeface="微软雅黑"/>
                <a:ea typeface="微软雅黑"/>
              </a:rPr>
              <a:t> 100 </a:t>
            </a:r>
            <a:r>
              <a:rPr lang="zh-CN" sz="975">
                <a:solidFill>
                  <a:srgbClr val="2C3947"/>
                </a:solidFill>
                <a:latin typeface="微软雅黑"/>
                <a:ea typeface="微软雅黑"/>
              </a:rPr>
              <a:t>分、各占</a:t>
            </a:r>
            <a:r>
              <a:rPr lang="en-US" sz="975">
                <a:solidFill>
                  <a:srgbClr val="2C3947"/>
                </a:solidFill>
                <a:latin typeface="微软雅黑"/>
                <a:ea typeface="微软雅黑"/>
              </a:rPr>
              <a:t> 7.5%</a:t>
            </a:r>
            <a:r>
              <a:rPr lang="zh-CN" sz="975">
                <a:solidFill>
                  <a:srgbClr val="2C3947"/>
                </a:solidFill>
                <a:latin typeface="微软雅黑"/>
                <a:ea typeface="微软雅黑"/>
              </a:rPr>
              <a:t>；按任务分值汇总</a:t>
            </a:r>
            <a:endParaRPr/>
          </a:p>
        </p:txBody>
      </p:sp>
      <p:sp>
        <p:nvSpPr>
          <p:cNvPr id="1598" name="矩形: 圆角 1597"/>
          <p:cNvSpPr/>
          <p:nvPr/>
        </p:nvSpPr>
        <p:spPr>
          <a:xfrm>
            <a:off x="381000" y="2571750"/>
            <a:ext cx="6743700" cy="876300"/>
          </a:xfrm>
          <a:prstGeom prst="roundRect">
            <a:avLst>
              <a:gd name="adj" fmla="val 1087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99" name="任意多边形: 形状 1598"/>
          <p:cNvSpPr/>
          <p:nvPr/>
        </p:nvSpPr>
        <p:spPr>
          <a:xfrm>
            <a:off x="381000" y="2571750"/>
            <a:ext cx="685800" cy="876300"/>
          </a:xfrm>
          <a:custGeom>
            <a:avLst/>
            <a:gdLst/>
            <a:ahLst/>
            <a:cxnLst/>
            <a:rect l="0" t="0" r="0" b="0"/>
            <a:pathLst>
              <a:path w="72" h="92">
                <a:moveTo>
                  <a:pt x="72" y="92"/>
                </a:moveTo>
                <a:lnTo>
                  <a:pt x="10" y="92"/>
                </a:lnTo>
                <a:cubicBezTo>
                  <a:pt x="4" y="92"/>
                  <a:pt x="0" y="88"/>
                  <a:pt x="0" y="82"/>
                </a:cubicBez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lnTo>
                  <a:pt x="72" y="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00" name="文本框 1599" descr="{&quot;isTemplate&quot;:true,&quot;type&quot;:&quot;text&quot;}"/>
          <p:cNvSpPr txBox="1"/>
          <p:nvPr/>
        </p:nvSpPr>
        <p:spPr>
          <a:xfrm>
            <a:off x="466725" y="2886075"/>
            <a:ext cx="5238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钉钉进步体"/>
                <a:ea typeface="钉钉进步体"/>
              </a:rPr>
              <a:t>20%</a:t>
            </a:r>
            <a:endParaRPr/>
          </a:p>
        </p:txBody>
      </p:sp>
      <p:sp>
        <p:nvSpPr>
          <p:cNvPr id="1601" name="文本框 1600" descr="{&quot;isTemplate&quot;:true,&quot;type&quot;:&quot;text&quot;}"/>
          <p:cNvSpPr txBox="1"/>
          <p:nvPr/>
        </p:nvSpPr>
        <p:spPr>
          <a:xfrm>
            <a:off x="1200150" y="2800350"/>
            <a:ext cx="57912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微软雅黑"/>
                <a:ea typeface="微软雅黑"/>
              </a:rPr>
              <a:t>论文评议</a:t>
            </a:r>
            <a:endParaRPr/>
          </a:p>
        </p:txBody>
      </p:sp>
      <p:sp>
        <p:nvSpPr>
          <p:cNvPr id="1602" name="文本框 1601" descr="{&quot;isTemplate&quot;:true,&quot;type&quot;:&quot;text&quot;}"/>
          <p:cNvSpPr txBox="1"/>
          <p:nvPr/>
        </p:nvSpPr>
        <p:spPr>
          <a:xfrm>
            <a:off x="1200150" y="3009900"/>
            <a:ext cx="57912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975">
                <a:solidFill>
                  <a:srgbClr val="2C3947"/>
                </a:solidFill>
                <a:latin typeface="微软雅黑"/>
                <a:ea typeface="微软雅黑"/>
              </a:rPr>
              <a:t>书面评议</a:t>
            </a:r>
            <a:r>
              <a:rPr lang="en-US" sz="975">
                <a:solidFill>
                  <a:srgbClr val="2C3947"/>
                </a:solidFill>
                <a:latin typeface="微软雅黑"/>
                <a:ea typeface="微软雅黑"/>
              </a:rPr>
              <a:t> 80% + </a:t>
            </a:r>
            <a:r>
              <a:rPr lang="zh-CN" sz="975">
                <a:solidFill>
                  <a:srgbClr val="2C3947"/>
                </a:solidFill>
                <a:latin typeface="微软雅黑"/>
                <a:ea typeface="微软雅黑"/>
              </a:rPr>
              <a:t>讨论记录</a:t>
            </a:r>
            <a:r>
              <a:rPr lang="en-US" sz="975">
                <a:solidFill>
                  <a:srgbClr val="2C3947"/>
                </a:solidFill>
                <a:latin typeface="微软雅黑"/>
                <a:ea typeface="微软雅黑"/>
              </a:rPr>
              <a:t> 20%</a:t>
            </a:r>
            <a:endParaRPr/>
          </a:p>
        </p:txBody>
      </p:sp>
      <p:sp>
        <p:nvSpPr>
          <p:cNvPr id="1603" name="矩形: 圆角 1602"/>
          <p:cNvSpPr/>
          <p:nvPr/>
        </p:nvSpPr>
        <p:spPr>
          <a:xfrm>
            <a:off x="381000" y="3562350"/>
            <a:ext cx="6743700" cy="876300"/>
          </a:xfrm>
          <a:prstGeom prst="roundRect">
            <a:avLst>
              <a:gd name="adj" fmla="val 1087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04" name="任意多边形: 形状 1603"/>
          <p:cNvSpPr/>
          <p:nvPr/>
        </p:nvSpPr>
        <p:spPr>
          <a:xfrm>
            <a:off x="381000" y="3562350"/>
            <a:ext cx="685800" cy="876300"/>
          </a:xfrm>
          <a:custGeom>
            <a:avLst/>
            <a:gdLst/>
            <a:ahLst/>
            <a:cxnLst/>
            <a:rect l="0" t="0" r="0" b="0"/>
            <a:pathLst>
              <a:path w="72" h="92">
                <a:moveTo>
                  <a:pt x="72" y="92"/>
                </a:moveTo>
                <a:lnTo>
                  <a:pt x="10" y="92"/>
                </a:lnTo>
                <a:cubicBezTo>
                  <a:pt x="4" y="92"/>
                  <a:pt x="0" y="88"/>
                  <a:pt x="0" y="82"/>
                </a:cubicBez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lnTo>
                  <a:pt x="72" y="0"/>
                </a:lnTo>
                <a:close/>
              </a:path>
            </a:pathLst>
          </a:custGeom>
          <a:solidFill>
            <a:srgbClr val="2E7D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05" name="文本框 1604" descr="{&quot;isTemplate&quot;:true,&quot;type&quot;:&quot;text&quot;}"/>
          <p:cNvSpPr txBox="1"/>
          <p:nvPr/>
        </p:nvSpPr>
        <p:spPr>
          <a:xfrm>
            <a:off x="466725" y="3876675"/>
            <a:ext cx="5238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钉钉进步体"/>
                <a:ea typeface="钉钉进步体"/>
              </a:rPr>
              <a:t>40%</a:t>
            </a:r>
            <a:endParaRPr/>
          </a:p>
        </p:txBody>
      </p:sp>
      <p:sp>
        <p:nvSpPr>
          <p:cNvPr id="1606" name="文本框 1605" descr="{&quot;isTemplate&quot;:true,&quot;type&quot;:&quot;text&quot;}"/>
          <p:cNvSpPr txBox="1"/>
          <p:nvPr/>
        </p:nvSpPr>
        <p:spPr>
          <a:xfrm>
            <a:off x="1200150" y="3790950"/>
            <a:ext cx="57912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微软雅黑"/>
                <a:ea typeface="微软雅黑"/>
              </a:rPr>
              <a:t>期末项目</a:t>
            </a:r>
            <a:endParaRPr/>
          </a:p>
        </p:txBody>
      </p:sp>
      <p:sp>
        <p:nvSpPr>
          <p:cNvPr id="1607" name="文本框 1606" descr="{&quot;isTemplate&quot;:true,&quot;type&quot;:&quot;text&quot;}"/>
          <p:cNvSpPr txBox="1"/>
          <p:nvPr/>
        </p:nvSpPr>
        <p:spPr>
          <a:xfrm>
            <a:off x="1200150" y="4000500"/>
            <a:ext cx="57912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975">
                <a:solidFill>
                  <a:srgbClr val="2C3947"/>
                </a:solidFill>
                <a:latin typeface="微软雅黑"/>
                <a:ea typeface="微软雅黑"/>
              </a:rPr>
              <a:t>问题</a:t>
            </a:r>
            <a:r>
              <a:rPr lang="en-US" sz="975">
                <a:solidFill>
                  <a:srgbClr val="2C3947"/>
                </a:solidFill>
                <a:latin typeface="微软雅黑"/>
                <a:ea typeface="微软雅黑"/>
              </a:rPr>
              <a:t>20 / </a:t>
            </a:r>
            <a:r>
              <a:rPr lang="zh-CN" sz="975">
                <a:solidFill>
                  <a:srgbClr val="2C3947"/>
                </a:solidFill>
                <a:latin typeface="微软雅黑"/>
                <a:ea typeface="微软雅黑"/>
              </a:rPr>
              <a:t>方法</a:t>
            </a:r>
            <a:r>
              <a:rPr lang="en-US" sz="975">
                <a:solidFill>
                  <a:srgbClr val="2C3947"/>
                </a:solidFill>
                <a:latin typeface="微软雅黑"/>
                <a:ea typeface="微软雅黑"/>
              </a:rPr>
              <a:t>30 / </a:t>
            </a:r>
            <a:r>
              <a:rPr lang="zh-CN" sz="975">
                <a:solidFill>
                  <a:srgbClr val="2C3947"/>
                </a:solidFill>
                <a:latin typeface="微软雅黑"/>
                <a:ea typeface="微软雅黑"/>
              </a:rPr>
              <a:t>结果</a:t>
            </a:r>
            <a:r>
              <a:rPr lang="en-US" sz="975">
                <a:solidFill>
                  <a:srgbClr val="2C3947"/>
                </a:solidFill>
                <a:latin typeface="微软雅黑"/>
                <a:ea typeface="微软雅黑"/>
              </a:rPr>
              <a:t>25 / </a:t>
            </a:r>
            <a:r>
              <a:rPr lang="zh-CN" sz="975">
                <a:solidFill>
                  <a:srgbClr val="2C3947"/>
                </a:solidFill>
                <a:latin typeface="微软雅黑"/>
                <a:ea typeface="微软雅黑"/>
              </a:rPr>
              <a:t>复现</a:t>
            </a:r>
            <a:r>
              <a:rPr lang="en-US" sz="975">
                <a:solidFill>
                  <a:srgbClr val="2C3947"/>
                </a:solidFill>
                <a:latin typeface="微软雅黑"/>
                <a:ea typeface="微软雅黑"/>
              </a:rPr>
              <a:t>15 / </a:t>
            </a:r>
            <a:r>
              <a:rPr lang="zh-CN" sz="975">
                <a:solidFill>
                  <a:srgbClr val="2C3947"/>
                </a:solidFill>
                <a:latin typeface="微软雅黑"/>
                <a:ea typeface="微软雅黑"/>
              </a:rPr>
              <a:t>表达</a:t>
            </a:r>
            <a:r>
              <a:rPr lang="en-US" sz="975">
                <a:solidFill>
                  <a:srgbClr val="2C3947"/>
                </a:solidFill>
                <a:latin typeface="微软雅黑"/>
                <a:ea typeface="微软雅黑"/>
              </a:rPr>
              <a:t>10</a:t>
            </a:r>
            <a:endParaRPr/>
          </a:p>
        </p:txBody>
      </p:sp>
      <p:sp>
        <p:nvSpPr>
          <p:cNvPr id="1608" name="矩形: 圆角 1607"/>
          <p:cNvSpPr/>
          <p:nvPr/>
        </p:nvSpPr>
        <p:spPr>
          <a:xfrm>
            <a:off x="381000" y="4552950"/>
            <a:ext cx="6743700" cy="876300"/>
          </a:xfrm>
          <a:prstGeom prst="roundRect">
            <a:avLst>
              <a:gd name="adj" fmla="val 1087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09" name="任意多边形: 形状 1608"/>
          <p:cNvSpPr/>
          <p:nvPr/>
        </p:nvSpPr>
        <p:spPr>
          <a:xfrm>
            <a:off x="381000" y="4552950"/>
            <a:ext cx="685800" cy="876300"/>
          </a:xfrm>
          <a:custGeom>
            <a:avLst/>
            <a:gdLst/>
            <a:ahLst/>
            <a:cxnLst/>
            <a:rect l="0" t="0" r="0" b="0"/>
            <a:pathLst>
              <a:path w="72" h="92">
                <a:moveTo>
                  <a:pt x="72" y="92"/>
                </a:moveTo>
                <a:lnTo>
                  <a:pt x="10" y="92"/>
                </a:lnTo>
                <a:cubicBezTo>
                  <a:pt x="4" y="92"/>
                  <a:pt x="0" y="88"/>
                  <a:pt x="0" y="82"/>
                </a:cubicBez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lnTo>
                  <a:pt x="72" y="0"/>
                </a:lnTo>
                <a:close/>
              </a:path>
            </a:pathLst>
          </a:custGeom>
          <a:solidFill>
            <a:srgbClr val="B26A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10" name="文本框 1609" descr="{&quot;isTemplate&quot;:true,&quot;type&quot;:&quot;text&quot;}"/>
          <p:cNvSpPr txBox="1"/>
          <p:nvPr/>
        </p:nvSpPr>
        <p:spPr>
          <a:xfrm>
            <a:off x="466725" y="4867275"/>
            <a:ext cx="5238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钉钉进步体"/>
                <a:ea typeface="钉钉进步体"/>
              </a:rPr>
              <a:t>10%</a:t>
            </a:r>
            <a:endParaRPr/>
          </a:p>
        </p:txBody>
      </p:sp>
      <p:sp>
        <p:nvSpPr>
          <p:cNvPr id="1611" name="文本框 1610" descr="{&quot;isTemplate&quot;:true,&quot;type&quot;:&quot;text&quot;}"/>
          <p:cNvSpPr txBox="1"/>
          <p:nvPr/>
        </p:nvSpPr>
        <p:spPr>
          <a:xfrm>
            <a:off x="1200150" y="4781550"/>
            <a:ext cx="57912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微软雅黑"/>
                <a:ea typeface="微软雅黑"/>
              </a:rPr>
              <a:t>课堂过程证据</a:t>
            </a:r>
            <a:endParaRPr/>
          </a:p>
        </p:txBody>
      </p:sp>
      <p:sp>
        <p:nvSpPr>
          <p:cNvPr id="1612" name="文本框 1611" descr="{&quot;isTemplate&quot;:true,&quot;type&quot;:&quot;text&quot;}"/>
          <p:cNvSpPr txBox="1"/>
          <p:nvPr/>
        </p:nvSpPr>
        <p:spPr>
          <a:xfrm>
            <a:off x="1200150" y="4991100"/>
            <a:ext cx="57912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975">
                <a:solidFill>
                  <a:srgbClr val="2C3947"/>
                </a:solidFill>
                <a:latin typeface="微软雅黑"/>
                <a:ea typeface="微软雅黑"/>
              </a:rPr>
              <a:t>任务卡</a:t>
            </a:r>
            <a:r>
              <a:rPr lang="en-US" sz="975">
                <a:solidFill>
                  <a:srgbClr val="2C3947"/>
                </a:solidFill>
                <a:latin typeface="微软雅黑"/>
                <a:ea typeface="微软雅黑"/>
              </a:rPr>
              <a:t> 2 + </a:t>
            </a:r>
            <a:r>
              <a:rPr lang="zh-CN" sz="975">
                <a:solidFill>
                  <a:srgbClr val="2C3947"/>
                </a:solidFill>
                <a:latin typeface="微软雅黑"/>
                <a:ea typeface="微软雅黑"/>
              </a:rPr>
              <a:t>图检查表</a:t>
            </a:r>
            <a:r>
              <a:rPr lang="en-US" sz="975">
                <a:solidFill>
                  <a:srgbClr val="2C3947"/>
                </a:solidFill>
                <a:latin typeface="微软雅黑"/>
                <a:ea typeface="微软雅黑"/>
              </a:rPr>
              <a:t> 2 + </a:t>
            </a:r>
            <a:r>
              <a:rPr lang="zh-CN" sz="975">
                <a:solidFill>
                  <a:srgbClr val="2C3947"/>
                </a:solidFill>
                <a:latin typeface="微软雅黑"/>
                <a:ea typeface="微软雅黑"/>
              </a:rPr>
              <a:t>评估对照表</a:t>
            </a:r>
            <a:r>
              <a:rPr lang="en-US" sz="975">
                <a:solidFill>
                  <a:srgbClr val="2C3947"/>
                </a:solidFill>
                <a:latin typeface="微软雅黑"/>
                <a:ea typeface="微软雅黑"/>
              </a:rPr>
              <a:t> 2 + PINN </a:t>
            </a:r>
            <a:r>
              <a:rPr lang="zh-CN" sz="975">
                <a:solidFill>
                  <a:srgbClr val="2C3947"/>
                </a:solidFill>
                <a:latin typeface="微软雅黑"/>
                <a:ea typeface="微软雅黑"/>
              </a:rPr>
              <a:t>诊断单</a:t>
            </a:r>
            <a:r>
              <a:rPr lang="en-US" sz="975">
                <a:solidFill>
                  <a:srgbClr val="2C3947"/>
                </a:solidFill>
                <a:latin typeface="微软雅黑"/>
                <a:ea typeface="微软雅黑"/>
              </a:rPr>
              <a:t> 3 + </a:t>
            </a:r>
            <a:r>
              <a:rPr lang="zh-CN" sz="975">
                <a:solidFill>
                  <a:srgbClr val="2C3947"/>
                </a:solidFill>
                <a:latin typeface="微软雅黑"/>
                <a:ea typeface="微软雅黑"/>
              </a:rPr>
              <a:t>讨论记录</a:t>
            </a:r>
            <a:r>
              <a:rPr lang="en-US" sz="975">
                <a:solidFill>
                  <a:srgbClr val="2C3947"/>
                </a:solidFill>
                <a:latin typeface="微软雅黑"/>
                <a:ea typeface="微软雅黑"/>
              </a:rPr>
              <a:t> 1</a:t>
            </a:r>
            <a:endParaRPr/>
          </a:p>
        </p:txBody>
      </p:sp>
      <p:sp>
        <p:nvSpPr>
          <p:cNvPr id="1613" name="矩形: 圆角 1612"/>
          <p:cNvSpPr/>
          <p:nvPr/>
        </p:nvSpPr>
        <p:spPr>
          <a:xfrm>
            <a:off x="381000" y="5543550"/>
            <a:ext cx="6743700" cy="742950"/>
          </a:xfrm>
          <a:prstGeom prst="roundRect">
            <a:avLst>
              <a:gd name="adj" fmla="val 1282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14" name="文本框 1613" descr="{&quot;isTemplate&quot;:true,&quot;type&quot;:&quot;text&quot;}"/>
          <p:cNvSpPr txBox="1"/>
          <p:nvPr/>
        </p:nvSpPr>
        <p:spPr>
          <a:xfrm>
            <a:off x="533400" y="5657850"/>
            <a:ext cx="643890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050">
                <a:solidFill>
                  <a:srgbClr val="2C3947"/>
                </a:solidFill>
                <a:latin typeface="微软雅黑"/>
                <a:ea typeface="微软雅黑"/>
              </a:rPr>
              <a:t>达成度与总评分开记录：</a:t>
            </a:r>
            <a:r>
              <a:rPr lang="en-US" sz="1050">
                <a:solidFill>
                  <a:srgbClr val="2C3947"/>
                </a:solidFill>
                <a:latin typeface="微软雅黑"/>
                <a:ea typeface="微软雅黑"/>
              </a:rPr>
              <a:t>G1—G6 </a:t>
            </a:r>
            <a:r>
              <a:rPr lang="zh-CN" sz="1050">
                <a:solidFill>
                  <a:srgbClr val="2C3947"/>
                </a:solidFill>
                <a:latin typeface="微软雅黑"/>
                <a:ea typeface="微软雅黑"/>
              </a:rPr>
              <a:t>各用指定证据加权计算，</a:t>
            </a:r>
            <a:r>
              <a:rPr lang="zh-CN" sz="1050" b="1">
                <a:solidFill>
                  <a:srgbClr val="2C3947"/>
                </a:solidFill>
                <a:latin typeface="微软雅黑"/>
                <a:ea typeface="微软雅黑"/>
              </a:rPr>
              <a:t>不把课程总评当作目标达成度</a:t>
            </a:r>
            <a:r>
              <a:rPr lang="zh-CN" sz="1050">
                <a:solidFill>
                  <a:srgbClr val="2C3947"/>
                </a:solidFill>
                <a:latin typeface="微软雅黑"/>
                <a:ea typeface="微软雅黑"/>
              </a:rPr>
              <a:t>；同一成果不重复计入总分。</a:t>
            </a:r>
            <a:endParaRPr/>
          </a:p>
        </p:txBody>
      </p:sp>
      <p:sp>
        <p:nvSpPr>
          <p:cNvPr id="1615" name="文本框 1614" descr="{&quot;isTemplate&quot;:true,&quot;type&quot;:&quot;text&quot;}"/>
          <p:cNvSpPr txBox="1"/>
          <p:nvPr/>
        </p:nvSpPr>
        <p:spPr>
          <a:xfrm>
            <a:off x="7334250" y="1247775"/>
            <a:ext cx="44767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微软雅黑"/>
                <a:ea typeface="微软雅黑"/>
              </a:rPr>
              <a:t>四次作业与节点（不再含旧口径）</a:t>
            </a:r>
            <a:endParaRPr/>
          </a:p>
        </p:txBody>
      </p:sp>
      <p:sp>
        <p:nvSpPr>
          <p:cNvPr id="1616" name="矩形: 圆角 1615"/>
          <p:cNvSpPr/>
          <p:nvPr/>
        </p:nvSpPr>
        <p:spPr>
          <a:xfrm>
            <a:off x="7334250" y="1562100"/>
            <a:ext cx="447675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17" name="文本框 1616" descr="{&quot;isTemplate&quot;:true,&quot;type&quot;:&quot;text&quot;}"/>
          <p:cNvSpPr txBox="1"/>
          <p:nvPr/>
        </p:nvSpPr>
        <p:spPr>
          <a:xfrm>
            <a:off x="7467600" y="1733550"/>
            <a:ext cx="4953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微软雅黑"/>
                <a:ea typeface="微软雅黑"/>
              </a:rPr>
              <a:t>HW1</a:t>
            </a:r>
            <a:endParaRPr/>
          </a:p>
        </p:txBody>
      </p:sp>
      <p:sp>
        <p:nvSpPr>
          <p:cNvPr id="1618" name="文本框 1617" descr="{&quot;isTemplate&quot;:true,&quot;type&quot;:&quot;text&quot;}"/>
          <p:cNvSpPr txBox="1"/>
          <p:nvPr/>
        </p:nvSpPr>
        <p:spPr>
          <a:xfrm>
            <a:off x="8077200" y="1647825"/>
            <a:ext cx="30956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1B33"/>
                </a:solidFill>
                <a:latin typeface="微软雅黑"/>
                <a:ea typeface="微软雅黑"/>
              </a:rPr>
              <a:t>数据与成分表示</a:t>
            </a:r>
            <a:endParaRPr/>
          </a:p>
        </p:txBody>
      </p:sp>
      <p:sp>
        <p:nvSpPr>
          <p:cNvPr id="1619" name="文本框 1618" descr="{&quot;isTemplate&quot;:true,&quot;type&quot;:&quot;text&quot;}"/>
          <p:cNvSpPr txBox="1"/>
          <p:nvPr/>
        </p:nvSpPr>
        <p:spPr>
          <a:xfrm>
            <a:off x="8077200" y="1857375"/>
            <a:ext cx="30956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5D6E85"/>
                </a:solidFill>
                <a:latin typeface="微软雅黑"/>
                <a:ea typeface="微软雅黑"/>
              </a:rPr>
              <a:t>第</a:t>
            </a:r>
            <a:r>
              <a:rPr lang="en-US" sz="975">
                <a:solidFill>
                  <a:srgbClr val="5D6E85"/>
                </a:solidFill>
                <a:latin typeface="微软雅黑"/>
                <a:ea typeface="微软雅黑"/>
              </a:rPr>
              <a:t> 3 </a:t>
            </a:r>
            <a:r>
              <a:rPr lang="zh-CN" sz="975">
                <a:solidFill>
                  <a:srgbClr val="5D6E85"/>
                </a:solidFill>
                <a:latin typeface="微软雅黑"/>
                <a:ea typeface="微软雅黑"/>
              </a:rPr>
              <a:t>讲发布</a:t>
            </a:r>
            <a:r>
              <a:rPr lang="en-US" sz="975">
                <a:solidFill>
                  <a:srgbClr val="5D6E85"/>
                </a:solidFill>
                <a:latin typeface="微软雅黑"/>
                <a:ea typeface="微软雅黑"/>
              </a:rPr>
              <a:t> → </a:t>
            </a:r>
            <a:r>
              <a:rPr lang="zh-CN" sz="975">
                <a:solidFill>
                  <a:srgbClr val="5D6E85"/>
                </a:solidFill>
                <a:latin typeface="微软雅黑"/>
                <a:ea typeface="微软雅黑"/>
              </a:rPr>
              <a:t>第</a:t>
            </a:r>
            <a:r>
              <a:rPr lang="en-US" sz="975">
                <a:solidFill>
                  <a:srgbClr val="5D6E85"/>
                </a:solidFill>
                <a:latin typeface="微软雅黑"/>
                <a:ea typeface="微软雅黑"/>
              </a:rPr>
              <a:t> 6 </a:t>
            </a:r>
            <a:r>
              <a:rPr lang="zh-CN" sz="975">
                <a:solidFill>
                  <a:srgbClr val="5D6E85"/>
                </a:solidFill>
                <a:latin typeface="微软雅黑"/>
                <a:ea typeface="微软雅黑"/>
              </a:rPr>
              <a:t>讲截止</a:t>
            </a:r>
            <a:endParaRPr/>
          </a:p>
        </p:txBody>
      </p:sp>
      <p:sp>
        <p:nvSpPr>
          <p:cNvPr id="1620" name="文本框 1619" descr="{&quot;isTemplate&quot;:true,&quot;type&quot;:&quot;text&quot;}"/>
          <p:cNvSpPr txBox="1"/>
          <p:nvPr/>
        </p:nvSpPr>
        <p:spPr>
          <a:xfrm>
            <a:off x="11287125" y="1752600"/>
            <a:ext cx="3905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微软雅黑"/>
                <a:ea typeface="微软雅黑"/>
              </a:rPr>
              <a:t>3—4 h</a:t>
            </a:r>
            <a:endParaRPr/>
          </a:p>
        </p:txBody>
      </p:sp>
      <p:sp>
        <p:nvSpPr>
          <p:cNvPr id="1621" name="矩形: 圆角 1620"/>
          <p:cNvSpPr/>
          <p:nvPr/>
        </p:nvSpPr>
        <p:spPr>
          <a:xfrm>
            <a:off x="7334250" y="2190750"/>
            <a:ext cx="447675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22" name="文本框 1621" descr="{&quot;isTemplate&quot;:true,&quot;type&quot;:&quot;text&quot;}"/>
          <p:cNvSpPr txBox="1"/>
          <p:nvPr/>
        </p:nvSpPr>
        <p:spPr>
          <a:xfrm>
            <a:off x="7467600" y="2362200"/>
            <a:ext cx="4953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微软雅黑"/>
                <a:ea typeface="微软雅黑"/>
              </a:rPr>
              <a:t>HW2</a:t>
            </a:r>
            <a:endParaRPr/>
          </a:p>
        </p:txBody>
      </p:sp>
      <p:sp>
        <p:nvSpPr>
          <p:cNvPr id="1623" name="文本框 1622" descr="{&quot;isTemplate&quot;:true,&quot;type&quot;:&quot;text&quot;}"/>
          <p:cNvSpPr txBox="1"/>
          <p:nvPr/>
        </p:nvSpPr>
        <p:spPr>
          <a:xfrm>
            <a:off x="8077200" y="2276475"/>
            <a:ext cx="30956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1B33"/>
                </a:solidFill>
                <a:latin typeface="微软雅黑"/>
                <a:ea typeface="微软雅黑"/>
              </a:rPr>
              <a:t>表示与可信比较</a:t>
            </a:r>
            <a:endParaRPr/>
          </a:p>
        </p:txBody>
      </p:sp>
      <p:sp>
        <p:nvSpPr>
          <p:cNvPr id="1624" name="文本框 1623" descr="{&quot;isTemplate&quot;:true,&quot;type&quot;:&quot;text&quot;}"/>
          <p:cNvSpPr txBox="1"/>
          <p:nvPr/>
        </p:nvSpPr>
        <p:spPr>
          <a:xfrm>
            <a:off x="8077200" y="2486025"/>
            <a:ext cx="30956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5D6E85"/>
                </a:solidFill>
                <a:latin typeface="微软雅黑"/>
                <a:ea typeface="微软雅黑"/>
              </a:rPr>
              <a:t>第</a:t>
            </a:r>
            <a:r>
              <a:rPr lang="en-US" sz="975">
                <a:solidFill>
                  <a:srgbClr val="5D6E85"/>
                </a:solidFill>
                <a:latin typeface="微软雅黑"/>
                <a:ea typeface="微软雅黑"/>
              </a:rPr>
              <a:t> 5 </a:t>
            </a:r>
            <a:r>
              <a:rPr lang="zh-CN" sz="975">
                <a:solidFill>
                  <a:srgbClr val="5D6E85"/>
                </a:solidFill>
                <a:latin typeface="微软雅黑"/>
                <a:ea typeface="微软雅黑"/>
              </a:rPr>
              <a:t>讲发布</a:t>
            </a:r>
            <a:r>
              <a:rPr lang="en-US" sz="975">
                <a:solidFill>
                  <a:srgbClr val="5D6E85"/>
                </a:solidFill>
                <a:latin typeface="微软雅黑"/>
                <a:ea typeface="微软雅黑"/>
              </a:rPr>
              <a:t> → </a:t>
            </a:r>
            <a:r>
              <a:rPr lang="zh-CN" sz="975">
                <a:solidFill>
                  <a:srgbClr val="5D6E85"/>
                </a:solidFill>
                <a:latin typeface="微软雅黑"/>
                <a:ea typeface="微软雅黑"/>
              </a:rPr>
              <a:t>第</a:t>
            </a:r>
            <a:r>
              <a:rPr lang="en-US" sz="975">
                <a:solidFill>
                  <a:srgbClr val="5D6E85"/>
                </a:solidFill>
                <a:latin typeface="微软雅黑"/>
                <a:ea typeface="微软雅黑"/>
              </a:rPr>
              <a:t> 10 </a:t>
            </a:r>
            <a:r>
              <a:rPr lang="zh-CN" sz="975">
                <a:solidFill>
                  <a:srgbClr val="5D6E85"/>
                </a:solidFill>
                <a:latin typeface="微软雅黑"/>
                <a:ea typeface="微软雅黑"/>
              </a:rPr>
              <a:t>讲截止</a:t>
            </a:r>
            <a:endParaRPr/>
          </a:p>
        </p:txBody>
      </p:sp>
      <p:sp>
        <p:nvSpPr>
          <p:cNvPr id="1625" name="文本框 1624" descr="{&quot;isTemplate&quot;:true,&quot;type&quot;:&quot;text&quot;}"/>
          <p:cNvSpPr txBox="1"/>
          <p:nvPr/>
        </p:nvSpPr>
        <p:spPr>
          <a:xfrm>
            <a:off x="11287125" y="2381250"/>
            <a:ext cx="3905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微软雅黑"/>
                <a:ea typeface="微软雅黑"/>
              </a:rPr>
              <a:t>4—5 h</a:t>
            </a:r>
            <a:endParaRPr/>
          </a:p>
        </p:txBody>
      </p:sp>
      <p:sp>
        <p:nvSpPr>
          <p:cNvPr id="1626" name="矩形: 圆角 1625"/>
          <p:cNvSpPr/>
          <p:nvPr/>
        </p:nvSpPr>
        <p:spPr>
          <a:xfrm>
            <a:off x="7334250" y="2819400"/>
            <a:ext cx="447675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27" name="文本框 1626" descr="{&quot;isTemplate&quot;:true,&quot;type&quot;:&quot;text&quot;}"/>
          <p:cNvSpPr txBox="1"/>
          <p:nvPr/>
        </p:nvSpPr>
        <p:spPr>
          <a:xfrm>
            <a:off x="7467600" y="2990850"/>
            <a:ext cx="4953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微软雅黑"/>
                <a:ea typeface="微软雅黑"/>
              </a:rPr>
              <a:t>HW3</a:t>
            </a:r>
            <a:endParaRPr/>
          </a:p>
        </p:txBody>
      </p:sp>
      <p:sp>
        <p:nvSpPr>
          <p:cNvPr id="1628" name="文本框 1627" descr="{&quot;isTemplate&quot;:true,&quot;type&quot;:&quot;text&quot;}"/>
          <p:cNvSpPr txBox="1"/>
          <p:nvPr/>
        </p:nvSpPr>
        <p:spPr>
          <a:xfrm>
            <a:off x="8077200" y="2905125"/>
            <a:ext cx="30956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1B33"/>
                </a:solidFill>
                <a:latin typeface="微软雅黑"/>
                <a:ea typeface="微软雅黑"/>
              </a:rPr>
              <a:t>表示学习与知识复用</a:t>
            </a:r>
            <a:endParaRPr/>
          </a:p>
        </p:txBody>
      </p:sp>
      <p:sp>
        <p:nvSpPr>
          <p:cNvPr id="1629" name="文本框 1628" descr="{&quot;isTemplate&quot;:true,&quot;type&quot;:&quot;text&quot;}"/>
          <p:cNvSpPr txBox="1"/>
          <p:nvPr/>
        </p:nvSpPr>
        <p:spPr>
          <a:xfrm>
            <a:off x="8077200" y="3114675"/>
            <a:ext cx="30956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5D6E85"/>
                </a:solidFill>
                <a:latin typeface="微软雅黑"/>
                <a:ea typeface="微软雅黑"/>
              </a:rPr>
              <a:t>第</a:t>
            </a:r>
            <a:r>
              <a:rPr lang="en-US" sz="975">
                <a:solidFill>
                  <a:srgbClr val="5D6E85"/>
                </a:solidFill>
                <a:latin typeface="微软雅黑"/>
                <a:ea typeface="微软雅黑"/>
              </a:rPr>
              <a:t> 11 </a:t>
            </a:r>
            <a:r>
              <a:rPr lang="zh-CN" sz="975">
                <a:solidFill>
                  <a:srgbClr val="5D6E85"/>
                </a:solidFill>
                <a:latin typeface="微软雅黑"/>
                <a:ea typeface="微软雅黑"/>
              </a:rPr>
              <a:t>讲发布</a:t>
            </a:r>
            <a:r>
              <a:rPr lang="en-US" sz="975">
                <a:solidFill>
                  <a:srgbClr val="5D6E85"/>
                </a:solidFill>
                <a:latin typeface="微软雅黑"/>
                <a:ea typeface="微软雅黑"/>
              </a:rPr>
              <a:t> → </a:t>
            </a:r>
            <a:r>
              <a:rPr lang="zh-CN" sz="975">
                <a:solidFill>
                  <a:srgbClr val="5D6E85"/>
                </a:solidFill>
                <a:latin typeface="微软雅黑"/>
                <a:ea typeface="微软雅黑"/>
              </a:rPr>
              <a:t>第</a:t>
            </a:r>
            <a:r>
              <a:rPr lang="en-US" sz="975">
                <a:solidFill>
                  <a:srgbClr val="5D6E85"/>
                </a:solidFill>
                <a:latin typeface="微软雅黑"/>
                <a:ea typeface="微软雅黑"/>
              </a:rPr>
              <a:t> 13 </a:t>
            </a:r>
            <a:r>
              <a:rPr lang="zh-CN" sz="975">
                <a:solidFill>
                  <a:srgbClr val="5D6E85"/>
                </a:solidFill>
                <a:latin typeface="微软雅黑"/>
                <a:ea typeface="微软雅黑"/>
              </a:rPr>
              <a:t>讲截止</a:t>
            </a:r>
            <a:endParaRPr/>
          </a:p>
        </p:txBody>
      </p:sp>
      <p:sp>
        <p:nvSpPr>
          <p:cNvPr id="1630" name="文本框 1629" descr="{&quot;isTemplate&quot;:true,&quot;type&quot;:&quot;text&quot;}"/>
          <p:cNvSpPr txBox="1"/>
          <p:nvPr/>
        </p:nvSpPr>
        <p:spPr>
          <a:xfrm>
            <a:off x="11287125" y="3009900"/>
            <a:ext cx="3905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微软雅黑"/>
                <a:ea typeface="微软雅黑"/>
              </a:rPr>
              <a:t>4—5 h</a:t>
            </a:r>
            <a:endParaRPr/>
          </a:p>
        </p:txBody>
      </p:sp>
      <p:sp>
        <p:nvSpPr>
          <p:cNvPr id="1631" name="矩形: 圆角 1630"/>
          <p:cNvSpPr/>
          <p:nvPr/>
        </p:nvSpPr>
        <p:spPr>
          <a:xfrm>
            <a:off x="7334250" y="3448050"/>
            <a:ext cx="447675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32" name="文本框 1631" descr="{&quot;isTemplate&quot;:true,&quot;type&quot;:&quot;text&quot;}"/>
          <p:cNvSpPr txBox="1"/>
          <p:nvPr/>
        </p:nvSpPr>
        <p:spPr>
          <a:xfrm>
            <a:off x="7467600" y="3619500"/>
            <a:ext cx="4953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微软雅黑"/>
                <a:ea typeface="微软雅黑"/>
              </a:rPr>
              <a:t>HW4</a:t>
            </a:r>
            <a:endParaRPr/>
          </a:p>
        </p:txBody>
      </p:sp>
      <p:sp>
        <p:nvSpPr>
          <p:cNvPr id="1633" name="文本框 1632" descr="{&quot;isTemplate&quot;:true,&quot;type&quot;:&quot;text&quot;}"/>
          <p:cNvSpPr txBox="1"/>
          <p:nvPr/>
        </p:nvSpPr>
        <p:spPr>
          <a:xfrm>
            <a:off x="8077200" y="3533775"/>
            <a:ext cx="30956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B1B33"/>
                </a:solidFill>
                <a:latin typeface="微软雅黑"/>
                <a:ea typeface="微软雅黑"/>
              </a:rPr>
              <a:t>GP</a:t>
            </a:r>
            <a:r>
              <a:rPr lang="zh-CN" sz="1200" b="1">
                <a:solidFill>
                  <a:srgbClr val="0B1B33"/>
                </a:solidFill>
                <a:latin typeface="微软雅黑"/>
                <a:ea typeface="微软雅黑"/>
              </a:rPr>
              <a:t>、</a:t>
            </a:r>
            <a:r>
              <a:rPr lang="en-US" sz="1200" b="1">
                <a:solidFill>
                  <a:srgbClr val="0B1B33"/>
                </a:solidFill>
                <a:latin typeface="微软雅黑"/>
                <a:ea typeface="微软雅黑"/>
              </a:rPr>
              <a:t>BO </a:t>
            </a:r>
            <a:r>
              <a:rPr lang="zh-CN" sz="1200" b="1">
                <a:solidFill>
                  <a:srgbClr val="0B1B33"/>
                </a:solidFill>
                <a:latin typeface="微软雅黑"/>
                <a:ea typeface="微软雅黑"/>
              </a:rPr>
              <a:t>与工程选型</a:t>
            </a:r>
            <a:endParaRPr/>
          </a:p>
        </p:txBody>
      </p:sp>
      <p:sp>
        <p:nvSpPr>
          <p:cNvPr id="1634" name="文本框 1633" descr="{&quot;isTemplate&quot;:true,&quot;type&quot;:&quot;text&quot;}"/>
          <p:cNvSpPr txBox="1"/>
          <p:nvPr/>
        </p:nvSpPr>
        <p:spPr>
          <a:xfrm>
            <a:off x="8077200" y="3743325"/>
            <a:ext cx="30956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5D6E85"/>
                </a:solidFill>
                <a:latin typeface="微软雅黑"/>
                <a:ea typeface="微软雅黑"/>
              </a:rPr>
              <a:t>第</a:t>
            </a:r>
            <a:r>
              <a:rPr lang="en-US" sz="975">
                <a:solidFill>
                  <a:srgbClr val="5D6E85"/>
                </a:solidFill>
                <a:latin typeface="微软雅黑"/>
                <a:ea typeface="微软雅黑"/>
              </a:rPr>
              <a:t> 13 </a:t>
            </a:r>
            <a:r>
              <a:rPr lang="zh-CN" sz="975">
                <a:solidFill>
                  <a:srgbClr val="5D6E85"/>
                </a:solidFill>
                <a:latin typeface="微软雅黑"/>
                <a:ea typeface="微软雅黑"/>
              </a:rPr>
              <a:t>讲发布</a:t>
            </a:r>
            <a:r>
              <a:rPr lang="en-US" sz="975">
                <a:solidFill>
                  <a:srgbClr val="5D6E85"/>
                </a:solidFill>
                <a:latin typeface="微软雅黑"/>
                <a:ea typeface="微软雅黑"/>
              </a:rPr>
              <a:t> → </a:t>
            </a:r>
            <a:r>
              <a:rPr lang="zh-CN" sz="975">
                <a:solidFill>
                  <a:srgbClr val="5D6E85"/>
                </a:solidFill>
                <a:latin typeface="微软雅黑"/>
                <a:ea typeface="微软雅黑"/>
              </a:rPr>
              <a:t>第</a:t>
            </a:r>
            <a:r>
              <a:rPr lang="en-US" sz="975">
                <a:solidFill>
                  <a:srgbClr val="5D6E85"/>
                </a:solidFill>
                <a:latin typeface="微软雅黑"/>
                <a:ea typeface="微软雅黑"/>
              </a:rPr>
              <a:t> 15 </a:t>
            </a:r>
            <a:r>
              <a:rPr lang="zh-CN" sz="975">
                <a:solidFill>
                  <a:srgbClr val="5D6E85"/>
                </a:solidFill>
                <a:latin typeface="微软雅黑"/>
                <a:ea typeface="微软雅黑"/>
              </a:rPr>
              <a:t>讲截止</a:t>
            </a:r>
            <a:endParaRPr/>
          </a:p>
        </p:txBody>
      </p:sp>
      <p:sp>
        <p:nvSpPr>
          <p:cNvPr id="1635" name="文本框 1634" descr="{&quot;isTemplate&quot;:true,&quot;type&quot;:&quot;text&quot;}"/>
          <p:cNvSpPr txBox="1"/>
          <p:nvPr/>
        </p:nvSpPr>
        <p:spPr>
          <a:xfrm>
            <a:off x="11287125" y="3638550"/>
            <a:ext cx="3905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微软雅黑"/>
                <a:ea typeface="微软雅黑"/>
              </a:rPr>
              <a:t>4—5 h</a:t>
            </a:r>
            <a:endParaRPr/>
          </a:p>
        </p:txBody>
      </p:sp>
      <p:sp>
        <p:nvSpPr>
          <p:cNvPr id="1636" name="矩形: 圆角 1635"/>
          <p:cNvSpPr/>
          <p:nvPr/>
        </p:nvSpPr>
        <p:spPr>
          <a:xfrm>
            <a:off x="7334250" y="4076700"/>
            <a:ext cx="4476750" cy="1390650"/>
          </a:xfrm>
          <a:prstGeom prst="roundRect">
            <a:avLst>
              <a:gd name="adj" fmla="val 6849"/>
            </a:avLst>
          </a:prstGeom>
          <a:solidFill>
            <a:srgbClr val="E8F1FC"/>
          </a:solidFill>
          <a:ln w="12700">
            <a:solidFill>
              <a:srgbClr val="1E4F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37" name="文本框 1636" descr="{&quot;isTemplate&quot;:true,&quot;type&quot;:&quot;text&quot;}"/>
          <p:cNvSpPr txBox="1"/>
          <p:nvPr/>
        </p:nvSpPr>
        <p:spPr>
          <a:xfrm>
            <a:off x="7486650" y="4191000"/>
            <a:ext cx="41719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每项按</a:t>
            </a:r>
            <a:r>
              <a:rPr lang="zh-CN" sz="1125" b="1">
                <a:solidFill>
                  <a:srgbClr val="2C3947"/>
                </a:solidFill>
                <a:latin typeface="微软雅黑"/>
                <a:ea typeface="微软雅黑"/>
              </a:rPr>
              <a:t>正确性</a:t>
            </a:r>
            <a:r>
              <a:rPr lang="en-US" sz="1125" b="1">
                <a:solidFill>
                  <a:srgbClr val="2C3947"/>
                </a:solidFill>
                <a:latin typeface="微软雅黑"/>
                <a:ea typeface="微软雅黑"/>
              </a:rPr>
              <a:t> 40 / </a:t>
            </a:r>
            <a:r>
              <a:rPr lang="zh-CN" sz="1125" b="1">
                <a:solidFill>
                  <a:srgbClr val="2C3947"/>
                </a:solidFill>
                <a:latin typeface="微软雅黑"/>
                <a:ea typeface="微软雅黑"/>
              </a:rPr>
              <a:t>结果证据</a:t>
            </a:r>
            <a:r>
              <a:rPr lang="en-US" sz="1125" b="1">
                <a:solidFill>
                  <a:srgbClr val="2C3947"/>
                </a:solidFill>
                <a:latin typeface="微软雅黑"/>
                <a:ea typeface="微软雅黑"/>
              </a:rPr>
              <a:t> 30 / </a:t>
            </a:r>
            <a:r>
              <a:rPr lang="zh-CN" sz="1125" b="1">
                <a:solidFill>
                  <a:srgbClr val="2C3947"/>
                </a:solidFill>
                <a:latin typeface="微软雅黑"/>
                <a:ea typeface="微软雅黑"/>
              </a:rPr>
              <a:t>分析局限</a:t>
            </a:r>
            <a:r>
              <a:rPr lang="en-US" sz="1125" b="1">
                <a:solidFill>
                  <a:srgbClr val="2C3947"/>
                </a:solidFill>
                <a:latin typeface="微软雅黑"/>
                <a:ea typeface="微软雅黑"/>
              </a:rPr>
              <a:t> 20 / </a:t>
            </a:r>
            <a:r>
              <a:rPr lang="zh-CN" sz="1125" b="1">
                <a:solidFill>
                  <a:srgbClr val="2C3947"/>
                </a:solidFill>
                <a:latin typeface="微软雅黑"/>
                <a:ea typeface="微软雅黑"/>
              </a:rPr>
              <a:t>复现引用</a:t>
            </a:r>
            <a:r>
              <a:rPr lang="en-US" sz="1125" b="1">
                <a:solidFill>
                  <a:srgbClr val="2C3947"/>
                </a:solidFill>
                <a:latin typeface="微软雅黑"/>
                <a:ea typeface="微软雅黑"/>
              </a:rPr>
              <a:t> 10</a:t>
            </a: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评定，再按任务分值汇总；不做两套维度重复相加。</a:t>
            </a:r>
            <a:endParaRPr/>
          </a:p>
        </p:txBody>
      </p:sp>
      <p:sp>
        <p:nvSpPr>
          <p:cNvPr id="1638" name="文本框 1637" descr="{&quot;isTemplate&quot;:true,&quot;type&quot;:&quot;text&quot;}"/>
          <p:cNvSpPr txBox="1"/>
          <p:nvPr/>
        </p:nvSpPr>
        <p:spPr>
          <a:xfrm>
            <a:off x="7486650" y="4800600"/>
            <a:ext cx="41719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选做题用于拓展，不因具备</a:t>
            </a: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 GPU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或付费服务而获得额外总评优势。</a:t>
            </a:r>
            <a:endParaRPr/>
          </a:p>
        </p:txBody>
      </p:sp>
      <p:sp>
        <p:nvSpPr>
          <p:cNvPr id="1639" name="文本框 1638" descr="{&quot;isTemplate&quot;:true,&quot;type&quot;:&quot;text&quot;}"/>
          <p:cNvSpPr txBox="1"/>
          <p:nvPr/>
        </p:nvSpPr>
        <p:spPr>
          <a:xfrm>
            <a:off x="7334250" y="5562600"/>
            <a:ext cx="447675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050">
                <a:solidFill>
                  <a:srgbClr val="5D6E85"/>
                </a:solidFill>
                <a:latin typeface="微软雅黑"/>
                <a:ea typeface="微软雅黑"/>
              </a:rPr>
              <a:t>补做：缺席课堂任务者可在一周内补做同难度任务并接受核验；到课本身不替代能力证据。</a:t>
            </a:r>
            <a:endParaRPr/>
          </a:p>
        </p:txBody>
      </p:sp>
      <p:sp>
        <p:nvSpPr>
          <p:cNvPr id="1640" name="文本框 1639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1641" name="文本框 1640" descr="{&quot;isTemplate&quot;:true,&quot;type&quot;:&quot;text&quot;}"/>
          <p:cNvSpPr txBox="1"/>
          <p:nvPr/>
        </p:nvSpPr>
        <p:spPr>
          <a:xfrm>
            <a:off x="54673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1642" name="文本框 1641" descr="{&quot;isTemplate&quot;:true,&quot;type&quot;:&quot;text&quot;}"/>
          <p:cNvSpPr txBox="1"/>
          <p:nvPr/>
        </p:nvSpPr>
        <p:spPr>
          <a:xfrm>
            <a:off x="11410950" y="6610350"/>
            <a:ext cx="4000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55 / 60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矩形 164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45" name="矩形 1644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46" name="文本框 1645" descr="{&quot;isTemplate&quot;:true,&quot;type&quot;:&quot;text&quot;}"/>
          <p:cNvSpPr txBox="1"/>
          <p:nvPr/>
        </p:nvSpPr>
        <p:spPr>
          <a:xfrm>
            <a:off x="342900" y="171450"/>
            <a:ext cx="3524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在材料科学中的应用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讲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材料信息学导论与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产业</a:t>
            </a:r>
            <a:endParaRPr/>
          </a:p>
        </p:txBody>
      </p:sp>
      <p:sp>
        <p:nvSpPr>
          <p:cNvPr id="1647" name="文本框 1646" descr="{&quot;isTemplate&quot;:true,&quot;type&quot;:&quot;text&quot;}"/>
          <p:cNvSpPr txBox="1"/>
          <p:nvPr/>
        </p:nvSpPr>
        <p:spPr>
          <a:xfrm>
            <a:off x="9353550" y="171450"/>
            <a:ext cx="13906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05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课程地图与学术诚信</a:t>
            </a:r>
            <a:endParaRPr/>
          </a:p>
        </p:txBody>
      </p:sp>
      <p:pic>
        <p:nvPicPr>
          <p:cNvPr id="1648" name="图片 1647"/>
          <p:cNvPicPr>
            <a:picLocks noChangeAspect="1"/>
          </p:cNvPicPr>
          <p:nvPr/>
        </p:nvPicPr>
        <p:blipFill>
          <a:blip r:embed="rId2"/>
          <a:srcRect l="847" r="847"/>
          <a:stretch>
            <a:fillRect/>
          </a:stretch>
        </p:blipFill>
        <p:spPr>
          <a:xfrm>
            <a:off x="10858500" y="123825"/>
            <a:ext cx="990600" cy="247650"/>
          </a:xfrm>
          <a:prstGeom prst="rect">
            <a:avLst/>
          </a:prstGeom>
          <a:ln/>
        </p:spPr>
      </p:pic>
      <p:sp>
        <p:nvSpPr>
          <p:cNvPr id="1649" name="文本框 1648" descr="{&quot;isTemplate&quot;:true,&quot;type&quot;:&quot;text&quot;}"/>
          <p:cNvSpPr txBox="1"/>
          <p:nvPr/>
        </p:nvSpPr>
        <p:spPr>
          <a:xfrm>
            <a:off x="381000" y="666750"/>
            <a:ext cx="114300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钉钉进步体"/>
                <a:ea typeface="钉钉进步体"/>
              </a:rPr>
              <a:t>学术诚信与</a:t>
            </a:r>
            <a:r>
              <a:rPr lang="en-US" sz="2400" b="1">
                <a:solidFill>
                  <a:srgbClr val="0E3F8C"/>
                </a:solidFill>
                <a:latin typeface="钉钉进步体"/>
                <a:ea typeface="钉钉进步体"/>
              </a:rPr>
              <a:t> AI </a:t>
            </a:r>
            <a:r>
              <a:rPr lang="zh-CN" sz="2400" b="1">
                <a:solidFill>
                  <a:srgbClr val="0E3F8C"/>
                </a:solidFill>
                <a:latin typeface="钉钉进步体"/>
                <a:ea typeface="钉钉进步体"/>
              </a:rPr>
              <a:t>工具使用边界</a:t>
            </a:r>
            <a:endParaRPr/>
          </a:p>
        </p:txBody>
      </p:sp>
      <p:sp>
        <p:nvSpPr>
          <p:cNvPr id="1650" name="矩形: 圆角 1649"/>
          <p:cNvSpPr/>
          <p:nvPr/>
        </p:nvSpPr>
        <p:spPr>
          <a:xfrm>
            <a:off x="381000" y="1114425"/>
            <a:ext cx="571500" cy="47625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51" name="矩形: 圆角 1650"/>
          <p:cNvSpPr/>
          <p:nvPr/>
        </p:nvSpPr>
        <p:spPr>
          <a:xfrm>
            <a:off x="381000" y="1333500"/>
            <a:ext cx="11430000" cy="2171700"/>
          </a:xfrm>
          <a:prstGeom prst="roundRect">
            <a:avLst>
              <a:gd name="adj" fmla="val 5263"/>
            </a:avLst>
          </a:prstGeom>
          <a:solidFill>
            <a:srgbClr val="FCE4E4"/>
          </a:solidFill>
          <a:ln w="12700">
            <a:solidFill>
              <a:srgbClr val="E5737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52" name="文本框 1651" descr="{&quot;isTemplate&quot;:true,&quot;type&quot;:&quot;text&quot;}"/>
          <p:cNvSpPr txBox="1"/>
          <p:nvPr/>
        </p:nvSpPr>
        <p:spPr>
          <a:xfrm>
            <a:off x="628650" y="1524000"/>
            <a:ext cx="109347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B71C1C"/>
                </a:solidFill>
                <a:latin typeface="微软雅黑"/>
                <a:ea typeface="微软雅黑"/>
              </a:rPr>
              <a:t>明确禁止（零容忍）</a:t>
            </a:r>
            <a:endParaRPr/>
          </a:p>
        </p:txBody>
      </p:sp>
      <p:sp>
        <p:nvSpPr>
          <p:cNvPr id="1653" name="文本框 1652" descr="{&quot;isTemplate&quot;:true,&quot;type&quot;:&quot;text&quot;}"/>
          <p:cNvSpPr txBox="1"/>
          <p:nvPr/>
        </p:nvSpPr>
        <p:spPr>
          <a:xfrm>
            <a:off x="628650" y="1847850"/>
            <a:ext cx="16192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275">
                <a:solidFill>
                  <a:srgbClr val="C62828"/>
                </a:solidFill>
                <a:latin typeface="微软雅黑"/>
                <a:ea typeface="微软雅黑"/>
              </a:rPr>
              <a:t>✕</a:t>
            </a:r>
            <a:endParaRPr/>
          </a:p>
        </p:txBody>
      </p:sp>
      <p:sp>
        <p:nvSpPr>
          <p:cNvPr id="1654" name="文本框 1653" descr="{&quot;isTemplate&quot;:true,&quot;type&quot;:&quot;text&quot;}"/>
          <p:cNvSpPr txBox="1"/>
          <p:nvPr/>
        </p:nvSpPr>
        <p:spPr>
          <a:xfrm>
            <a:off x="885825" y="1847850"/>
            <a:ext cx="10677525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提交</a:t>
            </a:r>
            <a:r>
              <a:rPr lang="zh-CN" sz="1275" b="1">
                <a:solidFill>
                  <a:srgbClr val="1A2230"/>
                </a:solidFill>
                <a:latin typeface="微软雅黑"/>
                <a:ea typeface="微软雅黑"/>
              </a:rPr>
              <a:t>未经运行验证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的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 AI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生成代码——错误百出且无法调试</a:t>
            </a:r>
            <a:endParaRPr/>
          </a:p>
        </p:txBody>
      </p:sp>
      <p:sp>
        <p:nvSpPr>
          <p:cNvPr id="1655" name="文本框 1654" descr="{&quot;isTemplate&quot;:true,&quot;type&quot;:&quot;text&quot;}"/>
          <p:cNvSpPr txBox="1"/>
          <p:nvPr/>
        </p:nvSpPr>
        <p:spPr>
          <a:xfrm>
            <a:off x="628650" y="2238375"/>
            <a:ext cx="16192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275">
                <a:solidFill>
                  <a:srgbClr val="C62828"/>
                </a:solidFill>
                <a:latin typeface="微软雅黑"/>
                <a:ea typeface="微软雅黑"/>
              </a:rPr>
              <a:t>✕</a:t>
            </a:r>
            <a:endParaRPr/>
          </a:p>
        </p:txBody>
      </p:sp>
      <p:sp>
        <p:nvSpPr>
          <p:cNvPr id="1656" name="文本框 1655" descr="{&quot;isTemplate&quot;:true,&quot;type&quot;:&quot;text&quot;}"/>
          <p:cNvSpPr txBox="1"/>
          <p:nvPr/>
        </p:nvSpPr>
        <p:spPr>
          <a:xfrm>
            <a:off x="885825" y="2238375"/>
            <a:ext cx="10677525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用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 AI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代写读书报告的核心论证段落</a:t>
            </a:r>
            <a:endParaRPr/>
          </a:p>
        </p:txBody>
      </p:sp>
      <p:sp>
        <p:nvSpPr>
          <p:cNvPr id="1657" name="文本框 1656" descr="{&quot;isTemplate&quot;:true,&quot;type&quot;:&quot;text&quot;}"/>
          <p:cNvSpPr txBox="1"/>
          <p:nvPr/>
        </p:nvSpPr>
        <p:spPr>
          <a:xfrm>
            <a:off x="628650" y="2628900"/>
            <a:ext cx="16192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275">
                <a:solidFill>
                  <a:srgbClr val="C62828"/>
                </a:solidFill>
                <a:latin typeface="微软雅黑"/>
                <a:ea typeface="微软雅黑"/>
              </a:rPr>
              <a:t>✕</a:t>
            </a:r>
            <a:endParaRPr/>
          </a:p>
        </p:txBody>
      </p:sp>
      <p:sp>
        <p:nvSpPr>
          <p:cNvPr id="1658" name="文本框 1657" descr="{&quot;isTemplate&quot;:true,&quot;type&quot;:&quot;text&quot;}"/>
          <p:cNvSpPr txBox="1"/>
          <p:nvPr/>
        </p:nvSpPr>
        <p:spPr>
          <a:xfrm>
            <a:off x="885825" y="2628900"/>
            <a:ext cx="10677525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把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 AI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生成内容作为自己观点提交，却标注为原创</a:t>
            </a:r>
            <a:endParaRPr/>
          </a:p>
        </p:txBody>
      </p:sp>
      <p:sp>
        <p:nvSpPr>
          <p:cNvPr id="1659" name="文本框 1658" descr="{&quot;isTemplate&quot;:true,&quot;type&quot;:&quot;text&quot;}"/>
          <p:cNvSpPr txBox="1"/>
          <p:nvPr/>
        </p:nvSpPr>
        <p:spPr>
          <a:xfrm>
            <a:off x="628650" y="3019425"/>
            <a:ext cx="16192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275">
                <a:solidFill>
                  <a:srgbClr val="C62828"/>
                </a:solidFill>
                <a:latin typeface="微软雅黑"/>
                <a:ea typeface="微软雅黑"/>
              </a:rPr>
              <a:t>✕</a:t>
            </a:r>
            <a:endParaRPr/>
          </a:p>
        </p:txBody>
      </p:sp>
      <p:sp>
        <p:nvSpPr>
          <p:cNvPr id="1660" name="文本框 1659" descr="{&quot;isTemplate&quot;:true,&quot;type&quot;:&quot;text&quot;}"/>
          <p:cNvSpPr txBox="1"/>
          <p:nvPr/>
        </p:nvSpPr>
        <p:spPr>
          <a:xfrm>
            <a:off x="885825" y="3019425"/>
            <a:ext cx="10677525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在项目报告中虚构不存在的实验数据或引用</a:t>
            </a:r>
            <a:endParaRPr/>
          </a:p>
        </p:txBody>
      </p:sp>
      <p:sp>
        <p:nvSpPr>
          <p:cNvPr id="1661" name="矩形: 圆角 1660"/>
          <p:cNvSpPr/>
          <p:nvPr/>
        </p:nvSpPr>
        <p:spPr>
          <a:xfrm>
            <a:off x="381000" y="3638550"/>
            <a:ext cx="7277100" cy="2876550"/>
          </a:xfrm>
          <a:prstGeom prst="roundRect">
            <a:avLst>
              <a:gd name="adj" fmla="val 3974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62" name="文本框 1661" descr="{&quot;isTemplate&quot;:true,&quot;type&quot;:&quot;text&quot;}"/>
          <p:cNvSpPr txBox="1"/>
          <p:nvPr/>
        </p:nvSpPr>
        <p:spPr>
          <a:xfrm>
            <a:off x="571500" y="3829050"/>
            <a:ext cx="68961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B5E20"/>
                </a:solidFill>
                <a:latin typeface="微软雅黑"/>
                <a:ea typeface="微软雅黑"/>
              </a:rPr>
              <a:t>允许且鼓励</a:t>
            </a:r>
            <a:endParaRPr/>
          </a:p>
        </p:txBody>
      </p:sp>
      <p:sp>
        <p:nvSpPr>
          <p:cNvPr id="1663" name="文本框 1662" descr="{&quot;isTemplate&quot;:true,&quot;type&quot;:&quot;text&quot;}"/>
          <p:cNvSpPr txBox="1"/>
          <p:nvPr/>
        </p:nvSpPr>
        <p:spPr>
          <a:xfrm>
            <a:off x="571500" y="4152900"/>
            <a:ext cx="16192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275">
                <a:solidFill>
                  <a:srgbClr val="2E7D32"/>
                </a:solidFill>
                <a:latin typeface="微软雅黑"/>
                <a:ea typeface="微软雅黑"/>
              </a:rPr>
              <a:t>✓</a:t>
            </a:r>
            <a:endParaRPr/>
          </a:p>
        </p:txBody>
      </p:sp>
      <p:sp>
        <p:nvSpPr>
          <p:cNvPr id="1664" name="文本框 1663" descr="{&quot;isTemplate&quot;:true,&quot;type&quot;:&quot;text&quot;}"/>
          <p:cNvSpPr txBox="1"/>
          <p:nvPr/>
        </p:nvSpPr>
        <p:spPr>
          <a:xfrm>
            <a:off x="828675" y="4152900"/>
            <a:ext cx="6638925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用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 AI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解释不理解的代码或概念</a:t>
            </a:r>
            <a:endParaRPr/>
          </a:p>
        </p:txBody>
      </p:sp>
      <p:sp>
        <p:nvSpPr>
          <p:cNvPr id="1665" name="文本框 1664" descr="{&quot;isTemplate&quot;:true,&quot;type&quot;:&quot;text&quot;}"/>
          <p:cNvSpPr txBox="1"/>
          <p:nvPr/>
        </p:nvSpPr>
        <p:spPr>
          <a:xfrm>
            <a:off x="571500" y="4543425"/>
            <a:ext cx="16192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275">
                <a:solidFill>
                  <a:srgbClr val="2E7D32"/>
                </a:solidFill>
                <a:latin typeface="微软雅黑"/>
                <a:ea typeface="微软雅黑"/>
              </a:rPr>
              <a:t>✓</a:t>
            </a:r>
            <a:endParaRPr/>
          </a:p>
        </p:txBody>
      </p:sp>
      <p:sp>
        <p:nvSpPr>
          <p:cNvPr id="1666" name="文本框 1665" descr="{&quot;isTemplate&quot;:true,&quot;type&quot;:&quot;text&quot;}"/>
          <p:cNvSpPr txBox="1"/>
          <p:nvPr/>
        </p:nvSpPr>
        <p:spPr>
          <a:xfrm>
            <a:off x="828675" y="4543425"/>
            <a:ext cx="6638925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用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 AI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帮你定位报错原因</a:t>
            </a:r>
            <a:endParaRPr/>
          </a:p>
        </p:txBody>
      </p:sp>
      <p:sp>
        <p:nvSpPr>
          <p:cNvPr id="1667" name="文本框 1666" descr="{&quot;isTemplate&quot;:true,&quot;type&quot;:&quot;text&quot;}"/>
          <p:cNvSpPr txBox="1"/>
          <p:nvPr/>
        </p:nvSpPr>
        <p:spPr>
          <a:xfrm>
            <a:off x="571500" y="4933950"/>
            <a:ext cx="16192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275">
                <a:solidFill>
                  <a:srgbClr val="2E7D32"/>
                </a:solidFill>
                <a:latin typeface="微软雅黑"/>
                <a:ea typeface="微软雅黑"/>
              </a:rPr>
              <a:t>✓</a:t>
            </a:r>
            <a:endParaRPr/>
          </a:p>
        </p:txBody>
      </p:sp>
      <p:sp>
        <p:nvSpPr>
          <p:cNvPr id="1668" name="文本框 1667" descr="{&quot;isTemplate&quot;:true,&quot;type&quot;:&quot;text&quot;}"/>
          <p:cNvSpPr txBox="1"/>
          <p:nvPr/>
        </p:nvSpPr>
        <p:spPr>
          <a:xfrm>
            <a:off x="828675" y="4933950"/>
            <a:ext cx="6638925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用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 AI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优化代码风格与文档注释</a:t>
            </a:r>
            <a:endParaRPr/>
          </a:p>
        </p:txBody>
      </p:sp>
      <p:sp>
        <p:nvSpPr>
          <p:cNvPr id="1669" name="文本框 1668" descr="{&quot;isTemplate&quot;:true,&quot;type&quot;:&quot;text&quot;}"/>
          <p:cNvSpPr txBox="1"/>
          <p:nvPr/>
        </p:nvSpPr>
        <p:spPr>
          <a:xfrm>
            <a:off x="571500" y="5324475"/>
            <a:ext cx="16192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275">
                <a:solidFill>
                  <a:srgbClr val="2E7D32"/>
                </a:solidFill>
                <a:latin typeface="微软雅黑"/>
                <a:ea typeface="微软雅黑"/>
              </a:rPr>
              <a:t>✓</a:t>
            </a:r>
            <a:endParaRPr/>
          </a:p>
        </p:txBody>
      </p:sp>
      <p:sp>
        <p:nvSpPr>
          <p:cNvPr id="1670" name="文本框 1669" descr="{&quot;isTemplate&quot;:true,&quot;type&quot;:&quot;text&quot;}"/>
          <p:cNvSpPr txBox="1"/>
          <p:nvPr/>
        </p:nvSpPr>
        <p:spPr>
          <a:xfrm>
            <a:off x="828675" y="5324475"/>
            <a:ext cx="6638925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报告中说明「使用了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 AI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辅助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 XXX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，具体由本人验证」</a:t>
            </a:r>
            <a:endParaRPr/>
          </a:p>
        </p:txBody>
      </p:sp>
      <p:sp>
        <p:nvSpPr>
          <p:cNvPr id="1671" name="矩形: 圆角 1670"/>
          <p:cNvSpPr/>
          <p:nvPr/>
        </p:nvSpPr>
        <p:spPr>
          <a:xfrm>
            <a:off x="7810500" y="3638550"/>
            <a:ext cx="4000500" cy="2876550"/>
          </a:xfrm>
          <a:prstGeom prst="roundRect">
            <a:avLst>
              <a:gd name="adj" fmla="val 3974"/>
            </a:avLst>
          </a:prstGeom>
          <a:solidFill>
            <a:srgbClr val="E8F1FC"/>
          </a:solidFill>
          <a:ln w="12700">
            <a:solidFill>
              <a:srgbClr val="1E4F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72" name="文本框 1671" descr="{&quot;isTemplate&quot;:true,&quot;type&quot;:&quot;text&quot;}"/>
          <p:cNvSpPr txBox="1"/>
          <p:nvPr/>
        </p:nvSpPr>
        <p:spPr>
          <a:xfrm>
            <a:off x="8001000" y="3829050"/>
            <a:ext cx="36195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微软雅黑"/>
                <a:ea typeface="微软雅黑"/>
              </a:rPr>
              <a:t>判定标准只有一条</a:t>
            </a:r>
            <a:endParaRPr/>
          </a:p>
        </p:txBody>
      </p:sp>
      <p:sp>
        <p:nvSpPr>
          <p:cNvPr id="1673" name="矩形: 圆角 1672"/>
          <p:cNvSpPr/>
          <p:nvPr/>
        </p:nvSpPr>
        <p:spPr>
          <a:xfrm>
            <a:off x="8001000" y="4171950"/>
            <a:ext cx="3619500" cy="1343025"/>
          </a:xfrm>
          <a:prstGeom prst="roundRect">
            <a:avLst>
              <a:gd name="adj" fmla="val 567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74" name="文本框 1673" descr="{&quot;isTemplate&quot;:true,&quot;type&quot;:&quot;text&quot;}"/>
          <p:cNvSpPr txBox="1"/>
          <p:nvPr/>
        </p:nvSpPr>
        <p:spPr>
          <a:xfrm>
            <a:off x="8172450" y="4343400"/>
            <a:ext cx="3276600" cy="3333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60000"/>
              </a:lnSpc>
            </a:pPr>
            <a:r>
              <a:rPr lang="zh-CN" sz="1350" b="1">
                <a:solidFill>
                  <a:srgbClr val="0E3F8C"/>
                </a:solidFill>
                <a:latin typeface="微软雅黑"/>
                <a:ea typeface="微软雅黑"/>
              </a:rPr>
              <a:t>你能否对提交的每一行内容负责？</a:t>
            </a:r>
            <a:endParaRPr/>
          </a:p>
        </p:txBody>
      </p:sp>
      <p:sp>
        <p:nvSpPr>
          <p:cNvPr id="1675" name="文本框 1674" descr="{&quot;isTemplate&quot;:true,&quot;type&quot;:&quot;text&quot;}"/>
          <p:cNvSpPr txBox="1"/>
          <p:nvPr/>
        </p:nvSpPr>
        <p:spPr>
          <a:xfrm>
            <a:off x="8172450" y="4772025"/>
            <a:ext cx="3276600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ctr">
              <a:lnSpc>
                <a:spcPct val="155000"/>
              </a:lnSpc>
            </a:pPr>
            <a:r>
              <a:rPr lang="zh-CN" sz="1200">
                <a:solidFill>
                  <a:srgbClr val="3A4759"/>
                </a:solidFill>
                <a:latin typeface="微软雅黑"/>
                <a:ea typeface="微软雅黑"/>
              </a:rPr>
              <a:t>能解释</a:t>
            </a:r>
            <a:r>
              <a:rPr lang="en-US" sz="1200">
                <a:solidFill>
                  <a:srgbClr val="3A4759"/>
                </a:solidFill>
                <a:latin typeface="微软雅黑"/>
                <a:ea typeface="微软雅黑"/>
              </a:rPr>
              <a:t> → </a:t>
            </a:r>
            <a:r>
              <a:rPr lang="zh-CN" sz="1200">
                <a:solidFill>
                  <a:srgbClr val="3A4759"/>
                </a:solidFill>
                <a:latin typeface="微软雅黑"/>
                <a:ea typeface="微软雅黑"/>
              </a:rPr>
              <a:t>允许</a:t>
            </a:r>
            <a:r>
              <a:rPr lang="en-US" sz="1200">
                <a:solidFill>
                  <a:srgbClr val="3A4759"/>
                </a:solidFill>
                <a:latin typeface="微软雅黑"/>
                <a:ea typeface="微软雅黑"/>
              </a:rPr>
              <a:t> </a:t>
            </a:r>
            <a:r>
              <a:rPr lang="zh-CN" sz="1200">
                <a:solidFill>
                  <a:srgbClr val="3A4759"/>
                </a:solidFill>
                <a:latin typeface="微软雅黑"/>
                <a:ea typeface="微软雅黑"/>
              </a:rPr>
              <a:t>不能解释</a:t>
            </a:r>
            <a:r>
              <a:rPr lang="en-US" sz="1200">
                <a:solidFill>
                  <a:srgbClr val="3A4759"/>
                </a:solidFill>
                <a:latin typeface="微软雅黑"/>
                <a:ea typeface="微软雅黑"/>
              </a:rPr>
              <a:t> → </a:t>
            </a:r>
            <a:r>
              <a:rPr lang="zh-CN" sz="1200">
                <a:solidFill>
                  <a:srgbClr val="3A4759"/>
                </a:solidFill>
                <a:latin typeface="微软雅黑"/>
                <a:ea typeface="微软雅黑"/>
              </a:rPr>
              <a:t>不允许，无论它是谁写的</a:t>
            </a:r>
            <a:endParaRPr/>
          </a:p>
        </p:txBody>
      </p:sp>
      <p:sp>
        <p:nvSpPr>
          <p:cNvPr id="1676" name="文本框 1675" descr="{&quot;isTemplate&quot;:true,&quot;type&quot;:&quot;text&quot;}"/>
          <p:cNvSpPr txBox="1"/>
          <p:nvPr/>
        </p:nvSpPr>
        <p:spPr>
          <a:xfrm>
            <a:off x="8001000" y="5629275"/>
            <a:ext cx="361950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125">
                <a:solidFill>
                  <a:srgbClr val="6B7889"/>
                </a:solidFill>
                <a:latin typeface="微软雅黑"/>
                <a:ea typeface="微软雅黑"/>
              </a:rPr>
              <a:t>期末答辩中会随机抽查代码，你必须能现场讲清每一段的逻辑。</a:t>
            </a:r>
            <a:endParaRPr/>
          </a:p>
        </p:txBody>
      </p:sp>
      <p:sp>
        <p:nvSpPr>
          <p:cNvPr id="1677" name="文本框 1676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1678" name="文本框 1677" descr="{&quot;isTemplate&quot;:true,&quot;type&quot;:&quot;text&quot;}"/>
          <p:cNvSpPr txBox="1"/>
          <p:nvPr/>
        </p:nvSpPr>
        <p:spPr>
          <a:xfrm>
            <a:off x="54673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1679" name="文本框 1678" descr="{&quot;isTemplate&quot;:true,&quot;type&quot;:&quot;text&quot;}"/>
          <p:cNvSpPr txBox="1"/>
          <p:nvPr/>
        </p:nvSpPr>
        <p:spPr>
          <a:xfrm>
            <a:off x="11410950" y="6610350"/>
            <a:ext cx="4000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56 / 60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1" name="矩形 168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82" name="矩形 1681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83" name="文本框 1682" descr="{&quot;isTemplate&quot;:true,&quot;type&quot;:&quot;text&quot;}"/>
          <p:cNvSpPr txBox="1"/>
          <p:nvPr/>
        </p:nvSpPr>
        <p:spPr>
          <a:xfrm>
            <a:off x="342900" y="171450"/>
            <a:ext cx="3524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在材料科学中的应用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讲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材料信息学导论与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产业</a:t>
            </a:r>
            <a:endParaRPr/>
          </a:p>
        </p:txBody>
      </p:sp>
      <p:sp>
        <p:nvSpPr>
          <p:cNvPr id="1684" name="文本框 1683" descr="{&quot;isTemplate&quot;:true,&quot;type&quot;:&quot;text&quot;}"/>
          <p:cNvSpPr txBox="1"/>
          <p:nvPr/>
        </p:nvSpPr>
        <p:spPr>
          <a:xfrm>
            <a:off x="9353550" y="171450"/>
            <a:ext cx="13906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05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课程地图与学术诚信</a:t>
            </a:r>
            <a:endParaRPr/>
          </a:p>
        </p:txBody>
      </p:sp>
      <p:pic>
        <p:nvPicPr>
          <p:cNvPr id="1685" name="图片 1684"/>
          <p:cNvPicPr>
            <a:picLocks noChangeAspect="1"/>
          </p:cNvPicPr>
          <p:nvPr/>
        </p:nvPicPr>
        <p:blipFill>
          <a:blip r:embed="rId3"/>
          <a:srcRect l="847" r="847"/>
          <a:stretch>
            <a:fillRect/>
          </a:stretch>
        </p:blipFill>
        <p:spPr>
          <a:xfrm>
            <a:off x="10858500" y="123825"/>
            <a:ext cx="990600" cy="247650"/>
          </a:xfrm>
          <a:prstGeom prst="rect">
            <a:avLst/>
          </a:prstGeom>
          <a:ln/>
        </p:spPr>
      </p:pic>
      <p:sp>
        <p:nvSpPr>
          <p:cNvPr id="1686" name="文本框 1685" descr="{&quot;isTemplate&quot;:true,&quot;type&quot;:&quot;text&quot;}"/>
          <p:cNvSpPr txBox="1"/>
          <p:nvPr/>
        </p:nvSpPr>
        <p:spPr>
          <a:xfrm>
            <a:off x="381000" y="647700"/>
            <a:ext cx="11430000" cy="361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325" b="1">
                <a:solidFill>
                  <a:srgbClr val="0E3F8C"/>
                </a:solidFill>
                <a:latin typeface="钉钉进步体"/>
                <a:ea typeface="钉钉进步体"/>
              </a:rPr>
              <a:t>期末项目与论文研讨</a:t>
            </a:r>
            <a:endParaRPr/>
          </a:p>
        </p:txBody>
      </p:sp>
      <p:sp>
        <p:nvSpPr>
          <p:cNvPr id="1687" name="矩形: 圆角 1686"/>
          <p:cNvSpPr/>
          <p:nvPr/>
        </p:nvSpPr>
        <p:spPr>
          <a:xfrm>
            <a:off x="381000" y="1085850"/>
            <a:ext cx="571500" cy="47625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88" name="矩形: 圆角 1687"/>
          <p:cNvSpPr/>
          <p:nvPr/>
        </p:nvSpPr>
        <p:spPr>
          <a:xfrm>
            <a:off x="381000" y="1247775"/>
            <a:ext cx="5648325" cy="3143250"/>
          </a:xfrm>
          <a:prstGeom prst="roundRect">
            <a:avLst>
              <a:gd name="adj" fmla="val 303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89" name="矩形: 圆角 1688"/>
          <p:cNvSpPr/>
          <p:nvPr/>
        </p:nvSpPr>
        <p:spPr>
          <a:xfrm>
            <a:off x="533400" y="216217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90" name="文本框 1689" descr="{&quot;isTemplate&quot;:true,&quot;type&quot;:&quot;text&quot;}"/>
          <p:cNvSpPr txBox="1"/>
          <p:nvPr/>
        </p:nvSpPr>
        <p:spPr>
          <a:xfrm>
            <a:off x="609600" y="2200275"/>
            <a:ext cx="1047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微软雅黑"/>
                <a:ea typeface="微软雅黑"/>
              </a:rPr>
              <a:t>A</a:t>
            </a:r>
            <a:endParaRPr/>
          </a:p>
        </p:txBody>
      </p:sp>
      <p:sp>
        <p:nvSpPr>
          <p:cNvPr id="1691" name="文本框 1690" descr="{&quot;isTemplate&quot;:true,&quot;type&quot;:&quot;text&quot;}"/>
          <p:cNvSpPr txBox="1"/>
          <p:nvPr/>
        </p:nvSpPr>
        <p:spPr>
          <a:xfrm>
            <a:off x="857250" y="2181225"/>
            <a:ext cx="13716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微软雅黑"/>
                <a:ea typeface="微软雅黑"/>
              </a:rPr>
              <a:t>自主课题（推荐）</a:t>
            </a:r>
            <a:endParaRPr/>
          </a:p>
        </p:txBody>
      </p:sp>
      <p:sp>
        <p:nvSpPr>
          <p:cNvPr id="1692" name="文本框 1691" descr="{&quot;isTemplate&quot;:true,&quot;type&quot;:&quot;text&quot;}"/>
          <p:cNvSpPr txBox="1"/>
          <p:nvPr/>
        </p:nvSpPr>
        <p:spPr>
          <a:xfrm>
            <a:off x="533400" y="2409825"/>
            <a:ext cx="5343525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5000"/>
              </a:lnSpc>
            </a:pPr>
            <a:r>
              <a:rPr lang="en-US" sz="1050">
                <a:solidFill>
                  <a:srgbClr val="2C3947"/>
                </a:solidFill>
                <a:latin typeface="微软雅黑"/>
                <a:ea typeface="微软雅黑"/>
              </a:rPr>
              <a:t>· </a:t>
            </a:r>
            <a:r>
              <a:rPr lang="zh-CN" sz="1050">
                <a:solidFill>
                  <a:srgbClr val="2C3947"/>
                </a:solidFill>
                <a:latin typeface="微软雅黑"/>
                <a:ea typeface="微软雅黑"/>
              </a:rPr>
              <a:t>鼓励直接对接博士课题；数据可来自自有实验、自有计算或公开数据库</a:t>
            </a:r>
            <a:endParaRPr/>
          </a:p>
        </p:txBody>
      </p:sp>
      <p:sp>
        <p:nvSpPr>
          <p:cNvPr id="1693" name="文本框 1692" descr="{&quot;isTemplate&quot;:true,&quot;type&quot;:&quot;text&quot;}"/>
          <p:cNvSpPr txBox="1"/>
          <p:nvPr/>
        </p:nvSpPr>
        <p:spPr>
          <a:xfrm>
            <a:off x="533400" y="2676525"/>
            <a:ext cx="5343525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5000"/>
              </a:lnSpc>
            </a:pPr>
            <a:r>
              <a:rPr lang="en-US" sz="1050">
                <a:solidFill>
                  <a:srgbClr val="2C3947"/>
                </a:solidFill>
                <a:latin typeface="微软雅黑"/>
                <a:ea typeface="微软雅黑"/>
              </a:rPr>
              <a:t>· </a:t>
            </a:r>
            <a:r>
              <a:rPr lang="zh-CN" sz="1050">
                <a:solidFill>
                  <a:srgbClr val="2C3947"/>
                </a:solidFill>
                <a:latin typeface="微软雅黑"/>
                <a:ea typeface="微软雅黑"/>
              </a:rPr>
              <a:t>交付：可运行代码</a:t>
            </a:r>
            <a:r>
              <a:rPr lang="en-US" sz="1050">
                <a:solidFill>
                  <a:srgbClr val="2C3947"/>
                </a:solidFill>
                <a:latin typeface="微软雅黑"/>
                <a:ea typeface="微软雅黑"/>
              </a:rPr>
              <a:t> + </a:t>
            </a:r>
            <a:r>
              <a:rPr lang="zh-CN" sz="1050">
                <a:solidFill>
                  <a:srgbClr val="2C3947"/>
                </a:solidFill>
                <a:latin typeface="微软雅黑"/>
                <a:ea typeface="微软雅黑"/>
              </a:rPr>
              <a:t>项目报告</a:t>
            </a:r>
            <a:r>
              <a:rPr lang="en-US" sz="1050">
                <a:solidFill>
                  <a:srgbClr val="2C3947"/>
                </a:solidFill>
                <a:latin typeface="微软雅黑"/>
                <a:ea typeface="微软雅黑"/>
              </a:rPr>
              <a:t> + </a:t>
            </a:r>
            <a:r>
              <a:rPr lang="zh-CN" sz="1050">
                <a:solidFill>
                  <a:srgbClr val="2C3947"/>
                </a:solidFill>
                <a:latin typeface="微软雅黑"/>
                <a:ea typeface="微软雅黑"/>
              </a:rPr>
              <a:t>答辩材料；个人或</a:t>
            </a:r>
            <a:r>
              <a:rPr lang="en-US" sz="1050">
                <a:solidFill>
                  <a:srgbClr val="2C3947"/>
                </a:solidFill>
                <a:latin typeface="微软雅黑"/>
                <a:ea typeface="微软雅黑"/>
              </a:rPr>
              <a:t> 2—3 </a:t>
            </a:r>
            <a:r>
              <a:rPr lang="zh-CN" sz="1050">
                <a:solidFill>
                  <a:srgbClr val="2C3947"/>
                </a:solidFill>
                <a:latin typeface="微软雅黑"/>
                <a:ea typeface="微软雅黑"/>
              </a:rPr>
              <a:t>人组</a:t>
            </a:r>
            <a:endParaRPr/>
          </a:p>
        </p:txBody>
      </p:sp>
      <p:sp>
        <p:nvSpPr>
          <p:cNvPr id="1694" name="文本框 1693" descr="{&quot;isTemplate&quot;:true,&quot;type&quot;:&quot;text&quot;}"/>
          <p:cNvSpPr txBox="1"/>
          <p:nvPr/>
        </p:nvSpPr>
        <p:spPr>
          <a:xfrm>
            <a:off x="533400" y="2943225"/>
            <a:ext cx="5343525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5000"/>
              </a:lnSpc>
            </a:pPr>
            <a:r>
              <a:rPr lang="en-US" sz="1050">
                <a:solidFill>
                  <a:srgbClr val="2C3947"/>
                </a:solidFill>
                <a:latin typeface="微软雅黑"/>
                <a:ea typeface="微软雅黑"/>
              </a:rPr>
              <a:t>· </a:t>
            </a:r>
            <a:r>
              <a:rPr lang="zh-CN" sz="1050">
                <a:solidFill>
                  <a:srgbClr val="2C3947"/>
                </a:solidFill>
                <a:latin typeface="微软雅黑"/>
                <a:ea typeface="微软雅黑"/>
              </a:rPr>
              <a:t>评价：问题价值</a:t>
            </a:r>
            <a:r>
              <a:rPr lang="en-US" sz="1050">
                <a:solidFill>
                  <a:srgbClr val="2C3947"/>
                </a:solidFill>
                <a:latin typeface="微软雅黑"/>
                <a:ea typeface="微软雅黑"/>
              </a:rPr>
              <a:t> 20 / </a:t>
            </a:r>
            <a:r>
              <a:rPr lang="zh-CN" sz="1050">
                <a:solidFill>
                  <a:srgbClr val="2C3947"/>
                </a:solidFill>
                <a:latin typeface="微软雅黑"/>
                <a:ea typeface="微软雅黑"/>
              </a:rPr>
              <a:t>方法</a:t>
            </a:r>
            <a:r>
              <a:rPr lang="en-US" sz="1050">
                <a:solidFill>
                  <a:srgbClr val="2C3947"/>
                </a:solidFill>
                <a:latin typeface="微软雅黑"/>
                <a:ea typeface="微软雅黑"/>
              </a:rPr>
              <a:t> 30 / </a:t>
            </a:r>
            <a:r>
              <a:rPr lang="zh-CN" sz="1050">
                <a:solidFill>
                  <a:srgbClr val="2C3947"/>
                </a:solidFill>
                <a:latin typeface="微软雅黑"/>
                <a:ea typeface="微软雅黑"/>
              </a:rPr>
              <a:t>结果</a:t>
            </a:r>
            <a:r>
              <a:rPr lang="en-US" sz="1050">
                <a:solidFill>
                  <a:srgbClr val="2C3947"/>
                </a:solidFill>
                <a:latin typeface="微软雅黑"/>
                <a:ea typeface="微软雅黑"/>
              </a:rPr>
              <a:t> 25 / </a:t>
            </a:r>
            <a:r>
              <a:rPr lang="zh-CN" sz="1050">
                <a:solidFill>
                  <a:srgbClr val="2C3947"/>
                </a:solidFill>
                <a:latin typeface="微软雅黑"/>
                <a:ea typeface="微软雅黑"/>
              </a:rPr>
              <a:t>复现</a:t>
            </a:r>
            <a:r>
              <a:rPr lang="en-US" sz="1050">
                <a:solidFill>
                  <a:srgbClr val="2C3947"/>
                </a:solidFill>
                <a:latin typeface="微软雅黑"/>
                <a:ea typeface="微软雅黑"/>
              </a:rPr>
              <a:t> 15 / </a:t>
            </a:r>
            <a:r>
              <a:rPr lang="zh-CN" sz="1050">
                <a:solidFill>
                  <a:srgbClr val="2C3947"/>
                </a:solidFill>
                <a:latin typeface="微软雅黑"/>
                <a:ea typeface="微软雅黑"/>
              </a:rPr>
              <a:t>表达与贡献</a:t>
            </a:r>
            <a:r>
              <a:rPr lang="en-US" sz="1050">
                <a:solidFill>
                  <a:srgbClr val="2C3947"/>
                </a:solidFill>
                <a:latin typeface="微软雅黑"/>
                <a:ea typeface="微软雅黑"/>
              </a:rPr>
              <a:t> 10</a:t>
            </a:r>
            <a:endParaRPr/>
          </a:p>
        </p:txBody>
      </p:sp>
      <p:sp>
        <p:nvSpPr>
          <p:cNvPr id="1695" name="文本框 1694" descr="{&quot;isTemplate&quot;:true,&quot;type&quot;:&quot;text&quot;}"/>
          <p:cNvSpPr txBox="1"/>
          <p:nvPr/>
        </p:nvSpPr>
        <p:spPr>
          <a:xfrm>
            <a:off x="533400" y="3209925"/>
            <a:ext cx="5343525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5000"/>
              </a:lnSpc>
            </a:pPr>
            <a:r>
              <a:rPr lang="en-US" sz="1050">
                <a:solidFill>
                  <a:srgbClr val="2C3947"/>
                </a:solidFill>
                <a:latin typeface="微软雅黑"/>
                <a:ea typeface="微软雅黑"/>
              </a:rPr>
              <a:t>· </a:t>
            </a:r>
            <a:r>
              <a:rPr lang="zh-CN" sz="1050">
                <a:solidFill>
                  <a:srgbClr val="2C3947"/>
                </a:solidFill>
                <a:latin typeface="微软雅黑"/>
                <a:ea typeface="微软雅黑"/>
              </a:rPr>
              <a:t>必须写清「下一次实验</a:t>
            </a:r>
            <a:r>
              <a:rPr lang="en-US" sz="1050">
                <a:solidFill>
                  <a:srgbClr val="2C3947"/>
                </a:solidFill>
                <a:latin typeface="微软雅黑"/>
                <a:ea typeface="微软雅黑"/>
              </a:rPr>
              <a:t>/</a:t>
            </a:r>
            <a:r>
              <a:rPr lang="zh-CN" sz="1050">
                <a:solidFill>
                  <a:srgbClr val="2C3947"/>
                </a:solidFill>
                <a:latin typeface="微软雅黑"/>
                <a:ea typeface="微软雅黑"/>
              </a:rPr>
              <a:t>计算建议」，否则结果无法被检验</a:t>
            </a:r>
            <a:endParaRPr/>
          </a:p>
        </p:txBody>
      </p:sp>
      <p:sp>
        <p:nvSpPr>
          <p:cNvPr id="1696" name="矩形: 圆角 1695"/>
          <p:cNvSpPr/>
          <p:nvPr/>
        </p:nvSpPr>
        <p:spPr>
          <a:xfrm>
            <a:off x="6162675" y="1247775"/>
            <a:ext cx="5648325" cy="3143250"/>
          </a:xfrm>
          <a:prstGeom prst="roundRect">
            <a:avLst>
              <a:gd name="adj" fmla="val 303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97" name="矩形: 圆角 1696"/>
          <p:cNvSpPr/>
          <p:nvPr/>
        </p:nvSpPr>
        <p:spPr>
          <a:xfrm>
            <a:off x="6315075" y="216217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B26A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98" name="文本框 1697" descr="{&quot;isTemplate&quot;:true,&quot;type&quot;:&quot;text&quot;}"/>
          <p:cNvSpPr txBox="1"/>
          <p:nvPr/>
        </p:nvSpPr>
        <p:spPr>
          <a:xfrm>
            <a:off x="6391275" y="2200275"/>
            <a:ext cx="1047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微软雅黑"/>
                <a:ea typeface="微软雅黑"/>
              </a:rPr>
              <a:t>B</a:t>
            </a:r>
            <a:endParaRPr/>
          </a:p>
        </p:txBody>
      </p:sp>
      <p:sp>
        <p:nvSpPr>
          <p:cNvPr id="1699" name="文本框 1698" descr="{&quot;isTemplate&quot;:true,&quot;type&quot;:&quot;text&quot;}"/>
          <p:cNvSpPr txBox="1"/>
          <p:nvPr/>
        </p:nvSpPr>
        <p:spPr>
          <a:xfrm>
            <a:off x="6638925" y="2181225"/>
            <a:ext cx="13716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微软雅黑"/>
                <a:ea typeface="微软雅黑"/>
              </a:rPr>
              <a:t>高熵合金案例复现</a:t>
            </a:r>
            <a:endParaRPr/>
          </a:p>
        </p:txBody>
      </p:sp>
      <p:sp>
        <p:nvSpPr>
          <p:cNvPr id="1700" name="文本框 1699" descr="{&quot;isTemplate&quot;:true,&quot;type&quot;:&quot;text&quot;}"/>
          <p:cNvSpPr txBox="1"/>
          <p:nvPr/>
        </p:nvSpPr>
        <p:spPr>
          <a:xfrm>
            <a:off x="6315075" y="2409825"/>
            <a:ext cx="5343525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5000"/>
              </a:lnSpc>
            </a:pPr>
            <a:r>
              <a:rPr lang="en-US" sz="1050">
                <a:solidFill>
                  <a:srgbClr val="2C3947"/>
                </a:solidFill>
                <a:latin typeface="微软雅黑"/>
                <a:ea typeface="微软雅黑"/>
              </a:rPr>
              <a:t>· </a:t>
            </a:r>
            <a:r>
              <a:rPr lang="zh-CN" sz="1050">
                <a:solidFill>
                  <a:srgbClr val="2C3947"/>
                </a:solidFill>
                <a:latin typeface="微软雅黑"/>
                <a:ea typeface="微软雅黑"/>
              </a:rPr>
              <a:t>先确认相标签或性能数据确实可得；综述不能当作可复现数据集</a:t>
            </a:r>
            <a:endParaRPr/>
          </a:p>
        </p:txBody>
      </p:sp>
      <p:sp>
        <p:nvSpPr>
          <p:cNvPr id="1701" name="文本框 1700" descr="{&quot;isTemplate&quot;:true,&quot;type&quot;:&quot;text&quot;}"/>
          <p:cNvSpPr txBox="1"/>
          <p:nvPr/>
        </p:nvSpPr>
        <p:spPr>
          <a:xfrm>
            <a:off x="6315075" y="2676525"/>
            <a:ext cx="5343525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5000"/>
              </a:lnSpc>
            </a:pPr>
            <a:r>
              <a:rPr lang="en-US" sz="1050">
                <a:solidFill>
                  <a:srgbClr val="2C3947"/>
                </a:solidFill>
                <a:latin typeface="微软雅黑"/>
                <a:ea typeface="微软雅黑"/>
              </a:rPr>
              <a:t>· </a:t>
            </a:r>
            <a:r>
              <a:rPr lang="zh-CN" sz="1050">
                <a:solidFill>
                  <a:srgbClr val="2C3947"/>
                </a:solidFill>
                <a:latin typeface="微软雅黑"/>
                <a:ea typeface="微软雅黑"/>
              </a:rPr>
              <a:t>数据不可得就在第</a:t>
            </a:r>
            <a:r>
              <a:rPr lang="en-US" sz="1050">
                <a:solidFill>
                  <a:srgbClr val="2C3947"/>
                </a:solidFill>
                <a:latin typeface="微软雅黑"/>
                <a:ea typeface="微软雅黑"/>
              </a:rPr>
              <a:t> 8 </a:t>
            </a:r>
            <a:r>
              <a:rPr lang="zh-CN" sz="1050">
                <a:solidFill>
                  <a:srgbClr val="2C3947"/>
                </a:solidFill>
                <a:latin typeface="微软雅黑"/>
                <a:ea typeface="微软雅黑"/>
              </a:rPr>
              <a:t>讲立项前换题，不要编造硬度标签</a:t>
            </a:r>
            <a:endParaRPr/>
          </a:p>
        </p:txBody>
      </p:sp>
      <p:sp>
        <p:nvSpPr>
          <p:cNvPr id="1702" name="文本框 1701" descr="{&quot;isTemplate&quot;:true,&quot;type&quot;:&quot;text&quot;}"/>
          <p:cNvSpPr txBox="1"/>
          <p:nvPr/>
        </p:nvSpPr>
        <p:spPr>
          <a:xfrm>
            <a:off x="6315075" y="2943225"/>
            <a:ext cx="5343525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5000"/>
              </a:lnSpc>
            </a:pPr>
            <a:r>
              <a:rPr lang="en-US" sz="1050">
                <a:solidFill>
                  <a:srgbClr val="2C3947"/>
                </a:solidFill>
                <a:latin typeface="微软雅黑"/>
                <a:ea typeface="微软雅黑"/>
              </a:rPr>
              <a:t>· </a:t>
            </a:r>
            <a:r>
              <a:rPr lang="zh-CN" sz="1050">
                <a:solidFill>
                  <a:srgbClr val="2C3947"/>
                </a:solidFill>
                <a:latin typeface="微软雅黑"/>
                <a:ea typeface="微软雅黑"/>
              </a:rPr>
              <a:t>分类概率不能直接冒充硬度等连续性能</a:t>
            </a:r>
            <a:endParaRPr/>
          </a:p>
        </p:txBody>
      </p:sp>
      <p:sp>
        <p:nvSpPr>
          <p:cNvPr id="1703" name="文本框 1702" descr="{&quot;isTemplate&quot;:true,&quot;type&quot;:&quot;text&quot;}"/>
          <p:cNvSpPr txBox="1"/>
          <p:nvPr/>
        </p:nvSpPr>
        <p:spPr>
          <a:xfrm>
            <a:off x="6315075" y="3209925"/>
            <a:ext cx="5343525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5000"/>
              </a:lnSpc>
            </a:pPr>
            <a:r>
              <a:rPr lang="en-US" sz="1050">
                <a:solidFill>
                  <a:srgbClr val="2C3947"/>
                </a:solidFill>
                <a:latin typeface="微软雅黑"/>
                <a:ea typeface="微软雅黑"/>
              </a:rPr>
              <a:t>· </a:t>
            </a:r>
            <a:r>
              <a:rPr lang="zh-CN" sz="1050">
                <a:solidFill>
                  <a:srgbClr val="2C3947"/>
                </a:solidFill>
                <a:latin typeface="微软雅黑"/>
                <a:ea typeface="微软雅黑"/>
              </a:rPr>
              <a:t>做历史数据回放时逐次隐藏未查询标签，并标注为模拟回放</a:t>
            </a:r>
            <a:endParaRPr/>
          </a:p>
        </p:txBody>
      </p:sp>
      <p:sp>
        <p:nvSpPr>
          <p:cNvPr id="1704" name="矩形: 圆角 1703"/>
          <p:cNvSpPr/>
          <p:nvPr/>
        </p:nvSpPr>
        <p:spPr>
          <a:xfrm>
            <a:off x="381000" y="4486275"/>
            <a:ext cx="6991350" cy="2028825"/>
          </a:xfrm>
          <a:prstGeom prst="roundRect">
            <a:avLst>
              <a:gd name="adj" fmla="val 4695"/>
            </a:avLst>
          </a:prstGeom>
          <a:solidFill>
            <a:srgbClr val="FFFFFF"/>
          </a:solidFill>
          <a:ln w="12700">
            <a:solidFill>
              <a:srgbClr val="1E4F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05" name="文本框 1704" descr="{&quot;isTemplate&quot;:true,&quot;type&quot;:&quot;text&quot;}"/>
          <p:cNvSpPr txBox="1"/>
          <p:nvPr/>
        </p:nvSpPr>
        <p:spPr>
          <a:xfrm>
            <a:off x="533400" y="4600575"/>
            <a:ext cx="66865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微软雅黑"/>
                <a:ea typeface="微软雅黑"/>
              </a:rPr>
              <a:t>项目节点与容量</a:t>
            </a:r>
            <a:endParaRPr/>
          </a:p>
        </p:txBody>
      </p:sp>
      <p:sp>
        <p:nvSpPr>
          <p:cNvPr id="1706" name="文本框 1705" descr="{&quot;isTemplate&quot;:true,&quot;type&quot;:&quot;text&quot;}"/>
          <p:cNvSpPr txBox="1"/>
          <p:nvPr/>
        </p:nvSpPr>
        <p:spPr>
          <a:xfrm>
            <a:off x="533400" y="4886325"/>
            <a:ext cx="6686550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5000"/>
              </a:lnSpc>
            </a:pP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第</a:t>
            </a: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 2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讲</a:t>
            </a: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意向</a:t>
            </a: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 →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第</a:t>
            </a: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 8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讲</a:t>
            </a: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一页计划</a:t>
            </a: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 →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第</a:t>
            </a: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 10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讲</a:t>
            </a: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中期检查</a:t>
            </a: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 →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第</a:t>
            </a: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 14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讲前</a:t>
            </a: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代码反馈</a:t>
            </a: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 →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第</a:t>
            </a: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 16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讲前</a:t>
            </a: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 24 h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终稿</a:t>
            </a: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 →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第</a:t>
            </a: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 16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讲</a:t>
            </a: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答辩</a:t>
            </a:r>
            <a:endParaRPr/>
          </a:p>
        </p:txBody>
      </p:sp>
      <p:sp>
        <p:nvSpPr>
          <p:cNvPr id="1707" name="文本框 1706" descr="{&quot;isTemplate&quot;:true,&quot;type&quot;:&quot;text&quot;}"/>
          <p:cNvSpPr txBox="1"/>
          <p:nvPr/>
        </p:nvSpPr>
        <p:spPr>
          <a:xfrm>
            <a:off x="533400" y="5514975"/>
            <a:ext cx="668655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5000"/>
              </a:lnSpc>
            </a:pP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班级</a:t>
            </a: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 11—30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人，目标项目数</a:t>
            </a: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 ≤ 10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；个人或</a:t>
            </a: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 2—3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人组均可，展示模式在第</a:t>
            </a: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 8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讲固定。</a:t>
            </a:r>
            <a:endParaRPr/>
          </a:p>
        </p:txBody>
      </p:sp>
      <p:sp>
        <p:nvSpPr>
          <p:cNvPr id="1708" name="矩形: 圆角 1707"/>
          <p:cNvSpPr/>
          <p:nvPr/>
        </p:nvSpPr>
        <p:spPr>
          <a:xfrm>
            <a:off x="533400" y="5876925"/>
            <a:ext cx="6686550" cy="409575"/>
          </a:xfrm>
          <a:prstGeom prst="roundRect">
            <a:avLst>
              <a:gd name="adj" fmla="val 18605"/>
            </a:avLst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09" name="文本框 1708" descr="{&quot;isTemplate&quot;:true,&quot;type&quot;:&quot;text&quot;}"/>
          <p:cNvSpPr txBox="1"/>
          <p:nvPr/>
        </p:nvSpPr>
        <p:spPr>
          <a:xfrm>
            <a:off x="647700" y="5953125"/>
            <a:ext cx="64579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sz="1050">
                <a:solidFill>
                  <a:srgbClr val="2C3947"/>
                </a:solidFill>
                <a:latin typeface="微软雅黑"/>
                <a:ea typeface="微软雅黑"/>
              </a:rPr>
              <a:t>历史数据做优化回放时须逐次隐藏未查询标签，并标注</a:t>
            </a:r>
            <a:r>
              <a:rPr lang="zh-CN" sz="1050" b="1">
                <a:solidFill>
                  <a:srgbClr val="2C3947"/>
                </a:solidFill>
                <a:latin typeface="微软雅黑"/>
                <a:ea typeface="微软雅黑"/>
              </a:rPr>
              <a:t>「模拟回放」</a:t>
            </a:r>
            <a:r>
              <a:rPr lang="zh-CN" sz="1050">
                <a:solidFill>
                  <a:srgbClr val="2C3947"/>
                </a:solidFill>
                <a:latin typeface="微软雅黑"/>
                <a:ea typeface="微软雅黑"/>
              </a:rPr>
              <a:t>——它不是新实验。</a:t>
            </a:r>
            <a:endParaRPr/>
          </a:p>
        </p:txBody>
      </p:sp>
      <p:sp>
        <p:nvSpPr>
          <p:cNvPr id="1710" name="矩形: 圆角 1709"/>
          <p:cNvSpPr/>
          <p:nvPr/>
        </p:nvSpPr>
        <p:spPr>
          <a:xfrm>
            <a:off x="7505700" y="4486275"/>
            <a:ext cx="4305300" cy="2028825"/>
          </a:xfrm>
          <a:prstGeom prst="roundRect">
            <a:avLst>
              <a:gd name="adj" fmla="val 469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11" name="文本框 1710" descr="{&quot;isTemplate&quot;:true,&quot;type&quot;:&quot;text&quot;}"/>
          <p:cNvSpPr txBox="1"/>
          <p:nvPr/>
        </p:nvSpPr>
        <p:spPr>
          <a:xfrm>
            <a:off x="7658100" y="4600575"/>
            <a:ext cx="40005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微软雅黑"/>
                <a:ea typeface="微软雅黑"/>
              </a:rPr>
              <a:t>论文评议（全员同一标准）</a:t>
            </a:r>
            <a:endParaRPr/>
          </a:p>
        </p:txBody>
      </p:sp>
      <p:sp>
        <p:nvSpPr>
          <p:cNvPr id="1712" name="文本框 1711" descr="{&quot;isTemplate&quot;:true,&quot;type&quot;:&quot;text&quot;}"/>
          <p:cNvSpPr txBox="1"/>
          <p:nvPr/>
        </p:nvSpPr>
        <p:spPr>
          <a:xfrm>
            <a:off x="7658100" y="4886325"/>
            <a:ext cx="4000500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5000"/>
              </a:lnSpc>
            </a:pP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第</a:t>
            </a: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 4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讲</a:t>
            </a: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公布候选（每人只精读</a:t>
            </a: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 1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篇）；第</a:t>
            </a: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 8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、</a:t>
            </a: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10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讲</a:t>
            </a: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各</a:t>
            </a: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 20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分钟研讨：</a:t>
            </a: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2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项</a:t>
            </a: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 × (7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分钟报告</a:t>
            </a: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 + 3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分钟质询</a:t>
            </a: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)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。</a:t>
            </a:r>
            <a:endParaRPr/>
          </a:p>
        </p:txBody>
      </p:sp>
      <p:sp>
        <p:nvSpPr>
          <p:cNvPr id="1713" name="文本框 1712" descr="{&quot;isTemplate&quot;:true,&quot;type&quot;:&quot;text&quot;}"/>
          <p:cNvSpPr txBox="1"/>
          <p:nvPr/>
        </p:nvSpPr>
        <p:spPr>
          <a:xfrm>
            <a:off x="7658100" y="5514975"/>
            <a:ext cx="4000500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5000"/>
              </a:lnSpc>
            </a:pP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第</a:t>
            </a: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 10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讲</a:t>
            </a: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统一截止：</a:t>
            </a: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1000—1500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字评议</a:t>
            </a: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 +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约</a:t>
            </a: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 300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字讨论记录。</a:t>
            </a:r>
            <a:endParaRPr/>
          </a:p>
        </p:txBody>
      </p:sp>
      <p:sp>
        <p:nvSpPr>
          <p:cNvPr id="1714" name="文本框 1713" descr="{&quot;isTemplate&quot;:true,&quot;type&quot;:&quot;text&quot;}"/>
          <p:cNvSpPr txBox="1"/>
          <p:nvPr/>
        </p:nvSpPr>
        <p:spPr>
          <a:xfrm>
            <a:off x="7658100" y="6143625"/>
            <a:ext cx="40005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sz="1050">
                <a:solidFill>
                  <a:srgbClr val="5D6E85"/>
                </a:solidFill>
                <a:latin typeface="微软雅黑"/>
                <a:ea typeface="微软雅黑"/>
              </a:rPr>
              <a:t>是否获选现场报告不改变分数，现场仅作形成性反馈。</a:t>
            </a:r>
            <a:endParaRPr/>
          </a:p>
        </p:txBody>
      </p:sp>
      <p:sp>
        <p:nvSpPr>
          <p:cNvPr id="1715" name="文本框 1714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1716" name="文本框 1715" descr="{&quot;isTemplate&quot;:true,&quot;type&quot;:&quot;text&quot;}"/>
          <p:cNvSpPr txBox="1"/>
          <p:nvPr/>
        </p:nvSpPr>
        <p:spPr>
          <a:xfrm>
            <a:off x="54673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1717" name="文本框 1716" descr="{&quot;isTemplate&quot;:true,&quot;type&quot;:&quot;text&quot;}"/>
          <p:cNvSpPr txBox="1"/>
          <p:nvPr/>
        </p:nvSpPr>
        <p:spPr>
          <a:xfrm>
            <a:off x="11410950" y="6610350"/>
            <a:ext cx="4000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57 / 60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9" name="矩形 17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20" name="矩形 1719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21" name="文本框 1720" descr="{&quot;isTemplate&quot;:true,&quot;type&quot;:&quot;text&quot;}"/>
          <p:cNvSpPr txBox="1"/>
          <p:nvPr/>
        </p:nvSpPr>
        <p:spPr>
          <a:xfrm>
            <a:off x="342900" y="171450"/>
            <a:ext cx="3524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在材料科学中的应用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讲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材料信息学导论与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产业</a:t>
            </a:r>
            <a:endParaRPr/>
          </a:p>
        </p:txBody>
      </p:sp>
      <p:sp>
        <p:nvSpPr>
          <p:cNvPr id="1722" name="文本框 1721" descr="{&quot;isTemplate&quot;:true,&quot;type&quot;:&quot;text&quot;}"/>
          <p:cNvSpPr txBox="1"/>
          <p:nvPr/>
        </p:nvSpPr>
        <p:spPr>
          <a:xfrm>
            <a:off x="9353550" y="171450"/>
            <a:ext cx="13906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05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课程地图与学术诚信</a:t>
            </a:r>
            <a:endParaRPr/>
          </a:p>
        </p:txBody>
      </p:sp>
      <p:pic>
        <p:nvPicPr>
          <p:cNvPr id="1723" name="图片 1722"/>
          <p:cNvPicPr>
            <a:picLocks noChangeAspect="1"/>
          </p:cNvPicPr>
          <p:nvPr/>
        </p:nvPicPr>
        <p:blipFill>
          <a:blip r:embed="rId2"/>
          <a:srcRect l="847" r="847"/>
          <a:stretch>
            <a:fillRect/>
          </a:stretch>
        </p:blipFill>
        <p:spPr>
          <a:xfrm>
            <a:off x="10858500" y="123825"/>
            <a:ext cx="990600" cy="247650"/>
          </a:xfrm>
          <a:prstGeom prst="rect">
            <a:avLst/>
          </a:prstGeom>
          <a:ln/>
        </p:spPr>
      </p:pic>
      <p:sp>
        <p:nvSpPr>
          <p:cNvPr id="1724" name="文本框 1723" descr="{&quot;isTemplate&quot;:true,&quot;type&quot;:&quot;text&quot;}"/>
          <p:cNvSpPr txBox="1"/>
          <p:nvPr/>
        </p:nvSpPr>
        <p:spPr>
          <a:xfrm>
            <a:off x="381000" y="666750"/>
            <a:ext cx="114300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钉钉进步体"/>
                <a:ea typeface="钉钉进步体"/>
              </a:rPr>
              <a:t>本讲小结与下讲预告</a:t>
            </a:r>
            <a:endParaRPr/>
          </a:p>
        </p:txBody>
      </p:sp>
      <p:sp>
        <p:nvSpPr>
          <p:cNvPr id="1725" name="矩形: 圆角 1724"/>
          <p:cNvSpPr/>
          <p:nvPr/>
        </p:nvSpPr>
        <p:spPr>
          <a:xfrm>
            <a:off x="381000" y="1114425"/>
            <a:ext cx="571500" cy="47625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26" name="矩形: 圆角 1725"/>
          <p:cNvSpPr/>
          <p:nvPr/>
        </p:nvSpPr>
        <p:spPr>
          <a:xfrm>
            <a:off x="381000" y="1333500"/>
            <a:ext cx="7143750" cy="4057650"/>
          </a:xfrm>
          <a:prstGeom prst="roundRect">
            <a:avLst>
              <a:gd name="adj" fmla="val 281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27" name="文本框 1726" descr="{&quot;isTemplate&quot;:true,&quot;type&quot;:&quot;text&quot;}"/>
          <p:cNvSpPr txBox="1"/>
          <p:nvPr/>
        </p:nvSpPr>
        <p:spPr>
          <a:xfrm>
            <a:off x="590550" y="1543050"/>
            <a:ext cx="67246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微软雅黑"/>
                <a:ea typeface="微软雅黑"/>
              </a:rPr>
              <a:t>本讲要点回顾</a:t>
            </a:r>
            <a:endParaRPr/>
          </a:p>
        </p:txBody>
      </p:sp>
      <p:sp>
        <p:nvSpPr>
          <p:cNvPr id="1728" name="矩形: 圆角 1727"/>
          <p:cNvSpPr/>
          <p:nvPr/>
        </p:nvSpPr>
        <p:spPr>
          <a:xfrm>
            <a:off x="590550" y="19812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29" name="文本框 1728" descr="{&quot;isTemplate&quot;:true,&quot;type&quot;:&quot;text&quot;}"/>
          <p:cNvSpPr txBox="1"/>
          <p:nvPr/>
        </p:nvSpPr>
        <p:spPr>
          <a:xfrm>
            <a:off x="762000" y="1905000"/>
            <a:ext cx="65532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MI =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数据科学应用于材料科学</a:t>
            </a:r>
            <a:endParaRPr/>
          </a:p>
        </p:txBody>
      </p:sp>
      <p:sp>
        <p:nvSpPr>
          <p:cNvPr id="1730" name="矩形: 圆角 1729"/>
          <p:cNvSpPr/>
          <p:nvPr/>
        </p:nvSpPr>
        <p:spPr>
          <a:xfrm>
            <a:off x="590550" y="23907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31" name="文本框 1730" descr="{&quot;isTemplate&quot;:true,&quot;type&quot;:&quot;text&quot;}"/>
          <p:cNvSpPr txBox="1"/>
          <p:nvPr/>
        </p:nvSpPr>
        <p:spPr>
          <a:xfrm>
            <a:off x="762000" y="2314575"/>
            <a:ext cx="65532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四种方法并存协同，不是替代阶梯</a:t>
            </a:r>
            <a:endParaRPr/>
          </a:p>
        </p:txBody>
      </p:sp>
      <p:sp>
        <p:nvSpPr>
          <p:cNvPr id="1732" name="矩形: 圆角 1731"/>
          <p:cNvSpPr/>
          <p:nvPr/>
        </p:nvSpPr>
        <p:spPr>
          <a:xfrm>
            <a:off x="590550" y="28003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33" name="文本框 1732" descr="{&quot;isTemplate&quot;:true,&quot;type&quot;:&quot;text&quot;}"/>
          <p:cNvSpPr txBox="1"/>
          <p:nvPr/>
        </p:nvSpPr>
        <p:spPr>
          <a:xfrm>
            <a:off x="762000" y="2724150"/>
            <a:ext cx="6553200" cy="295275"/>
          </a:xfrm>
          <a:prstGeom prst="rect">
            <a:avLst/>
          </a:prstGeom>
        </p:spPr>
        <p:txBody>
          <a:bodyPr wrap="square" lIns="0" tIns="0" rIns="0" bIns="0"/>
          <a:lstStyle/>
          <a:p>
            <a:pPr>
              <a:lnSpc>
                <a:spcPct val="150000"/>
              </a:lnSpc>
            </a:pP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六维是本课的任务条件，不是领域二分</a:t>
            </a:r>
            <a:endParaRPr/>
          </a:p>
        </p:txBody>
      </p:sp>
      <p:sp>
        <p:nvSpPr>
          <p:cNvPr id="1734" name="矩形: 圆角 1733"/>
          <p:cNvSpPr/>
          <p:nvPr/>
        </p:nvSpPr>
        <p:spPr>
          <a:xfrm>
            <a:off x="590550" y="32099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35" name="文本框 1734" descr="{&quot;isTemplate&quot;:true,&quot;type&quot;:&quot;text&quot;}"/>
          <p:cNvSpPr txBox="1"/>
          <p:nvPr/>
        </p:nvSpPr>
        <p:spPr>
          <a:xfrm>
            <a:off x="762000" y="3133725"/>
            <a:ext cx="65532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成分组合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 ≈5.8×10¹²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，靠枚举无法覆盖</a:t>
            </a:r>
            <a:endParaRPr/>
          </a:p>
        </p:txBody>
      </p:sp>
      <p:sp>
        <p:nvSpPr>
          <p:cNvPr id="1736" name="矩形: 圆角 1735"/>
          <p:cNvSpPr/>
          <p:nvPr/>
        </p:nvSpPr>
        <p:spPr>
          <a:xfrm>
            <a:off x="590550" y="36195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37" name="文本框 1736" descr="{&quot;isTemplate&quot;:true,&quot;type&quot;:&quot;text&quot;}"/>
          <p:cNvSpPr txBox="1"/>
          <p:nvPr/>
        </p:nvSpPr>
        <p:spPr>
          <a:xfrm>
            <a:off x="762000" y="3543300"/>
            <a:ext cx="65532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AI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材料已进入产业，但需警惕泡沫期</a:t>
            </a:r>
            <a:endParaRPr/>
          </a:p>
        </p:txBody>
      </p:sp>
      <p:sp>
        <p:nvSpPr>
          <p:cNvPr id="1738" name="矩形: 圆角 1737"/>
          <p:cNvSpPr/>
          <p:nvPr/>
        </p:nvSpPr>
        <p:spPr>
          <a:xfrm>
            <a:off x="7715250" y="1333500"/>
            <a:ext cx="4095750" cy="4057650"/>
          </a:xfrm>
          <a:prstGeom prst="roundRect">
            <a:avLst>
              <a:gd name="adj" fmla="val 2817"/>
            </a:avLst>
          </a:prstGeom>
          <a:solidFill>
            <a:srgbClr val="E8F1FC"/>
          </a:solidFill>
          <a:ln w="12700">
            <a:solidFill>
              <a:srgbClr val="1E4F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39" name="文本框 1738" descr="{&quot;isTemplate&quot;:true,&quot;type&quot;:&quot;text&quot;}"/>
          <p:cNvSpPr txBox="1"/>
          <p:nvPr/>
        </p:nvSpPr>
        <p:spPr>
          <a:xfrm>
            <a:off x="7924800" y="1543050"/>
            <a:ext cx="36766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E3F8C"/>
                </a:solidFill>
                <a:latin typeface="微软雅黑"/>
                <a:ea typeface="微软雅黑"/>
              </a:rPr>
              <a:t>下讲预告：第</a:t>
            </a:r>
            <a:r>
              <a:rPr lang="en-US" sz="1575" b="1">
                <a:solidFill>
                  <a:srgbClr val="0E3F8C"/>
                </a:solidFill>
                <a:latin typeface="微软雅黑"/>
                <a:ea typeface="微软雅黑"/>
              </a:rPr>
              <a:t> 2 </a:t>
            </a:r>
            <a:r>
              <a:rPr lang="zh-CN" sz="1575" b="1">
                <a:solidFill>
                  <a:srgbClr val="0E3F8C"/>
                </a:solidFill>
                <a:latin typeface="微软雅黑"/>
                <a:ea typeface="微软雅黑"/>
              </a:rPr>
              <a:t>讲</a:t>
            </a:r>
            <a:endParaRPr/>
          </a:p>
        </p:txBody>
      </p:sp>
      <p:sp>
        <p:nvSpPr>
          <p:cNvPr id="1740" name="文本框 1739" descr="{&quot;isTemplate&quot;:true,&quot;type&quot;:&quot;text&quot;}"/>
          <p:cNvSpPr txBox="1"/>
          <p:nvPr/>
        </p:nvSpPr>
        <p:spPr>
          <a:xfrm>
            <a:off x="7924800" y="1885950"/>
            <a:ext cx="36766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B1B33"/>
                </a:solidFill>
                <a:latin typeface="微软雅黑"/>
                <a:ea typeface="微软雅黑"/>
              </a:rPr>
              <a:t>机器学习任务类型与材料数据生态</a:t>
            </a:r>
            <a:endParaRPr/>
          </a:p>
        </p:txBody>
      </p:sp>
      <p:sp>
        <p:nvSpPr>
          <p:cNvPr id="1741" name="矩形: 圆角 1740"/>
          <p:cNvSpPr/>
          <p:nvPr/>
        </p:nvSpPr>
        <p:spPr>
          <a:xfrm>
            <a:off x="7924800" y="22955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42" name="文本框 1741" descr="{&quot;isTemplate&quot;:true,&quot;type&quot;:&quot;text&quot;}"/>
          <p:cNvSpPr txBox="1"/>
          <p:nvPr/>
        </p:nvSpPr>
        <p:spPr>
          <a:xfrm>
            <a:off x="8096250" y="2219325"/>
            <a:ext cx="35052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为什么「选对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 ML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任务」等于「选对问题」</a:t>
            </a:r>
            <a:endParaRPr/>
          </a:p>
        </p:txBody>
      </p:sp>
      <p:sp>
        <p:nvSpPr>
          <p:cNvPr id="1743" name="矩形: 圆角 1742"/>
          <p:cNvSpPr/>
          <p:nvPr/>
        </p:nvSpPr>
        <p:spPr>
          <a:xfrm>
            <a:off x="7924800" y="27051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44" name="文本框 1743" descr="{&quot;isTemplate&quot;:true,&quot;type&quot;:&quot;text&quot;}"/>
          <p:cNvSpPr txBox="1"/>
          <p:nvPr/>
        </p:nvSpPr>
        <p:spPr>
          <a:xfrm>
            <a:off x="8096250" y="2628900"/>
            <a:ext cx="35052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材料数据的五个特点</a:t>
            </a:r>
            <a:endParaRPr/>
          </a:p>
        </p:txBody>
      </p:sp>
      <p:sp>
        <p:nvSpPr>
          <p:cNvPr id="1745" name="矩形: 圆角 1744"/>
          <p:cNvSpPr/>
          <p:nvPr/>
        </p:nvSpPr>
        <p:spPr>
          <a:xfrm>
            <a:off x="7924800" y="31146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46" name="文本框 1745" descr="{&quot;isTemplate&quot;:true,&quot;type&quot;:&quot;text&quot;}"/>
          <p:cNvSpPr txBox="1"/>
          <p:nvPr/>
        </p:nvSpPr>
        <p:spPr>
          <a:xfrm>
            <a:off x="8096250" y="3038475"/>
            <a:ext cx="35052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主流数据库全景对比与选型</a:t>
            </a:r>
            <a:endParaRPr/>
          </a:p>
        </p:txBody>
      </p:sp>
      <p:sp>
        <p:nvSpPr>
          <p:cNvPr id="1747" name="矩形: 圆角 1746"/>
          <p:cNvSpPr/>
          <p:nvPr/>
        </p:nvSpPr>
        <p:spPr>
          <a:xfrm>
            <a:off x="7924800" y="35242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48" name="文本框 1747" descr="{&quot;isTemplate&quot;:true,&quot;type&quot;:&quot;text&quot;}"/>
          <p:cNvSpPr txBox="1"/>
          <p:nvPr/>
        </p:nvSpPr>
        <p:spPr>
          <a:xfrm>
            <a:off x="8096250" y="3448050"/>
            <a:ext cx="3505200" cy="2952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数据访问方式与</a:t>
            </a:r>
            <a:r>
              <a:rPr lang="en-US" sz="1275">
                <a:solidFill>
                  <a:srgbClr val="1A2230"/>
                </a:solidFill>
                <a:latin typeface="微软雅黑"/>
                <a:ea typeface="微软雅黑"/>
              </a:rPr>
              <a:t> pymatgen </a:t>
            </a:r>
            <a:r>
              <a:rPr lang="zh-CN" sz="1275">
                <a:solidFill>
                  <a:srgbClr val="1A2230"/>
                </a:solidFill>
                <a:latin typeface="微软雅黑"/>
                <a:ea typeface="微软雅黑"/>
              </a:rPr>
              <a:t>核心对象</a:t>
            </a:r>
            <a:endParaRPr/>
          </a:p>
        </p:txBody>
      </p:sp>
      <p:sp>
        <p:nvSpPr>
          <p:cNvPr id="1749" name="矩形: 圆角 1748"/>
          <p:cNvSpPr/>
          <p:nvPr/>
        </p:nvSpPr>
        <p:spPr>
          <a:xfrm>
            <a:off x="381000" y="5524500"/>
            <a:ext cx="11430000" cy="990600"/>
          </a:xfrm>
          <a:prstGeom prst="roundRect">
            <a:avLst>
              <a:gd name="adj" fmla="val 11538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50" name="文本框 1749" descr="{&quot;isTemplate&quot;:true,&quot;type&quot;:&quot;text&quot;}"/>
          <p:cNvSpPr txBox="1"/>
          <p:nvPr/>
        </p:nvSpPr>
        <p:spPr>
          <a:xfrm>
            <a:off x="3943350" y="5867400"/>
            <a:ext cx="430530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950">
                <a:solidFill>
                  <a:srgbClr val="FFFFFF"/>
                </a:solidFill>
                <a:latin typeface="钉钉进步体"/>
                <a:ea typeface="钉钉进步体"/>
              </a:rPr>
              <a:t>材料信息学</a:t>
            </a:r>
            <a:r>
              <a:rPr lang="en-US" sz="1950">
                <a:solidFill>
                  <a:srgbClr val="FFFFFF"/>
                </a:solidFill>
                <a:latin typeface="钉钉进步体"/>
                <a:ea typeface="钉钉进步体"/>
              </a:rPr>
              <a:t> = </a:t>
            </a:r>
            <a:r>
              <a:rPr lang="zh-CN" sz="1950">
                <a:solidFill>
                  <a:srgbClr val="FFFFFF"/>
                </a:solidFill>
                <a:latin typeface="钉钉进步体"/>
                <a:ea typeface="钉钉进步体"/>
              </a:rPr>
              <a:t>数据科学应用于材料科学</a:t>
            </a:r>
            <a:endParaRPr/>
          </a:p>
        </p:txBody>
      </p:sp>
      <p:sp>
        <p:nvSpPr>
          <p:cNvPr id="1752" name="文本框 1751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1753" name="文本框 1752" descr="{&quot;isTemplate&quot;:true,&quot;type&quot;:&quot;text&quot;}"/>
          <p:cNvSpPr txBox="1"/>
          <p:nvPr/>
        </p:nvSpPr>
        <p:spPr>
          <a:xfrm>
            <a:off x="54673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1754" name="文本框 1753" descr="{&quot;isTemplate&quot;:true,&quot;type&quot;:&quot;text&quot;}"/>
          <p:cNvSpPr txBox="1"/>
          <p:nvPr/>
        </p:nvSpPr>
        <p:spPr>
          <a:xfrm>
            <a:off x="11410950" y="6610350"/>
            <a:ext cx="4000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58 / 60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6" name="矩形 175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57" name="矩形 1756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58" name="文本框 1757" descr="{&quot;isTemplate&quot;:true,&quot;type&quot;:&quot;text&quot;}"/>
          <p:cNvSpPr txBox="1"/>
          <p:nvPr/>
        </p:nvSpPr>
        <p:spPr>
          <a:xfrm>
            <a:off x="342900" y="171450"/>
            <a:ext cx="3524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在材料科学中的应用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讲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材料信息学导论与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产业</a:t>
            </a:r>
            <a:endParaRPr/>
          </a:p>
        </p:txBody>
      </p:sp>
      <p:sp>
        <p:nvSpPr>
          <p:cNvPr id="1759" name="文本框 1758" descr="{&quot;isTemplate&quot;:true,&quot;type&quot;:&quot;text&quot;}"/>
          <p:cNvSpPr txBox="1"/>
          <p:nvPr/>
        </p:nvSpPr>
        <p:spPr>
          <a:xfrm>
            <a:off x="9810750" y="171450"/>
            <a:ext cx="9334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导论</a:t>
            </a: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 ·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课堂实践</a:t>
            </a:r>
            <a:endParaRPr/>
          </a:p>
        </p:txBody>
      </p:sp>
      <p:pic>
        <p:nvPicPr>
          <p:cNvPr id="1760" name="图片 1759"/>
          <p:cNvPicPr>
            <a:picLocks noChangeAspect="1"/>
          </p:cNvPicPr>
          <p:nvPr/>
        </p:nvPicPr>
        <p:blipFill>
          <a:blip r:embed="rId3"/>
          <a:srcRect l="847" r="847"/>
          <a:stretch>
            <a:fillRect/>
          </a:stretch>
        </p:blipFill>
        <p:spPr>
          <a:xfrm>
            <a:off x="10858500" y="123825"/>
            <a:ext cx="990600" cy="247650"/>
          </a:xfrm>
          <a:prstGeom prst="rect">
            <a:avLst/>
          </a:prstGeom>
          <a:ln/>
        </p:spPr>
      </p:pic>
      <p:sp>
        <p:nvSpPr>
          <p:cNvPr id="1761" name="文本框 1760" descr="{&quot;isTemplate&quot;:true,&quot;type&quot;:&quot;text&quot;}"/>
          <p:cNvSpPr txBox="1"/>
          <p:nvPr/>
        </p:nvSpPr>
        <p:spPr>
          <a:xfrm>
            <a:off x="381000" y="647700"/>
            <a:ext cx="11430000" cy="361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325" b="1">
                <a:solidFill>
                  <a:srgbClr val="0E3F8C"/>
                </a:solidFill>
                <a:latin typeface="钉钉进步体"/>
                <a:ea typeface="钉钉进步体"/>
              </a:rPr>
              <a:t>基础 Python 预检（15 分钟）</a:t>
            </a:r>
            <a:endParaRPr/>
          </a:p>
        </p:txBody>
      </p:sp>
      <p:sp>
        <p:nvSpPr>
          <p:cNvPr id="1762" name="矩形: 圆角 1761"/>
          <p:cNvSpPr/>
          <p:nvPr/>
        </p:nvSpPr>
        <p:spPr>
          <a:xfrm>
            <a:off x="381000" y="1085850"/>
            <a:ext cx="571500" cy="47625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63" name="文本框 1762" descr="{&quot;isTemplate&quot;:true,&quot;type&quot;:&quot;text&quot;}"/>
          <p:cNvSpPr txBox="1"/>
          <p:nvPr/>
        </p:nvSpPr>
        <p:spPr>
          <a:xfrm>
            <a:off x="381000" y="1247775"/>
            <a:ext cx="74295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微软雅黑"/>
                <a:ea typeface="微软雅黑"/>
              </a:rPr>
              <a:t>四项动作（</a:t>
            </a:r>
            <a:r>
              <a:rPr lang="en-US" sz="1350" b="1">
                <a:solidFill>
                  <a:srgbClr val="0E3F8C"/>
                </a:solidFill>
                <a:latin typeface="微软雅黑"/>
                <a:ea typeface="微软雅黑"/>
              </a:rPr>
              <a:t>15 </a:t>
            </a:r>
            <a:r>
              <a:rPr lang="zh-CN" sz="1350" b="1">
                <a:solidFill>
                  <a:srgbClr val="0E3F8C"/>
                </a:solidFill>
                <a:latin typeface="微软雅黑"/>
                <a:ea typeface="微软雅黑"/>
              </a:rPr>
              <a:t>分钟，只用</a:t>
            </a:r>
            <a:r>
              <a:rPr lang="en-US" sz="1350" b="1">
                <a:solidFill>
                  <a:srgbClr val="0E3F8C"/>
                </a:solidFill>
                <a:latin typeface="微软雅黑"/>
                <a:ea typeface="微软雅黑"/>
              </a:rPr>
              <a:t> Python </a:t>
            </a:r>
            <a:r>
              <a:rPr lang="zh-CN" sz="1350" b="1">
                <a:solidFill>
                  <a:srgbClr val="0E3F8C"/>
                </a:solidFill>
                <a:latin typeface="微软雅黑"/>
                <a:ea typeface="微软雅黑"/>
              </a:rPr>
              <a:t>标准库）</a:t>
            </a:r>
            <a:endParaRPr/>
          </a:p>
        </p:txBody>
      </p:sp>
      <p:sp>
        <p:nvSpPr>
          <p:cNvPr id="1764" name="矩形: 圆角 1763"/>
          <p:cNvSpPr/>
          <p:nvPr/>
        </p:nvSpPr>
        <p:spPr>
          <a:xfrm>
            <a:off x="381000" y="1552575"/>
            <a:ext cx="7429500" cy="1019175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65" name="矩形: 圆角 1764"/>
          <p:cNvSpPr/>
          <p:nvPr/>
        </p:nvSpPr>
        <p:spPr>
          <a:xfrm>
            <a:off x="533400" y="194310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66" name="文本框 1765" descr="{&quot;isTemplate&quot;:true,&quot;type&quot;:&quot;text&quot;}"/>
          <p:cNvSpPr txBox="1"/>
          <p:nvPr/>
        </p:nvSpPr>
        <p:spPr>
          <a:xfrm>
            <a:off x="609600" y="1981200"/>
            <a:ext cx="952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  <a:endParaRPr/>
          </a:p>
        </p:txBody>
      </p:sp>
      <p:sp>
        <p:nvSpPr>
          <p:cNvPr id="1767" name="文本框 1766" descr="{&quot;isTemplate&quot;:true,&quot;type&quot;:&quot;text&quot;}"/>
          <p:cNvSpPr txBox="1"/>
          <p:nvPr/>
        </p:nvSpPr>
        <p:spPr>
          <a:xfrm>
            <a:off x="895350" y="1828800"/>
            <a:ext cx="67627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1B33"/>
                </a:solidFill>
                <a:latin typeface="微软雅黑"/>
                <a:ea typeface="微软雅黑"/>
              </a:rPr>
              <a:t>读取</a:t>
            </a:r>
            <a:r>
              <a:rPr lang="en-US" sz="1200" b="1">
                <a:solidFill>
                  <a:srgbClr val="0B1B33"/>
                </a:solidFill>
                <a:latin typeface="微软雅黑"/>
                <a:ea typeface="微软雅黑"/>
              </a:rPr>
              <a:t> CSV</a:t>
            </a:r>
            <a:endParaRPr/>
          </a:p>
        </p:txBody>
      </p:sp>
      <p:sp>
        <p:nvSpPr>
          <p:cNvPr id="1768" name="文本框 1767" descr="{&quot;isTemplate&quot;:true,&quot;type&quot;:&quot;text&quot;}"/>
          <p:cNvSpPr txBox="1"/>
          <p:nvPr/>
        </p:nvSpPr>
        <p:spPr>
          <a:xfrm>
            <a:off x="895350" y="2057400"/>
            <a:ext cx="67627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1050">
                <a:solidFill>
                  <a:srgbClr val="1E4FA8"/>
                </a:solidFill>
                <a:latin typeface="Consolas"/>
                <a:ea typeface="Consolas"/>
              </a:rPr>
              <a:t>python </a:t>
            </a:r>
            <a:r>
              <a:rPr lang="zh-CN" sz="1050">
                <a:solidFill>
                  <a:srgbClr val="1E4FA8"/>
                </a:solidFill>
                <a:latin typeface="Consolas"/>
                <a:ea typeface="Consolas"/>
              </a:rPr>
              <a:t>环境验收</a:t>
            </a:r>
            <a:r>
              <a:rPr lang="en-US" sz="1050">
                <a:solidFill>
                  <a:srgbClr val="1E4FA8"/>
                </a:solidFill>
                <a:latin typeface="Consolas"/>
                <a:ea typeface="Consolas"/>
              </a:rPr>
              <a:t>.py --step read</a:t>
            </a:r>
            <a:endParaRPr/>
          </a:p>
        </p:txBody>
      </p:sp>
      <p:sp>
        <p:nvSpPr>
          <p:cNvPr id="1769" name="矩形: 圆角 1768"/>
          <p:cNvSpPr/>
          <p:nvPr/>
        </p:nvSpPr>
        <p:spPr>
          <a:xfrm>
            <a:off x="381000" y="2667000"/>
            <a:ext cx="7429500" cy="1019175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70" name="矩形: 圆角 1769"/>
          <p:cNvSpPr/>
          <p:nvPr/>
        </p:nvSpPr>
        <p:spPr>
          <a:xfrm>
            <a:off x="533400" y="305752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71" name="文本框 1770" descr="{&quot;isTemplate&quot;:true,&quot;type&quot;:&quot;text&quot;}"/>
          <p:cNvSpPr txBox="1"/>
          <p:nvPr/>
        </p:nvSpPr>
        <p:spPr>
          <a:xfrm>
            <a:off x="609600" y="3095625"/>
            <a:ext cx="952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  <a:endParaRPr/>
          </a:p>
        </p:txBody>
      </p:sp>
      <p:sp>
        <p:nvSpPr>
          <p:cNvPr id="1772" name="文本框 1771" descr="{&quot;isTemplate&quot;:true,&quot;type&quot;:&quot;text&quot;}"/>
          <p:cNvSpPr txBox="1"/>
          <p:nvPr/>
        </p:nvSpPr>
        <p:spPr>
          <a:xfrm>
            <a:off x="895350" y="2943225"/>
            <a:ext cx="67627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1B33"/>
                </a:solidFill>
                <a:latin typeface="微软雅黑"/>
                <a:ea typeface="微软雅黑"/>
              </a:rPr>
              <a:t>核对单位换算</a:t>
            </a:r>
            <a:endParaRPr/>
          </a:p>
        </p:txBody>
      </p:sp>
      <p:sp>
        <p:nvSpPr>
          <p:cNvPr id="1773" name="文本框 1772" descr="{&quot;isTemplate&quot;:true,&quot;type&quot;:&quot;text&quot;}"/>
          <p:cNvSpPr txBox="1"/>
          <p:nvPr/>
        </p:nvSpPr>
        <p:spPr>
          <a:xfrm>
            <a:off x="895350" y="3171825"/>
            <a:ext cx="67627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1050">
                <a:solidFill>
                  <a:srgbClr val="1E4FA8"/>
                </a:solidFill>
                <a:latin typeface="Consolas"/>
                <a:ea typeface="Consolas"/>
              </a:rPr>
              <a:t>python </a:t>
            </a:r>
            <a:r>
              <a:rPr lang="zh-CN" sz="1050">
                <a:solidFill>
                  <a:srgbClr val="1E4FA8"/>
                </a:solidFill>
                <a:latin typeface="Consolas"/>
                <a:ea typeface="Consolas"/>
              </a:rPr>
              <a:t>环境验收</a:t>
            </a:r>
            <a:r>
              <a:rPr lang="en-US" sz="1050">
                <a:solidFill>
                  <a:srgbClr val="1E4FA8"/>
                </a:solidFill>
                <a:latin typeface="Consolas"/>
                <a:ea typeface="Consolas"/>
              </a:rPr>
              <a:t>.py --step summary</a:t>
            </a:r>
            <a:endParaRPr/>
          </a:p>
        </p:txBody>
      </p:sp>
      <p:sp>
        <p:nvSpPr>
          <p:cNvPr id="1774" name="矩形: 圆角 1773"/>
          <p:cNvSpPr/>
          <p:nvPr/>
        </p:nvSpPr>
        <p:spPr>
          <a:xfrm>
            <a:off x="381000" y="3781425"/>
            <a:ext cx="7429500" cy="1019175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75" name="矩形: 圆角 1774"/>
          <p:cNvSpPr/>
          <p:nvPr/>
        </p:nvSpPr>
        <p:spPr>
          <a:xfrm>
            <a:off x="533400" y="4171950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76" name="文本框 1775" descr="{&quot;isTemplate&quot;:true,&quot;type&quot;:&quot;text&quot;}"/>
          <p:cNvSpPr txBox="1"/>
          <p:nvPr/>
        </p:nvSpPr>
        <p:spPr>
          <a:xfrm>
            <a:off x="609600" y="4210050"/>
            <a:ext cx="952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  <a:endParaRPr/>
          </a:p>
        </p:txBody>
      </p:sp>
      <p:sp>
        <p:nvSpPr>
          <p:cNvPr id="1777" name="文本框 1776" descr="{&quot;isTemplate&quot;:true,&quot;type&quot;:&quot;text&quot;}"/>
          <p:cNvSpPr txBox="1"/>
          <p:nvPr/>
        </p:nvSpPr>
        <p:spPr>
          <a:xfrm>
            <a:off x="895350" y="4057650"/>
            <a:ext cx="67627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1B33"/>
                </a:solidFill>
                <a:latin typeface="微软雅黑"/>
                <a:ea typeface="微软雅黑"/>
              </a:rPr>
              <a:t>保存结果图</a:t>
            </a:r>
            <a:endParaRPr/>
          </a:p>
        </p:txBody>
      </p:sp>
      <p:sp>
        <p:nvSpPr>
          <p:cNvPr id="1778" name="文本框 1777" descr="{&quot;isTemplate&quot;:true,&quot;type&quot;:&quot;text&quot;}"/>
          <p:cNvSpPr txBox="1"/>
          <p:nvPr/>
        </p:nvSpPr>
        <p:spPr>
          <a:xfrm>
            <a:off x="895350" y="4286250"/>
            <a:ext cx="67627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1050">
                <a:solidFill>
                  <a:srgbClr val="1E4FA8"/>
                </a:solidFill>
                <a:latin typeface="Consolas"/>
                <a:ea typeface="Consolas"/>
              </a:rPr>
              <a:t>python 环境验收.py --step figure → 输出/lec1_env_check.svg</a:t>
            </a:r>
            <a:endParaRPr/>
          </a:p>
        </p:txBody>
      </p:sp>
      <p:sp>
        <p:nvSpPr>
          <p:cNvPr id="1779" name="矩形: 圆角 1778"/>
          <p:cNvSpPr/>
          <p:nvPr/>
        </p:nvSpPr>
        <p:spPr>
          <a:xfrm>
            <a:off x="381000" y="4895850"/>
            <a:ext cx="7429500" cy="1019175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80" name="矩形: 圆角 1779"/>
          <p:cNvSpPr/>
          <p:nvPr/>
        </p:nvSpPr>
        <p:spPr>
          <a:xfrm>
            <a:off x="533400" y="5286375"/>
            <a:ext cx="247650" cy="247650"/>
          </a:xfrm>
          <a:prstGeom prst="roundRect">
            <a:avLst>
              <a:gd name="adj" fmla="val 23077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81" name="文本框 1780" descr="{&quot;isTemplate&quot;:true,&quot;type&quot;:&quot;text&quot;}"/>
          <p:cNvSpPr txBox="1"/>
          <p:nvPr/>
        </p:nvSpPr>
        <p:spPr>
          <a:xfrm>
            <a:off x="609600" y="5324475"/>
            <a:ext cx="952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  <a:endParaRPr/>
          </a:p>
        </p:txBody>
      </p:sp>
      <p:sp>
        <p:nvSpPr>
          <p:cNvPr id="1782" name="文本框 1781" descr="{&quot;isTemplate&quot;:true,&quot;type&quot;:&quot;text&quot;}"/>
          <p:cNvSpPr txBox="1"/>
          <p:nvPr/>
        </p:nvSpPr>
        <p:spPr>
          <a:xfrm>
            <a:off x="895350" y="5172075"/>
            <a:ext cx="67627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1B33"/>
                </a:solidFill>
                <a:latin typeface="微软雅黑"/>
                <a:ea typeface="微软雅黑"/>
              </a:rPr>
              <a:t>登记版本</a:t>
            </a:r>
            <a:endParaRPr/>
          </a:p>
        </p:txBody>
      </p:sp>
      <p:sp>
        <p:nvSpPr>
          <p:cNvPr id="1783" name="文本框 1782" descr="{&quot;isTemplate&quot;:true,&quot;type&quot;:&quot;text&quot;}"/>
          <p:cNvSpPr txBox="1"/>
          <p:nvPr/>
        </p:nvSpPr>
        <p:spPr>
          <a:xfrm>
            <a:off x="895350" y="5400675"/>
            <a:ext cx="67627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1050">
                <a:solidFill>
                  <a:srgbClr val="1E4FA8"/>
                </a:solidFill>
                <a:latin typeface="Consolas"/>
                <a:ea typeface="Consolas"/>
              </a:rPr>
              <a:t>python </a:t>
            </a:r>
            <a:r>
              <a:rPr lang="zh-CN" sz="1050">
                <a:solidFill>
                  <a:srgbClr val="1E4FA8"/>
                </a:solidFill>
                <a:latin typeface="Consolas"/>
                <a:ea typeface="Consolas"/>
              </a:rPr>
              <a:t>环境验收</a:t>
            </a:r>
            <a:r>
              <a:rPr lang="en-US" sz="1050">
                <a:solidFill>
                  <a:srgbClr val="1E4FA8"/>
                </a:solidFill>
                <a:latin typeface="Consolas"/>
                <a:ea typeface="Consolas"/>
              </a:rPr>
              <a:t>.py --step version</a:t>
            </a:r>
            <a:endParaRPr/>
          </a:p>
        </p:txBody>
      </p:sp>
      <p:sp>
        <p:nvSpPr>
          <p:cNvPr id="1784" name="文本框 1783" descr="{&quot;isTemplate&quot;:true,&quot;type&quot;:&quot;text&quot;}"/>
          <p:cNvSpPr txBox="1"/>
          <p:nvPr/>
        </p:nvSpPr>
        <p:spPr>
          <a:xfrm>
            <a:off x="381000" y="6010275"/>
            <a:ext cx="7429500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050">
                <a:solidFill>
                  <a:srgbClr val="5D6E85"/>
                </a:solidFill>
                <a:latin typeface="微软雅黑"/>
                <a:ea typeface="微软雅黑"/>
              </a:rPr>
              <a:t>工作目录：code/环境验收/（含 带隙小样本.csv、环境验收.py）；CPU 即可，不需要任何第三方包。</a:t>
            </a:r>
            <a:endParaRPr/>
          </a:p>
        </p:txBody>
      </p:sp>
      <p:sp>
        <p:nvSpPr>
          <p:cNvPr id="1785" name="矩形: 圆角 1784"/>
          <p:cNvSpPr/>
          <p:nvPr/>
        </p:nvSpPr>
        <p:spPr>
          <a:xfrm>
            <a:off x="8001000" y="1247775"/>
            <a:ext cx="3810000" cy="1552575"/>
          </a:xfrm>
          <a:prstGeom prst="roundRect">
            <a:avLst>
              <a:gd name="adj" fmla="val 6135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86" name="文本框 1785" descr="{&quot;isTemplate&quot;:true,&quot;type&quot;:&quot;text&quot;}"/>
          <p:cNvSpPr txBox="1"/>
          <p:nvPr/>
        </p:nvSpPr>
        <p:spPr>
          <a:xfrm>
            <a:off x="8153400" y="1362075"/>
            <a:ext cx="35052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B5E20"/>
                </a:solidFill>
                <a:latin typeface="微软雅黑"/>
                <a:ea typeface="微软雅黑"/>
              </a:rPr>
              <a:t>验收记录（提交这张表）</a:t>
            </a:r>
            <a:endParaRPr/>
          </a:p>
        </p:txBody>
      </p:sp>
      <p:sp>
        <p:nvSpPr>
          <p:cNvPr id="1787" name="文本框 1786" descr="{&quot;isTemplate&quot;:true,&quot;type&quot;:&quot;text&quot;}"/>
          <p:cNvSpPr txBox="1"/>
          <p:nvPr/>
        </p:nvSpPr>
        <p:spPr>
          <a:xfrm>
            <a:off x="8153400" y="1619250"/>
            <a:ext cx="350520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5000"/>
              </a:lnSpc>
            </a:pPr>
            <a:r>
              <a:rPr lang="en-US" sz="1050">
                <a:solidFill>
                  <a:srgbClr val="2C3947"/>
                </a:solidFill>
                <a:latin typeface="微软雅黑"/>
                <a:ea typeface="微软雅黑"/>
              </a:rPr>
              <a:t>□ </a:t>
            </a:r>
            <a:r>
              <a:rPr lang="zh-CN" sz="1050">
                <a:solidFill>
                  <a:srgbClr val="2C3947"/>
                </a:solidFill>
                <a:latin typeface="微软雅黑"/>
                <a:ea typeface="微软雅黑"/>
              </a:rPr>
              <a:t>读到</a:t>
            </a:r>
            <a:r>
              <a:rPr lang="en-US" sz="1050">
                <a:solidFill>
                  <a:srgbClr val="2C3947"/>
                </a:solidFill>
                <a:latin typeface="微软雅黑"/>
                <a:ea typeface="微软雅黑"/>
              </a:rPr>
              <a:t> 12 </a:t>
            </a:r>
            <a:r>
              <a:rPr lang="zh-CN" sz="1050">
                <a:solidFill>
                  <a:srgbClr val="2C3947"/>
                </a:solidFill>
                <a:latin typeface="微软雅黑"/>
                <a:ea typeface="微软雅黑"/>
              </a:rPr>
              <a:t>行</a:t>
            </a:r>
            <a:r>
              <a:rPr lang="en-US" sz="1050">
                <a:solidFill>
                  <a:srgbClr val="2C3947"/>
                </a:solidFill>
                <a:latin typeface="微软雅黑"/>
                <a:ea typeface="微软雅黑"/>
              </a:rPr>
              <a:t> × 5 </a:t>
            </a:r>
            <a:r>
              <a:rPr lang="zh-CN" sz="1050">
                <a:solidFill>
                  <a:srgbClr val="2C3947"/>
                </a:solidFill>
                <a:latin typeface="微软雅黑"/>
                <a:ea typeface="微软雅黑"/>
              </a:rPr>
              <a:t>列，</a:t>
            </a:r>
            <a:r>
              <a:rPr lang="en-US" sz="1050">
                <a:solidFill>
                  <a:srgbClr val="2C3947"/>
                </a:solidFill>
                <a:latin typeface="微软雅黑"/>
                <a:ea typeface="微软雅黑"/>
              </a:rPr>
              <a:t>bandgap_J </a:t>
            </a:r>
            <a:r>
              <a:rPr lang="zh-CN" sz="1050">
                <a:solidFill>
                  <a:srgbClr val="2C3947"/>
                </a:solidFill>
                <a:latin typeface="微软雅黑"/>
                <a:ea typeface="微软雅黑"/>
              </a:rPr>
              <a:t>缺</a:t>
            </a:r>
            <a:r>
              <a:rPr lang="en-US" sz="1050">
                <a:solidFill>
                  <a:srgbClr val="2C3947"/>
                </a:solidFill>
                <a:latin typeface="微软雅黑"/>
                <a:ea typeface="微软雅黑"/>
              </a:rPr>
              <a:t> 6 </a:t>
            </a:r>
            <a:r>
              <a:rPr lang="zh-CN" sz="1050">
                <a:solidFill>
                  <a:srgbClr val="2C3947"/>
                </a:solidFill>
                <a:latin typeface="微软雅黑"/>
                <a:ea typeface="微软雅黑"/>
              </a:rPr>
              <a:t>行</a:t>
            </a:r>
            <a:endParaRPr/>
          </a:p>
        </p:txBody>
      </p:sp>
      <p:sp>
        <p:nvSpPr>
          <p:cNvPr id="1788" name="文本框 1787" descr="{&quot;isTemplate&quot;:true,&quot;type&quot;:&quot;text&quot;}"/>
          <p:cNvSpPr txBox="1"/>
          <p:nvPr/>
        </p:nvSpPr>
        <p:spPr>
          <a:xfrm>
            <a:off x="8153400" y="1885950"/>
            <a:ext cx="3505200" cy="266700"/>
          </a:xfrm>
          <a:prstGeom prst="rect">
            <a:avLst/>
          </a:prstGeom>
        </p:spPr>
        <p:txBody>
          <a:bodyPr wrap="square" lIns="0" tIns="0" rIns="0" bIns="0"/>
          <a:lstStyle/>
          <a:p>
            <a:pPr>
              <a:lnSpc>
                <a:spcPct val="165000"/>
              </a:lnSpc>
            </a:pPr>
            <a:r>
              <a:rPr lang="en-US" sz="1050">
                <a:solidFill>
                  <a:srgbClr val="2C3947"/>
                </a:solidFill>
                <a:latin typeface="微软雅黑"/>
                <a:ea typeface="微软雅黑"/>
              </a:rPr>
              <a:t>□ 换算最大偏差 &lt; 0.01 eV（实测 0.000638 eV）</a:t>
            </a:r>
            <a:endParaRPr/>
          </a:p>
        </p:txBody>
      </p:sp>
      <p:sp>
        <p:nvSpPr>
          <p:cNvPr id="1789" name="文本框 1788" descr="{&quot;isTemplate&quot;:true,&quot;type&quot;:&quot;text&quot;}"/>
          <p:cNvSpPr txBox="1"/>
          <p:nvPr/>
        </p:nvSpPr>
        <p:spPr>
          <a:xfrm>
            <a:off x="8153400" y="2152650"/>
            <a:ext cx="350520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5000"/>
              </a:lnSpc>
            </a:pPr>
            <a:r>
              <a:rPr lang="en-US" sz="1050">
                <a:solidFill>
                  <a:srgbClr val="2C3947"/>
                </a:solidFill>
                <a:latin typeface="微软雅黑"/>
                <a:ea typeface="微软雅黑"/>
              </a:rPr>
              <a:t>□ 输出/lec1_env_check.svg 已生成，浏览器可打开</a:t>
            </a:r>
            <a:endParaRPr/>
          </a:p>
        </p:txBody>
      </p:sp>
      <p:sp>
        <p:nvSpPr>
          <p:cNvPr id="1790" name="文本框 1789" descr="{&quot;isTemplate&quot;:true,&quot;type&quot;:&quot;text&quot;}"/>
          <p:cNvSpPr txBox="1"/>
          <p:nvPr/>
        </p:nvSpPr>
        <p:spPr>
          <a:xfrm>
            <a:off x="8153400" y="2419350"/>
            <a:ext cx="3505200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5000"/>
              </a:lnSpc>
            </a:pPr>
            <a:r>
              <a:rPr lang="en-US" sz="1050">
                <a:solidFill>
                  <a:srgbClr val="2C3947"/>
                </a:solidFill>
                <a:latin typeface="微软雅黑"/>
                <a:ea typeface="微软雅黑"/>
              </a:rPr>
              <a:t>□ 版本行已记录（版本 + 平台）</a:t>
            </a:r>
            <a:endParaRPr/>
          </a:p>
        </p:txBody>
      </p:sp>
      <p:sp>
        <p:nvSpPr>
          <p:cNvPr id="1791" name="矩形: 圆角 1790"/>
          <p:cNvSpPr/>
          <p:nvPr/>
        </p:nvSpPr>
        <p:spPr>
          <a:xfrm>
            <a:off x="8001000" y="2895600"/>
            <a:ext cx="3810000" cy="1085850"/>
          </a:xfrm>
          <a:prstGeom prst="roundRect">
            <a:avLst>
              <a:gd name="adj" fmla="val 877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92" name="文本框 1791" descr="{&quot;isTemplate&quot;:true,&quot;type&quot;:&quot;text&quot;}"/>
          <p:cNvSpPr txBox="1"/>
          <p:nvPr/>
        </p:nvSpPr>
        <p:spPr>
          <a:xfrm>
            <a:off x="8153400" y="3009900"/>
            <a:ext cx="3505200" cy="8572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5000"/>
              </a:lnSpc>
            </a:pP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本页只做基础预检，不代表 numpy/pandas/sklearn/matplotlib 已就绪；课程依赖按《MICourse 课前环境清单》另行验收。</a:t>
            </a:r>
            <a:endParaRPr/>
          </a:p>
        </p:txBody>
      </p:sp>
      <p:sp>
        <p:nvSpPr>
          <p:cNvPr id="1793" name="矩形: 圆角 1792"/>
          <p:cNvSpPr/>
          <p:nvPr/>
        </p:nvSpPr>
        <p:spPr>
          <a:xfrm>
            <a:off x="8001000" y="4076700"/>
            <a:ext cx="3810000" cy="2438400"/>
          </a:xfrm>
          <a:prstGeom prst="roundRect">
            <a:avLst>
              <a:gd name="adj" fmla="val 3906"/>
            </a:avLst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94" name="文本框 1793" descr="{&quot;isTemplate&quot;:true,&quot;type&quot;:&quot;text&quot;}"/>
          <p:cNvSpPr txBox="1"/>
          <p:nvPr/>
        </p:nvSpPr>
        <p:spPr>
          <a:xfrm>
            <a:off x="8153400" y="4191000"/>
            <a:ext cx="35052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8D6E00"/>
                </a:solidFill>
                <a:latin typeface="微软雅黑"/>
                <a:ea typeface="微软雅黑"/>
              </a:rPr>
              <a:t>常见报错与处置</a:t>
            </a:r>
            <a:endParaRPr/>
          </a:p>
        </p:txBody>
      </p:sp>
      <p:sp>
        <p:nvSpPr>
          <p:cNvPr id="1795" name="文本框 1794" descr="{&quot;isTemplate&quot;:true,&quot;type&quot;:&quot;text&quot;}"/>
          <p:cNvSpPr txBox="1"/>
          <p:nvPr/>
        </p:nvSpPr>
        <p:spPr>
          <a:xfrm>
            <a:off x="8153400" y="4419600"/>
            <a:ext cx="35052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en-US" sz="1050">
                <a:solidFill>
                  <a:srgbClr val="2C3947"/>
                </a:solidFill>
                <a:latin typeface="微软雅黑"/>
                <a:ea typeface="微软雅黑"/>
              </a:rPr>
              <a:t>· </a:t>
            </a:r>
            <a:r>
              <a:rPr lang="zh-CN" sz="1050">
                <a:solidFill>
                  <a:srgbClr val="2C3947"/>
                </a:solidFill>
                <a:latin typeface="微软雅黑"/>
                <a:ea typeface="微软雅黑"/>
              </a:rPr>
              <a:t>找不到文件</a:t>
            </a:r>
            <a:r>
              <a:rPr lang="en-US" sz="1050">
                <a:solidFill>
                  <a:srgbClr val="2C3947"/>
                </a:solidFill>
                <a:latin typeface="微软雅黑"/>
                <a:ea typeface="微软雅黑"/>
              </a:rPr>
              <a:t> → </a:t>
            </a:r>
            <a:r>
              <a:rPr lang="zh-CN" sz="1050">
                <a:solidFill>
                  <a:srgbClr val="2C3947"/>
                </a:solidFill>
                <a:latin typeface="微软雅黑"/>
                <a:ea typeface="微软雅黑"/>
              </a:rPr>
              <a:t>先</a:t>
            </a:r>
            <a:r>
              <a:rPr lang="en-US" sz="1050">
                <a:solidFill>
                  <a:srgbClr val="2C3947"/>
                </a:solidFill>
                <a:latin typeface="微软雅黑"/>
                <a:ea typeface="微软雅黑"/>
              </a:rPr>
              <a:t> cd </a:t>
            </a:r>
            <a:r>
              <a:rPr lang="zh-CN" sz="1050">
                <a:solidFill>
                  <a:srgbClr val="2C3947"/>
                </a:solidFill>
                <a:latin typeface="微软雅黑"/>
                <a:ea typeface="微软雅黑"/>
              </a:rPr>
              <a:t>到</a:t>
            </a:r>
            <a:r>
              <a:rPr lang="en-US" sz="1050">
                <a:solidFill>
                  <a:srgbClr val="2C3947"/>
                </a:solidFill>
                <a:latin typeface="微软雅黑"/>
                <a:ea typeface="微软雅黑"/>
              </a:rPr>
              <a:t> code/</a:t>
            </a:r>
            <a:r>
              <a:rPr lang="zh-CN" sz="1050">
                <a:solidFill>
                  <a:srgbClr val="2C3947"/>
                </a:solidFill>
                <a:latin typeface="微软雅黑"/>
                <a:ea typeface="微软雅黑"/>
              </a:rPr>
              <a:t>环境验收</a:t>
            </a:r>
            <a:r>
              <a:rPr lang="en-US" sz="1050">
                <a:solidFill>
                  <a:srgbClr val="2C3947"/>
                </a:solidFill>
                <a:latin typeface="微软雅黑"/>
                <a:ea typeface="微软雅黑"/>
              </a:rPr>
              <a:t>/</a:t>
            </a:r>
            <a:endParaRPr/>
          </a:p>
        </p:txBody>
      </p:sp>
      <p:sp>
        <p:nvSpPr>
          <p:cNvPr id="1796" name="文本框 1795" descr="{&quot;isTemplate&quot;:true,&quot;type&quot;:&quot;text&quot;}"/>
          <p:cNvSpPr txBox="1"/>
          <p:nvPr/>
        </p:nvSpPr>
        <p:spPr>
          <a:xfrm>
            <a:off x="8153400" y="4676775"/>
            <a:ext cx="35052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en-US" sz="1050">
                <a:solidFill>
                  <a:srgbClr val="2C3947"/>
                </a:solidFill>
                <a:latin typeface="微软雅黑"/>
                <a:ea typeface="微软雅黑"/>
              </a:rPr>
              <a:t>· </a:t>
            </a:r>
            <a:r>
              <a:rPr lang="zh-CN" sz="1050">
                <a:solidFill>
                  <a:srgbClr val="2C3947"/>
                </a:solidFill>
                <a:latin typeface="微软雅黑"/>
                <a:ea typeface="微软雅黑"/>
              </a:rPr>
              <a:t>列名带乱码</a:t>
            </a:r>
            <a:r>
              <a:rPr lang="en-US" sz="1050">
                <a:solidFill>
                  <a:srgbClr val="2C3947"/>
                </a:solidFill>
                <a:latin typeface="微软雅黑"/>
                <a:ea typeface="微软雅黑"/>
              </a:rPr>
              <a:t> → CSV </a:t>
            </a:r>
            <a:r>
              <a:rPr lang="zh-CN" sz="1050">
                <a:solidFill>
                  <a:srgbClr val="2C3947"/>
                </a:solidFill>
                <a:latin typeface="微软雅黑"/>
                <a:ea typeface="微软雅黑"/>
              </a:rPr>
              <a:t>以</a:t>
            </a:r>
            <a:r>
              <a:rPr lang="en-US" sz="1050">
                <a:solidFill>
                  <a:srgbClr val="2C3947"/>
                </a:solidFill>
                <a:latin typeface="微软雅黑"/>
                <a:ea typeface="微软雅黑"/>
              </a:rPr>
              <a:t> utf-8-sig </a:t>
            </a:r>
            <a:r>
              <a:rPr lang="zh-CN" sz="1050">
                <a:solidFill>
                  <a:srgbClr val="2C3947"/>
                </a:solidFill>
                <a:latin typeface="微软雅黑"/>
                <a:ea typeface="微软雅黑"/>
              </a:rPr>
              <a:t>读取</a:t>
            </a:r>
            <a:endParaRPr/>
          </a:p>
        </p:txBody>
      </p:sp>
      <p:sp>
        <p:nvSpPr>
          <p:cNvPr id="1797" name="文本框 1796" descr="{&quot;isTemplate&quot;:true,&quot;type&quot;:&quot;text&quot;}"/>
          <p:cNvSpPr txBox="1"/>
          <p:nvPr/>
        </p:nvSpPr>
        <p:spPr>
          <a:xfrm>
            <a:off x="8153400" y="4933950"/>
            <a:ext cx="35052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en-US" sz="1050">
                <a:solidFill>
                  <a:srgbClr val="2C3947"/>
                </a:solidFill>
                <a:latin typeface="微软雅黑"/>
                <a:ea typeface="微软雅黑"/>
              </a:rPr>
              <a:t>· </a:t>
            </a:r>
            <a:r>
              <a:rPr lang="zh-CN" sz="1050">
                <a:solidFill>
                  <a:srgbClr val="2C3947"/>
                </a:solidFill>
                <a:latin typeface="微软雅黑"/>
                <a:ea typeface="微软雅黑"/>
              </a:rPr>
              <a:t>无</a:t>
            </a:r>
            <a:r>
              <a:rPr lang="en-US" sz="1050">
                <a:solidFill>
                  <a:srgbClr val="2C3947"/>
                </a:solidFill>
                <a:latin typeface="微软雅黑"/>
                <a:ea typeface="微软雅黑"/>
              </a:rPr>
              <a:t> Python → </a:t>
            </a:r>
            <a:r>
              <a:rPr lang="zh-CN" sz="1050">
                <a:solidFill>
                  <a:srgbClr val="2C3947"/>
                </a:solidFill>
                <a:latin typeface="微软雅黑"/>
                <a:ea typeface="微软雅黑"/>
              </a:rPr>
              <a:t>用机房或替代环境，记录版本</a:t>
            </a:r>
            <a:endParaRPr/>
          </a:p>
        </p:txBody>
      </p:sp>
      <p:sp>
        <p:nvSpPr>
          <p:cNvPr id="1798" name="文本框 1797" descr="{&quot;isTemplate&quot;:true,&quot;type&quot;:&quot;text&quot;}"/>
          <p:cNvSpPr txBox="1"/>
          <p:nvPr/>
        </p:nvSpPr>
        <p:spPr>
          <a:xfrm>
            <a:off x="8153400" y="5191125"/>
            <a:ext cx="35052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en-US" sz="1050">
                <a:solidFill>
                  <a:srgbClr val="2C3947"/>
                </a:solidFill>
                <a:latin typeface="微软雅黑"/>
                <a:ea typeface="微软雅黑"/>
              </a:rPr>
              <a:t>· 跑不起来 → 报错登记困难，再用离线/机房补齐三项</a:t>
            </a:r>
            <a:endParaRPr/>
          </a:p>
        </p:txBody>
      </p:sp>
      <p:sp>
        <p:nvSpPr>
          <p:cNvPr id="1799" name="文本框 1798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1800" name="文本框 1799" descr="{&quot;isTemplate&quot;:true,&quot;type&quot;:&quot;text&quot;}"/>
          <p:cNvSpPr txBox="1"/>
          <p:nvPr/>
        </p:nvSpPr>
        <p:spPr>
          <a:xfrm>
            <a:off x="54673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1801" name="文本框 1800" descr="{&quot;isTemplate&quot;:true,&quot;type&quot;:&quot;text&quot;}"/>
          <p:cNvSpPr txBox="1"/>
          <p:nvPr/>
        </p:nvSpPr>
        <p:spPr>
          <a:xfrm>
            <a:off x="11410950" y="6610350"/>
            <a:ext cx="4000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59 / 60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" name="矩形 183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33" name="矩形 1832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34" name="文本框 1833" descr="{&quot;isTemplate&quot;:true,&quot;type&quot;:&quot;text&quot;}"/>
          <p:cNvSpPr txBox="1"/>
          <p:nvPr/>
        </p:nvSpPr>
        <p:spPr>
          <a:xfrm>
            <a:off x="342900" y="171450"/>
            <a:ext cx="3524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在材料科学中的应用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｜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第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1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讲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材料信息学导论与</a:t>
            </a:r>
            <a:r>
              <a:rPr lang="en-US" sz="1050">
                <a:solidFill>
                  <a:srgbClr val="FFFFFF"/>
                </a:solidFill>
                <a:latin typeface="微软雅黑"/>
                <a:ea typeface="微软雅黑"/>
              </a:rPr>
              <a:t>AI</a:t>
            </a:r>
            <a:r>
              <a:rPr lang="zh-CN" sz="1050">
                <a:solidFill>
                  <a:srgbClr val="FFFFFF"/>
                </a:solidFill>
                <a:latin typeface="微软雅黑"/>
                <a:ea typeface="微软雅黑"/>
              </a:rPr>
              <a:t>产业</a:t>
            </a:r>
            <a:endParaRPr/>
          </a:p>
        </p:txBody>
      </p:sp>
      <p:sp>
        <p:nvSpPr>
          <p:cNvPr id="1835" name="文本框 1834" descr="{&quot;isTemplate&quot;:true,&quot;type&quot;:&quot;text&quot;}"/>
          <p:cNvSpPr txBox="1"/>
          <p:nvPr/>
        </p:nvSpPr>
        <p:spPr>
          <a:xfrm>
            <a:off x="9944100" y="171450"/>
            <a:ext cx="8001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导论</a:t>
            </a:r>
            <a:r>
              <a:rPr lang="en-US" sz="1050">
                <a:solidFill>
                  <a:srgbClr val="BFD3EE"/>
                </a:solidFill>
                <a:latin typeface="微软雅黑"/>
                <a:ea typeface="微软雅黑"/>
              </a:rPr>
              <a:t> · </a:t>
            </a:r>
            <a:r>
              <a:rPr lang="zh-CN" sz="1050">
                <a:solidFill>
                  <a:srgbClr val="BFD3EE"/>
                </a:solidFill>
                <a:latin typeface="微软雅黑"/>
                <a:ea typeface="微软雅黑"/>
              </a:rPr>
              <a:t>退出题</a:t>
            </a:r>
            <a:endParaRPr/>
          </a:p>
        </p:txBody>
      </p:sp>
      <p:pic>
        <p:nvPicPr>
          <p:cNvPr id="1836" name="图片 1835"/>
          <p:cNvPicPr>
            <a:picLocks noChangeAspect="1"/>
          </p:cNvPicPr>
          <p:nvPr/>
        </p:nvPicPr>
        <p:blipFill>
          <a:blip r:embed="rId3"/>
          <a:srcRect l="847" r="847"/>
          <a:stretch>
            <a:fillRect/>
          </a:stretch>
        </p:blipFill>
        <p:spPr>
          <a:xfrm>
            <a:off x="10858500" y="123825"/>
            <a:ext cx="990600" cy="247650"/>
          </a:xfrm>
          <a:prstGeom prst="rect">
            <a:avLst/>
          </a:prstGeom>
          <a:ln/>
        </p:spPr>
      </p:pic>
      <p:sp>
        <p:nvSpPr>
          <p:cNvPr id="1837" name="文本框 1836" descr="{&quot;isTemplate&quot;:true,&quot;type&quot;:&quot;text&quot;}"/>
          <p:cNvSpPr txBox="1"/>
          <p:nvPr/>
        </p:nvSpPr>
        <p:spPr>
          <a:xfrm>
            <a:off x="381000" y="647700"/>
            <a:ext cx="11430000" cy="361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325" b="1">
                <a:solidFill>
                  <a:srgbClr val="0E3F8C"/>
                </a:solidFill>
                <a:latin typeface="钉钉进步体"/>
                <a:ea typeface="钉钉进步体"/>
              </a:rPr>
              <a:t>退出题与记录模板（四栏）</a:t>
            </a:r>
            <a:endParaRPr/>
          </a:p>
        </p:txBody>
      </p:sp>
      <p:sp>
        <p:nvSpPr>
          <p:cNvPr id="1838" name="矩形: 圆角 1837"/>
          <p:cNvSpPr/>
          <p:nvPr/>
        </p:nvSpPr>
        <p:spPr>
          <a:xfrm>
            <a:off x="381000" y="1085850"/>
            <a:ext cx="571500" cy="47625"/>
          </a:xfrm>
          <a:prstGeom prst="roundRect">
            <a:avLst>
              <a:gd name="adj" fmla="val 4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39" name="文本框 1838" descr="{&quot;isTemplate&quot;:true,&quot;type&quot;:&quot;text&quot;}"/>
          <p:cNvSpPr txBox="1"/>
          <p:nvPr/>
        </p:nvSpPr>
        <p:spPr>
          <a:xfrm>
            <a:off x="381000" y="1247775"/>
            <a:ext cx="114300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2C3947"/>
                </a:solidFill>
                <a:latin typeface="微软雅黑"/>
                <a:ea typeface="微软雅黑"/>
              </a:rPr>
              <a:t>退出题：用四栏写下你博士课题的一个可检验版本（</a:t>
            </a:r>
            <a:r>
              <a:rPr lang="en-US" sz="1275">
                <a:solidFill>
                  <a:srgbClr val="2C3947"/>
                </a:solidFill>
                <a:latin typeface="微软雅黑"/>
                <a:ea typeface="微软雅黑"/>
              </a:rPr>
              <a:t>2 </a:t>
            </a:r>
            <a:r>
              <a:rPr lang="zh-CN" sz="1275">
                <a:solidFill>
                  <a:srgbClr val="2C3947"/>
                </a:solidFill>
                <a:latin typeface="微软雅黑"/>
                <a:ea typeface="微软雅黑"/>
              </a:rPr>
              <a:t>分钟，手写或在线表均可）。这一页同时也是第</a:t>
            </a:r>
            <a:r>
              <a:rPr lang="en-US" sz="1275">
                <a:solidFill>
                  <a:srgbClr val="2C3947"/>
                </a:solidFill>
                <a:latin typeface="微软雅黑"/>
                <a:ea typeface="微软雅黑"/>
              </a:rPr>
              <a:t> 2 </a:t>
            </a:r>
            <a:r>
              <a:rPr lang="zh-CN" sz="1275">
                <a:solidFill>
                  <a:srgbClr val="2C3947"/>
                </a:solidFill>
                <a:latin typeface="微软雅黑"/>
                <a:ea typeface="微软雅黑"/>
              </a:rPr>
              <a:t>讲任务卡的模板。</a:t>
            </a:r>
            <a:endParaRPr/>
          </a:p>
        </p:txBody>
      </p:sp>
      <p:sp>
        <p:nvSpPr>
          <p:cNvPr id="1840" name="矩形: 圆角 1839"/>
          <p:cNvSpPr/>
          <p:nvPr/>
        </p:nvSpPr>
        <p:spPr>
          <a:xfrm>
            <a:off x="381000" y="1562100"/>
            <a:ext cx="2771775" cy="4057650"/>
          </a:xfrm>
          <a:prstGeom prst="roundRect">
            <a:avLst>
              <a:gd name="adj" fmla="val 343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41" name="任意多边形: 形状 1840"/>
          <p:cNvSpPr/>
          <p:nvPr/>
        </p:nvSpPr>
        <p:spPr>
          <a:xfrm>
            <a:off x="381000" y="1562100"/>
            <a:ext cx="2771775" cy="400050"/>
          </a:xfrm>
          <a:custGeom>
            <a:avLst/>
            <a:gdLst/>
            <a:ahLst/>
            <a:cxnLst/>
            <a:rect l="0" t="0" r="0" b="0"/>
            <a:pathLst>
              <a:path w="291" h="42">
                <a:moveTo>
                  <a:pt x="281" y="0"/>
                </a:moveTo>
                <a:cubicBezTo>
                  <a:pt x="287" y="0"/>
                  <a:pt x="291" y="5"/>
                  <a:pt x="291" y="10"/>
                </a:cubicBezTo>
                <a:lnTo>
                  <a:pt x="291" y="42"/>
                </a:lnTo>
                <a:lnTo>
                  <a:pt x="0" y="42"/>
                </a:ln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lnTo>
                  <a:pt x="281" y="0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42" name="文本框 1841" descr="{&quot;isTemplate&quot;:true,&quot;type&quot;:&quot;text&quot;}"/>
          <p:cNvSpPr txBox="1"/>
          <p:nvPr/>
        </p:nvSpPr>
        <p:spPr>
          <a:xfrm>
            <a:off x="1428750" y="1657350"/>
            <a:ext cx="6858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微软雅黑"/>
                <a:ea typeface="微软雅黑"/>
              </a:rPr>
              <a:t>预测目标</a:t>
            </a:r>
            <a:endParaRPr/>
          </a:p>
        </p:txBody>
      </p:sp>
      <p:sp>
        <p:nvSpPr>
          <p:cNvPr id="1843" name="文本框 1842" descr="{&quot;isTemplate&quot;:true,&quot;type&quot;:&quot;text&quot;}"/>
          <p:cNvSpPr txBox="1"/>
          <p:nvPr/>
        </p:nvSpPr>
        <p:spPr>
          <a:xfrm>
            <a:off x="514350" y="2057400"/>
            <a:ext cx="2505075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050">
                <a:solidFill>
                  <a:srgbClr val="5D6E85"/>
                </a:solidFill>
                <a:latin typeface="微软雅黑"/>
                <a:ea typeface="微软雅黑"/>
              </a:rPr>
              <a:t>我要预测的性质是什么？单位、量级、允许误差</a:t>
            </a:r>
            <a:endParaRPr/>
          </a:p>
        </p:txBody>
      </p:sp>
      <p:sp>
        <p:nvSpPr>
          <p:cNvPr id="1844" name="矩形 1843"/>
          <p:cNvSpPr/>
          <p:nvPr/>
        </p:nvSpPr>
        <p:spPr>
          <a:xfrm>
            <a:off x="514350" y="2638425"/>
            <a:ext cx="2505075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45" name="矩形 1844"/>
          <p:cNvSpPr/>
          <p:nvPr/>
        </p:nvSpPr>
        <p:spPr>
          <a:xfrm>
            <a:off x="514350" y="2933700"/>
            <a:ext cx="2505075" cy="9525"/>
          </a:xfrm>
          <a:prstGeom prst="rect">
            <a:avLst/>
          </a:prstGeom>
          <a:solidFill>
            <a:srgbClr val="C9D2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46" name="矩形 1845"/>
          <p:cNvSpPr/>
          <p:nvPr/>
        </p:nvSpPr>
        <p:spPr>
          <a:xfrm>
            <a:off x="514350" y="3152775"/>
            <a:ext cx="2505075" cy="9525"/>
          </a:xfrm>
          <a:prstGeom prst="rect">
            <a:avLst/>
          </a:prstGeom>
          <a:solidFill>
            <a:srgbClr val="C9D2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47" name="矩形 1846"/>
          <p:cNvSpPr/>
          <p:nvPr/>
        </p:nvSpPr>
        <p:spPr>
          <a:xfrm>
            <a:off x="514350" y="3371850"/>
            <a:ext cx="2505075" cy="9525"/>
          </a:xfrm>
          <a:prstGeom prst="rect">
            <a:avLst/>
          </a:prstGeom>
          <a:solidFill>
            <a:srgbClr val="C9D2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48" name="矩形 1847"/>
          <p:cNvSpPr/>
          <p:nvPr/>
        </p:nvSpPr>
        <p:spPr>
          <a:xfrm>
            <a:off x="514350" y="3590925"/>
            <a:ext cx="2505075" cy="9525"/>
          </a:xfrm>
          <a:prstGeom prst="rect">
            <a:avLst/>
          </a:prstGeom>
          <a:solidFill>
            <a:srgbClr val="C9D2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49" name="矩形 1848"/>
          <p:cNvSpPr/>
          <p:nvPr/>
        </p:nvSpPr>
        <p:spPr>
          <a:xfrm>
            <a:off x="514350" y="3810000"/>
            <a:ext cx="2505075" cy="9525"/>
          </a:xfrm>
          <a:prstGeom prst="rect">
            <a:avLst/>
          </a:prstGeom>
          <a:solidFill>
            <a:srgbClr val="C9D2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50" name="矩形 1849"/>
          <p:cNvSpPr/>
          <p:nvPr/>
        </p:nvSpPr>
        <p:spPr>
          <a:xfrm>
            <a:off x="514350" y="4029075"/>
            <a:ext cx="2505075" cy="9525"/>
          </a:xfrm>
          <a:prstGeom prst="rect">
            <a:avLst/>
          </a:prstGeom>
          <a:solidFill>
            <a:srgbClr val="C9D2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51" name="文本框 1850" descr="{&quot;isTemplate&quot;:true,&quot;type&quot;:&quot;text&quot;}"/>
          <p:cNvSpPr txBox="1"/>
          <p:nvPr/>
        </p:nvSpPr>
        <p:spPr>
          <a:xfrm>
            <a:off x="514350" y="5295900"/>
            <a:ext cx="250507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975">
                <a:solidFill>
                  <a:srgbClr val="1E4FA8"/>
                </a:solidFill>
                <a:latin typeface="微软雅黑"/>
                <a:ea typeface="微软雅黑"/>
              </a:rPr>
              <a:t>例：立方相氧化物的带隙（</a:t>
            </a: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eV</a:t>
            </a:r>
            <a:r>
              <a:rPr lang="zh-CN" sz="975">
                <a:solidFill>
                  <a:srgbClr val="1E4FA8"/>
                </a:solidFill>
                <a:latin typeface="微软雅黑"/>
                <a:ea typeface="微软雅黑"/>
              </a:rPr>
              <a:t>，±</a:t>
            </a: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0.2 eV</a:t>
            </a:r>
            <a:r>
              <a:rPr lang="zh-CN" sz="975">
                <a:solidFill>
                  <a:srgbClr val="1E4FA8"/>
                </a:solidFill>
                <a:latin typeface="微软雅黑"/>
                <a:ea typeface="微软雅黑"/>
              </a:rPr>
              <a:t>）</a:t>
            </a:r>
            <a:endParaRPr/>
          </a:p>
        </p:txBody>
      </p:sp>
      <p:sp>
        <p:nvSpPr>
          <p:cNvPr id="1852" name="矩形: 圆角 1851"/>
          <p:cNvSpPr/>
          <p:nvPr/>
        </p:nvSpPr>
        <p:spPr>
          <a:xfrm>
            <a:off x="3267075" y="1562100"/>
            <a:ext cx="2771775" cy="4057650"/>
          </a:xfrm>
          <a:prstGeom prst="roundRect">
            <a:avLst>
              <a:gd name="adj" fmla="val 343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53" name="任意多边形: 形状 1852"/>
          <p:cNvSpPr/>
          <p:nvPr/>
        </p:nvSpPr>
        <p:spPr>
          <a:xfrm>
            <a:off x="3267075" y="1562100"/>
            <a:ext cx="2771775" cy="400050"/>
          </a:xfrm>
          <a:custGeom>
            <a:avLst/>
            <a:gdLst/>
            <a:ahLst/>
            <a:cxnLst/>
            <a:rect l="0" t="0" r="0" b="0"/>
            <a:pathLst>
              <a:path w="291" h="42">
                <a:moveTo>
                  <a:pt x="281" y="0"/>
                </a:moveTo>
                <a:cubicBezTo>
                  <a:pt x="287" y="0"/>
                  <a:pt x="291" y="5"/>
                  <a:pt x="291" y="10"/>
                </a:cubicBezTo>
                <a:lnTo>
                  <a:pt x="291" y="42"/>
                </a:lnTo>
                <a:lnTo>
                  <a:pt x="0" y="42"/>
                </a:ln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lnTo>
                  <a:pt x="281" y="0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54" name="文本框 1853" descr="{&quot;isTemplate&quot;:true,&quot;type&quot;:&quot;text&quot;}"/>
          <p:cNvSpPr txBox="1"/>
          <p:nvPr/>
        </p:nvSpPr>
        <p:spPr>
          <a:xfrm>
            <a:off x="4314825" y="1657350"/>
            <a:ext cx="6858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微软雅黑"/>
                <a:ea typeface="微软雅黑"/>
              </a:rPr>
              <a:t>样本单位</a:t>
            </a:r>
            <a:endParaRPr/>
          </a:p>
        </p:txBody>
      </p:sp>
      <p:sp>
        <p:nvSpPr>
          <p:cNvPr id="1855" name="文本框 1854" descr="{&quot;isTemplate&quot;:true,&quot;type&quot;:&quot;text&quot;}"/>
          <p:cNvSpPr txBox="1"/>
          <p:nvPr/>
        </p:nvSpPr>
        <p:spPr>
          <a:xfrm>
            <a:off x="3400425" y="2057400"/>
            <a:ext cx="2505075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050">
                <a:solidFill>
                  <a:srgbClr val="5D6E85"/>
                </a:solidFill>
                <a:latin typeface="微软雅黑"/>
                <a:ea typeface="微软雅黑"/>
              </a:rPr>
              <a:t>一条记录代表什么？一个样品、一个批次还是一次计算</a:t>
            </a:r>
            <a:endParaRPr/>
          </a:p>
        </p:txBody>
      </p:sp>
      <p:sp>
        <p:nvSpPr>
          <p:cNvPr id="1856" name="矩形 1855"/>
          <p:cNvSpPr/>
          <p:nvPr/>
        </p:nvSpPr>
        <p:spPr>
          <a:xfrm>
            <a:off x="3400425" y="2638425"/>
            <a:ext cx="2505075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57" name="矩形 1856"/>
          <p:cNvSpPr/>
          <p:nvPr/>
        </p:nvSpPr>
        <p:spPr>
          <a:xfrm>
            <a:off x="3400425" y="2933700"/>
            <a:ext cx="2505075" cy="9525"/>
          </a:xfrm>
          <a:prstGeom prst="rect">
            <a:avLst/>
          </a:prstGeom>
          <a:solidFill>
            <a:srgbClr val="C9D2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58" name="矩形 1857"/>
          <p:cNvSpPr/>
          <p:nvPr/>
        </p:nvSpPr>
        <p:spPr>
          <a:xfrm>
            <a:off x="3400425" y="3152775"/>
            <a:ext cx="2505075" cy="9525"/>
          </a:xfrm>
          <a:prstGeom prst="rect">
            <a:avLst/>
          </a:prstGeom>
          <a:solidFill>
            <a:srgbClr val="C9D2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59" name="矩形 1858"/>
          <p:cNvSpPr/>
          <p:nvPr/>
        </p:nvSpPr>
        <p:spPr>
          <a:xfrm>
            <a:off x="3400425" y="3371850"/>
            <a:ext cx="2505075" cy="9525"/>
          </a:xfrm>
          <a:prstGeom prst="rect">
            <a:avLst/>
          </a:prstGeom>
          <a:solidFill>
            <a:srgbClr val="C9D2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60" name="矩形 1859"/>
          <p:cNvSpPr/>
          <p:nvPr/>
        </p:nvSpPr>
        <p:spPr>
          <a:xfrm>
            <a:off x="3400425" y="3590925"/>
            <a:ext cx="2505075" cy="9525"/>
          </a:xfrm>
          <a:prstGeom prst="rect">
            <a:avLst/>
          </a:prstGeom>
          <a:solidFill>
            <a:srgbClr val="C9D2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61" name="矩形 1860"/>
          <p:cNvSpPr/>
          <p:nvPr/>
        </p:nvSpPr>
        <p:spPr>
          <a:xfrm>
            <a:off x="3400425" y="3810000"/>
            <a:ext cx="2505075" cy="9525"/>
          </a:xfrm>
          <a:prstGeom prst="rect">
            <a:avLst/>
          </a:prstGeom>
          <a:solidFill>
            <a:srgbClr val="C9D2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62" name="矩形 1861"/>
          <p:cNvSpPr/>
          <p:nvPr/>
        </p:nvSpPr>
        <p:spPr>
          <a:xfrm>
            <a:off x="3400425" y="4029075"/>
            <a:ext cx="2505075" cy="9525"/>
          </a:xfrm>
          <a:prstGeom prst="rect">
            <a:avLst/>
          </a:prstGeom>
          <a:solidFill>
            <a:srgbClr val="C9D2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63" name="文本框 1862" descr="{&quot;isTemplate&quot;:true,&quot;type&quot;:&quot;text&quot;}"/>
          <p:cNvSpPr txBox="1"/>
          <p:nvPr/>
        </p:nvSpPr>
        <p:spPr>
          <a:xfrm>
            <a:off x="3400425" y="5295900"/>
            <a:ext cx="250507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975">
                <a:solidFill>
                  <a:srgbClr val="1E4FA8"/>
                </a:solidFill>
                <a:latin typeface="微软雅黑"/>
                <a:ea typeface="微软雅黑"/>
              </a:rPr>
              <a:t>例：一个合成批次</a:t>
            </a: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 + </a:t>
            </a:r>
            <a:r>
              <a:rPr lang="zh-CN" sz="975">
                <a:solidFill>
                  <a:srgbClr val="1E4FA8"/>
                </a:solidFill>
                <a:latin typeface="微软雅黑"/>
                <a:ea typeface="微软雅黑"/>
              </a:rPr>
              <a:t>一次测量</a:t>
            </a: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 = </a:t>
            </a:r>
            <a:r>
              <a:rPr lang="zh-CN" sz="975">
                <a:solidFill>
                  <a:srgbClr val="1E4FA8"/>
                </a:solidFill>
                <a:latin typeface="微软雅黑"/>
                <a:ea typeface="微软雅黑"/>
              </a:rPr>
              <a:t>一条样本</a:t>
            </a:r>
            <a:endParaRPr/>
          </a:p>
        </p:txBody>
      </p:sp>
      <p:sp>
        <p:nvSpPr>
          <p:cNvPr id="1864" name="矩形: 圆角 1863"/>
          <p:cNvSpPr/>
          <p:nvPr/>
        </p:nvSpPr>
        <p:spPr>
          <a:xfrm>
            <a:off x="6153150" y="1562100"/>
            <a:ext cx="2771775" cy="4057650"/>
          </a:xfrm>
          <a:prstGeom prst="roundRect">
            <a:avLst>
              <a:gd name="adj" fmla="val 343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65" name="任意多边形: 形状 1864"/>
          <p:cNvSpPr/>
          <p:nvPr/>
        </p:nvSpPr>
        <p:spPr>
          <a:xfrm>
            <a:off x="6153150" y="1562100"/>
            <a:ext cx="2771775" cy="400050"/>
          </a:xfrm>
          <a:custGeom>
            <a:avLst/>
            <a:gdLst/>
            <a:ahLst/>
            <a:cxnLst/>
            <a:rect l="0" t="0" r="0" b="0"/>
            <a:pathLst>
              <a:path w="291" h="42">
                <a:moveTo>
                  <a:pt x="281" y="0"/>
                </a:moveTo>
                <a:cubicBezTo>
                  <a:pt x="287" y="0"/>
                  <a:pt x="291" y="5"/>
                  <a:pt x="291" y="10"/>
                </a:cubicBezTo>
                <a:lnTo>
                  <a:pt x="291" y="42"/>
                </a:lnTo>
                <a:lnTo>
                  <a:pt x="0" y="42"/>
                </a:ln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lnTo>
                  <a:pt x="281" y="0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66" name="文本框 1865" descr="{&quot;isTemplate&quot;:true,&quot;type&quot;:&quot;text&quot;}"/>
          <p:cNvSpPr txBox="1"/>
          <p:nvPr/>
        </p:nvSpPr>
        <p:spPr>
          <a:xfrm>
            <a:off x="7200900" y="1657350"/>
            <a:ext cx="6858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微软雅黑"/>
                <a:ea typeface="微软雅黑"/>
              </a:rPr>
              <a:t>验证证据</a:t>
            </a:r>
            <a:endParaRPr/>
          </a:p>
        </p:txBody>
      </p:sp>
      <p:sp>
        <p:nvSpPr>
          <p:cNvPr id="1867" name="文本框 1866" descr="{&quot;isTemplate&quot;:true,&quot;type&quot;:&quot;text&quot;}"/>
          <p:cNvSpPr txBox="1"/>
          <p:nvPr/>
        </p:nvSpPr>
        <p:spPr>
          <a:xfrm>
            <a:off x="6286500" y="2057400"/>
            <a:ext cx="2505075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050">
                <a:solidFill>
                  <a:srgbClr val="5D6E85"/>
                </a:solidFill>
                <a:latin typeface="微软雅黑"/>
                <a:ea typeface="微软雅黑"/>
              </a:rPr>
              <a:t>哪一步需要独立证据？谁来测、用什么方法</a:t>
            </a:r>
            <a:endParaRPr/>
          </a:p>
        </p:txBody>
      </p:sp>
      <p:sp>
        <p:nvSpPr>
          <p:cNvPr id="1868" name="矩形 1867"/>
          <p:cNvSpPr/>
          <p:nvPr/>
        </p:nvSpPr>
        <p:spPr>
          <a:xfrm>
            <a:off x="6286500" y="2638425"/>
            <a:ext cx="2505075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69" name="矩形 1868"/>
          <p:cNvSpPr/>
          <p:nvPr/>
        </p:nvSpPr>
        <p:spPr>
          <a:xfrm>
            <a:off x="6286500" y="2933700"/>
            <a:ext cx="2505075" cy="9525"/>
          </a:xfrm>
          <a:prstGeom prst="rect">
            <a:avLst/>
          </a:prstGeom>
          <a:solidFill>
            <a:srgbClr val="C9D2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70" name="矩形 1869"/>
          <p:cNvSpPr/>
          <p:nvPr/>
        </p:nvSpPr>
        <p:spPr>
          <a:xfrm>
            <a:off x="6286500" y="3152775"/>
            <a:ext cx="2505075" cy="9525"/>
          </a:xfrm>
          <a:prstGeom prst="rect">
            <a:avLst/>
          </a:prstGeom>
          <a:solidFill>
            <a:srgbClr val="C9D2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71" name="矩形 1870"/>
          <p:cNvSpPr/>
          <p:nvPr/>
        </p:nvSpPr>
        <p:spPr>
          <a:xfrm>
            <a:off x="6286500" y="3371850"/>
            <a:ext cx="2505075" cy="9525"/>
          </a:xfrm>
          <a:prstGeom prst="rect">
            <a:avLst/>
          </a:prstGeom>
          <a:solidFill>
            <a:srgbClr val="C9D2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72" name="矩形 1871"/>
          <p:cNvSpPr/>
          <p:nvPr/>
        </p:nvSpPr>
        <p:spPr>
          <a:xfrm>
            <a:off x="6286500" y="3590925"/>
            <a:ext cx="2505075" cy="9525"/>
          </a:xfrm>
          <a:prstGeom prst="rect">
            <a:avLst/>
          </a:prstGeom>
          <a:solidFill>
            <a:srgbClr val="C9D2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73" name="矩形 1872"/>
          <p:cNvSpPr/>
          <p:nvPr/>
        </p:nvSpPr>
        <p:spPr>
          <a:xfrm>
            <a:off x="6286500" y="3810000"/>
            <a:ext cx="2505075" cy="9525"/>
          </a:xfrm>
          <a:prstGeom prst="rect">
            <a:avLst/>
          </a:prstGeom>
          <a:solidFill>
            <a:srgbClr val="C9D2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74" name="矩形 1873"/>
          <p:cNvSpPr/>
          <p:nvPr/>
        </p:nvSpPr>
        <p:spPr>
          <a:xfrm>
            <a:off x="6286500" y="4029075"/>
            <a:ext cx="2505075" cy="9525"/>
          </a:xfrm>
          <a:prstGeom prst="rect">
            <a:avLst/>
          </a:prstGeom>
          <a:solidFill>
            <a:srgbClr val="C9D2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75" name="文本框 1874" descr="{&quot;isTemplate&quot;:true,&quot;type&quot;:&quot;text&quot;}"/>
          <p:cNvSpPr txBox="1"/>
          <p:nvPr/>
        </p:nvSpPr>
        <p:spPr>
          <a:xfrm>
            <a:off x="6286500" y="5295900"/>
            <a:ext cx="250507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975">
                <a:solidFill>
                  <a:srgbClr val="1E4FA8"/>
                </a:solidFill>
                <a:latin typeface="微软雅黑"/>
                <a:ea typeface="微软雅黑"/>
              </a:rPr>
              <a:t>例：候选需</a:t>
            </a: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 XRD </a:t>
            </a:r>
            <a:r>
              <a:rPr lang="zh-CN" sz="975">
                <a:solidFill>
                  <a:srgbClr val="1E4FA8"/>
                </a:solidFill>
                <a:latin typeface="微软雅黑"/>
                <a:ea typeface="微软雅黑"/>
              </a:rPr>
              <a:t>物相</a:t>
            </a: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 + </a:t>
            </a:r>
            <a:r>
              <a:rPr lang="zh-CN" sz="975">
                <a:solidFill>
                  <a:srgbClr val="1E4FA8"/>
                </a:solidFill>
                <a:latin typeface="微软雅黑"/>
                <a:ea typeface="微软雅黑"/>
              </a:rPr>
              <a:t>光谱带隙复核</a:t>
            </a:r>
            <a:endParaRPr/>
          </a:p>
        </p:txBody>
      </p:sp>
      <p:sp>
        <p:nvSpPr>
          <p:cNvPr id="1876" name="矩形: 圆角 1875"/>
          <p:cNvSpPr/>
          <p:nvPr/>
        </p:nvSpPr>
        <p:spPr>
          <a:xfrm>
            <a:off x="9039225" y="1562100"/>
            <a:ext cx="2771775" cy="4057650"/>
          </a:xfrm>
          <a:prstGeom prst="roundRect">
            <a:avLst>
              <a:gd name="adj" fmla="val 343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77" name="任意多边形: 形状 1876"/>
          <p:cNvSpPr/>
          <p:nvPr/>
        </p:nvSpPr>
        <p:spPr>
          <a:xfrm>
            <a:off x="9039225" y="1562100"/>
            <a:ext cx="2771775" cy="400050"/>
          </a:xfrm>
          <a:custGeom>
            <a:avLst/>
            <a:gdLst/>
            <a:ahLst/>
            <a:cxnLst/>
            <a:rect l="0" t="0" r="0" b="0"/>
            <a:pathLst>
              <a:path w="291" h="42">
                <a:moveTo>
                  <a:pt x="281" y="0"/>
                </a:moveTo>
                <a:cubicBezTo>
                  <a:pt x="287" y="0"/>
                  <a:pt x="291" y="5"/>
                  <a:pt x="291" y="10"/>
                </a:cubicBezTo>
                <a:lnTo>
                  <a:pt x="291" y="42"/>
                </a:lnTo>
                <a:lnTo>
                  <a:pt x="0" y="42"/>
                </a:ln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lnTo>
                  <a:pt x="281" y="0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78" name="文本框 1877" descr="{&quot;isTemplate&quot;:true,&quot;type&quot;:&quot;text&quot;}"/>
          <p:cNvSpPr txBox="1"/>
          <p:nvPr/>
        </p:nvSpPr>
        <p:spPr>
          <a:xfrm>
            <a:off x="10001250" y="1657350"/>
            <a:ext cx="8572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微软雅黑"/>
                <a:ea typeface="微软雅黑"/>
              </a:rPr>
              <a:t>下一步行动</a:t>
            </a:r>
            <a:endParaRPr/>
          </a:p>
        </p:txBody>
      </p:sp>
      <p:sp>
        <p:nvSpPr>
          <p:cNvPr id="1879" name="文本框 1878" descr="{&quot;isTemplate&quot;:true,&quot;type&quot;:&quot;text&quot;}"/>
          <p:cNvSpPr txBox="1"/>
          <p:nvPr/>
        </p:nvSpPr>
        <p:spPr>
          <a:xfrm>
            <a:off x="9172575" y="2057400"/>
            <a:ext cx="2505075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050">
                <a:solidFill>
                  <a:srgbClr val="5D6E85"/>
                </a:solidFill>
                <a:latin typeface="微软雅黑"/>
                <a:ea typeface="微软雅黑"/>
              </a:rPr>
              <a:t>这周能做的一个最小动作：测</a:t>
            </a:r>
            <a:r>
              <a:rPr lang="en-US" sz="1050">
                <a:solidFill>
                  <a:srgbClr val="5D6E85"/>
                </a:solidFill>
                <a:latin typeface="微软雅黑"/>
                <a:ea typeface="微软雅黑"/>
              </a:rPr>
              <a:t>/</a:t>
            </a:r>
            <a:r>
              <a:rPr lang="zh-CN" sz="1050">
                <a:solidFill>
                  <a:srgbClr val="5D6E85"/>
                </a:solidFill>
                <a:latin typeface="微软雅黑"/>
                <a:ea typeface="微软雅黑"/>
              </a:rPr>
              <a:t>算什么，与什么对照</a:t>
            </a:r>
            <a:endParaRPr/>
          </a:p>
        </p:txBody>
      </p:sp>
      <p:sp>
        <p:nvSpPr>
          <p:cNvPr id="1880" name="矩形 1879"/>
          <p:cNvSpPr/>
          <p:nvPr/>
        </p:nvSpPr>
        <p:spPr>
          <a:xfrm>
            <a:off x="9172575" y="2638425"/>
            <a:ext cx="2505075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81" name="矩形 1880"/>
          <p:cNvSpPr/>
          <p:nvPr/>
        </p:nvSpPr>
        <p:spPr>
          <a:xfrm>
            <a:off x="9172575" y="2933700"/>
            <a:ext cx="2505075" cy="9525"/>
          </a:xfrm>
          <a:prstGeom prst="rect">
            <a:avLst/>
          </a:prstGeom>
          <a:solidFill>
            <a:srgbClr val="C9D2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82" name="矩形 1881"/>
          <p:cNvSpPr/>
          <p:nvPr/>
        </p:nvSpPr>
        <p:spPr>
          <a:xfrm>
            <a:off x="9172575" y="3152775"/>
            <a:ext cx="2505075" cy="9525"/>
          </a:xfrm>
          <a:prstGeom prst="rect">
            <a:avLst/>
          </a:prstGeom>
          <a:solidFill>
            <a:srgbClr val="C9D2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83" name="矩形 1882"/>
          <p:cNvSpPr/>
          <p:nvPr/>
        </p:nvSpPr>
        <p:spPr>
          <a:xfrm>
            <a:off x="9172575" y="3371850"/>
            <a:ext cx="2505075" cy="9525"/>
          </a:xfrm>
          <a:prstGeom prst="rect">
            <a:avLst/>
          </a:prstGeom>
          <a:solidFill>
            <a:srgbClr val="C9D2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84" name="矩形 1883"/>
          <p:cNvSpPr/>
          <p:nvPr/>
        </p:nvSpPr>
        <p:spPr>
          <a:xfrm>
            <a:off x="9172575" y="3590925"/>
            <a:ext cx="2505075" cy="9525"/>
          </a:xfrm>
          <a:prstGeom prst="rect">
            <a:avLst/>
          </a:prstGeom>
          <a:solidFill>
            <a:srgbClr val="C9D2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85" name="矩形 1884"/>
          <p:cNvSpPr/>
          <p:nvPr/>
        </p:nvSpPr>
        <p:spPr>
          <a:xfrm>
            <a:off x="9172575" y="3810000"/>
            <a:ext cx="2505075" cy="9525"/>
          </a:xfrm>
          <a:prstGeom prst="rect">
            <a:avLst/>
          </a:prstGeom>
          <a:solidFill>
            <a:srgbClr val="C9D2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86" name="矩形 1885"/>
          <p:cNvSpPr/>
          <p:nvPr/>
        </p:nvSpPr>
        <p:spPr>
          <a:xfrm>
            <a:off x="9172575" y="4029075"/>
            <a:ext cx="2505075" cy="9525"/>
          </a:xfrm>
          <a:prstGeom prst="rect">
            <a:avLst/>
          </a:prstGeom>
          <a:solidFill>
            <a:srgbClr val="C9D2D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87" name="文本框 1886" descr="{&quot;isTemplate&quot;:true,&quot;type&quot;:&quot;text&quot;}"/>
          <p:cNvSpPr txBox="1"/>
          <p:nvPr/>
        </p:nvSpPr>
        <p:spPr>
          <a:xfrm>
            <a:off x="9172575" y="5295900"/>
            <a:ext cx="250507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975">
                <a:solidFill>
                  <a:srgbClr val="1E4FA8"/>
                </a:solidFill>
                <a:latin typeface="微软雅黑"/>
                <a:ea typeface="微软雅黑"/>
              </a:rPr>
              <a:t>例：先补</a:t>
            </a: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 20 </a:t>
            </a:r>
            <a:r>
              <a:rPr lang="zh-CN" sz="975">
                <a:solidFill>
                  <a:srgbClr val="1E4FA8"/>
                </a:solidFill>
                <a:latin typeface="微软雅黑"/>
                <a:ea typeface="微软雅黑"/>
              </a:rPr>
              <a:t>条同族记录，再跑分组验证</a:t>
            </a:r>
            <a:endParaRPr/>
          </a:p>
        </p:txBody>
      </p:sp>
      <p:sp>
        <p:nvSpPr>
          <p:cNvPr id="1888" name="矩形: 圆角 1887"/>
          <p:cNvSpPr/>
          <p:nvPr/>
        </p:nvSpPr>
        <p:spPr>
          <a:xfrm>
            <a:off x="381000" y="5734050"/>
            <a:ext cx="7219950" cy="781050"/>
          </a:xfrm>
          <a:prstGeom prst="roundRect">
            <a:avLst>
              <a:gd name="adj" fmla="val 12195"/>
            </a:avLst>
          </a:prstGeom>
          <a:solidFill>
            <a:srgbClr val="E8F1FC"/>
          </a:solidFill>
          <a:ln w="12700">
            <a:solidFill>
              <a:srgbClr val="1E4F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89" name="文本框 1888" descr="{&quot;isTemplate&quot;:true,&quot;type&quot;:&quot;text&quot;}"/>
          <p:cNvSpPr txBox="1"/>
          <p:nvPr/>
        </p:nvSpPr>
        <p:spPr>
          <a:xfrm>
            <a:off x="533400" y="5848350"/>
            <a:ext cx="69151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125" b="1">
                <a:solidFill>
                  <a:srgbClr val="0E3F8C"/>
                </a:solidFill>
                <a:latin typeface="微软雅黑"/>
                <a:ea typeface="微软雅黑"/>
              </a:rPr>
              <a:t>怎么算完成：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四栏都不是空话——第一栏有单位，第二栏能数出样本量，第三栏点明独立证据，第四栏是本周能做完的动作。</a:t>
            </a:r>
            <a:endParaRPr/>
          </a:p>
        </p:txBody>
      </p:sp>
      <p:sp>
        <p:nvSpPr>
          <p:cNvPr id="1890" name="矩形: 圆角 1889"/>
          <p:cNvSpPr/>
          <p:nvPr/>
        </p:nvSpPr>
        <p:spPr>
          <a:xfrm>
            <a:off x="7715250" y="5734050"/>
            <a:ext cx="4095750" cy="781050"/>
          </a:xfrm>
          <a:prstGeom prst="roundRect">
            <a:avLst>
              <a:gd name="adj" fmla="val 12195"/>
            </a:avLst>
          </a:prstGeom>
          <a:solidFill>
            <a:srgbClr val="FFF8E1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91" name="文本框 1890" descr="{&quot;isTemplate&quot;:true,&quot;type&quot;:&quot;text&quot;}"/>
          <p:cNvSpPr txBox="1"/>
          <p:nvPr/>
        </p:nvSpPr>
        <p:spPr>
          <a:xfrm>
            <a:off x="7867650" y="5848350"/>
            <a:ext cx="379095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退出题不单独计分，作为第</a:t>
            </a: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 2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讲任务卡的起点。课外负荷：本讲约</a:t>
            </a: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 2—3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小时（</a:t>
            </a: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ISLP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第</a:t>
            </a: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 2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章选段</a:t>
            </a:r>
            <a:r>
              <a:rPr lang="en-US" sz="1125">
                <a:solidFill>
                  <a:srgbClr val="2C3947"/>
                </a:solidFill>
                <a:latin typeface="微软雅黑"/>
                <a:ea typeface="微软雅黑"/>
              </a:rPr>
              <a:t> + </a:t>
            </a:r>
            <a:r>
              <a:rPr lang="zh-CN" sz="1125">
                <a:solidFill>
                  <a:srgbClr val="2C3947"/>
                </a:solidFill>
                <a:latin typeface="微软雅黑"/>
                <a:ea typeface="微软雅黑"/>
              </a:rPr>
              <a:t>环境补课）。</a:t>
            </a:r>
            <a:endParaRPr/>
          </a:p>
        </p:txBody>
      </p:sp>
      <p:sp>
        <p:nvSpPr>
          <p:cNvPr id="1892" name="文本框 1891" descr="{&quot;isTemplate&quot;:true,&quot;type&quot;:&quot;text&quot;}"/>
          <p:cNvSpPr txBox="1"/>
          <p:nvPr/>
        </p:nvSpPr>
        <p:spPr>
          <a:xfrm>
            <a:off x="381000" y="6619875"/>
            <a:ext cx="1943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西南科技大学</a:t>
            </a:r>
            <a:r>
              <a:rPr lang="en-US" sz="900">
                <a:solidFill>
                  <a:srgbClr val="8B97A8"/>
                </a:solidFill>
                <a:latin typeface="微软雅黑"/>
                <a:ea typeface="微软雅黑"/>
              </a:rPr>
              <a:t> · </a:t>
            </a:r>
            <a:r>
              <a:rPr lang="zh-CN" sz="900">
                <a:solidFill>
                  <a:srgbClr val="8B97A8"/>
                </a:solidFill>
                <a:latin typeface="微软雅黑"/>
                <a:ea typeface="微软雅黑"/>
              </a:rPr>
              <a:t>计算机科学与技术学院</a:t>
            </a:r>
            <a:endParaRPr/>
          </a:p>
        </p:txBody>
      </p:sp>
      <p:sp>
        <p:nvSpPr>
          <p:cNvPr id="1893" name="文本框 1892" descr="{&quot;isTemplate&quot;:true,&quot;type&quot;:&quot;text&quot;}"/>
          <p:cNvSpPr txBox="1"/>
          <p:nvPr/>
        </p:nvSpPr>
        <p:spPr>
          <a:xfrm>
            <a:off x="5467350" y="6619875"/>
            <a:ext cx="2800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825">
                <a:solidFill>
                  <a:srgbClr val="C3CCD8"/>
                </a:solidFill>
                <a:latin typeface="微软雅黑"/>
                <a:ea typeface="微软雅黑"/>
              </a:rPr>
              <a:t>何刚·</a:t>
            </a:r>
            <a:r>
              <a:rPr lang="en-US" sz="825">
                <a:solidFill>
                  <a:srgbClr val="C3CCD8"/>
                </a:solidFill>
                <a:latin typeface="微软雅黑"/>
                <a:ea typeface="微软雅黑"/>
              </a:rPr>
              <a:t> NNIP LAB@SWUST · E9A-231 · ganghe@swust.edu.cn</a:t>
            </a:r>
            <a:endParaRPr/>
          </a:p>
        </p:txBody>
      </p:sp>
      <p:sp>
        <p:nvSpPr>
          <p:cNvPr id="1894" name="文本框 1893" descr="{&quot;isTemplate&quot;:true,&quot;type&quot;:&quot;text&quot;}"/>
          <p:cNvSpPr txBox="1"/>
          <p:nvPr/>
        </p:nvSpPr>
        <p:spPr>
          <a:xfrm>
            <a:off x="11410950" y="6610350"/>
            <a:ext cx="4000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/>
                <a:ea typeface="微软雅黑"/>
              </a:rPr>
              <a:t>60 / 60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13010</Words>
  <Application>Microsoft Office PowerPoint</Application>
  <PresentationFormat>宽屏</PresentationFormat>
  <Paragraphs>1218</Paragraphs>
  <Slides>60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60</vt:i4>
      </vt:variant>
    </vt:vector>
  </HeadingPairs>
  <TitlesOfParts>
    <vt:vector size="67" baseType="lpstr">
      <vt:lpstr>等线</vt:lpstr>
      <vt:lpstr>钉钉进步体</vt:lpstr>
      <vt:lpstr>微软雅黑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刚 何</cp:lastModifiedBy>
  <cp:revision>3</cp:revision>
  <dcterms:created xsi:type="dcterms:W3CDTF">2026-10-20T22:10:07Z</dcterms:created>
  <dcterms:modified xsi:type="dcterms:W3CDTF">2026-10-20T21:24:00Z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{"AIGC":{"Label":"1","ContentProducer":"00119111010856365494821B355","ProduceID":"01a143958cb471709d0c114d5775927e","ReservedCode1":"","ContentPropagator":"00119111010856365494821B355","PropagateID":"01a143958cb471709d0c114d5775927e","ReservedCode2":""}}</vt:lpwstr>
  </property>
</Properties>
</file>